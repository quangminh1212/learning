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249edab35c4853" /><Relationship Type="http://schemas.openxmlformats.org/officeDocument/2006/relationships/extended-properties" Target="/docProps/app.xml" Id="R574c0593b68949a7" /><Relationship Type="http://schemas.openxmlformats.org/officeDocument/2006/relationships/officeDocument" Target="/ppt/presentation.xml" Id="R2eb75af7cda242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5c8e39c2f0496b"/>
  </p:sldMasterIdLst>
  <p:notesMasterIdLst>
    <p:notesMasterId xmlns:r="http://schemas.openxmlformats.org/officeDocument/2006/relationships" r:id="Rf4ffa4b5331f42a4"/>
  </p:notesMasterIdLst>
  <p:sldIdLst>
    <p:sldId xmlns:r="http://schemas.openxmlformats.org/officeDocument/2006/relationships" id="256" r:id="R815fbb9fb6ab4a43"/>
    <p:sldId xmlns:r="http://schemas.openxmlformats.org/officeDocument/2006/relationships" id="257" r:id="Rb2419343bde04e62"/>
    <p:sldId xmlns:r="http://schemas.openxmlformats.org/officeDocument/2006/relationships" id="258" r:id="R3f38a8c0614f4592"/>
    <p:sldId xmlns:r="http://schemas.openxmlformats.org/officeDocument/2006/relationships" id="259" r:id="Rcf4bf11bad0547fa"/>
    <p:sldId xmlns:r="http://schemas.openxmlformats.org/officeDocument/2006/relationships" id="260" r:id="R8dc69c99ae1a4eea"/>
    <p:sldId xmlns:r="http://schemas.openxmlformats.org/officeDocument/2006/relationships" id="261" r:id="R6bf5a1545ad4472d"/>
    <p:sldId xmlns:r="http://schemas.openxmlformats.org/officeDocument/2006/relationships" id="262" r:id="R7de30ebd4c4848be"/>
    <p:sldId xmlns:r="http://schemas.openxmlformats.org/officeDocument/2006/relationships" id="263" r:id="Rda14b2a606034ddf"/>
    <p:sldId xmlns:r="http://schemas.openxmlformats.org/officeDocument/2006/relationships" id="264" r:id="R0021cfbf0fff4327"/>
    <p:sldId xmlns:r="http://schemas.openxmlformats.org/officeDocument/2006/relationships" id="265" r:id="Re96d7ed7cef94a1a"/>
    <p:sldId xmlns:r="http://schemas.openxmlformats.org/officeDocument/2006/relationships" id="266" r:id="R953d05e3c5d8408a"/>
    <p:sldId xmlns:r="http://schemas.openxmlformats.org/officeDocument/2006/relationships" id="267" r:id="R6d6d528d389344ed"/>
    <p:sldId xmlns:r="http://schemas.openxmlformats.org/officeDocument/2006/relationships" id="268" r:id="R6a490fa4e28d4743"/>
    <p:sldId xmlns:r="http://schemas.openxmlformats.org/officeDocument/2006/relationships" id="269" r:id="R730c5e99f68046f0"/>
    <p:sldId xmlns:r="http://schemas.openxmlformats.org/officeDocument/2006/relationships" id="270" r:id="R5a07996cbc974215"/>
    <p:sldId xmlns:r="http://schemas.openxmlformats.org/officeDocument/2006/relationships" id="271" r:id="Ra5fe74c74c754ac3"/>
    <p:sldId xmlns:r="http://schemas.openxmlformats.org/officeDocument/2006/relationships" id="272" r:id="R7642281cf54a4540"/>
    <p:sldId xmlns:r="http://schemas.openxmlformats.org/officeDocument/2006/relationships" id="273" r:id="R40f2d606214b4680"/>
    <p:sldId xmlns:r="http://schemas.openxmlformats.org/officeDocument/2006/relationships" id="274" r:id="R7e19e5339c664403"/>
    <p:sldId xmlns:r="http://schemas.openxmlformats.org/officeDocument/2006/relationships" id="275" r:id="R60a27702aebd4cfd"/>
    <p:sldId xmlns:r="http://schemas.openxmlformats.org/officeDocument/2006/relationships" id="276" r:id="R4cf23d3ec14e459f"/>
    <p:sldId xmlns:r="http://schemas.openxmlformats.org/officeDocument/2006/relationships" id="277" r:id="Re6273ea0653f4e3e"/>
    <p:sldId xmlns:r="http://schemas.openxmlformats.org/officeDocument/2006/relationships" id="278" r:id="Rbeb84d2ef2a74059"/>
    <p:sldId xmlns:r="http://schemas.openxmlformats.org/officeDocument/2006/relationships" id="279" r:id="R2d5408726cdc4130"/>
    <p:sldId xmlns:r="http://schemas.openxmlformats.org/officeDocument/2006/relationships" id="280" r:id="R54d0d1d52b9b4d53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084b337baa4c36" /><Relationship Type="http://schemas.openxmlformats.org/officeDocument/2006/relationships/slideMaster" Target="/ppt/slideMasters/slideMaster1.xml" Id="R8b5c8e39c2f0496b" /><Relationship Type="http://schemas.openxmlformats.org/officeDocument/2006/relationships/notesMaster" Target="/ppt/notesMasters/notesMaster1.xml" Id="Rf4ffa4b5331f42a4" /><Relationship Type="http://schemas.openxmlformats.org/officeDocument/2006/relationships/presProps" Target="/ppt/presProps.xml" Id="R970383da267b4070" /><Relationship Type="http://schemas.openxmlformats.org/officeDocument/2006/relationships/viewProps" Target="/ppt/viewProps.xml" Id="R6a22ce400e6e4a26" /><Relationship Type="http://schemas.openxmlformats.org/officeDocument/2006/relationships/tableStyles" Target="/ppt/tableStyles.xml" Id="Rd1af9fc2a38044e9" /><Relationship Type="http://schemas.openxmlformats.org/officeDocument/2006/relationships/slide" Target="/ppt/slides/slide1.xml" Id="R815fbb9fb6ab4a43" /><Relationship Type="http://schemas.openxmlformats.org/officeDocument/2006/relationships/slide" Target="/ppt/slides/slide2.xml" Id="Rb2419343bde04e62" /><Relationship Type="http://schemas.openxmlformats.org/officeDocument/2006/relationships/slide" Target="/ppt/slides/slide3.xml" Id="R3f38a8c0614f4592" /><Relationship Type="http://schemas.openxmlformats.org/officeDocument/2006/relationships/slide" Target="/ppt/slides/slide4.xml" Id="Rcf4bf11bad0547fa" /><Relationship Type="http://schemas.openxmlformats.org/officeDocument/2006/relationships/slide" Target="/ppt/slides/slide5.xml" Id="R8dc69c99ae1a4eea" /><Relationship Type="http://schemas.openxmlformats.org/officeDocument/2006/relationships/slide" Target="/ppt/slides/slide6.xml" Id="R6bf5a1545ad4472d" /><Relationship Type="http://schemas.openxmlformats.org/officeDocument/2006/relationships/slide" Target="/ppt/slides/slide7.xml" Id="R7de30ebd4c4848be" /><Relationship Type="http://schemas.openxmlformats.org/officeDocument/2006/relationships/slide" Target="/ppt/slides/slide8.xml" Id="Rda14b2a606034ddf" /><Relationship Type="http://schemas.openxmlformats.org/officeDocument/2006/relationships/slide" Target="/ppt/slides/slide9.xml" Id="R0021cfbf0fff4327" /><Relationship Type="http://schemas.openxmlformats.org/officeDocument/2006/relationships/slide" Target="/ppt/slides/slide10.xml" Id="Re96d7ed7cef94a1a" /><Relationship Type="http://schemas.openxmlformats.org/officeDocument/2006/relationships/slide" Target="/ppt/slides/slide11.xml" Id="R953d05e3c5d8408a" /><Relationship Type="http://schemas.openxmlformats.org/officeDocument/2006/relationships/slide" Target="/ppt/slides/slide12.xml" Id="R6d6d528d389344ed" /><Relationship Type="http://schemas.openxmlformats.org/officeDocument/2006/relationships/slide" Target="/ppt/slides/slide13.xml" Id="R6a490fa4e28d4743" /><Relationship Type="http://schemas.openxmlformats.org/officeDocument/2006/relationships/slide" Target="/ppt/slides/slide14.xml" Id="R730c5e99f68046f0" /><Relationship Type="http://schemas.openxmlformats.org/officeDocument/2006/relationships/slide" Target="/ppt/slides/slide15.xml" Id="R5a07996cbc974215" /><Relationship Type="http://schemas.openxmlformats.org/officeDocument/2006/relationships/slide" Target="/ppt/slides/slide16.xml" Id="Ra5fe74c74c754ac3" /><Relationship Type="http://schemas.openxmlformats.org/officeDocument/2006/relationships/slide" Target="/ppt/slides/slide17.xml" Id="R7642281cf54a4540" /><Relationship Type="http://schemas.openxmlformats.org/officeDocument/2006/relationships/slide" Target="/ppt/slides/slide18.xml" Id="R40f2d606214b4680" /><Relationship Type="http://schemas.openxmlformats.org/officeDocument/2006/relationships/slide" Target="/ppt/slides/slide19.xml" Id="R7e19e5339c664403" /><Relationship Type="http://schemas.openxmlformats.org/officeDocument/2006/relationships/slide" Target="/ppt/slides/slide20.xml" Id="R60a27702aebd4cfd" /><Relationship Type="http://schemas.openxmlformats.org/officeDocument/2006/relationships/slide" Target="/ppt/slides/slide21.xml" Id="R4cf23d3ec14e459f" /><Relationship Type="http://schemas.openxmlformats.org/officeDocument/2006/relationships/slide" Target="/ppt/slides/slide22.xml" Id="Re6273ea0653f4e3e" /><Relationship Type="http://schemas.openxmlformats.org/officeDocument/2006/relationships/slide" Target="/ppt/slides/slide23.xml" Id="Rbeb84d2ef2a74059" /><Relationship Type="http://schemas.openxmlformats.org/officeDocument/2006/relationships/slide" Target="/ppt/slides/slide24.xml" Id="R2d5408726cdc4130" /><Relationship Type="http://schemas.openxmlformats.org/officeDocument/2006/relationships/slide" Target="/ppt/slides/slide25.xml" Id="R54d0d1d52b9b4d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c89d94b51d40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a915866e6140cb" /><Relationship Type="http://schemas.openxmlformats.org/officeDocument/2006/relationships/notesMaster" Target="/ppt/notesMasters/notesMaster1.xml" Id="R3dc337aae4764a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e76366cc394cac" /><Relationship Type="http://schemas.openxmlformats.org/officeDocument/2006/relationships/notesMaster" Target="/ppt/notesMasters/notesMaster1.xml" Id="R6932516c9d4f4c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a4a19f16a845b6" /><Relationship Type="http://schemas.openxmlformats.org/officeDocument/2006/relationships/notesMaster" Target="/ppt/notesMasters/notesMaster1.xml" Id="Rafa359dc975248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d4ea2d45f84eb8" /><Relationship Type="http://schemas.openxmlformats.org/officeDocument/2006/relationships/notesMaster" Target="/ppt/notesMasters/notesMaster1.xml" Id="Rc48a29822e0440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3be5dfa31d496d" /><Relationship Type="http://schemas.openxmlformats.org/officeDocument/2006/relationships/notesMaster" Target="/ppt/notesMasters/notesMaster1.xml" Id="R3b8dfd055dc543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d7482c33fd46aa" /><Relationship Type="http://schemas.openxmlformats.org/officeDocument/2006/relationships/notesMaster" Target="/ppt/notesMasters/notesMaster1.xml" Id="R845a6e1026174a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a4b0b1294b4250" /><Relationship Type="http://schemas.openxmlformats.org/officeDocument/2006/relationships/notesMaster" Target="/ppt/notesMasters/notesMaster1.xml" Id="Rcf94c6746be146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5b1eca3fd04429" /><Relationship Type="http://schemas.openxmlformats.org/officeDocument/2006/relationships/notesMaster" Target="/ppt/notesMasters/notesMaster1.xml" Id="R582ed9866c1348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1b98bbdbf74978" /><Relationship Type="http://schemas.openxmlformats.org/officeDocument/2006/relationships/notesMaster" Target="/ppt/notesMasters/notesMaster1.xml" Id="R95582bbb07dd4b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8f6f3d89684cb4" /><Relationship Type="http://schemas.openxmlformats.org/officeDocument/2006/relationships/notesMaster" Target="/ppt/notesMasters/notesMaster1.xml" Id="R3e0b1d073e534e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0be89c544b4f44" /><Relationship Type="http://schemas.openxmlformats.org/officeDocument/2006/relationships/notesMaster" Target="/ppt/notesMasters/notesMaster1.xml" Id="R2c857d05c4644b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a76424868d40ba" /><Relationship Type="http://schemas.openxmlformats.org/officeDocument/2006/relationships/notesMaster" Target="/ppt/notesMasters/notesMaster1.xml" Id="R1d8af74ec10448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86527fc7e64f90" /><Relationship Type="http://schemas.openxmlformats.org/officeDocument/2006/relationships/notesMaster" Target="/ppt/notesMasters/notesMaster1.xml" Id="Rc720ea42fe154a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7976e926ee4a0d" /><Relationship Type="http://schemas.openxmlformats.org/officeDocument/2006/relationships/notesMaster" Target="/ppt/notesMasters/notesMaster1.xml" Id="R909036943e064a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0beff0501047ed" /><Relationship Type="http://schemas.openxmlformats.org/officeDocument/2006/relationships/notesMaster" Target="/ppt/notesMasters/notesMaster1.xml" Id="Rb1a2a04da28d4c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6a010bf08c4b2c" /><Relationship Type="http://schemas.openxmlformats.org/officeDocument/2006/relationships/notesMaster" Target="/ppt/notesMasters/notesMaster1.xml" Id="Rb2df96ab4d424f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458eed501d4906" /><Relationship Type="http://schemas.openxmlformats.org/officeDocument/2006/relationships/notesMaster" Target="/ppt/notesMasters/notesMaster1.xml" Id="R0d693f4341644d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58ee3663574198" /><Relationship Type="http://schemas.openxmlformats.org/officeDocument/2006/relationships/notesMaster" Target="/ppt/notesMasters/notesMaster1.xml" Id="R3a9fb15f4cbe4e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45d638346b48c3" /><Relationship Type="http://schemas.openxmlformats.org/officeDocument/2006/relationships/notesMaster" Target="/ppt/notesMasters/notesMaster1.xml" Id="Rf5dfa7d0161848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b53a5f38654100" /><Relationship Type="http://schemas.openxmlformats.org/officeDocument/2006/relationships/notesMaster" Target="/ppt/notesMasters/notesMaster1.xml" Id="Rde674c398b4546c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15999dcb414627" /><Relationship Type="http://schemas.openxmlformats.org/officeDocument/2006/relationships/notesMaster" Target="/ppt/notesMasters/notesMaster1.xml" Id="R7f8234c2f2624f6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599138db75e4009" /><Relationship Type="http://schemas.openxmlformats.org/officeDocument/2006/relationships/notesMaster" Target="/ppt/notesMasters/notesMaster1.xml" Id="Recc53dfcfb344e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67c01d28baf4846" /><Relationship Type="http://schemas.openxmlformats.org/officeDocument/2006/relationships/notesMaster" Target="/ppt/notesMasters/notesMaster1.xml" Id="R61ac673e4eb147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b311e42e5848c9" /><Relationship Type="http://schemas.openxmlformats.org/officeDocument/2006/relationships/notesMaster" Target="/ppt/notesMasters/notesMaster1.xml" Id="R71bd8ae44e1f43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9705af970b04f98" /><Relationship Type="http://schemas.openxmlformats.org/officeDocument/2006/relationships/notesMaster" Target="/ppt/notesMasters/notesMaster1.xml" Id="R3d7e77fde15e4e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Dữ liệu nhóm, thành viên, WBS, dự toán và tiến độ lấy từ hồ sơ Nhóm 1 trong C:\Dev\Learning\VIII.HUST\Quản trị dự án. Bố cục tham khảo deck QTDACNTT - Nhóm 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Cách chia phần và slide chuyển chương tham khảo deck Nhóm 6. Nội dung đã rút gọn để phù hợp bài Quản trị dự án của Nhóm 1.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Phần I trình bày bối cảnh, dữ liệu nền, phạm vi và các bên liên quan của dự án.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02 - Du an Cong nghe thong tin.pptx. Dữ liệu dự án: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Phần II trình bày vai trò PM, nguồn lực, RACI và tôn chỉ làm căn cứ điều hành.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07 - Quan ly nhan luc.pptx. Dữ liệu phân công: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07 - Quan ly nhan luc.pptx. Dữ liệu phân công: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Phần III liên kết phạm vi với gói công việc, người thực hiện, lịch và ước lượng.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04 - Quan ly thoi gian du an.pptx. Dữ liệu WBS: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3_QLDA.pdf. Dữ liệu lịch biểu: slide-thuyet-trinh.pptx.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3_QLDA.pdf. Dữ liệu lịch biểu: slide-thuyet-trinh.pptx.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Phần IV giữ nguyên cơ cấu chi phí Nhóm 1 và bổ sung trần tối đa 1 tỷ VNĐ.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Cập nhật theo yêu cầu người dùng: trần ngân sách tối đa 1.000.000.000 VNĐ. Dự toán cơ sở giữ nguyên từ file Nhóm 1 kinh-phi-du-an.xlsx: công lao động 285.396.650, thiết bị 73.800.000, chi khác 49.000.000, tổng 408.196.650 VNĐ. Phần còn lại là hạn mức chưa phân bổ, không phải chi phí đã dùng.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thức: C:\Users\GHC\Downloads\Slide\Chuong 06 - Quan ly chat luong du an.pptx. Chỉ tiêu chất lượng: slide-thuyet-trinh.pptx.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Danh sách rủi ro là đăng ký theo dõi đề xuất, không phải kết luận rủi ro đã xảy ra. Phần trình bày tổng hợp các Chương 1 - 8 và hồ sơ Nhóm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Biểu đồ Use Case tổng quát được bổ sung từ phạm vi Nhóm 1: quản lý sản phẩm, nhập xuất, tồn kho, người dùng và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Biểu đồ trình tự ở mức tổng quát: người dùng gửi yêu cầu, lớp giao diện chuyển xử lý, nghiệp vụ kiểm tra và cập nhật CSDL, sau đó trả kết quả và cập nhật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Danh mục này tổng hợp các phần đã có trong bản v8 cập nhật, dựa trên dữ liệu Nhóm 1 và cách chia chương của môn Quản trị dự 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rủi ro do người dùng cung cấp, bổ sung vào phần quản trị rủi ro của dự án Nhóm 1. P là xác suất, I là mức độ ảnh hưởng, Điểm = P x 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rủi ro do người dùng cung cấp, bổ sung vào phần quản trị rủi ro của dự án Nhóm 1. P là xác suất, I là mức độ ảnh hưởng, Điểm = P x 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f3171013248e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f51281ea6a42b1" /><Relationship Type="http://schemas.openxmlformats.org/officeDocument/2006/relationships/slideLayout" Target="/ppt/slideLayouts/slideLayout1.xml" Id="Rb054486720e245f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54486720e245f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17e24f3894e3b" /><Relationship Type="http://schemas.openxmlformats.org/officeDocument/2006/relationships/image" Target="/ppt/media/image.png" Id="Rf8279a8a722f44af" /><Relationship Type="http://schemas.openxmlformats.org/officeDocument/2006/relationships/image" Target="/ppt/media/image2.png" Id="R075da27142db4802" /><Relationship Type="http://schemas.openxmlformats.org/officeDocument/2006/relationships/notesSlide" Target="/ppt/notesSlides/notesSlide1.xml" Id="R182f7de1583745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71faf8afc415d" /><Relationship Type="http://schemas.openxmlformats.org/officeDocument/2006/relationships/image" Target="/ppt/media/image3.png" Id="Rc1eab2a44bba417a" /><Relationship Type="http://schemas.openxmlformats.org/officeDocument/2006/relationships/notesSlide" Target="/ppt/notesSlides/notesSlide2.xml" Id="Ra7b4c6b07b9641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84499dd7649f5" /><Relationship Type="http://schemas.openxmlformats.org/officeDocument/2006/relationships/image" Target="/ppt/media/image4.png" Id="R763e3cb59ef349a9" /><Relationship Type="http://schemas.openxmlformats.org/officeDocument/2006/relationships/notesSlide" Target="/ppt/notesSlides/notesSlide3.xml" Id="R1eb7c0e33a86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2fcc95d134e2c" /><Relationship Type="http://schemas.openxmlformats.org/officeDocument/2006/relationships/image" Target="/ppt/media/image5.png" Id="R2456e94c42d84590" /><Relationship Type="http://schemas.openxmlformats.org/officeDocument/2006/relationships/notesSlide" Target="/ppt/notesSlides/notesSlide4.xml" Id="Rbd0057f70c244e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61aec2e8346b8" /><Relationship Type="http://schemas.openxmlformats.org/officeDocument/2006/relationships/image" Target="/ppt/media/image6.png" Id="R4d5b4d917e54419c" /><Relationship Type="http://schemas.openxmlformats.org/officeDocument/2006/relationships/notesSlide" Target="/ppt/notesSlides/notesSlide5.xml" Id="R864fb514246549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68ef3f46b4a27" /><Relationship Type="http://schemas.openxmlformats.org/officeDocument/2006/relationships/image" Target="/ppt/media/image7.png" Id="R745338e548ad404a" /><Relationship Type="http://schemas.openxmlformats.org/officeDocument/2006/relationships/notesSlide" Target="/ppt/notesSlides/notesSlide6.xml" Id="Rcf8227ca7d5549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63f8242344258" /><Relationship Type="http://schemas.openxmlformats.org/officeDocument/2006/relationships/image" Target="/ppt/media/image8.png" Id="R3adf7bbc393843ce" /><Relationship Type="http://schemas.openxmlformats.org/officeDocument/2006/relationships/notesSlide" Target="/ppt/notesSlides/notesSlide7.xml" Id="R9659f3b8d5a64d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fdd2017af499f" /><Relationship Type="http://schemas.openxmlformats.org/officeDocument/2006/relationships/image" Target="/ppt/media/image9.png" Id="R62cd9e0e29bb4116" /><Relationship Type="http://schemas.openxmlformats.org/officeDocument/2006/relationships/notesSlide" Target="/ppt/notesSlides/notesSlide8.xml" Id="R7764fd45a47a4f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44897d0a04dd4" /><Relationship Type="http://schemas.openxmlformats.org/officeDocument/2006/relationships/image" Target="/ppt/media/image10.png" Id="R2f7e014428e84881" /><Relationship Type="http://schemas.openxmlformats.org/officeDocument/2006/relationships/notesSlide" Target="/ppt/notesSlides/notesSlide9.xml" Id="R10ff647a554748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fc29839dc46eb" /><Relationship Type="http://schemas.openxmlformats.org/officeDocument/2006/relationships/image" Target="/ppt/media/image11.png" Id="R4c2d57c4a53d484a" /><Relationship Type="http://schemas.openxmlformats.org/officeDocument/2006/relationships/notesSlide" Target="/ppt/notesSlides/notesSlide10.xml" Id="Re39f8d7f0c674a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fb44091d0431f" /><Relationship Type="http://schemas.openxmlformats.org/officeDocument/2006/relationships/image" Target="/ppt/media/image12.png" Id="R491faa0e5e9a4543" /><Relationship Type="http://schemas.openxmlformats.org/officeDocument/2006/relationships/notesSlide" Target="/ppt/notesSlides/notesSlide11.xml" Id="R4b71e7bb35234a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b0f2c916c4da4" /><Relationship Type="http://schemas.openxmlformats.org/officeDocument/2006/relationships/image" Target="/ppt/media/image13.png" Id="R49de983e62364064" /><Relationship Type="http://schemas.openxmlformats.org/officeDocument/2006/relationships/notesSlide" Target="/ppt/notesSlides/notesSlide12.xml" Id="Rc694817821e543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d66a088bd462d" /><Relationship Type="http://schemas.openxmlformats.org/officeDocument/2006/relationships/image" Target="/ppt/media/image14.png" Id="R547b081ac2c84490" /><Relationship Type="http://schemas.openxmlformats.org/officeDocument/2006/relationships/notesSlide" Target="/ppt/notesSlides/notesSlide13.xml" Id="R27260ffe58384d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45a6130954a0d" /><Relationship Type="http://schemas.openxmlformats.org/officeDocument/2006/relationships/image" Target="/ppt/media/image15.png" Id="R9e3903142c1748f1" /><Relationship Type="http://schemas.openxmlformats.org/officeDocument/2006/relationships/notesSlide" Target="/ppt/notesSlides/notesSlide14.xml" Id="R48699d2ead1e41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c721ba8304759" /><Relationship Type="http://schemas.openxmlformats.org/officeDocument/2006/relationships/image" Target="/ppt/media/image16.png" Id="Ref67a99801994963" /><Relationship Type="http://schemas.openxmlformats.org/officeDocument/2006/relationships/notesSlide" Target="/ppt/notesSlides/notesSlide15.xml" Id="R316fac004a884d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7663ab65441fa" /><Relationship Type="http://schemas.openxmlformats.org/officeDocument/2006/relationships/image" Target="/ppt/media/image17.png" Id="Rff73e39e6b1a4629" /><Relationship Type="http://schemas.openxmlformats.org/officeDocument/2006/relationships/notesSlide" Target="/ppt/notesSlides/notesSlide16.xml" Id="R64434bce1c3442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1470a12624221" /><Relationship Type="http://schemas.openxmlformats.org/officeDocument/2006/relationships/image" Target="/ppt/media/image18.png" Id="R22fc98c7b3344b6f" /><Relationship Type="http://schemas.openxmlformats.org/officeDocument/2006/relationships/notesSlide" Target="/ppt/notesSlides/notesSlide17.xml" Id="R14c487a8db9449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a1e15f105442a" /><Relationship Type="http://schemas.openxmlformats.org/officeDocument/2006/relationships/image" Target="/ppt/media/image19.png" Id="Rffcada7b9a3c45a8" /><Relationship Type="http://schemas.openxmlformats.org/officeDocument/2006/relationships/notesSlide" Target="/ppt/notesSlides/notesSlide18.xml" Id="R953fad611af64f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cb5b3c2ab4dd9" /><Relationship Type="http://schemas.openxmlformats.org/officeDocument/2006/relationships/image" Target="/ppt/media/image20.png" Id="Ref85aa86079448cc" /><Relationship Type="http://schemas.openxmlformats.org/officeDocument/2006/relationships/notesSlide" Target="/ppt/notesSlides/notesSlide19.xml" Id="Rd114bcce1487424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ac33c0ee34fc8" /><Relationship Type="http://schemas.openxmlformats.org/officeDocument/2006/relationships/image" Target="/ppt/media/image21.png" Id="R8b46b13fb2ab4621" /><Relationship Type="http://schemas.openxmlformats.org/officeDocument/2006/relationships/notesSlide" Target="/ppt/notesSlides/notesSlide20.xml" Id="Rca9b9ed1aa5a41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6937ee2344047" /><Relationship Type="http://schemas.openxmlformats.org/officeDocument/2006/relationships/image" Target="/ppt/media/image22.png" Id="R350ad4e7b6564c5e" /><Relationship Type="http://schemas.openxmlformats.org/officeDocument/2006/relationships/notesSlide" Target="/ppt/notesSlides/notesSlide21.xml" Id="R13946027bcae42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e4c423d784127" /><Relationship Type="http://schemas.openxmlformats.org/officeDocument/2006/relationships/image" Target="/ppt/media/image23.png" Id="Rc46dbb0ad26f4752" /><Relationship Type="http://schemas.openxmlformats.org/officeDocument/2006/relationships/notesSlide" Target="/ppt/notesSlides/notesSlide22.xml" Id="R93db6bf427f143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c2a99a2e644aa" /><Relationship Type="http://schemas.openxmlformats.org/officeDocument/2006/relationships/image" Target="/ppt/media/image24.png" Id="R53a527985ad64872" /><Relationship Type="http://schemas.openxmlformats.org/officeDocument/2006/relationships/notesSlide" Target="/ppt/notesSlides/notesSlide23.xml" Id="R4aee15284ded45f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c2f508ff44a64" /><Relationship Type="http://schemas.openxmlformats.org/officeDocument/2006/relationships/image" Target="/ppt/media/image25.png" Id="Ra92cd50ea5024c79" /><Relationship Type="http://schemas.openxmlformats.org/officeDocument/2006/relationships/notesSlide" Target="/ppt/notesSlides/notesSlide24.xml" Id="R3cd62e6d40ae4c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e024de44d4bdd" /><Relationship Type="http://schemas.openxmlformats.org/officeDocument/2006/relationships/image" Target="/ppt/media/image26.png" Id="R1bf5a12e19584b27" /><Relationship Type="http://schemas.openxmlformats.org/officeDocument/2006/relationships/notesSlide" Target="/ppt/notesSlides/notesSlide25.xml" Id="Rccd053e0f2fd4a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79a8a722f44af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da27142db4802"/>
          <a:stretch xmlns:a="http://schemas.openxmlformats.org/drawingml/2006/main"/>
        </p:blipFill>
        <p:spPr>
          <a:xfrm xmlns:a="http://schemas.openxmlformats.org/drawingml/2006/main">
            <a:off x="514350" y="402114"/>
            <a:ext cx="2333625" cy="70072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696C7-3F39-4B4C-8B30-1C2C1B5F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QUẢN TRỊ DỰ ÁN CNTT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1712C-8677-4718-AF3C-7A21F5B4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Dự án xây dựng hệ thống quản lý hàng hóa và kho bãi sản phẩm thời trang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03F43-64B8-427D-9E23-3B72E761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Báo cáo theo hồ sơ Nhóm 1 · CNTT20261_N01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552450" y="3524250"/>
          <a:ext xmlns:a="http://schemas.openxmlformats.org/drawingml/2006/main" cx="6477000" cy="2019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79420"/>
                <a:gridCol w="3497580"/>
              </a:tblGrid>
              <a:tr h="3365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Thành viên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Vai trò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Tuấn Anh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Chủ nhiệm, nghiệp vụ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Quốc Luýt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Tech Lead, back-end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Vũ Quang Minh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Back-end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Bạch Minh Quang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UI/UX, front-end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Phạm Đoàn Bảo Thiên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CSDL, kiểm thử và nghiệm thu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59100-A895-47BF-ABBE-603DA012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714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16D9E-2437-4464-B2F8-1579F419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DỰ TOÁN CƠ SỞ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09CAF-5B37-4866-BE0E-DE39F717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408,2 triệu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5419D-DC4C-4A18-B91E-C77A2580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714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9566D-B5AE-48B8-9FE2-0848C462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TRẦN NGÂN SÁCH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D53A5-2D19-4F97-BB1B-14F8CA6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1,0 tỷ VNĐ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1B478-7EF6-41DB-8D32-F76D7090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1714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44D54-E0DB-4CB6-BA9B-406B91B0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004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KHỐI LƯỢNG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111E1-A21A-4B6E-8B2E-A7FC7C5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52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26E47-6A8E-4B13-887F-7FED19BD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14750"/>
            <a:ext cx="1714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3FBEB-8C49-40B3-8F4C-A3CDB31B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004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NGUỒN LỰC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137E1-7D17-4D81-8E31-EF6012C2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38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221,83 ngày-người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9E480-FB5C-4ECC-842E-2B62EE9A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GVHD: ThS. Lê Thị Hoa · Hà Nội, tháng 9 năm 2026</a:t>
            </a:r>
          </a:p>
        </p:txBody>
      </p:sp>
    </p:spTree>
    <p:extLst>
      <p:ext uri="{BB962C8B-B14F-4D97-AF65-F5344CB8AC3E}">
        <p14:creationId xmlns:p14="http://schemas.microsoft.com/office/powerpoint/2010/main" val="1822754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ab2a44bba417a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0BEC2-C493-4D51-93DB-5ECDF82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429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262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CẤU TRÚC BÁO CÁO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E51D9-320D-40A4-8457-72F30595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I.  Tổng quan dự 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29EC8-FA87-42E9-A768-3F6A84E2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II. Tổ chức và lập kế hoạch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6C1E5-EC41-4637-9A9F-915C6EF6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III. WBS, nguồn lực và tiến độ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44893-3E37-422D-A1A9-F318DCCC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IV. Dự toán và trần ngân sách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9EB50-4351-4F81-9980-938C6FF6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V. Chất lượng, thay đổi và báo cáo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F205E-629D-4358-95C9-640FE921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VI. Rủi ro và kết luận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F0AC9-6973-45B8-870E-492AF40C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Các phần giữ cùng một mạch: thông tin → kế hoạch → bằng chứng → kiểm soát.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3221F-4D0F-4195-84A2-84525858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4318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e3cb59ef349a9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EABD2-C7E1-4A72-999B-9FD9FEC7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I. THUYẾT MINH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7EC37-7628-4D59-B445-9515DC1C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1230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04642-A9E0-4F61-AC4A-C25F0997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8B706-73EA-4784-A8E9-0B597D9D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1852C-AC3A-49AC-8031-A130530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I. THUYẾT MINH DỰ 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CC1EA-0E88-43D5-B8F9-FEAC6DE2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THÔNG TIN CHUNG VỀ DỰ 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764E8-602C-42F4-98D8-964BC406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Các số liệu nền dùng để lập kế hoạch và theo dõi dự 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0900C-436E-4A58-8957-8413CDE2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6e94c42d84590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0F095-7FB4-4669-BFE1-62F2B874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08BCE-C6A9-4E1B-B36C-DDE496E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0E4A7-4787-4DFC-B6D4-CEAEFB8D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2571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E0F5B-64AE-4681-9060-C2863CA9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THỜI GIAN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D6C11-24EF-4607-8394-9A3C4CA4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01/09/2026 - 31/03/2027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32C6F-8E46-4B22-BC17-34E94C3F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81100"/>
            <a:ext cx="2571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0FA2E-BBA3-4CB6-8D45-3FF8CEB2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668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DỰ TOÁN CƠ SỞ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716C1-0858-42B5-A99A-7A8F2003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04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408.196.650 VNĐ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2EB7F-6035-4737-BE73-DD888FED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81100"/>
            <a:ext cx="2571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E9EE3-F40B-45DA-A457-3DE5430B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668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TRẦN NGÂN SÁCH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7FE79-CF52-4D9D-84FC-EE2DB574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1.000.000.000 VNĐ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DCC15-A4E8-4F8B-A673-46478473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81100"/>
            <a:ext cx="2857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6B331-E87F-4491-88D6-B120DED0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668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QUY MÔ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79EFD-58DA-4D09-9330-624ECE41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 thành viên · 52 task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476250" y="2209800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32697"/>
                <a:gridCol w="4252411"/>
                <a:gridCol w="3959141"/>
              </a:tblGrid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Hạng mục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Số liệu Nhóm 1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Vai trò trong quản trị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Đối tượng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Hệ thống quản lý hàng hóa và kho bãi sản phẩm thời trang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Case để áp dụng phương pháp quản trị dự án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Nguồn lực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221,83 ngày-người · 5 thành viên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Cơ sở phân công và theo dõi tải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Khối lượng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52 task trong 6 giai đoạn A - 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Cơ sở lập WBS, lịch và mốc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Dự toán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408.196.650 VNĐ theo workbook kinh phí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Baseline chi phí của Nhóm 1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Trần ngân sách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Không vượt 1.000.000.000 VNĐ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Hạn mức tối đa, không phải chi phí đã phát sinh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DD6B6-ABBB-449E-B0A4-13FD950B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81625"/>
            <a:ext cx="11144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82F7E-918A-49DA-84E7-6B8CA7F6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Phân biệt rõ: dự toán cơ sở là số liệu hồ sơ Nhóm 1, còn 1 tỷ VNĐ là giới hạn ngân sách tối đa theo yêu cầu mới.</a:t>
            </a:r>
          </a:p>
        </p:txBody>
      </p:sp>
    </p:spTree>
    <p:extLst>
      <p:ext uri="{BB962C8B-B14F-4D97-AF65-F5344CB8AC3E}">
        <p14:creationId xmlns:p14="http://schemas.microsoft.com/office/powerpoint/2010/main" val="1315231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8F4C5-B72F-4F4A-8CB7-B52BC56F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463F9-81A0-43F5-A72D-905AB0D6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AD1FA-070E-44E1-B2C1-C2F48C07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I. THUYẾT MINH DỰ 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8D92B-222F-41A9-9632-7616E4EA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BỐI CẢNH VÀ MỤC TIÊU QUẢN TRỊ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E43D8-A06F-4A6D-81B7-D2A381A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Từ vấn đề nghiệp vụ đến mục tiêu có thể đo và kiểm soát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E8A6C-25BE-4034-9A33-E4D9FF3B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b4d917e54419c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83F6F-806F-449C-9AA7-83F4794C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0BD0A-7C41-4B1F-9133-3D6DE04A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5FEAF-4F21-4B7D-B824-863B32F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53340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B4003-3874-4DB8-8217-B5D3E5AB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BỐI CẢNH KHẢO SÁT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900A0-0C6B-4593-96E4-B1B54B04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6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Quy trình nhập, xuất, kiểm kê và đổi trả cần được thống nhất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Dữ liệu đang gắn với sổ sách, Excel và nhiều biểu mẫu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Cần quản lý sản phẩm, biến thể màu x size, kho và vị trí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Hồ sơ Nhóm 1 ghi nhận 13 biểu mẫu đang sử dụng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1E0F7-AF60-46F9-8D5C-3DA45F7B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3340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38845-2C8D-4D33-A815-0701229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906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MỤC TIÊU QUẢN TRỊ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A8FDC-8409-48AE-A3BB-9652F12E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66900"/>
            <a:ext cx="476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Chốt phạm vi và tiêu chí kết thúc trước khi triển khai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Quản lý 19 yêu cầu chức năng và 11 yêu cầu phi chức năng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Điều phối 52 task theo WBS, nguồn lực và phụ thuộc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Theo dõi tiến độ, chi phí, chất lượng, thay đổi và rủi 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16B63-19F2-4B20-A3A4-CBC7DCD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144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7BB44-E783-46CD-A988-6CDD1D64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Mục tiêu của bài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56619-1CAB-42CE-B60C-75F9DB8B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4347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Cho thấy nhóm quản lý dự án bằng kế hoạch, hồ sơ và quyết định có căn cứ, không chỉ mô tả sản phẩm phần mềm.</a:t>
            </a:r>
          </a:p>
        </p:txBody>
      </p:sp>
    </p:spTree>
    <p:extLst>
      <p:ext uri="{BB962C8B-B14F-4D97-AF65-F5344CB8AC3E}">
        <p14:creationId xmlns:p14="http://schemas.microsoft.com/office/powerpoint/2010/main" val="705018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A39AA-1A73-4FEB-9523-D406CC42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BED4A-A5F7-4847-8012-9E2A00A9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CBB95-8E50-402F-887B-D2EA3522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I. THUYẾT MINH DỰ 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BB88B-9261-40C9-A3F0-BA01E8C8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PHẠM VI VÀ DANH MỤC ĐẦU 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57D2D-A69C-4151-950D-E49E9B6B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Phạm vi là căn cứ để lập WBS, dự toán, lịch và nghiệm thu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F5AB6-0CC6-44C6-912B-323B71C1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338e548ad404a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08E4D-F1B7-4392-9040-1ABB0562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5DBC3-A53E-4A5A-939C-E30862E2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6D872-BC11-433B-8A21-052E6F95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5334000" cy="241935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9525">
            <a:solidFill>
              <a:srgbClr val="B7DF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D637E-5503-4F0F-A9DF-9364654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37A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37A4B"/>
                </a:solidFill>
                <a:latin typeface="Calibri"/>
                <a:ea typeface="Calibri"/>
                <a:cs typeface="Calibri"/>
              </a:rPr>
              <a:t>TRONG PHẠM VI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7DAF0-23E6-4F02-9B69-56E65088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Khảo sát và đặc tả yêu cầu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Phân tích, thiết kế, CSDL và UI/UX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Phát triển, kiểm thử và UAT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Cấu hình, đào tạo, nghiệm thu và bàn giao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B5CD6-F856-44D1-A475-D6410F4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334000" cy="241935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E2D31-2398-4171-A6A8-B9135294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81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NGOÀI PHẠM VI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E6E29-E1DB-486D-B8A3-E076EF9E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POS, thanh toán và hóa đơn điện tử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Kế toán giá vốn và công nợ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Sàn thương mại điện tử và vận chuyển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Ứng dụng di động riêng và mua thiết bị mới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476250" y="3905250"/>
          <a:ext xmlns:a="http://schemas.openxmlformats.org/drawingml/2006/main" cx="11144250" cy="1962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2557"/>
                <a:gridCol w="7981693"/>
              </a:tblGrid>
              <a:tr h="39243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Gói đầu ra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Hồ sơ / bằng chứng nghiệm thu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Khảo sát và đặc tả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khảo sát, 19 FR, 11 NFR và quy tắc nghiệp vụ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Phân tích và thiết kế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UML, lược đồ CSDL, từ điển dữ liệu, UI/UX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Phát triển và kiểm thử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Mã nguồn, báo cáo kiểm thử, kết quả UAT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Triển khai và bàn giao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Tài liệu cấu hình, hướng dẫn, biên bản nghiệm thu và xác nhận bàn giao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974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A1723-5629-4DE9-A225-D0405FB1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02116-BC3B-4416-AB0F-6D32A79A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2A19B-6F5C-49AB-A93E-40435EE1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I. THUYẾT MINH DỰ 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BEF31-232F-41A5-951A-5F54CD80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BÊN LIÊN QUAN VÀ GIAO TIẾP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5102C-F428-452F-A749-289A6B02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Cơ chế phối hợp rõ giúp quyết định và thay đổi không bị thất lạc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D464E-EA0B-4FFB-992C-9BC9BBF1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f7bbc393843ce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C7007-9EAC-47F5-9E1D-3F627575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7741E-FED4-4661-BF27-ED3F107C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1144250" cy="3733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03972"/>
                <a:gridCol w="4039791"/>
                <a:gridCol w="3900488"/>
              </a:tblGrid>
              <a:tr h="6223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Bên liên quan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Kỳ vọng / trách nhiệm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Thông tin và nhịp phối hợp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Doanh nghiệp thời trang / khách hàng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Cung cấp yêu cầu, phản hồi và xác nhận nghiệm thu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Khảo sát, review theo mốc, sign-off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Giảng viên / chủ trì học phần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Định hướng chuyên môn và đánh giá kết quả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theo yêu cầu, trình bày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Giám đốc dự án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Tích hợp phạm vi, tiến độ, chi phí và rủi 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Họp nhóm hàng tuần, báo cáo sai lệch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Đội dự án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Thực hiện gói công việc và cập nhật bằng chứng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Phân công theo WBS, cập nhật trạng thái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Nhà cung cấp / nguồn hỗ trợ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Cung cấp dịch vụ hoặc nguồn lực khi cần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Ghi nhận cam kết, kiểm tra đầu 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BAAF3-DE00-4C00-9F71-B05DAC1A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57800"/>
            <a:ext cx="111442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22F39-A9ED-4E64-8B18-85B6410B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Nguyên tắc giao tiếp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1E666-C958-4D54-A02E-7AF01A2A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Thông tin quan trọng phải đi qua PM, có owner, thời hạn và dấu vết trong biên bản hoặc báo cáo.</a:t>
            </a:r>
          </a:p>
        </p:txBody>
      </p:sp>
    </p:spTree>
    <p:extLst>
      <p:ext uri="{BB962C8B-B14F-4D97-AF65-F5344CB8AC3E}">
        <p14:creationId xmlns:p14="http://schemas.microsoft.com/office/powerpoint/2010/main" val="1249912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d9e0e29bb4116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FF62B-EEDE-49D4-B56A-5782A86E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II. TỔ CHỨC VÀ LẬP KẾ HOẠCH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564DF-2433-4C80-8CA9-E87F2BE5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03861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C4285-727D-4A12-A553-0ABBB19A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F268F-413E-4BDB-B0D3-3403AA9D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21DCC-8F3B-41EB-BAF7-6C324953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II. TỔ CHỨC VÀ LẬP KẾ HOẠCH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EA90D-A482-4B63-B2C7-06D0B72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VAI TRÒ PM VÀ CƠ CHẾ QUẢN TRỊ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A9D53-4024-46E3-B0E9-7047E70B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PM biến thông tin rời rạc thành quyết định, hồ sơ và hành động kiểm soát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609F6-0097-44EF-9875-C95FE66F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e014428e84881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18663-FF86-4918-82F2-255D965E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DD4F5-0484-40F1-8B97-FA7EA3BD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3DB54-E44F-4B03-8864-2CF69162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3429000" cy="40005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9B87A-E8C3-4014-B58D-05B6DA39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PM CHỊU TRÁCH NHIỆM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64A0F-4375-4A81-9F94-F274ED4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9527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Tích hợp phạm vi, lịch, chi phí, chất lượng và rủi ro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Phân công theo WBS và điều phối tải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Theo dõi sai lệch, cập nhật baseline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Điều phối thay đổi và chuẩn bị quyết định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Tổ chức nghiệm thu, bàn giao và lưu hồ sơ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4381500" y="1181100"/>
          <a:ext xmlns:a="http://schemas.openxmlformats.org/drawingml/2006/main" cx="723900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62188"/>
                <a:gridCol w="4976813"/>
              </a:tblGrid>
              <a:tr h="5334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Hoạt động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Đầu ra quản trị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Điều phối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Phân công, biên bản họp, danh sách việc cần làm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Theo dõi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tiến độ, chi phí và sai lệch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Ra quyết định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Phiếu thay đổi hoặc phương án xử lý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Kiểm soát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Checklist, test report, sign-off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EBB63-FE42-4204-854B-1EB277B3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NHỊP QUẢN TRỊ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AAB4E-F1B1-48B2-8551-2E0A4450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52950"/>
            <a:ext cx="1752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5D0C7-C846-40E6-B8DC-047D78D1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86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Họp tuần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2D3CF-190F-4B41-9973-F07F889E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1752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E4C61-D6C0-464B-B358-BE3707C0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Báo cáo mốc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F3202-4E4C-4660-9065-E121941F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52950"/>
            <a:ext cx="1752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46189-FA49-4D45-9C4F-62BA6379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Review thay đổi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3BEDA-EEDC-416A-9C8C-D0BA2AEF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52950"/>
            <a:ext cx="1752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EE6E2-56DC-478D-A960-BF5A416C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86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Ký nhận đầu ra</a:t>
            </a:r>
          </a:p>
        </p:txBody>
      </p:sp>
    </p:spTree>
    <p:extLst>
      <p:ext uri="{BB962C8B-B14F-4D97-AF65-F5344CB8AC3E}">
        <p14:creationId xmlns:p14="http://schemas.microsoft.com/office/powerpoint/2010/main" val="14560755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1E709-AE61-4D91-BDDA-E788B7B8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4A0D4-144C-48CB-B0DB-CF900C4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E6474-005B-4A95-900F-65FFB272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II. TỔ CHỨC VÀ LẬP KẾ HOẠCH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DDA51-B457-4A5F-B8C0-B963F0B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ĐỘI DỰ ÁN VÀ PHÂN BỔ NGUỒN LỰC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E9133-FEA4-42D8-A83E-6A713194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Phân công theo vai trò, gói công việc và công số đã lập trong hồ sơ Nhóm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E955E-B49A-4107-8E0A-5712171F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d57c4a53d484a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30AF2-F3F8-43A5-9C9B-FCC145B8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51E31-65E6-4CAF-B405-9F52BC37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1144250" cy="3219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397"/>
                <a:gridCol w="3620490"/>
                <a:gridCol w="3218213"/>
                <a:gridCol w="819150"/>
              </a:tblGrid>
              <a:tr h="459921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Thành viên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Vai trò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Gói công việc chính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EST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Tuấn Anh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PM, nghiệp vụ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A, B, C, E, 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43,27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Quốc Luýt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Tech Lead, back-end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B, D, E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48,95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Vũ Quang Minh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Back-end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B, D, 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41,98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Bạch Minh Quang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UI/UX, front-end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A, C, D, E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44,00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Phạm Đoàn Bảo Thiên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CSDL, kiểm thử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B, C, E, 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43,63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Tổng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52 task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221,83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58F25-A75C-4E08-A645-C2B9A1F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11144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2B8B5-AD3E-473F-99D2-E9B26014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Nguyên tắc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2BCD1-6B24-4044-AA1E-5739EC7D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292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PM giữ đầu mối tích hợp. Tech Lead chịu trách nhiệm kỹ thuật. QA và kiểm thử được phân công chéo để có kiểm soát độc lập.</a:t>
            </a:r>
          </a:p>
        </p:txBody>
      </p:sp>
    </p:spTree>
    <p:extLst>
      <p:ext uri="{BB962C8B-B14F-4D97-AF65-F5344CB8AC3E}">
        <p14:creationId xmlns:p14="http://schemas.microsoft.com/office/powerpoint/2010/main" val="1320495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8F5F3-7EE1-4147-A2DD-2E3C61C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3A786-2300-4901-AE11-E4D7DAA9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1E165-0D80-4874-8993-211CD6F7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II. TỔ CHỨC VÀ LẬP KẾ HOẠCH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B61DA-9653-4EA4-BC2B-0E00AF51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MA TRẬN RACI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A4976-3092-4010-9DA8-2F02953E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RACI làm rõ ai thực hiện, ai chịu trách nhiệm cuối và ai cần được tham vấn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CF187-70A8-4C51-A86D-44B8F65B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faa0e5e9a4543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F930B-10D4-4CB8-8BFF-FF305D7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F7732-93DC-4880-973F-527199AC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114425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905500"/>
                <a:gridCol w="1047750"/>
                <a:gridCol w="1047750"/>
                <a:gridCol w="1047750"/>
                <a:gridCol w="1047750"/>
                <a:gridCol w="1047750"/>
              </a:tblGrid>
              <a:tr h="45243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Công việc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PM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BA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Tech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UI/UX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QA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Tôn chỉ và phạm vi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A/R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Phân tích yêu cầu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Thiết kế hệ thống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Phát triển và tích hợp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Kiểm thử và UAT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Quản lý rủi ro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và nghiệm thu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A/R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44CD2-05A6-4C28-A6BB-92696926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11442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4B3DE-4247-48C0-A599-DFA38DF7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 = thực hiện · A = chịu trách nhiệm cuối · C = được tham vấn · I = được thông báo</a:t>
            </a:r>
          </a:p>
        </p:txBody>
      </p:sp>
    </p:spTree>
    <p:extLst>
      <p:ext uri="{BB962C8B-B14F-4D97-AF65-F5344CB8AC3E}">
        <p14:creationId xmlns:p14="http://schemas.microsoft.com/office/powerpoint/2010/main" val="1008023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D9545-DA2C-4705-A49B-B5AE963D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5DC1F-35A8-4DB9-9AFD-76E54779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68BBA-0D5D-42C0-BABA-6EE8C0A9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III. TIẾN ĐỘ VÀ NGUỒN LỰC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559E8-C393-4A3B-B9EC-27A43AD6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TÔN CHỈ VÀ TIÊU CHÍ THÀNH CÔNG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04FFD-6ABD-4202-AF87-C2294C9B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Tôn chỉ biến mục tiêu thành baseline để đánh giá dự 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C084B-EE5D-4F49-B9CE-2B67C530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e983e62364064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FDF3F-0452-4C80-8A24-B89CF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3EC7E-2EE3-4C53-86A9-840AC8BC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37F79-F389-437E-8B5C-538180F7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2571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C5A55-973A-4CBE-B712-D83BF2BD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THỜI HẠN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16E4A-8216-44A0-B8C3-9BCAD6F7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31/03/2027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947E0-17BE-4D23-BFC0-F8638F27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81100"/>
            <a:ext cx="2571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53B1B-2601-44E3-A5E3-5B20CD9B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668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DỰ TOÁN CƠ SỞ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596A4-C2C2-4EDE-B145-1F0FCC31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04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408,2 triệu VNĐ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0C513-27F6-4F32-BD1D-EF28E5DF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81100"/>
            <a:ext cx="2571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EDE49-29FA-4C6F-8914-2BA7A7D0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668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TRẦN NGÂN SÁCH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D7695-7DAC-4C92-8378-620C2D3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1,0 tỷ VNĐ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607A4-FA77-46D5-8F15-329BB4BD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81100"/>
            <a:ext cx="2857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51775-8E5A-4637-BD8F-A7F1F881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668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KẾT QUẢ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1A096-0F46-4020-89C3-C0107D61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Sản phẩm + hồ sơ + nghiệm thu</a:t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476250" y="2209800"/>
          <a:ext xmlns:a="http://schemas.openxmlformats.org/drawingml/2006/main" cx="7239000" cy="2628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05000"/>
                <a:gridCol w="5334000"/>
              </a:tblGrid>
              <a:tr h="5257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Thành phần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Cam kết quản trị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Mục đích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Quản lý hàng hóa và kho bãi sản phẩm thời trang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Phạm vi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6 giai đoạn, 52 task, 19 FR và 11 NFR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Kết thúc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Đạt ≥95% test case, không còn Blocker/Critical, đủ hồ sơ ký nhận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Ngân sách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Dự toán cơ sở theo workbook, không vượt trần 1.000.000.000 VNĐ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79BFC-0055-4F5C-B614-554DEF04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524250" cy="2628900"/>
          </a:xfrm>
          <a:prstGeom xmlns:a="http://schemas.openxmlformats.org/drawingml/2006/main" prst="roundRect">
            <a:avLst>
              <a:gd name="adj" fmla="val 3623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B27E4-58CA-4DF1-AAE9-A6B5D2D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NGUYÊN TẮC ĐIỀU HÀNH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006A8-B5FD-4F18-BB58-A4B16087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Không mở rộng phạm vi khi chưa phân tích tác động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Không dùng trần ngân sách để hợp thức hóa chi phí chưa có căn cứ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Mọi bàn giao cần bằng chứng và xác nhận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7E221-44BF-4756-BE36-4A354AAB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Tôn chỉ là điểm tham chiếu cho mọi quyết định sau đó.</a:t>
            </a:r>
          </a:p>
        </p:txBody>
      </p:sp>
    </p:spTree>
    <p:extLst>
      <p:ext uri="{BB962C8B-B14F-4D97-AF65-F5344CB8AC3E}">
        <p14:creationId xmlns:p14="http://schemas.microsoft.com/office/powerpoint/2010/main" val="7921857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b081ac2c84490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B2414-A34C-4D11-8F7C-1B4DD118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III. WBS, NGUỒN LỰC VÀ TIẾN ĐỘ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225E4-C2E7-41CB-81CA-FFF97210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7580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7A60C-FF89-43A9-97A4-838B396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98CB3-7EBF-4AC5-AD54-D6CB4C1E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3EC43-AE5B-4999-A61B-0E179F40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III. TIẾN ĐỘ VÀ NGUỒN LỰC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14499-9AC3-4589-A62A-FB1C3CC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WBS VÀ CÁC GÓI BÀN GIAO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1A856-6F57-494A-B095-A0C9F7B3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WBS phân rã phạm vi thành sáu nhóm công việc có đầu ra cụ thể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AF220-CBE5-4C94-BF3B-4F09BA4C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903142c1748f1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86243-EE9B-46EE-9F43-69504E30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54A19-2F36-4595-B192-1F5E3E12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9FF48-0BB8-4C38-BFA6-B21F3CD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1793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0D5AF-0BBB-4637-A2C2-6F399109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67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A · Khảo sát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46163-F1A3-4FE4-94B2-EA68001A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325" y="1181100"/>
            <a:ext cx="1793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5CF2B-9495-4B5B-928B-C9D66D61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1314450"/>
            <a:ext cx="167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B · PTTK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50FCA-AA8E-40B8-8AD7-9AFC36F7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1181100"/>
            <a:ext cx="1793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9BEE4-7E36-4F0A-96C5-F8563491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314450"/>
            <a:ext cx="167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C · CSDL /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FF825-1CE8-44A9-B2F5-2FEBF03E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181100"/>
            <a:ext cx="1793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A55EB-8CA2-40F0-9C93-BD089699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14450"/>
            <a:ext cx="167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D · Phát triển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5D0D5-7D2C-4DC8-BE2C-44011B64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181100"/>
            <a:ext cx="1793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309EB-30BD-4E10-BDDD-85602C9F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314450"/>
            <a:ext cx="167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E · Kiểm thử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3CAD2-A13D-4645-94BC-504C1D14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625" y="1181100"/>
            <a:ext cx="1793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BD947-89BD-4841-8767-1CEECD89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775" y="1314450"/>
            <a:ext cx="167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F · Bàn giao</a:t>
            </a:r>
          </a:p>
        </p:txBody>
      </p:sp>
      <p:graphicFrame>
        <p:nvGraphicFramePr>
          <p:cNvPr id="47" name=""/>
          <p:cNvGraphicFramePr/>
          <p:nvPr/>
        </p:nvGraphicFramePr>
        <p:xfrm>
          <a:off xmlns:a="http://schemas.openxmlformats.org/drawingml/2006/main" x="476250" y="2266950"/>
          <a:ext xmlns:a="http://schemas.openxmlformats.org/drawingml/2006/main" cx="11144250" cy="3314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66750"/>
                <a:gridCol w="952500"/>
                <a:gridCol w="5506641"/>
                <a:gridCol w="4018359"/>
              </a:tblGrid>
              <a:tr h="473529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Gói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Đầu ra chính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Điều kiện chuyển tiếp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1 - 8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Khảo sát và đặc tả yêu cầu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Chốt yêu cầu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9 - 17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phân tích và thiết kế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Duyệt PTTK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18 - 25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CSDL, từ điển dữ liệu, UI/UX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Duyệt thiết kế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26 - 39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Mã nguồn và module chạy được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Tích hợp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40 - 47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kiểm thử và UAT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Đạt cổng chất lượng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48 - 52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Cấu hình, nghiệm thu, bàn giao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Ký nhận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0929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C9AA6-DFD0-4C8F-A109-C3585C85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90CDD-3ECB-42E6-A3F9-A46A2CE4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28B7C-6B4B-4AA6-8522-F84603B8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III. TIẾN ĐỘ VÀ NGUỒN LỰC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B5A83-761A-4099-AABB-688EBB8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LỊCH BIỂU VÀ CÁC MỐC KIỂM SOÁT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D6540-B555-463B-BBF6-AA62D4F2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Lịch của Nhóm 1 gắn với phụ thuộc, sản phẩm và mốc nghiệm thu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E4425-EE6A-4CE0-B555-38CC7F2E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7a99801994963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55019-4F2B-43BB-B56B-FFB673AB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F1F80-FD3C-4CDC-AAAB-FD8B0975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11442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809625"/>
                <a:gridCol w="4332514"/>
                <a:gridCol w="857250"/>
                <a:gridCol w="5144861"/>
              </a:tblGrid>
              <a:tr h="48985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Giai đoạn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Thời gian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Mốc / sản phẩm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01/09 - 25/09/2026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1 - 8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Khảo sát, đặc tả yêu cầu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26/09 - 20/11/2026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9 - 17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phân tích thiết kế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21/11 - 25/12/2026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18 - 25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CSDL và UI/UX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26/12 - 15/02/2027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26 - 39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Mã nguồn và module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16/02 - 15/03/2027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40 - 47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Kiểm thử và UAT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16/03 - 31/03/2027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48 - 52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Nghiệm thu và bàn giao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73813-D0FD-4794-8B5A-74BE52C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571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89866-D663-498A-91D6-5F5B981D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MỐC KIỂM SOÁT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8A633-0815-4912-93A1-C4530834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M1 - M6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AF181-A8A3-4533-8B39-B758CCB6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0150"/>
            <a:ext cx="2571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D1D07-39C7-4B68-8A52-38D867E4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PHỤ THUỘC CHÍNH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C1709-29A0-4588-875B-95FC39FE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8, 17, 20, 39, 47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EC724-4F10-44A5-A162-754B079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10150"/>
            <a:ext cx="2571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F6A75-2521-4705-9C6A-AA44ED6B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THỜI HẠN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B204B-CFEE-425C-98AC-FEE1AB2A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31/03/2027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21F55-2092-439E-80E4-E66DBCDC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10150"/>
            <a:ext cx="2857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EDEE8-BC38-4761-8270-5E0DF747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TỔNG CÔNG VIỆC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7E736-5BDF-4212-8E52-816555AC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52 task</a:t>
            </a:r>
          </a:p>
        </p:txBody>
      </p:sp>
    </p:spTree>
    <p:extLst>
      <p:ext uri="{BB962C8B-B14F-4D97-AF65-F5344CB8AC3E}">
        <p14:creationId xmlns:p14="http://schemas.microsoft.com/office/powerpoint/2010/main" val="10233406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9FF925-6376-4FB6-A3C5-BCA5AFB7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B9AEB-828C-476C-9C86-03563EC4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FC9FD-4A19-40A1-A5D0-421EE8B2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III. TIẾN ĐỘ VÀ NGUỒN LỰC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87DBC-9BA2-4689-A081-A5FCE142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ƯỚC LƯỢNG PERT VÀ ĐƯỜNG GĂNG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51324-97EE-4416-8A1B-299F18B2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PERT hỗ trợ đánh giá bất định, CPM cho biết công việc quyết định thời hạn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5A06C-1F3B-4C4B-A089-9BA659A4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3e39e6b1a4629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3F5DC-99C1-426B-B412-28B372C9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C1B65-295D-451D-95B2-70F68829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3F766-A9A1-45BA-A7ED-88CA3478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5334000" cy="28956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75A3A-B09E-481A-B22A-37E808CF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CÔNG THỨC PERT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789AC-F7C7-4E86-9951-2FA1A164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EST = (MO + 4 × ML + MP) /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6B711-9B8C-48A7-B8B9-27C9C619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 · lạc quan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ML · khả dĩ nhất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MP · bi quan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24A8A-D17B-4DF7-A453-FCB33259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334000" cy="28956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7D388-586F-4B46-94E7-01300FD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66850"/>
            <a:ext cx="22860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1939A-3A2F-416D-8A43-028EC713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525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EST HỒ SƠ NHÓM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1FD59-9835-41EE-83D0-22BD7F1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221,83 ngày-người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FFEFF-0284-434E-AA97-B868061C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66850"/>
            <a:ext cx="22860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F6964-6B55-434F-943A-A4B62CB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525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PERT THAM CHIẾU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A83B3-3B05-4F18-8902-4D6DDCA1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201,67 ngày-người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4BA49-9AB2-43E2-89DC-8D43AD3B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22860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EB8578-CEF5-4E85-8CD0-7C83CF29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03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BUFFER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B5951-CF29-40F9-8485-B7FBBF24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20,17 ngày-người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864FF-7C19-47A5-BD5A-279E168B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14600"/>
            <a:ext cx="22860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20EEF-0214-4B18-A373-69183C8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NGUYÊN TẮC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658DE-444C-430B-8A7F-6963BA16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384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Review khi đổi phạm vi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E80CA-25F7-4204-9034-138E30F9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Đường găng có thời gian dự trữ bằng 0. Khi một công việc găng trễ, PM phải xem lại mốc bàn giao và phương án bù.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697738-D1DE-4244-9D3A-77D2D3B2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57800"/>
            <a:ext cx="1793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EC2CB3-61BE-450F-B2F1-9EF25DF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67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Khởi động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8A3EC-E715-4B83-8183-47FAA619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325" y="5257800"/>
            <a:ext cx="1793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0F160E-4709-4A42-8D03-749E3AB3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5391150"/>
            <a:ext cx="167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Phân tích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EEFD3F-5250-4C1B-8A62-EB2CC9EB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257800"/>
            <a:ext cx="1793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48C459-284F-4522-B6ED-1F280790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391150"/>
            <a:ext cx="167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Thiết kế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3E08D4-B4F7-4F6A-B2F6-D03E256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257800"/>
            <a:ext cx="1793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343B62-D22C-4BF8-A8A0-5C6ECC3F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391150"/>
            <a:ext cx="167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Phát triển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496FAD-7404-43B8-819F-754ED059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5257800"/>
            <a:ext cx="1793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BB2702-4F84-4196-A4D8-B93A46F4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91150"/>
            <a:ext cx="167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Kiểm thử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2B425B-03B0-44BE-85F7-D79C18C7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625" y="5257800"/>
            <a:ext cx="1793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C67F15-CE39-42C8-9C8D-3FEDC3C5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775" y="5391150"/>
            <a:ext cx="167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Bàn giao</a:t>
            </a:r>
          </a:p>
        </p:txBody>
      </p:sp>
    </p:spTree>
    <p:extLst>
      <p:ext uri="{BB962C8B-B14F-4D97-AF65-F5344CB8AC3E}">
        <p14:creationId xmlns:p14="http://schemas.microsoft.com/office/powerpoint/2010/main" val="12106933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c98c7b3344b6f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1F445-8146-40E1-AFD0-2505C6E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IV. DỰ TOÁN VÀ TRẦN NGÂN SÁCH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B8B0B-47AF-4088-93B8-6F06F715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661793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87309-A5AD-498C-A45B-DA1685CE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E8976-D3F1-446A-97EB-7E97EAE4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08F89-B91C-4C20-8BC1-AB1EB52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IV. DỰ TOÁN KINH PHÍ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09EC0-112A-4CC3-8A8A-138B0F0A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DỰ TOÁN CƠ SỞ VÀ TRẦN NGÂN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2D0D9-9BC2-4205-AC7D-67E7CA76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Tài liệu Nhóm 1 là cơ sở chi phí, 1 tỷ VNĐ là mức tối đa được phép sử dụng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1D389-1F78-4016-A37C-28F9676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ada7b9a3c45a8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AAAA8-1425-4AFA-8EBA-E136EACA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B1EEE-1192-4E60-B816-EB9E7B64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542925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48525"/>
                <a:gridCol w="2323475"/>
                <a:gridCol w="857250"/>
              </a:tblGrid>
              <a:tr h="5524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Khoản mục theo workbook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Dự toán cơ sở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Tỷ trọng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Công lao động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285.396.650 VNĐ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Vật tư, thiết bị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73.800.000 VNĐ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18%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Chi khác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49.000.000 VNĐ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Tổng dự toán cơ sở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408.196.650 VNĐ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7C2B6-A248-4F55-A12A-9675EC9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19200"/>
            <a:ext cx="5334000" cy="27622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66333-1ECB-4998-A1E5-07AA3F4E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47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HẠN MỨC NGÂN SÁCH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483CB-ADED-425D-AB2E-3C6B3EB0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1.000.000.000 VNĐ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EA7E4-3ABF-4A5C-BB10-4A8D598D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Trần tối đa theo yêu cầu mới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C6153-5470-45AC-B9A6-E0A0DBE0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Hạn mức còn lại so với dự toán cơ sở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D324A-8078-49C3-A8D7-8E8A8B59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591.803.350 VNĐ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476250" y="4400550"/>
          <a:ext xmlns:a="http://schemas.openxmlformats.org/drawingml/2006/main" cx="11144250" cy="1428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10001250"/>
              </a:tblGrid>
              <a:tr h="2857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Chỉ số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Ý nghĩa kiểm soát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BCWS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Chi phí kế hoạch đến mốc đang theo dõi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BCWP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Giá trị kế hoạch của phần việc đã hoàn thành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ACWP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Chi phí thực tế đã phát sinh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CV / CPI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Sai lệch chi phí và hiệu quả sử dụng chi phí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8490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A9CF35-FBA6-4361-841F-716805C6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0C8CA-AA78-4B7F-91CC-567E9D6C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3BE49-A3F5-4052-B988-7B232FED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V. CHẤT LƯỢNG VÀ KIỂM SOÁT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B33E7-DF12-439C-92A6-48CB579A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CHẤT LƯỢNG, THAY ĐỔI VÀ BÁO CÁO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E4409-0997-46A3-9AA7-6D3B0515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Kiểm soát chất lượng đi cùng bằng chứng, thay đổi có hồ sơ và báo cáo có nhịp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56F16-153D-49BF-B70D-C56D2979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5aa86079448cc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D8D87-11B2-4895-B79A-C2A0BB8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6A08E-F0D3-46B0-B90E-B23D3E04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476250" y="1181100"/>
          <a:ext xmlns:a="http://schemas.openxmlformats.org/drawingml/2006/main" cx="68580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1017"/>
                <a:gridCol w="1619250"/>
                <a:gridCol w="3107733"/>
              </a:tblGrid>
              <a:tr h="555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KPI / cổng chất lượng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Mục tiêu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Bằng chứng và nhịp kiểm tra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Test case đạt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≥95%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kiểm thử tại M5 và trước nghiệm thu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Blocker / Critical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0 trước bàn giao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Danh sách lỗi và biên bản xử lý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Yêu cầu và đầu 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100% có owner và sign-off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Traceability theo WBS và biên bản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Thay đổi phạm vi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100% có phiếu và phân tích tác động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Review trong họp PM hàng tuần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Đúng mốc, đủ chỉ số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Báo cáo tiến độ, chi phí, chất lượng, rủi 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C1AE3-8E83-4BAC-A5A5-3BB9CBBD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81100"/>
            <a:ext cx="39052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2CA11-D166-450E-BE9B-6A9464FF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09700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QUY TRÌNH THAY ĐỔI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9566C-0BD4-42B0-98FA-C344018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812006" cy="1409700"/>
          </a:xfrm>
          <a:prstGeom xmlns:a="http://schemas.openxmlformats.org/drawingml/2006/main" prst="roundRect">
            <a:avLst>
              <a:gd name="adj" fmla="val 9384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63E1A-60F5-4C54-8556-B3B49120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697706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Ghi nhận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760C7-02D7-4459-A644-DCF38BE0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006" y="2000250"/>
            <a:ext cx="812006" cy="1409700"/>
          </a:xfrm>
          <a:prstGeom xmlns:a="http://schemas.openxmlformats.org/drawingml/2006/main" prst="roundRect">
            <a:avLst>
              <a:gd name="adj" fmla="val 938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91DE2-BBE2-4E64-940B-99713ED9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156" y="2133600"/>
            <a:ext cx="697706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Phân tích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99DF7-DCDE-43FB-AD58-201DCE29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000250"/>
            <a:ext cx="812006" cy="1409700"/>
          </a:xfrm>
          <a:prstGeom xmlns:a="http://schemas.openxmlformats.org/drawingml/2006/main" prst="roundRect">
            <a:avLst>
              <a:gd name="adj" fmla="val 9384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8744F-8F86-4319-BB7C-972F1922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2133600"/>
            <a:ext cx="697706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Phê duyệt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96BBF-DCB7-4200-B8DB-EF7A71A7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419" y="2000250"/>
            <a:ext cx="812006" cy="1409700"/>
          </a:xfrm>
          <a:prstGeom xmlns:a="http://schemas.openxmlformats.org/drawingml/2006/main" prst="roundRect">
            <a:avLst>
              <a:gd name="adj" fmla="val 9384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4278B-9AD8-4C07-9735-EA9B913F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569" y="2133600"/>
            <a:ext cx="697706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Cập nhật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39160-8F09-4373-AA70-C68A4328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Tài liệu phải cập nhật đồng bộ: tôn chỉ, WBS, lịch, dự toán, test case và thông báo cho bên liên quan.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86EDE-FDBC-4E17-8531-0E85D0E8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11144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E1454-C570-4DF6-B1D3-90524B8F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Cổng nghiệm thu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9D0A2-D057-4856-8ACF-69E93A3D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62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Đủ đầu ra, đạt chất lượng, không còn lỗi nghiêm trọng và có xác nhận của bên liên quan.</a:t>
            </a:r>
          </a:p>
        </p:txBody>
      </p:sp>
    </p:spTree>
    <p:extLst>
      <p:ext uri="{BB962C8B-B14F-4D97-AF65-F5344CB8AC3E}">
        <p14:creationId xmlns:p14="http://schemas.microsoft.com/office/powerpoint/2010/main" val="18708729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85EF6-6636-49EF-B5C7-100E466F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06A14-EB33-493C-982C-8230A228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1AE29-053B-4BC9-9D0B-C9D7998B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VI. QUẢN LÝ RỦI 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0D180-1DC1-4F34-9335-C5F1E3C3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QUẢN LÝ RỦI RO VÀ KẾT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FE0DF-1F3D-4616-86FD-E74B3B8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Đăng ký rủi ro là công cụ theo dõi đề xuất cho dự án Nhóm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5CE3D-85D1-4DEF-B25D-7A5F060A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6b13fb2ab4621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20C99-52F3-4CC4-A867-1BF3C34A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2ABCD-21B0-4B1A-B92C-3977FB6B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C0470-6E48-4BC2-9125-AD6F295A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216789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8D724-B101-4B9E-908C-500D298D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205359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Nhận diện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4A36B-C72A-4422-A6FB-1E82B492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1181100"/>
            <a:ext cx="216789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C041F-E20F-4EB2-AE6E-2CC99270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1314450"/>
            <a:ext cx="205359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Đánh giá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7556E-7144-4511-8F14-58CBB12E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1181100"/>
            <a:ext cx="216789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0232C-459B-4A3D-A8C2-89340460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80" y="1314450"/>
            <a:ext cx="205359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Phòng ngừa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4E965-5CDB-4860-BC76-43F0209A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1181100"/>
            <a:ext cx="216789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BD91B-1361-4A09-B8FE-017ED29A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314450"/>
            <a:ext cx="205359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Giao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72158-632C-4C58-A13F-45909DC7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610" y="1181100"/>
            <a:ext cx="216789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16814-A9FD-487B-B11F-C9521E53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314450"/>
            <a:ext cx="205359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Theo dõi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476250" y="2190750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54247"/>
                <a:gridCol w="2580190"/>
                <a:gridCol w="4257313"/>
                <a:gridCol w="952500"/>
              </a:tblGrid>
              <a:tr h="4762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Rủi ro ưu tiên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Dấu hiệu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Đáp ứng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Mở rộng phạm vi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Nhiều yêu cầu mới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Change control, ưu tiên, rebaseline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Chậm phê duyệt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Sign-off trễ mốc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Lịch phê duyệt và escalation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PM / khách hàng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Thiếu nguồn lực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Task trễ, tải lệch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Backup, chia sẻ tri thức, điều phối tải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PM / Tech Lead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Vượt chi phí hoặc tiến độ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CV &lt; 0, CPI &lt; 1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Review baseline, buffer, đường găng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PM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UAT hoặc chất lượng không đạt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Test fail, lỗi nghiêm trọng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Phân tích nguyên nhân, sửa và re-test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PM / QA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A4417-8537-4CBB-9FC6-C571ACBB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14950"/>
            <a:ext cx="11144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B610F-2161-48ED-833E-54E319BE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Kết luận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36E53-5B0C-4547-8E87-A58D5122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95925"/>
            <a:ext cx="928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Nhóm quản trị dự án bằng phạm vi, kế hoạch, ngân sách, chất lượng và rủi ro. Phần mềm chỉ là đầu ra của hệ thống quản trị đó.</a:t>
            </a:r>
          </a:p>
        </p:txBody>
      </p:sp>
    </p:spTree>
    <p:extLst>
      <p:ext uri="{BB962C8B-B14F-4D97-AF65-F5344CB8AC3E}">
        <p14:creationId xmlns:p14="http://schemas.microsoft.com/office/powerpoint/2010/main" val="566516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7B3943-9B70-4923-B5BE-843D9C74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681A9-C589-4A76-9C4E-8C6DF5EC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3BDA6-E05C-4640-BB32-3D3D00ED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PHỤ LỤC · SƠ ĐỒ DỰ 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ACB41-4EE4-477D-8EBB-F45ED176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BIỂU ĐỒ USE CASE TỔNG QUÁT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B6559-98C7-40E4-BBE5-23476798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Các tác nhân chính và nhóm chức năng trong phạm vi hệ thống quản lý hàng hóa và kho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AA744-609D-4DAC-B4F1-C207A722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81125"/>
            <a:ext cx="68580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C810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3233E-A929-4F7C-8AD0-108A89E4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240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HỆ THỐNG QUẢN LÝ HÀNG HÓA VÀ KHO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2D85D-310C-49DF-9432-1EFB8F52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39B97-AC2E-4EE9-AE82-DD09C1AA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0502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AE610-CCA5-467F-A2B9-A5E22347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621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7E202-EAEB-4DEA-9495-BB9141C0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FF439-C357-44C0-AD4F-BD53F0DC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238250"/>
            <a:ext cx="19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0169F-8459-46BA-B4AA-8FE5D5BA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287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2A0C2-A0F2-4CF4-8639-4182D30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2382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5779B-BB2F-4911-AA8E-048A8598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7200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B5093-34AB-4EEB-A9D3-1E299092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19450"/>
            <a:ext cx="190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CDD03-1E69-4441-B451-E3469756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9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DF77F-8E34-4B3D-8E2F-16C70A38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7200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D1DBF-B9BE-49B8-BD81-5FC6B0FD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267200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E9CFB-C1A0-40D7-8928-0F4C7BC1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576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A89E5-B675-472C-BC6B-216A18F9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720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E6D5E-BB29-4390-AD01-C21DDE9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81525"/>
            <a:ext cx="190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27148-8192-4FDE-96FF-E539B6E5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05475"/>
            <a:ext cx="661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0B541-E5A3-4782-9D8C-998114F1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19450"/>
            <a:ext cx="190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488AD-30C6-4D52-9686-1B5C95F8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099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9CB38-7CF8-4DC4-97DA-E40F35C6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01EFD-551C-42BF-9E5E-2E869432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52775"/>
            <a:ext cx="190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FEC1DD-E98B-4ED1-A907-360224D6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57675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E5E3E4-D5A2-4C7B-A1E7-626F247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3FE6B-56C1-4D00-B1B7-C8D201DD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152775"/>
            <a:ext cx="19050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181B6-D839-4DD3-9809-B9A2792B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02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E91019-25F1-43ED-B318-9E17EBF0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267325"/>
            <a:ext cx="19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C3C785-1116-41FD-A0C2-419578F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576F20-7487-41AD-AE03-58A45DEF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7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ACTOR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25B1DE-B6E7-4993-9CD7-A856C974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Quản trị viên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9A554E-6D07-4E05-A5CD-4000783D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FED81B-3D78-41FF-B034-0E88EF86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7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ACTOR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C37E67-15E5-48FC-A2A6-0C0888C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Nhân viên kho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A73AF0-EF63-4CE1-AEF7-B1DDD6F0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57500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115C3C-C576-4A25-88ED-3FF316BB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337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7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ACTOR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FAEBE9-D60E-4174-B3DC-D455E729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Quản lý cửa hàng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CC033C-D796-4D1E-BA5E-23870E66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3812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10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Đăng nhập và phân quyền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AB1003-E661-4623-98EC-CAF21A7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23812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10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Quản lý sản phẩm / biến thể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D994E1-2EDD-4FE4-8031-B40C578B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52750"/>
            <a:ext cx="23812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10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Nhập hàng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41CFA3-46CE-4F2E-A773-3A25D2E1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3812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10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Xuất hàng / đổi trả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93F0B6-F4A3-4C36-800A-204831D8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00500"/>
            <a:ext cx="23812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10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Kiểm kê và điều chỉnh tồn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F45192-0736-4D5E-9184-946DAE68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23812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10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Tra cứu tồn kho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23462E-C06C-4070-9711-4E69325E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23812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10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Báo cáo quản trị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451AC3-83D5-4042-9378-EC28128D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769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Khung hệ thống thể hiện phần việc thuộc phạm vi dự án. Nét nối thể hiện tác nhân tham gia use case.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A0BAB0-854B-4DA7-A24C-F78AA292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ad4e7b6564c5e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321C61-4848-4E35-AD77-0F72DDC4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BAC6F1-5E1B-4B6D-BE59-06C6B5E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334992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BD763E-2178-4311-8AC9-12C241E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B6C1A-659D-4CFF-AA04-70382763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E3816-B2EA-4BB5-B23B-8E8AF65E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PHỤ LỤC · SƠ ĐỒ DỰ 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A2B41-B1F2-41B2-BAB6-E2ED37F2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BIỂU ĐỒ TRÌNH TỰ TỔNG QUÁT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A343D-AC52-4AF4-A59E-71AFDA24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Luồng xử lý chung từ yêu cầu nghiệp vụ đến cập nhật dữ liệu và báo cáo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074D4-BA70-4C5A-98A5-474A9DF0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dbb0ad26f4752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74F37-B43E-40E9-A74C-0C96B8C3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F227F-D81A-47E6-8B13-BB66EC8E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43F00-079B-4CDD-B664-CACF382E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1619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11A62-533C-4168-BB3C-FE6CD7E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382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Người dùng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2B208-4EEB-42BB-AC5F-B5EC7384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621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8D9DC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421F3-2DEF-429D-9E8A-F9E636AC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85875"/>
            <a:ext cx="1619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E0FF5-BBDA-43DB-B885-02121D7E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382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Giao diện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6C762-D2B2-4479-8352-DFF8A98A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621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8D9DC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C6370-DA04-4FF2-87CB-17374035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85875"/>
            <a:ext cx="1619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D9BF3-D1E4-4493-BF75-92705ACC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4382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Nghiệp vụ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25A04-7E49-473E-BDA7-FE8D72E7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8D9DC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BE01E-B70B-4761-BA6A-12DE94DC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85875"/>
            <a:ext cx="1619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D0FB9-E0E3-4325-96B0-FCFBE7C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382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CSDL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36B8E-FCFB-46BF-A3B5-50C31BFC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621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8D9DC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02098-2787-43F1-8464-CDE90C5B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285875"/>
            <a:ext cx="1619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8F9"/>
          </a:solidFill>
          <a:ln xmlns:a="http://schemas.openxmlformats.org/drawingml/2006/main" w="9525">
            <a:solidFill>
              <a:srgbClr val="E8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EA66A-FDFB-42F3-93C8-DAE13FB8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4382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Quản lý / PM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6CE8B-E85D-4316-8F96-21FDBB8D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621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8D9DC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F16C9-C59A-45A7-942A-E3CA8716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81213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2214A-2618-41CB-9926-B8D5790E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86150" y="2028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90156E-655C-4772-9052-09C885D6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57375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Chọn nghiệp vụ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87E049-8368-46FC-BA3C-1DE63ADA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09838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485EFF-F582-44F8-91A4-EF1DCBA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24525" y="2457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70CCB6-5357-4A96-9FAF-22F58615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8600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Gửi yêu cầu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7564F-1162-4A26-906F-8569317E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8463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DA0D48-1C0C-477E-8D0E-494E9D20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62900" y="2886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29BB6C-9458-4CE4-9089-97B3A08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14625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Kiểm tra dữ liệu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F54CE-3C4F-47D4-BE1A-ABD7528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67088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7EEF90-DCFD-4E6F-87D2-FCB06920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03910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EBB5D0-9846-4AC7-A4C6-80AC194A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1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900" b="0" i="1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Trả kết quả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50C9A4-44C8-49FA-8158-C240C6AD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5713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93B962-490D-45C7-8929-DF744E8E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62900" y="3743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EFE2A2-5106-4ACA-B01B-4EC0718C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Lưu / cập nhật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7B2159-E0F2-4CB8-81B3-EF59176B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24338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50C31F-923B-4CA7-B771-87DB1344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039100" y="4171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CCF432-D6A2-4F84-9749-50905911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0050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1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900" b="0" i="1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Xác nhận cập nhật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516E22-AE01-461D-993E-3116D34D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52963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1C7D7A-982E-48B5-A009-D5A33C5C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800725" y="4600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CCAC03-28BC-4AED-92B4-56B58821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29125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1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900" b="0" i="1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Trả kết quả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D3F6C6-2E3A-4E21-AA35-C9020F34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1588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3AAA97-26F6-42ED-90AE-82DAEA4C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562350" y="5029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C74479-FA46-4F2E-9F80-5A93E20E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1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900" b="0" i="1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Hiển thị kết quả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414B71-E6C4-40F9-904E-3C8E3D38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05463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8B2183-26F6-40C4-9FD8-C2C1F12B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01275" y="5553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BC3AE3-8F91-4EC6-8B4E-31371706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81625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Cập nhật báo cáo / chỉ số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C3A72F-FDF7-477E-A749-E00685CF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Mũi tên liền: yêu cầu     Nét đứt: phản hồi</a:t>
            </a:r>
          </a:p>
        </p:txBody>
      </p:sp>
    </p:spTree>
    <p:extLst>
      <p:ext uri="{BB962C8B-B14F-4D97-AF65-F5344CB8AC3E}">
        <p14:creationId xmlns:p14="http://schemas.microsoft.com/office/powerpoint/2010/main" val="8945809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495AD-A28A-48D4-B54D-E64C092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EE847-207E-4590-A9F9-FFB2DEBB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2A88E-98EA-464E-A5D9-3CE7D5DD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PHỤ LỤC · KIỂM TRA NỘI DUNG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8CD32-5C53-46CD-B36F-B51C14F6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KIỂM TRA ĐỦ CÁC PHẦN QUẢN TRỊ DỰ 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79DA2-2170-46AC-936A-C68D237C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Danh mục đối chiếu để bảo đảm bài trình bày có đủ hồ sơ quản trị chính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1875B-25DB-4E29-B392-2303EA8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527985ad64872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79D54-0CE4-4326-A815-EAFE3CB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DAF1A-29C8-4A32-A20A-44671510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1144250" cy="4171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42486"/>
                <a:gridCol w="7506389"/>
                <a:gridCol w="1095375"/>
              </a:tblGrid>
              <a:tr h="41719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Nhóm nội dung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Nội dung cần có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Slide</a:t>
                      </a:r>
                    </a:p>
                  </a:txBody>
                  <a:tcPr marL="91440" marR="91440" marT="45720" marB="45720">
                    <a:solidFill>
                      <a:srgbClr val="C81028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Khởi động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Tôn chỉ, mục tiêu, bối cảnh và thông tin chung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3 - 5,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Phạm vi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Phạm vi trong / ngoài, đầu ra, FR và NFR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6, 12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Bên liên quan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Stakeholder, giao tiếp và cơ chế xác nhận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Tổ chức dự án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Vai trò PM, đội dự án, phân bổ nguồn lực và RACI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9 - 11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Kế hoạch thực hiện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WBS, gói bàn giao, lịch, mốc và phụ thuộc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14 - 15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Thời gian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PERT, buffer và đường găng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Chi phí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Dự toán Nhóm 1, EVM và trần tối đa 1 tỷ VNĐ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Kiểm soát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Chất lượng, thay đổi, báo cáo, UAT và nghiệm thu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19 - 20</a:t>
                      </a:r>
                    </a:p>
                  </a:txBody>
                  <a:tcPr marL="91440" marR="91440" marT="45720" marB="45720">
                    <a:solidFill>
                      <a:srgbClr val="FFF8F9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Sơ đồ hệ thống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Use Case tổng quát và trình tự tổng quát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21 - 22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13A58-3E86-45FD-A0D1-B1868EA3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11442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9525">
            <a:solidFill>
              <a:srgbClr val="B7DF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ADD48-6683-4B0F-AA30-7AAD720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37A4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37A4B"/>
                </a:solidFill>
                <a:latin typeface="Calibri"/>
                <a:ea typeface="Calibri"/>
                <a:cs typeface="Calibri"/>
              </a:rPr>
              <a:t>Kết luận kiểm tra: bản trình bày đã bao phủ các nhóm nội dung quản trị dự án chính trong phạm vi tài liệu Nhóm 1.</a:t>
            </a:r>
          </a:p>
        </p:txBody>
      </p:sp>
    </p:spTree>
    <p:extLst>
      <p:ext uri="{BB962C8B-B14F-4D97-AF65-F5344CB8AC3E}">
        <p14:creationId xmlns:p14="http://schemas.microsoft.com/office/powerpoint/2010/main" val="5334271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5C0C8-F595-447D-8CB2-93EC70A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B1B82-FAA8-4274-84FC-18DB32FC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EBDBF-49BC-4A61-8E98-E7E356A7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PHỤ LỤC · QUẢN TRỊ RỦI 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56A54-206F-4908-AB57-FB359026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ĐĂNG KÝ RỦI RO R01 – R06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4CDDD-013E-4336-8840-8A239890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Các rủi ro ưu tiên từ phạm vi, kỹ thuật và tiến độ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9CEA7-C4A7-4AD3-9097-5D88B529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cd50ea5024c79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72BC5-88BC-40EE-927E-46368432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00131-F31B-4F83-989F-82484695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333375" y="1190625"/>
          <a:ext xmlns:a="http://schemas.openxmlformats.org/drawingml/2006/main" cx="11525250" cy="4857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"/>
                <a:gridCol w="1571625"/>
                <a:gridCol w="952500"/>
                <a:gridCol w="304800"/>
                <a:gridCol w="304800"/>
                <a:gridCol w="685800"/>
                <a:gridCol w="2714625"/>
                <a:gridCol w="1190625"/>
                <a:gridCol w="3400425"/>
              </a:tblGrid>
              <a:tr h="693964"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Rủi ro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Nhóm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Điểm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Chiến lược ứng phó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Chủ sở hữu đề xuất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Dấu hiệu kích hoạt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Thay đổi yêu cầu sau khi đã chốt đặc tả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Phạm vi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16 -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Thiết lập quy trình yêu cầu thay đổi; chốt baseline yêu cầu; đánh giá tác động trước khi phê duyệt.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Tuấn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Xuất hiện yêu cầu mới hoặc sửa FR/NFR đã chốt.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R02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Thiết kế UML không nhất quán với yêu cầu/nghiệp vụ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Phạm vi/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Kỹ thuật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12 -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Review chéo Use Case - Class - Sequence; kiểm tra traceability với 19 FR và 11 NFR.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Tuấn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Anh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Phát hiện luồng nghiệp vụ không khớp giữa các tài liệu.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Sai mô hình CSDL hoặc ràng buộc tồn kho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Kỹ thuật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15 -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Review lược đồ, khóa, CHECK/UNIQUE; kiểm thử dữ liệu mẫu trước khi code nghiệp vụ.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Phạm Đoàn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Bảo Thiên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Phát hiện lỗi PK/FK, tồn âm hoặc dữ liệu trùng trong test.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R04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Lỗi đồng thời làm sai lệch tồn kho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Kỹ thuật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20 -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Rất cao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Dùng transaction nguyên tử, khóa dòng SELECT ... FOR UPDATE, test đồng thời và kiểm thử tải.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Quốc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Luýt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Tồn kho sai khi hai giao dịch xuất/nhập đồng thời.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Module phát triển chậm làm ảnh hưởng chuỗi công việc phía sau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Tiến độ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16 -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Theo dõi công việc tiền nhiệm; tích hợp từng phần; điều phối lại nguồn lực khi công việc nền tảng bị chậm.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Quốc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Luýt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Công việc vượt EST chốt hoặc ảnh hưởng task kế tiếp.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R06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Tích hợp Front-end/Back-end/CSDL phát sinh lỗi nhiều hơn dự kiến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Kỹ thuật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16 -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Dùng API contract, môi trường tích hợp sớm, test tích hợp liên tục và quản lý version.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Vũ Quang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Minh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API trả dữ liệu sai cấu trúc hoặc lỗi khi ghép module.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441B7-2447-4A5F-A80D-B53066C3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P = Xác suất · I = Mức độ ảnh hưởng · Điểm = P × I</a:t>
            </a:r>
          </a:p>
        </p:txBody>
      </p:sp>
    </p:spTree>
    <p:extLst>
      <p:ext uri="{BB962C8B-B14F-4D97-AF65-F5344CB8AC3E}">
        <p14:creationId xmlns:p14="http://schemas.microsoft.com/office/powerpoint/2010/main" val="11043590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409C5-1338-4393-A1F2-F7470E4D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8B27C-A37C-4615-9E3D-08DEBF3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E30EE-64ED-41EF-BF2B-0A4D01C7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PHỤ LỤC · QUẢN TRỊ RỦI 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1469D-4DDB-4732-8195-C726D45F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ĐĂNG KÝ RỦI RO R07 – R12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86EF1-B291-4B40-952C-23147843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Các rủi ro ưu tiên từ chất lượng, bảo mật, dữ liệu, nguồn lực và triển khai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BA6C8-72C3-4208-B63F-CC3BEF0E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5a12e19584b27"/>
          <a:stretch xmlns:a="http://schemas.openxmlformats.org/drawingml/2006/main"/>
        </p:blipFill>
        <p:spPr>
          <a:xfrm xmlns:a="http://schemas.openxmlformats.org/drawingml/2006/main">
            <a:off x="476250" y="6609353"/>
            <a:ext cx="323850" cy="9724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4E09B-ADE5-4BA5-B36E-1ED07315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436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Nhóm 1 · CNTT20261_N01 · Quản trị dự án 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60187-4F53-4163-9BCF-F34DDA7D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C81028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333375" y="1190625"/>
          <a:ext xmlns:a="http://schemas.openxmlformats.org/drawingml/2006/main" cx="11525250" cy="4857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"/>
                <a:gridCol w="1571625"/>
                <a:gridCol w="952500"/>
                <a:gridCol w="304800"/>
                <a:gridCol w="304800"/>
                <a:gridCol w="685800"/>
                <a:gridCol w="2714625"/>
                <a:gridCol w="1190625"/>
                <a:gridCol w="3400425"/>
              </a:tblGrid>
              <a:tr h="693964"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Rủi ro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Nhóm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Điểm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Chiến lược ứng phó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Chủ sở hữu đề xuất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Dấu hiệu kích hoạt</a:t>
                      </a:r>
                    </a:p>
                  </a:txBody>
                  <a:tcPr marL="91440" marR="91440" marT="45720" marB="45720">
                    <a:solidFill>
                      <a:srgbClr val="2C557D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Hiệu năng không đạt yêu cầu với 50.000 biến thể/100 người dùng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Chất lượng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12 -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Tạo dữ liệu gần thực tế, đo benchmark sớm, tối ưu index/query/pagination và kiểm thử tải.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Vũ Quang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Minh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Tra cứu vượt 2 giây hoặc báo cáo tháng vượt 10 giây.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R08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Lỗ hổng phân quyền hoặc xác thực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Bảo mật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12 -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RBAC theo ma trận quyền; JWT; bcrypt; timeout phiên; test truy cập trái phép và HTTPS.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Quốc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Luýt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Người dùng truy cập chức năng/kho ngoài quyền.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Dữ liệu Excel hiện tại không đồng nhất khi chuyển đổi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Dữ liệu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12 -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Lập quy tắc mapping, làm sạch dữ liệu, kiểm đếm trước/sau migration và chạy thử trên bản sao.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Phạm Đoàn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Bảo Thiên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Mã SKU, màu, size hoặc tồn không khớp khi import.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R10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Thiếu thời gian kiểm thử do phát triển kéo dài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Tiến độ/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Chất lượng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16 -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Tích hợp và kiểm thử từng phần; khóa tính năng trước UAT; ưu tiên lỗi nghiêm trọng.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Tuấn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Anh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Thời gian dành cho UAT bị co lại hoặc backlog lỗi tăng.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Nguồn lực thành viên không cân bằng hoặc phụ thuộc một người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Nguồn lực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12 -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Pair work, chia sẻ tài liệu, chuẩn hóa code, có người thay thế cho công việc quan trọng.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Bùi Tuấn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Một thành viên trở thành điểm nghẽn hoặc nghỉ/không đáp ứng kế hoạch.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3964"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R12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Môi trường triển khai/sao lưu/khôi phục chưa sẵn sàng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Triển khai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15 -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Cao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Chuẩn hóa Docker/Nginx, diễn tập backup-restore, checklist triển khai và kiểm tra trước bàn giao.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Vũ Quang</a:t>
                      </a:r>
                    </a:p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Minh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Triển khai lỗi hoặc khôi phục từ backup không thành công.</a:t>
                      </a:r>
                    </a:p>
                  </a:txBody>
                  <a:tcPr marL="91440" marR="91440" marT="45720" marB="4572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D7D2C-E689-4EAE-AB9A-907F7E99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626262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626262"/>
                </a:solidFill>
                <a:latin typeface="Calibri"/>
                <a:ea typeface="Calibri"/>
                <a:cs typeface="Calibri"/>
              </a:rPr>
              <a:t>P = Xác suất · I = Mức độ ảnh hưởng · Điểm = P × I</a:t>
            </a:r>
          </a:p>
        </p:txBody>
      </p:sp>
    </p:spTree>
    <p:extLst>
      <p:ext uri="{BB962C8B-B14F-4D97-AF65-F5344CB8AC3E}">
        <p14:creationId xmlns:p14="http://schemas.microsoft.com/office/powerpoint/2010/main" val="20943474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2026-09-19T03:12:02.7950000Z</dcterms:created>
  <dcterms:modified xsi:type="dcterms:W3CDTF">2026-09-19T03:12:02.7950000Z</dcterms:modified>
</coreProperties>
</file>