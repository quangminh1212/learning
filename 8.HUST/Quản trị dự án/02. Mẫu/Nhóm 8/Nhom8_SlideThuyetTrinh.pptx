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7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8" r:id="rId12"/>
    <p:sldId id="269" r:id="rId13"/>
    <p:sldId id="270" r:id="rId14"/>
    <p:sldId id="271" r:id="rId15"/>
    <p:sldId id="272" r:id="rId16"/>
    <p:sldId id="265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Trạng thái đầu mục</c:v>
          </c:tx>
          <c:dPt>
            <c:idx val="0"/>
            <c:bubble3D val="0"/>
            <c:spPr>
              <a:solidFill>
                <a:srgbClr val="00A86B"/>
              </a:solidFill>
            </c:spPr>
            <c:extLst>
              <c:ext xmlns:c16="http://schemas.microsoft.com/office/drawing/2014/chart" uri="{C3380CC4-5D6E-409C-BE32-E72D297353CC}">
                <c16:uniqueId val="{00000001-CC1E-4837-A7D6-4C741B984E17}"/>
              </c:ext>
            </c:extLst>
          </c:dPt>
          <c:dPt>
            <c:idx val="1"/>
            <c:bubble3D val="0"/>
            <c:spPr>
              <a:solidFill>
                <a:srgbClr val="D6A52A"/>
              </a:solidFill>
            </c:spPr>
            <c:extLst>
              <c:ext xmlns:c16="http://schemas.microsoft.com/office/drawing/2014/chart" uri="{C3380CC4-5D6E-409C-BE32-E72D297353CC}">
                <c16:uniqueId val="{00000003-CC1E-4837-A7D6-4C741B984E17}"/>
              </c:ext>
            </c:extLst>
          </c:dPt>
          <c:dPt>
            <c:idx val="2"/>
            <c:bubble3D val="0"/>
            <c:spPr>
              <a:solidFill>
                <a:srgbClr val="C81E34"/>
              </a:solidFill>
            </c:spPr>
            <c:extLst>
              <c:ext xmlns:c16="http://schemas.microsoft.com/office/drawing/2014/chart" uri="{C3380CC4-5D6E-409C-BE32-E72D297353CC}">
                <c16:uniqueId val="{00000005-CC1E-4837-A7D6-4C741B984E1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11827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Lit>
              <c:ptCount val="3"/>
              <c:pt idx="0">
                <c:v>Đã đóng</c:v>
              </c:pt>
              <c:pt idx="1">
                <c:v>Từ chối hoặc hủy</c:v>
              </c:pt>
              <c:pt idx="2">
                <c:v>Đang mở</c:v>
              </c:pt>
            </c:strLit>
          </c:cat>
          <c:val>
            <c:numLit>
              <c:formatCode>0.0%</c:formatCode>
              <c:ptCount val="3"/>
              <c:pt idx="0">
                <c:v>75</c:v>
              </c:pt>
              <c:pt idx="1">
                <c:v>8.5</c:v>
              </c:pt>
              <c:pt idx="2">
                <c:v>16.5</c:v>
              </c:pt>
            </c:numLit>
          </c:val>
          <c:extLst>
            <c:ext xmlns:c16="http://schemas.microsoft.com/office/drawing/2014/chart" uri="{C3380CC4-5D6E-409C-BE32-E72D297353CC}">
              <c16:uniqueId val="{00000006-CC1E-4837-A7D6-4C741B984E1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270"/>
        <c:holeSize val="58"/>
      </c:doughnutChart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Kinh phí</c:v>
                </c:pt>
              </c:strCache>
            </c:strRef>
          </c:tx>
          <c:spPr>
            <a:solidFill>
              <a:srgbClr val="00A86B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87A55"/>
              </a:solidFill>
            </c:spPr>
            <c:extLst>
              <c:ext xmlns:c16="http://schemas.microsoft.com/office/drawing/2014/chart" uri="{C3380CC4-5D6E-409C-BE32-E72D297353CC}">
                <c16:uniqueId val="{00000001-27AF-45D0-A1B7-E3BC2498F0B2}"/>
              </c:ext>
            </c:extLst>
          </c:dPt>
          <c:dPt>
            <c:idx val="1"/>
            <c:invertIfNegative val="0"/>
            <c:bubble3D val="0"/>
            <c:spPr>
              <a:solidFill>
                <a:srgbClr val="D6A52A"/>
              </a:solidFill>
            </c:spPr>
            <c:extLst>
              <c:ext xmlns:c16="http://schemas.microsoft.com/office/drawing/2014/chart" uri="{C3380CC4-5D6E-409C-BE32-E72D297353CC}">
                <c16:uniqueId val="{00000003-27AF-45D0-A1B7-E3BC2498F0B2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7AF-45D0-A1B7-E3BC2498F0B2}"/>
              </c:ext>
            </c:extLst>
          </c:dPt>
          <c:dLbls>
            <c:dLbl>
              <c:idx val="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7548571428571427"/>
                      <c:h val="5.480011665208515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27AF-45D0-A1B7-E3BC2498F0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75" b="1">
                    <a:solidFill>
                      <a:srgbClr val="111827"/>
                    </a:solidFill>
                    <a:latin typeface="DejaVu Sans"/>
                    <a:ea typeface="DejaVu Sans"/>
                    <a:cs typeface="DejaVu San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Công lao động</c:v>
                </c:pt>
                <c:pt idx="1">
                  <c:v>Nguyên vật liệu, thiết bị</c:v>
                </c:pt>
                <c:pt idx="2">
                  <c:v>Chi khác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123</c:v>
                </c:pt>
                <c:pt idx="1">
                  <c:v>50</c:v>
                </c:pt>
                <c:pt idx="2">
                  <c:v>280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7AF-45D0-A1B7-E3BC2498F0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DD8"/>
            </a:solidFill>
            <a:prstDash val="solid"/>
          </a:ln>
        </c:spPr>
        <c:txPr>
          <a:bodyPr anchorCtr="1"/>
          <a:lstStyle/>
          <a:p>
            <a:pPr>
              <a:defRPr sz="13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150A-5DFC-9DC7-72FF-7D3D30DB9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7CA7E8-C2D7-D753-F2C7-5BD78A920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9B589A-D178-14A2-D36A-F41EDCEBE2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0BA3B-5203-B5F4-337A-D519964519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800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30073" r="30073"/>
          <a:stretch>
            <a:fillRect/>
          </a:stretch>
        </p:blipFill>
        <p:spPr>
          <a:xfrm>
            <a:off x="6457950" y="0"/>
            <a:ext cx="573405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9630" y="552450"/>
            <a:ext cx="2468840" cy="10001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055470-8200-45B9-8ED2-A11D2F4AD180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5334000" cy="2714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300" b="1" noProof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HỆ THỐNG QUẢN LÝ DỰ ÁN</a:t>
            </a:r>
          </a:p>
          <a:p>
            <a:pPr algn="l">
              <a:lnSpc>
                <a:spcPct val="94000"/>
              </a:lnSpc>
              <a:buNone/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300" b="1" noProof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CHO DOANH NGHIỆP VỪA VÀ NHỎ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4380B-2D2E-43E0-8C3A-C5BC25EFF92C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875" b="1">
                <a:solidFill>
                  <a:srgbClr val="CFEFE1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75" b="1" noProof="1">
                <a:solidFill>
                  <a:srgbClr val="CFEFE1"/>
                </a:solidFill>
                <a:latin typeface="DejaVu Sans"/>
                <a:ea typeface="DejaVu Sans"/>
                <a:cs typeface="DejaVu Sans"/>
              </a:rPr>
              <a:t>Báo cáo dự án  |  Nhóm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1E557-6443-43D2-A5FD-539BB9C68B71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  <a:defRPr sz="1575" b="0">
                <a:solidFill>
                  <a:srgbClr val="D7DEE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noProof="1">
                <a:solidFill>
                  <a:srgbClr val="D7DEE8"/>
                </a:solidFill>
                <a:latin typeface="DejaVu Sans"/>
                <a:ea typeface="DejaVu Sans"/>
                <a:cs typeface="DejaVu Sans"/>
              </a:rPr>
              <a:t>Học phần Quản trị dự án</a:t>
            </a: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D7DEE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noProof="1">
                <a:solidFill>
                  <a:srgbClr val="D7DEE8"/>
                </a:solidFill>
                <a:latin typeface="DejaVu Sans"/>
                <a:ea typeface="DejaVu Sans"/>
                <a:cs typeface="DejaVu Sans"/>
              </a:rPr>
              <a:t>Giảng viên hướng dẫn: ThS. Lê Thị Hoa</a:t>
            </a:r>
          </a:p>
          <a:p>
            <a:pPr algn="l">
              <a:lnSpc>
                <a:spcPct val="110000"/>
              </a:lnSpc>
              <a:buNone/>
              <a:defRPr sz="1575" b="0">
                <a:solidFill>
                  <a:srgbClr val="D7DEE8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0" noProof="1">
                <a:solidFill>
                  <a:srgbClr val="D7DEE8"/>
                </a:solidFill>
                <a:latin typeface="DejaVu Sans"/>
                <a:ea typeface="DejaVu Sans"/>
                <a:cs typeface="DejaVu Sans"/>
              </a:rPr>
              <a:t>Hà Nội, 09/2026</a:t>
            </a:r>
          </a:p>
        </p:txBody>
      </p:sp>
    </p:spTree>
    <p:extLst>
      <p:ext uri="{BB962C8B-B14F-4D97-AF65-F5344CB8AC3E}">
        <p14:creationId xmlns:p14="http://schemas.microsoft.com/office/powerpoint/2010/main" val="36484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071352B-1DE7-4749-B45C-86B642182C67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Dự án và nhóm thực hiện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88B39-B9B9-4125-A25A-EF1F55D3E9E7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1AD68-71A1-42E9-A6F0-58FBFEC1958C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Mã đề tài CNTT20261_K69_N08 | Lớp QTDA-VB2-20261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359E8-9082-43A5-B265-4E55728CC0F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143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2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2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NHÓM 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E5A504-A148-4DD4-8454-FD2940D58B17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714750" cy="1762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2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Quản trị dự án xây dựng website quản lý dự án cho doanh nghiệp quy mô vừa và nhỏ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434D1-E932-4E12-A5DE-D15424E58694}"/>
              </a:ext>
            </a:extLst>
          </p:cNvPr>
          <p:cNvSpPr>
            <a:spLocks noGrp="1"/>
          </p:cNvSpPr>
          <p:nvPr/>
        </p:nvSpPr>
        <p:spPr>
          <a:xfrm>
            <a:off x="5048250" y="1733550"/>
            <a:ext cx="2857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Trịnh Đức Linh</a:t>
            </a:r>
          </a:p>
          <a:p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202490065</a:t>
            </a:r>
          </a:p>
          <a:p>
            <a:pPr>
              <a:defRPr sz="17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1" noProof="1">
                <a:solidFill>
                  <a:srgbClr val="FF0000"/>
                </a:solidFill>
                <a:latin typeface="DejaVu Sans"/>
                <a:ea typeface="DejaVu Sans"/>
                <a:cs typeface="DejaVu Sans"/>
              </a:rPr>
              <a:t>Project Director </a:t>
            </a:r>
          </a:p>
          <a:p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endParaRPr lang="en-US" sz="1725" b="1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8000"/>
              </a:lnSpc>
              <a:buNone/>
              <a:defRPr sz="17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endParaRPr lang="en-US" sz="1725" b="1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9E12D-DB4A-431D-9B38-A5FAC8E7D990}"/>
              </a:ext>
            </a:extLst>
          </p:cNvPr>
          <p:cNvSpPr>
            <a:spLocks noGrp="1"/>
          </p:cNvSpPr>
          <p:nvPr/>
        </p:nvSpPr>
        <p:spPr>
          <a:xfrm>
            <a:off x="5048250" y="2990850"/>
            <a:ext cx="2857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Nguyễn Trọng Sang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202490080</a:t>
            </a:r>
          </a:p>
          <a:p>
            <a:pPr>
              <a:lnSpc>
                <a:spcPct val="108000"/>
              </a:lnSpc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Member</a:t>
            </a:r>
            <a:endParaRPr lang="en-US" sz="1725" b="0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C87E69-BBCC-45D5-B286-9B6562C6E1C3}"/>
              </a:ext>
            </a:extLst>
          </p:cNvPr>
          <p:cNvSpPr>
            <a:spLocks noGrp="1"/>
          </p:cNvSpPr>
          <p:nvPr/>
        </p:nvSpPr>
        <p:spPr>
          <a:xfrm>
            <a:off x="5048250" y="4248150"/>
            <a:ext cx="2857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Nguyễn Minh Quý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202490078</a:t>
            </a:r>
          </a:p>
          <a:p>
            <a:pPr>
              <a:lnSpc>
                <a:spcPct val="108000"/>
              </a:lnSpc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Member</a:t>
            </a:r>
            <a:endParaRPr lang="en-US" sz="1725" b="0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A3AF80-5BF9-417F-80BB-6EB3D4A3632F}"/>
              </a:ext>
            </a:extLst>
          </p:cNvPr>
          <p:cNvSpPr>
            <a:spLocks noGrp="1"/>
          </p:cNvSpPr>
          <p:nvPr/>
        </p:nvSpPr>
        <p:spPr>
          <a:xfrm>
            <a:off x="8334375" y="1733550"/>
            <a:ext cx="3048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Nguyễn Trọng Nhân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202490073</a:t>
            </a:r>
          </a:p>
          <a:p>
            <a:pPr>
              <a:lnSpc>
                <a:spcPct val="108000"/>
              </a:lnSpc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Member</a:t>
            </a:r>
            <a:endParaRPr lang="en-US" sz="1725" b="0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478A2-E8D9-4803-A031-93401EB5C992}"/>
              </a:ext>
            </a:extLst>
          </p:cNvPr>
          <p:cNvSpPr>
            <a:spLocks noGrp="1"/>
          </p:cNvSpPr>
          <p:nvPr/>
        </p:nvSpPr>
        <p:spPr>
          <a:xfrm>
            <a:off x="8334375" y="2990850"/>
            <a:ext cx="3737882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Đỗ Thị Thảo Hương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202490061</a:t>
            </a:r>
          </a:p>
          <a:p>
            <a:pPr>
              <a:lnSpc>
                <a:spcPct val="108000"/>
              </a:lnSpc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Member</a:t>
            </a:r>
            <a:endParaRPr lang="en-US" sz="1725" b="0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6C2847-E414-48B3-B574-1E30AFBB3BA5}"/>
              </a:ext>
            </a:extLst>
          </p:cNvPr>
          <p:cNvSpPr>
            <a:spLocks noGrp="1"/>
          </p:cNvSpPr>
          <p:nvPr/>
        </p:nvSpPr>
        <p:spPr>
          <a:xfrm>
            <a:off x="8334375" y="4248150"/>
            <a:ext cx="3048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Lê Minh Tuấn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202490084</a:t>
            </a:r>
          </a:p>
          <a:p>
            <a:pPr>
              <a:lnSpc>
                <a:spcPct val="108000"/>
              </a:lnSpc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Member</a:t>
            </a:r>
            <a:endParaRPr lang="en-US" sz="1725" b="0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7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endParaRPr lang="en-US" sz="1725" b="0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E06D65-E8DA-4741-BFC9-A5A3BFECC031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Đơn vị chủ trì: Trường CNTT và Truyền thông, Đại học Bách khoa Hà Nội</a:t>
            </a:r>
          </a:p>
        </p:txBody>
      </p:sp>
    </p:spTree>
    <p:extLst>
      <p:ext uri="{BB962C8B-B14F-4D97-AF65-F5344CB8AC3E}">
        <p14:creationId xmlns:p14="http://schemas.microsoft.com/office/powerpoint/2010/main" val="104910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0C21CB-B40C-435D-BCB3-EECF328B821B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31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Vấn đề khảo sát và nhu cầu hệ thống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24339B-3DE6-48BC-B7DE-0A0ED42AF637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75CDFD-A60B-4C2A-9912-F44D8F2D4D22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Mười vấn đề hiện trạng được hợp nhất thành năm nhóm yêu cầu</a:t>
            </a:r>
          </a:p>
        </p:txBody>
      </p:sp>
      <p:graphicFrame>
        <p:nvGraphicFramePr>
          <p:cNvPr id="10" name="Table 9"/>
          <p:cNvGraphicFramePr/>
          <p:nvPr>
            <p:extLst>
              <p:ext uri="{D42A27DB-BD31-4B8C-83A1-F6EECF244321}">
                <p14:modId xmlns:p14="http://schemas.microsoft.com/office/powerpoint/2010/main" val="609189687"/>
              </p:ext>
            </p:extLst>
          </p:nvPr>
        </p:nvGraphicFramePr>
        <p:xfrm>
          <a:off x="685800" y="1571625"/>
          <a:ext cx="10820400" cy="4163695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6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lang="en-US" sz="157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Nhóm vấn đề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Biểu hiện chính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Nhu cầu hệ thống</a:t>
                      </a:r>
                    </a:p>
                  </a:txBody>
                  <a:tcPr marL="114300" marR="114300" marT="76200" marB="76200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Dữ liệu phân tán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Nhiều tệp, email và phiên bản; báo cáo tổng hợp theo tháng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Một nguồn dữ liệu chuẩn và dashboard danh mục dự án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Tiến độ cập nhật trễ</a:t>
                      </a:r>
                    </a:p>
                  </a:txBody>
                  <a:tcPr marL="114300" marR="11430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Thành viên báo cáo theo kỳ; thiếu cảnh báo trước và sau hạn</a:t>
                      </a:r>
                    </a:p>
                  </a:txBody>
                  <a:tcPr marL="114300" marR="11430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Cập nhật trực tiếp, theo dõi tức thời và cảnh báo quá hạn</a:t>
                      </a:r>
                    </a:p>
                  </a:txBody>
                  <a:tcPr marL="114300" marR="114300" marT="66675" marB="66675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Nguồn lực và giờ công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Không thấy tải của một nhân sự trên nhiều dự án; khó đối chiếu ước lượng với thực tế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Phân bổ nguồn lực đa dự án và ghi nhận giờ công theo kỳ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Rủi ro và lịch sử</a:t>
                      </a:r>
                    </a:p>
                  </a:txBody>
                  <a:tcPr marL="114300" marR="11430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Rải rác trong biên bản, email; tệp bị ghi đè khi cập nhật</a:t>
                      </a:r>
                    </a:p>
                  </a:txBody>
                  <a:tcPr marL="114300" marR="11430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Sổ rủi ro, sổ vấn đề và nhật ký thay đổi</a:t>
                      </a:r>
                    </a:p>
                  </a:txBody>
                  <a:tcPr marL="114300" marR="114300" marT="66675" marB="66675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Báo cáo và phân quyền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Tổng hợp thủ công; biểu mẫu và quyền truy cập chưa thống nhất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Báo cáo tự động, biểu mẫu chuẩn và phân quyền theo vai trò</a:t>
                      </a:r>
                    </a:p>
                  </a:txBody>
                  <a:tcPr marL="114300" marR="11430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24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4A07D6-466E-474B-B2B1-64C71907060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31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Khảo sát hiện trạng Dự án 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12C6BC-33ED-40FE-98D4-3E9ABC18BBC8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E3D2F1-A850-4ABE-9E73-5E557A6DC52B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Dữ liệu vận hành thực tế tại thời điểm khảo sát tháng 9/2026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D8B7FB-D3EF-44E2-8413-FAD00749307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3333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5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5250" b="1" i="0" u="none" strike="noStrike" kern="1200" cap="none" spc="0" normalizeH="0" baseline="0" noProof="1">
                <a:ln>
                  <a:noFill/>
                </a:ln>
                <a:solidFill>
                  <a:srgbClr val="00A86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2.000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5C860-98A3-4841-A066-52CC9517974C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3333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đầu mục toàn dự án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7AB00-81ED-47B0-95A9-98D68D24466A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4333875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Khoảng 30 nhân sự</a:t>
            </a: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đang tham gia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70.260 giờ</a:t>
            </a: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ước lượng trên 1.803 công việc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33.652 giờ</a:t>
            </a: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thực tế đã ghi nhận, tương đương khoảng 48%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5DFCBC-5602-40B4-B1B9-38904CFC2C0D}"/>
              </a:ext>
            </a:extLst>
          </p:cNvPr>
          <p:cNvSpPr>
            <a:spLocks noGrp="1"/>
          </p:cNvSpPr>
          <p:nvPr/>
        </p:nvSpPr>
        <p:spPr>
          <a:xfrm>
            <a:off x="685800" y="4967287"/>
            <a:ext cx="247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00" b="1">
                <a:solidFill>
                  <a:srgbClr val="C81E34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4200" b="1" i="0" u="none" strike="noStrike" kern="1200" cap="none" spc="0" normalizeH="0" baseline="0" noProof="1">
                <a:ln>
                  <a:noFill/>
                </a:ln>
                <a:solidFill>
                  <a:srgbClr val="C81E34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96,1%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111AA4-6BFE-43A5-BE6C-FDEFFD8E4B91}"/>
              </a:ext>
            </a:extLst>
          </p:cNvPr>
          <p:cNvSpPr>
            <a:spLocks noGrp="1"/>
          </p:cNvSpPr>
          <p:nvPr/>
        </p:nvSpPr>
        <p:spPr>
          <a:xfrm>
            <a:off x="2856820" y="4924424"/>
            <a:ext cx="34290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317 trong 330 đầu mục đang mở đã quá hạn nhưng chưa được đóng, gây khó khăn trong việc quản lý</a:t>
            </a:r>
          </a:p>
        </p:txBody>
      </p:sp>
      <p:graphicFrame>
        <p:nvGraphicFramePr>
          <p:cNvPr id="19" name="Chart"/>
          <p:cNvGraphicFramePr/>
          <p:nvPr>
            <p:extLst>
              <p:ext uri="{D42A27DB-BD31-4B8C-83A1-F6EECF244321}">
                <p14:modId xmlns:p14="http://schemas.microsoft.com/office/powerpoint/2010/main" val="2345777633"/>
              </p:ext>
            </p:extLst>
          </p:nvPr>
        </p:nvGraphicFramePr>
        <p:xfrm>
          <a:off x="6622596" y="1228725"/>
          <a:ext cx="5565321" cy="4733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FF0F1AD-1DEB-46D2-8ECC-FAD4EE0E8E60}"/>
              </a:ext>
            </a:extLst>
          </p:cNvPr>
          <p:cNvSpPr>
            <a:spLocks noGrp="1"/>
          </p:cNvSpPr>
          <p:nvPr/>
        </p:nvSpPr>
        <p:spPr>
          <a:xfrm>
            <a:off x="7500257" y="5810250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3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Cơ cấu trạng thái của 2.000 đầu mục</a:t>
            </a:r>
          </a:p>
        </p:txBody>
      </p:sp>
    </p:spTree>
    <p:extLst>
      <p:ext uri="{BB962C8B-B14F-4D97-AF65-F5344CB8AC3E}">
        <p14:creationId xmlns:p14="http://schemas.microsoft.com/office/powerpoint/2010/main" val="547478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DE0138-478A-43B0-B768-9FCCD484F720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Mục tiêu và yêu cầu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B1FE88-F14C-4369-AD92-D31F9281DB4C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EC82C6-DA7C-46A6-AB1C-2AECFDDA6D3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4290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720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7200" b="1" noProof="1">
                <a:solidFill>
                  <a:srgbClr val="00A86B"/>
                </a:solidFill>
                <a:latin typeface="DejaVu Sans"/>
                <a:ea typeface="DejaVu Sans"/>
                <a:cs typeface="DejaVu Sans"/>
              </a:rPr>
              <a:t>97%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5F01F-2C1A-4E88-BAFE-90D9E88E9CC1}"/>
              </a:ext>
            </a:extLst>
          </p:cNvPr>
          <p:cNvSpPr>
            <a:spLocks noGrp="1"/>
          </p:cNvSpPr>
          <p:nvPr/>
        </p:nvSpPr>
        <p:spPr>
          <a:xfrm>
            <a:off x="723900" y="2809875"/>
            <a:ext cx="342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5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Doanh nghiệp đang hoạt động tại Việt Nam là doanh nghiệp vừa và nhỏ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C5E38-CD16-42E9-B254-AA42219A3FEB}"/>
              </a:ext>
            </a:extLst>
          </p:cNvPr>
          <p:cNvSpPr>
            <a:spLocks noGrp="1"/>
          </p:cNvSpPr>
          <p:nvPr/>
        </p:nvSpPr>
        <p:spPr>
          <a:xfrm>
            <a:off x="4762500" y="1212397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75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Mục tiêu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873B36-8A76-4136-B444-64CAB5012866}"/>
              </a:ext>
            </a:extLst>
          </p:cNvPr>
          <p:cNvSpPr>
            <a:spLocks noGrp="1"/>
          </p:cNvSpPr>
          <p:nvPr/>
        </p:nvSpPr>
        <p:spPr>
          <a:xfrm>
            <a:off x="4675412" y="1649184"/>
            <a:ext cx="6743700" cy="232137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412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72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Chuẩn hóa quản trị dự án theo vòng đời</a:t>
            </a:r>
          </a:p>
          <a:p>
            <a:pPr marL="412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72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Theo dõi tiến độ, nguồn lực, chi phí và rủi ro trên một hệ thống thống nhất</a:t>
            </a:r>
          </a:p>
          <a:p>
            <a:pPr marL="412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72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Cung cấp giải pháp gọn nhẹ, dễ dùng và phù hợp ngân sách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A0C3B3-12F6-4B59-BC8E-C7DA44A60501}"/>
              </a:ext>
            </a:extLst>
          </p:cNvPr>
          <p:cNvSpPr>
            <a:spLocks noGrp="1"/>
          </p:cNvSpPr>
          <p:nvPr/>
        </p:nvSpPr>
        <p:spPr>
          <a:xfrm>
            <a:off x="4762500" y="4097109"/>
            <a:ext cx="304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175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Yêu cầu trọng tâm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B7CB01-1248-49AD-A7E4-63860B66A460}"/>
              </a:ext>
            </a:extLst>
          </p:cNvPr>
          <p:cNvSpPr>
            <a:spLocks noGrp="1"/>
          </p:cNvSpPr>
          <p:nvPr/>
        </p:nvSpPr>
        <p:spPr>
          <a:xfrm>
            <a:off x="4762500" y="4555667"/>
            <a:ext cx="6743700" cy="200024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65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Chức năng: </a:t>
            </a:r>
            <a:r>
              <a:rPr lang="en-US" sz="165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Quản lý tài khoản, dự án và công việc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65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Phi chức năng: </a:t>
            </a:r>
            <a:r>
              <a:rPr lang="en-US" sz="165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bảo mật, sẵn sàng, mở rộng, nhất quán dữ liệu và dễ sử dụng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defRPr sz="165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6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Quản trị: </a:t>
            </a:r>
            <a:r>
              <a:rPr lang="en-US" sz="1650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đúng phạm vi, tiến độ, ngân sách và tiêu chí chất lượng</a:t>
            </a:r>
          </a:p>
        </p:txBody>
      </p:sp>
    </p:spTree>
    <p:extLst>
      <p:ext uri="{BB962C8B-B14F-4D97-AF65-F5344CB8AC3E}">
        <p14:creationId xmlns:p14="http://schemas.microsoft.com/office/powerpoint/2010/main" val="14840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046E865-9D91-466C-BC06-183357AB93E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Tính khả thi của dự án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1DBA5-AF11-4605-AD87-C44501ED8E4B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B84D80-6DF3-428F-95F8-837BE8D6723C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Hồ sơ đánh giá khả thi trên bốn phương diện chính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702941-AB0F-4D03-A7D2-B15AB0951C1E}"/>
              </a:ext>
            </a:extLst>
          </p:cNvPr>
          <p:cNvSpPr>
            <a:spLocks noGrp="1"/>
          </p:cNvSpPr>
          <p:nvPr/>
        </p:nvSpPr>
        <p:spPr>
          <a:xfrm>
            <a:off x="685800" y="1635578"/>
            <a:ext cx="3810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570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5700" b="1" noProof="1">
                <a:solidFill>
                  <a:srgbClr val="00A86B"/>
                </a:solidFill>
                <a:latin typeface="DejaVu Sans"/>
                <a:ea typeface="DejaVu Sans"/>
                <a:cs typeface="DejaVu Sans"/>
              </a:rPr>
              <a:t>KHẢ THI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0FEFEF-5B03-425B-BBFD-93B464D6F496}"/>
              </a:ext>
            </a:extLst>
          </p:cNvPr>
          <p:cNvSpPr>
            <a:spLocks noGrp="1"/>
          </p:cNvSpPr>
          <p:nvPr/>
        </p:nvSpPr>
        <p:spPr>
          <a:xfrm>
            <a:off x="4762500" y="1666875"/>
            <a:ext cx="3333750" cy="369978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Kỹ thuật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ReactJS, Spring Boot, PostgreSQL và AWS tạo nền tảng rõ ràng để phát triển và mở rộng.</a:t>
            </a:r>
          </a:p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Vận hành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Phân quyền ADMIN, MEMBER, VIEWER và giao diện web giúp người dùng dễ tiếp cận.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E2F17-DAA2-43EF-9C98-13AAE75CAC50}"/>
              </a:ext>
            </a:extLst>
          </p:cNvPr>
          <p:cNvSpPr>
            <a:spLocks noGrp="1"/>
          </p:cNvSpPr>
          <p:nvPr/>
        </p:nvSpPr>
        <p:spPr>
          <a:xfrm>
            <a:off x="8395610" y="1666875"/>
            <a:ext cx="3143250" cy="36290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Tiến độ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Kế hoạch sáu tháng, chia thành các giai đoạn có đầu ra và người phụ trách cụ thể.</a:t>
            </a:r>
          </a:p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endParaRPr lang="en-US" sz="1575" noProof="1">
              <a:solidFill>
                <a:srgbClr val="111827"/>
              </a:solidFill>
              <a:latin typeface="DejaVu Sans"/>
              <a:ea typeface="DejaVu Sans"/>
              <a:cs typeface="DejaVu Sans"/>
            </a:endParaRPr>
          </a:p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Tài chính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Dự toán chi tiết tập trung vào nhân công, hạ tầng thử nghiệm, đào tạo, vận hành và dự phòng rủi ro.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97335-BD2A-43B4-83D9-BC054861A4D0}"/>
              </a:ext>
            </a:extLst>
          </p:cNvPr>
          <p:cNvSpPr>
            <a:spLocks noGrp="1"/>
          </p:cNvSpPr>
          <p:nvPr/>
        </p:nvSpPr>
        <p:spPr>
          <a:xfrm>
            <a:off x="4762500" y="5476874"/>
            <a:ext cx="6667500" cy="129403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  <a:defRPr sz="180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80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Điều kiện để khả thi chuyển thành kết quả: khóa phạm vi, kiểm soát thay đổi và nghiệm thu theo từng mốc</a:t>
            </a:r>
          </a:p>
        </p:txBody>
      </p:sp>
    </p:spTree>
    <p:extLst>
      <p:ext uri="{BB962C8B-B14F-4D97-AF65-F5344CB8AC3E}">
        <p14:creationId xmlns:p14="http://schemas.microsoft.com/office/powerpoint/2010/main" val="1530701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D60B81-3FDB-4D54-BF03-2FE281B3DC2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Các chức năng chính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3B8D29-C27B-43D4-A5CB-A5F2863DFE3D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FB6A32-0E86-43C6-8D6E-8981106E43B0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Hệ thống Nello tổ chức công việc theo cấu trúc Workspace, Board, List và Card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418779"/>
            <a:ext cx="5314950" cy="2515743"/>
          </a:xfrm>
          <a:prstGeom prst="roundRect">
            <a:avLst>
              <a:gd name="adj" fmla="val 3000"/>
            </a:avLst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84E88DC-0315-4360-8AF1-2209D8454124}"/>
              </a:ext>
            </a:extLst>
          </p:cNvPr>
          <p:cNvSpPr>
            <a:spLocks noGrp="1"/>
          </p:cNvSpPr>
          <p:nvPr/>
        </p:nvSpPr>
        <p:spPr>
          <a:xfrm>
            <a:off x="6610350" y="5134261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35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Giao diện 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20C516-1061-FA79-136C-0157D60372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562100"/>
            <a:ext cx="5182458" cy="467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070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833DF6-54BF-4BEA-87F5-6691304FD036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Kiến trúc và yêu cầu chất lượng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780522-C359-424B-8B42-FB82D094EE83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EA45FB-24C3-43F4-953C-CDB764AD7090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Client và Backend tách biệt, triển khai trên hạ tầng AWS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588085"/>
            <a:ext cx="7524750" cy="4110456"/>
          </a:xfrm>
          <a:prstGeom prst="roundRect">
            <a:avLst>
              <a:gd name="adj" fmla="val 1798"/>
            </a:avLst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242FA5F-EC8A-4A30-AA24-57B3F0A81131}"/>
              </a:ext>
            </a:extLst>
          </p:cNvPr>
          <p:cNvSpPr>
            <a:spLocks noGrp="1"/>
          </p:cNvSpPr>
          <p:nvPr/>
        </p:nvSpPr>
        <p:spPr>
          <a:xfrm>
            <a:off x="8553450" y="1562100"/>
            <a:ext cx="2952750" cy="45781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Frontend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ReactJS</a:t>
            </a:r>
          </a:p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Backend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Spring Boot</a:t>
            </a:r>
          </a:p>
          <a:p>
            <a:pPr>
              <a:lnSpc>
                <a:spcPct val="150000"/>
              </a:lnSpc>
              <a:buNone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Dữ liệu và xác thực
</a:t>
            </a: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PostgreSQL RDS</a:t>
            </a:r>
          </a:p>
          <a:p>
            <a:pPr>
              <a:lnSpc>
                <a:spcPct val="150000"/>
              </a:lnSpc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Chất lượng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Bảo mật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Sẵn sàng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Mở rộng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Nhất quán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575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7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Dễ sử dụng</a:t>
            </a:r>
          </a:p>
        </p:txBody>
      </p:sp>
    </p:spTree>
    <p:extLst>
      <p:ext uri="{BB962C8B-B14F-4D97-AF65-F5344CB8AC3E}">
        <p14:creationId xmlns:p14="http://schemas.microsoft.com/office/powerpoint/2010/main" val="136805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97F707C-9657-419F-BF24-E1701C09ED8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Nguồn nhân lực của dự án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3903EA-AA92-4695-9BFE-3B521CABE7B8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2A8ECF-CEA9-4718-8B8E-AA23E22F7AF3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Sáu thành viên được phân công theo chuyên môn và nhóm kiến thức quản trị</a:t>
            </a:r>
          </a:p>
        </p:txBody>
      </p:sp>
      <p:graphicFrame>
        <p:nvGraphicFramePr>
          <p:cNvPr id="8" name="Table 7"/>
          <p:cNvGraphicFramePr/>
          <p:nvPr>
            <p:extLst>
              <p:ext uri="{D42A27DB-BD31-4B8C-83A1-F6EECF244321}">
                <p14:modId xmlns:p14="http://schemas.microsoft.com/office/powerpoint/2010/main" val="4293353307"/>
              </p:ext>
            </p:extLst>
          </p:nvPr>
        </p:nvGraphicFramePr>
        <p:xfrm>
          <a:off x="685800" y="1571625"/>
          <a:ext cx="10820400" cy="4476752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9536">
                <a:tc>
                  <a:txBody>
                    <a:bodyPr/>
                    <a:lstStyle/>
                    <a:p>
                      <a:r>
                        <a:rPr lang="en-US" sz="165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Thành viên</a:t>
                      </a:r>
                    </a:p>
                  </a:txBody>
                  <a:tcPr marL="133350" marR="133350" marT="95250" marB="9525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Vai trò</a:t>
                      </a:r>
                    </a:p>
                  </a:txBody>
                  <a:tcPr marL="133350" marR="133350" marT="95250" marB="9525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5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Trách nhiệm chính</a:t>
                      </a:r>
                    </a:p>
                  </a:txBody>
                  <a:tcPr marL="133350" marR="133350" marT="95250" marB="95250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Trịnh Đức Linh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Chủ nhiệm / PM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Tích hợp, kiến trúc và điều phối tổng thể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Nguyễn Trọng Sang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Lập trinh viên, DevOps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Giao tiếp, stakeholder và nguồn nhân lực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Lê Minh Tuấn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Lập trình viên BE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Phát triển chức năng trên BackEnd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Nguyễn Trọng Nhân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PO, BA, QC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Xây dựng nghiệp vụ phần mềm, quản lý chất lượng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Đỗ Thị Thảo Hương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thử viên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Chất lượng, rủi ro, test case và báo cáo lỗi SIT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Nguyễn Minh Quý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Lập trình FE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Phát triển chức năng trên FontEnd</a:t>
                      </a:r>
                    </a:p>
                  </a:txBody>
                  <a:tcPr marL="133350" marR="133350" marT="76200" marB="7620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237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EC0B91-64DB-4699-9772-E1F3B06464C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Thời gian thực hiện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8DF30-24F2-40B3-ADE7-0EF7695A58D1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1D2E63-1E4C-4397-9C3A-7149A35ACFA5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Kế hoạch sáu tháng, từ 09/2026 đến 02/2027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3C2C61-002F-4EE0-9CF0-527BFBF60809}"/>
              </a:ext>
            </a:extLst>
          </p:cNvPr>
          <p:cNvSpPr>
            <a:spLocks noGrp="1"/>
          </p:cNvSpPr>
          <p:nvPr/>
        </p:nvSpPr>
        <p:spPr>
          <a:xfrm>
            <a:off x="9029700" y="1064078"/>
            <a:ext cx="23812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495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950" b="1" noProof="1">
                <a:solidFill>
                  <a:srgbClr val="00A86B"/>
                </a:solidFill>
                <a:latin typeface="DejaVu Sans"/>
                <a:ea typeface="DejaVu Sans"/>
                <a:cs typeface="DejaVu Sans"/>
              </a:rPr>
              <a:t>119,7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A30ED0-236E-4074-95DD-29A88AEEB18D}"/>
              </a:ext>
            </a:extLst>
          </p:cNvPr>
          <p:cNvSpPr>
            <a:spLocks noGrp="1"/>
          </p:cNvSpPr>
          <p:nvPr/>
        </p:nvSpPr>
        <p:spPr>
          <a:xfrm>
            <a:off x="9029700" y="1873703"/>
            <a:ext cx="23812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ngày công dự kiến</a:t>
            </a:r>
          </a:p>
        </p:txBody>
      </p:sp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4145397909"/>
              </p:ext>
            </p:extLst>
          </p:nvPr>
        </p:nvGraphicFramePr>
        <p:xfrm>
          <a:off x="685800" y="2554061"/>
          <a:ext cx="10820400" cy="363474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lang="en-US" sz="1575" b="1" noProof="1">
                          <a:solidFill>
                            <a:schemeClr val="bg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Giai đoạn</a:t>
                      </a: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75" b="1" noProof="1">
                          <a:solidFill>
                            <a:schemeClr val="bg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Thời gian</a:t>
                      </a: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75" b="1" noProof="1">
                          <a:solidFill>
                            <a:schemeClr val="bg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Đầu ra chính</a:t>
                      </a: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Khởi tạo và lập kế hoạch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08–30/09/2026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Nhận yêu cầu, phân tích nhanh, WBS, Gantt, nguồn lực, ngân sách 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Phân tích và thiết kế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01/10–01/11/2026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SRS, Use Case, ERD, kiến trúc, UI/UX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Trao đổi song song với khách hàng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Xây phần mềm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01/11–31/01/2027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425" b="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Phát triền phầm theo mô hình </a:t>
                      </a: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Agile</a:t>
                      </a:r>
                    </a:p>
                    <a:p>
                      <a:pPr marL="285750" marR="0" lvl="0" indent="-28575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GB" sz="18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Phát</a:t>
                      </a: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triển</a:t>
                      </a: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và</a:t>
                      </a: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bàn</a:t>
                      </a: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8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giao</a:t>
                      </a:r>
                      <a:r>
                        <a:rPr lang="en-GB" sz="1800" b="0" i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test song </a:t>
                      </a:r>
                      <a:r>
                        <a:rPr lang="en-GB" sz="1800" b="0" i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song</a:t>
                      </a:r>
                      <a:endParaRPr lang="en-GB" sz="1800" b="0" i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129316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thử và bảo đảm chất lượng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01/11–31/01/2027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plan, test case, báo cáo lỗi và nghiệm thu nội bộ SIT, UAT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Triển khai và vận hành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01–28/02/2027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Hướng dẫn, đào tạo, bàn giao, bảo trì và tổng kết</a:t>
                      </a:r>
                    </a:p>
                  </a:txBody>
                  <a:tcPr marL="114300" marR="114300" marT="66675" marB="66675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337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5E9702-CAA9-4197-B468-4555243B1CC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31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Quản lý chất lượng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C4AFB5-34D9-44A6-84BB-06BFBFB7F0EA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B1D26-F738-4D33-A6D7-173D1B36C7B8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Kiểm soát liên tục từ yêu cầu đến nghiệm thu, gắn với SRS, WBS và các mốc dự án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2A46D-E257-4411-AE8C-717416CFD85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26670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Phù hợp yêu cầu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Khả dụng giao diện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Toàn vẹn dữ liệu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Ổn định ứng dụng</a:t>
            </a:r>
          </a:p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Tiến độ và chi phí</a:t>
            </a:r>
          </a:p>
        </p:txBody>
      </p:sp>
      <p:graphicFrame>
        <p:nvGraphicFramePr>
          <p:cNvPr id="15" name="Table 14"/>
          <p:cNvGraphicFramePr/>
          <p:nvPr>
            <p:extLst>
              <p:ext uri="{D42A27DB-BD31-4B8C-83A1-F6EECF244321}">
                <p14:modId xmlns:p14="http://schemas.microsoft.com/office/powerpoint/2010/main" val="712030957"/>
              </p:ext>
            </p:extLst>
          </p:nvPr>
        </p:nvGraphicFramePr>
        <p:xfrm>
          <a:off x="3619500" y="1571625"/>
          <a:ext cx="7886700" cy="39052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Hoạt động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Cách thực hiện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Bằng chứng kiểm soát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Lập kế hoạch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Rà soát yêu cầu, đặt tiêu chí đo và lịch kiểm thử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SRS rõ ràng, tiêu chí đạt và người phụ trách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Đảm bảo chất lượng</a:t>
                      </a:r>
                    </a:p>
                  </a:txBody>
                  <a:tcPr marL="95250" marR="9525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định từng gói công việc, quản lý phiên bản và phân tích nguyên nhân</a:t>
                      </a:r>
                    </a:p>
                  </a:txBody>
                  <a:tcPr marL="95250" marR="9525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Biên bản rà soát, lịch sử phiên bản và hành động phòng ngừa</a:t>
                      </a:r>
                    </a:p>
                  </a:txBody>
                  <a:tcPr marL="95250" marR="95250" marT="66675" marB="66675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soát chất lượng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Kiểm thử chức năng, dữ liệu, hệ thống và chấp nhận, kiểm thử hiệu năng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 case, báo cáo lỗi và xác nhận người dùng, kiểm thức mức độ scale của hệ thống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Hiệu chỉnh</a:t>
                      </a:r>
                    </a:p>
                  </a:txBody>
                  <a:tcPr marL="95250" marR="9525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Đánh giá ảnh hưởng, sửa lỗi, kiểm tra lại và đóng vấn đề</a:t>
                      </a:r>
                    </a:p>
                  </a:txBody>
                  <a:tcPr marL="95250" marR="95250" marT="66675" marB="66675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Lỗi không tái diễn, tài liệu và kế hoạch được cập nhật</a:t>
                      </a:r>
                    </a:p>
                  </a:txBody>
                  <a:tcPr marL="95250" marR="95250" marT="66675" marB="66675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C2D4840-2A05-4D65-9C6F-C1435C765C62}"/>
              </a:ext>
            </a:extLst>
          </p:cNvPr>
          <p:cNvSpPr>
            <a:spLocks noGrp="1"/>
          </p:cNvSpPr>
          <p:nvPr/>
        </p:nvSpPr>
        <p:spPr>
          <a:xfrm>
            <a:off x="3619500" y="5762625"/>
            <a:ext cx="78867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75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Điều kiện nghiệm thu: chức năng đúng yêu cầu, dữ liệu khớp và không còn lỗi nghiêm trọng trong phạm vi bàn giao</a:t>
            </a:r>
          </a:p>
        </p:txBody>
      </p:sp>
    </p:spTree>
    <p:extLst>
      <p:ext uri="{BB962C8B-B14F-4D97-AF65-F5344CB8AC3E}">
        <p14:creationId xmlns:p14="http://schemas.microsoft.com/office/powerpoint/2010/main" val="642750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D24C76A-358C-4728-9917-A60B2695F23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31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Quản lý nguồn lực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DEC54E-18FA-4A8C-A24C-AFF7C4B6B409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6C7077-CDF2-460F-BE41-F32D431FA1A1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Phân bổ nhân sự, tài chính và công cụ theo từng giai đoạn của dự án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9CF1A0-510D-4021-AFDC-382E519BA031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27622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5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4950" b="1" i="0" u="none" strike="noStrike" kern="1200" cap="none" spc="0" normalizeH="0" baseline="0" noProof="1">
                <a:ln>
                  <a:noFill/>
                </a:ln>
                <a:solidFill>
                  <a:srgbClr val="00A86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119,7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173E5D-83B4-4A37-9422-10351EF6DDA7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2762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ngày công ước tính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2B146-97D2-4A6B-AAC5-A9920D5D8348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3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2325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6 thành viên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EB1F01-50F0-4DCA-B1C7-42D1D9A90B9F}"/>
              </a:ext>
            </a:extLst>
          </p:cNvPr>
          <p:cNvSpPr>
            <a:spLocks noGrp="1"/>
          </p:cNvSpPr>
          <p:nvPr/>
        </p:nvSpPr>
        <p:spPr>
          <a:xfrm>
            <a:off x="723900" y="3619500"/>
            <a:ext cx="2714625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75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Phân vai theo quản lý dự án, thiết kế, phát triển, kiểm thử và triển khai</a:t>
            </a: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3719032393"/>
              </p:ext>
            </p:extLst>
          </p:nvPr>
        </p:nvGraphicFramePr>
        <p:xfrm>
          <a:off x="3714750" y="1380027"/>
          <a:ext cx="7791450" cy="3994308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Nguồn lực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Kế hoạch sử dụng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Cách kiểm soát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Nhân sự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Phân công theo chuyên môn và khối lượng công việc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Daily meeting và rà soát tiến độ hằng tuần, đào tạo chéo và hỗ trợ thay thế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Tài chính</a:t>
                      </a:r>
                    </a:p>
                  </a:txBody>
                  <a:tcPr marL="95250" marR="952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453.352.680 đồng, gồm 28% nhân công và 61% chi phí khác,</a:t>
                      </a:r>
                    </a:p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11% chi phí vật tư thiết bị</a:t>
                      </a:r>
                    </a:p>
                  </a:txBody>
                  <a:tcPr marL="95250" marR="95250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 Theo dõi theo hạng mục, khối lượng và phê duyệt phát sinh.</a:t>
                      </a:r>
                    </a:p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- Khi có yêu cầu thay thế hoặc bổ sung sẽ tiến hành đánh giá và estimate trước khi đánh giá có thực hiện hay không</a:t>
                      </a:r>
                    </a:p>
                  </a:txBody>
                  <a:tcPr marL="95250" marR="95250" marT="76200" marB="7620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Thiết bị, công cụ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Máy tính cá nhân, Internet, IDE, Git, công cụ mockup và kiểm thử, cloud sever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Ưu tiên mã nguồn mở, bản miễn phí và kho lưu trữ dùng chung</a:t>
                      </a:r>
                    </a:p>
                  </a:txBody>
                  <a:tcPr marL="95250" marR="9525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F302D2E-181D-4B11-9D7D-FB0BBB1CC996}"/>
              </a:ext>
            </a:extLst>
          </p:cNvPr>
          <p:cNvSpPr>
            <a:spLocks noGrp="1"/>
          </p:cNvSpPr>
          <p:nvPr/>
        </p:nvSpPr>
        <p:spPr>
          <a:xfrm>
            <a:off x="3714750" y="542925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C81E34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C81E34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Rủi ro chính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5DCE41-31C6-463D-B843-DA0088AC4DE6}"/>
              </a:ext>
            </a:extLst>
          </p:cNvPr>
          <p:cNvSpPr>
            <a:spLocks noGrp="1"/>
          </p:cNvSpPr>
          <p:nvPr/>
        </p:nvSpPr>
        <p:spPr>
          <a:xfrm>
            <a:off x="3714750" y="5810250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425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Nghiệp vụ chuyên môn</a:t>
            </a:r>
            <a:r>
              <a:rPr kumimoji="0" lang="en-US" sz="1425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tập trung ở một người và quỹ thời gian của thành viên bị phân tán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602158-3F99-4233-8098-DFC3CEFBF7F1}"/>
              </a:ext>
            </a:extLst>
          </p:cNvPr>
          <p:cNvSpPr>
            <a:spLocks noGrp="1"/>
          </p:cNvSpPr>
          <p:nvPr/>
        </p:nvSpPr>
        <p:spPr>
          <a:xfrm>
            <a:off x="7524750" y="5429250"/>
            <a:ext cx="1524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8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Biện pháp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EED79B-99D2-421D-B04E-2F6D708A83C2}"/>
              </a:ext>
            </a:extLst>
          </p:cNvPr>
          <p:cNvSpPr>
            <a:spLocks noGrp="1"/>
          </p:cNvSpPr>
          <p:nvPr/>
        </p:nvSpPr>
        <p:spPr>
          <a:xfrm>
            <a:off x="7524750" y="5810250"/>
            <a:ext cx="37147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425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Đào tạo chéo, đồng bộ mã nguồn và tài liệu trên kho chung</a:t>
            </a:r>
          </a:p>
        </p:txBody>
      </p:sp>
    </p:spTree>
    <p:extLst>
      <p:ext uri="{BB962C8B-B14F-4D97-AF65-F5344CB8AC3E}">
        <p14:creationId xmlns:p14="http://schemas.microsoft.com/office/powerpoint/2010/main" val="174022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72F2778-2D85-4FB9-AE8D-D6F1D1678D3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31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Quản lý rủi ro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FAB33C-6C02-489B-AE5B-74F335EAEE75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9938D-5A55-4FB2-A6F3-01E3D992543F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Đánh giá theo khả năng xảy ra P(1-5), mức độ ảnh hưởng I(1-5) và mức phơi nhiễm E = P × 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2D93C7-F188-470F-B6CB-D5BADD603CDE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7145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5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5250" b="1" i="0" u="none" strike="noStrike" kern="1200" cap="none" spc="0" normalizeH="0" baseline="0" noProof="1">
                <a:ln>
                  <a:noFill/>
                </a:ln>
                <a:solidFill>
                  <a:srgbClr val="00A86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A8B56-4319-4641-8E40-D228F59832CE}"/>
              </a:ext>
            </a:extLst>
          </p:cNvPr>
          <p:cNvSpPr>
            <a:spLocks noGrp="1"/>
          </p:cNvSpPr>
          <p:nvPr/>
        </p:nvSpPr>
        <p:spPr>
          <a:xfrm>
            <a:off x="723900" y="2333625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rủi ro đã nhận diện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15321A-818C-4E51-BAE9-16F7CCF2AD23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50" b="1">
                <a:solidFill>
                  <a:srgbClr val="C81E34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2250" b="1" i="0" u="none" strike="noStrike" kern="1200" cap="none" spc="0" normalizeH="0" baseline="0" noProof="1">
                <a:ln>
                  <a:noFill/>
                </a:ln>
                <a:solidFill>
                  <a:srgbClr val="C81E34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3 rủi ro rất cao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EE3561-B2BE-4A91-9BC4-CA884808C42E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2762250" cy="1381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75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R01 thay đổi phạm vi</a:t>
            </a: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75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R03 chậm công việc trọng yếu</a:t>
            </a:r>
          </a:p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75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R07 kiểm thử thiếu, còn lỗi tích hợp</a:t>
            </a:r>
          </a:p>
        </p:txBody>
      </p:sp>
      <p:graphicFrame>
        <p:nvGraphicFramePr>
          <p:cNvPr id="18" name="Table 17"/>
          <p:cNvGraphicFramePr/>
          <p:nvPr>
            <p:extLst>
              <p:ext uri="{D42A27DB-BD31-4B8C-83A1-F6EECF244321}">
                <p14:modId xmlns:p14="http://schemas.microsoft.com/office/powerpoint/2010/main" val="3352822826"/>
              </p:ext>
            </p:extLst>
          </p:nvPr>
        </p:nvGraphicFramePr>
        <p:xfrm>
          <a:off x="3714750" y="1571625"/>
          <a:ext cx="7791450" cy="3476624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lang="en-US" sz="142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Ưu tiên</a:t>
                      </a:r>
                    </a:p>
                  </a:txBody>
                  <a:tcPr marL="85725" marR="85725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ban đầu</a:t>
                      </a:r>
                    </a:p>
                  </a:txBody>
                  <a:tcPr marL="85725" marR="85725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Biện pháp chính</a:t>
                      </a:r>
                    </a:p>
                  </a:txBody>
                  <a:tcPr marL="85725" marR="85725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25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 sau xử lý</a:t>
                      </a:r>
                    </a:p>
                  </a:txBody>
                  <a:tcPr marL="85725" marR="85725" marT="76200" marB="76200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R01  Phạm vi thay đổi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Chốt baseline, phân tích tác động và phê duyệt yêu cầu thay đổi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R03  Chậm tiến độ</a:t>
                      </a:r>
                    </a:p>
                  </a:txBody>
                  <a:tcPr marL="85725" marR="85725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85725" marR="85725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Theo dõi đường găng, cảnh báo khi trễ trên 10% và điều phối nguồn lực</a:t>
                      </a:r>
                    </a:p>
                  </a:txBody>
                  <a:tcPr marL="85725" marR="85725" marT="76200" marB="7620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85725" marR="85725" marT="76200" marB="7620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R07  Chất lượng kiểm thử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Lập test plan sớm, kiểm thử hồi quy và áp dụng tiêu chí Go/No-Go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75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</a:p>
                  </a:txBody>
                  <a:tcPr marL="85725" marR="85725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58C4D4A-261C-4BB7-AE4F-F729D4DBF001}"/>
              </a:ext>
            </a:extLst>
          </p:cNvPr>
          <p:cNvSpPr>
            <a:spLocks noGrp="1"/>
          </p:cNvSpPr>
          <p:nvPr/>
        </p:nvSpPr>
        <p:spPr>
          <a:xfrm>
            <a:off x="685800" y="5667375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875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Rà soát ít nhất mỗi tuần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259855-315C-4E3A-B2DE-3FE17D17321E}"/>
              </a:ext>
            </a:extLst>
          </p:cNvPr>
          <p:cNvSpPr>
            <a:spLocks noGrp="1"/>
          </p:cNvSpPr>
          <p:nvPr/>
        </p:nvSpPr>
        <p:spPr>
          <a:xfrm>
            <a:off x="6572250" y="5581650"/>
            <a:ext cx="49339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E ≥ 10: đưa ra họp nhóm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E ≥ 17: ưu tiên xử lý ngay</a:t>
            </a:r>
          </a:p>
        </p:txBody>
      </p:sp>
    </p:spTree>
    <p:extLst>
      <p:ext uri="{BB962C8B-B14F-4D97-AF65-F5344CB8AC3E}">
        <p14:creationId xmlns:p14="http://schemas.microsoft.com/office/powerpoint/2010/main" val="483782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F9C33F-5705-4448-86D9-F0D5286CE5B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3150" b="1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Quản lý thời gian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C1CC73-AACD-4198-A84E-CF5CB2E7E951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24122A-216F-4CC4-9ADF-B3524AA3521C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Dự án theo lịch trình, kiểm soát bằng sáu cột mốc trong sáu tháng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575FD3-36E4-4451-BABA-89EFA3AF46B8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1430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25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5250" b="1" i="0" u="none" strike="noStrike" kern="1200" cap="none" spc="0" normalizeH="0" baseline="0" noProof="1">
                <a:ln>
                  <a:noFill/>
                </a:ln>
                <a:solidFill>
                  <a:srgbClr val="00A86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97112B-067A-4E20-A25E-2B19BE872E4D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142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65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tháng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A5BA0-4621-46F5-A275-DA17B2D7BDCC}"/>
              </a:ext>
            </a:extLst>
          </p:cNvPr>
          <p:cNvSpPr>
            <a:spLocks noGrp="1"/>
          </p:cNvSpPr>
          <p:nvPr/>
        </p:nvSpPr>
        <p:spPr>
          <a:xfrm>
            <a:off x="685800" y="2905125"/>
            <a:ext cx="2286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lvl="0">
              <a:defRPr sz="495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600" b="1" noProof="1">
                <a:solidFill>
                  <a:srgbClr val="00A86B"/>
                </a:solidFill>
                <a:latin typeface="DejaVu Sans"/>
                <a:ea typeface="DejaVu Sans"/>
                <a:cs typeface="DejaVu Sans"/>
              </a:rPr>
              <a:t>119,7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6F3380-9E86-4C8B-A541-793FC2270427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2571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ngày ước lượng PERT</a:t>
            </a:r>
          </a:p>
          <a:p>
            <a:pPr marL="0" marR="0" lvl="0" indent="0" algn="l" defTabSz="914400" rtl="0" eaLnBrk="1" fontAlgn="auto" latinLnBrk="0" hangingPunct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00" b="0" i="0" u="none" strike="noStrike" kern="1200" cap="none" spc="0" normalizeH="0" baseline="0" noProof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đã cộng 10% dự phòng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157C42-7507-4C52-8992-F906DD6F65CC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714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875" b="1" i="0" u="none" strike="noStrike" kern="1200" cap="none" spc="0" normalizeH="0" baseline="0" noProof="1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Theo dõi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E6E42F-8B76-461C-9AB5-0D352AC7208A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2667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75" b="0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lang="en-US" sz="1575" b="0" i="0" u="none" strike="noStrike" kern="1200" cap="none" spc="0" normalizeH="0" baseline="0" noProof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EVM và quy tắc hoàn thành 0%, 50%, 100%</a:t>
            </a:r>
          </a:p>
        </p:txBody>
      </p:sp>
      <p:graphicFrame>
        <p:nvGraphicFramePr>
          <p:cNvPr id="20" name="Table 19"/>
          <p:cNvGraphicFramePr/>
          <p:nvPr>
            <p:extLst>
              <p:ext uri="{D42A27DB-BD31-4B8C-83A1-F6EECF244321}">
                <p14:modId xmlns:p14="http://schemas.microsoft.com/office/powerpoint/2010/main" val="2138595148"/>
              </p:ext>
            </p:extLst>
          </p:nvPr>
        </p:nvGraphicFramePr>
        <p:xfrm>
          <a:off x="3714750" y="1571625"/>
          <a:ext cx="7791450" cy="4044043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Mốc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Thời điểm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noProof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Kết quả cần hoàn thành</a:t>
                      </a:r>
                    </a:p>
                  </a:txBody>
                  <a:tcPr marL="95250" marR="95250" marT="76200" marB="76200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Tháng 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Khảo sát, phân tích yêu cầu và phạm vi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M2</a:t>
                      </a:r>
                    </a:p>
                  </a:txBody>
                  <a:tcPr marL="95250" marR="95250" marT="57150" marB="5715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Tháng 2</a:t>
                      </a:r>
                    </a:p>
                  </a:txBody>
                  <a:tcPr marL="95250" marR="95250" marT="57150" marB="5715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Thiết kế hệ thống, cơ sở dữ liệu và UI/UX</a:t>
                      </a:r>
                    </a:p>
                  </a:txBody>
                  <a:tcPr marL="95250" marR="95250" marT="57150" marB="5715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7543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</a:rPr>
                        <a:t>M3-5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Tháng 3</a:t>
                      </a:r>
                    </a:p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</a:rPr>
                        <a:t>Tháng 4</a:t>
                      </a:r>
                    </a:p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</a:rPr>
                        <a:t>Tháng 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Các chức năng chính của Back-end</a:t>
                      </a:r>
                    </a:p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</a:rPr>
                        <a:t>Front-end và tích hợp hệ thống</a:t>
                      </a:r>
                    </a:p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</a:rPr>
                        <a:t>Kiểm thử, sửa lỗi và tối ưu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M6</a:t>
                      </a:r>
                    </a:p>
                  </a:txBody>
                  <a:tcPr marL="95250" marR="95250" marT="57150" marB="5715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Tháng 6</a:t>
                      </a:r>
                    </a:p>
                  </a:txBody>
                  <a:tcPr marL="95250" marR="95250" marT="57150" marB="57150" anchor="ctr"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noProof="1">
                          <a:solidFill>
                            <a:srgbClr val="11182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Triển khai, tài liệu, đào tạo và nghiệm thu</a:t>
                      </a:r>
                    </a:p>
                  </a:txBody>
                  <a:tcPr marL="95250" marR="95250" marT="57150" marB="57150" anchor="ctr"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477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1D3F3CE-4FAB-429D-9A67-FD137C52D4A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3150" b="1" i="0" u="none" strike="noStrike" kern="1200" cap="none" spc="0" normalizeH="0" baseline="0" noProof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Kinh phí thực hiện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3DF449-FEB2-4408-B972-5BB020B7D949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087A55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DA756-1153-4A65-BE51-90680408AC49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Dự toán chi tiết theo Phụ lục 3 của bảng phân rã công việc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59CBF-3D26-48D3-83F7-886C58FD7EE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lvl="0">
              <a:defRPr sz="4800" b="1">
                <a:solidFill>
                  <a:srgbClr val="00A86B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4800" b="1" i="0" u="none" strike="noStrike" kern="1200" cap="none" spc="0" normalizeH="0" baseline="0" noProof="0" dirty="0">
                <a:ln>
                  <a:noFill/>
                </a:ln>
                <a:solidFill>
                  <a:srgbClr val="00A86B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4</a:t>
            </a:r>
            <a:r>
              <a:rPr lang="en-US" sz="4800" b="1" noProof="1">
                <a:solidFill>
                  <a:srgbClr val="00A86B"/>
                </a:solidFill>
                <a:latin typeface="DejaVu Sans"/>
              </a:rPr>
              <a:t>53.352.680</a:t>
            </a:r>
            <a:endParaRPr sz="4800" b="1" dirty="0">
              <a:solidFill>
                <a:srgbClr val="00A86B"/>
              </a:solidFill>
              <a:latin typeface="DejaVu San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30581-3D88-444A-AA0D-DA1E63CF32C5}"/>
              </a:ext>
            </a:extLst>
          </p:cNvPr>
          <p:cNvSpPr>
            <a:spLocks noGrp="1"/>
          </p:cNvSpPr>
          <p:nvPr/>
        </p:nvSpPr>
        <p:spPr>
          <a:xfrm>
            <a:off x="723900" y="2428875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đồng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2F4E35-53BC-4824-B3C2-774A0EE9F249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7147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Chi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phí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nhân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công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và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chi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khác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chiếm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gần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như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toàn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bộ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ngân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sách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dự</a:t>
            </a:r>
            <a:r>
              <a:rPr kumimoji="0" sz="2025" b="1" i="0" u="none" strike="noStrike" kern="1200" cap="none" spc="0" normalizeH="0" baseline="0" noProof="0" dirty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2025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toán</a:t>
            </a:r>
            <a:endParaRPr kumimoji="0" sz="2025" b="1" i="0" u="none" strike="noStrike" kern="1200" cap="none" spc="0" normalizeH="0" baseline="0" noProof="0" dirty="0">
              <a:ln>
                <a:noFill/>
              </a:ln>
              <a:solidFill>
                <a:srgbClr val="111827"/>
              </a:solidFill>
              <a:effectLst/>
              <a:uLnTx/>
              <a:uFillTx/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C132AF-80D0-4681-B0F2-1B19DB91DED5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350" b="0" i="0" u="none" strike="noStrike" kern="1200" cap="none" spc="0" normalizeH="0" baseline="0" noProof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Đơn vị biểu đồ: triệu đồng</a:t>
            </a:r>
          </a:p>
        </p:txBody>
      </p:sp>
      <p:graphicFrame>
        <p:nvGraphicFramePr>
          <p:cNvPr id="17" name="Chart"/>
          <p:cNvGraphicFramePr/>
          <p:nvPr>
            <p:extLst>
              <p:ext uri="{D42A27DB-BD31-4B8C-83A1-F6EECF244321}">
                <p14:modId xmlns:p14="http://schemas.microsoft.com/office/powerpoint/2010/main" val="1303369398"/>
              </p:ext>
            </p:extLst>
          </p:nvPr>
        </p:nvGraphicFramePr>
        <p:xfrm>
          <a:off x="4762500" y="1524000"/>
          <a:ext cx="666750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C3D51E6-2491-415B-83B5-3B66390319E2}"/>
              </a:ext>
            </a:extLst>
          </p:cNvPr>
          <p:cNvSpPr>
            <a:spLocks noGrp="1"/>
          </p:cNvSpPr>
          <p:nvPr/>
        </p:nvSpPr>
        <p:spPr>
          <a:xfrm>
            <a:off x="685800" y="5476875"/>
            <a:ext cx="3714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Chi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khác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gồm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khảo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sát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hạ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tầng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thử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nghiệm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đào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tạo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truyền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thông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bảo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trì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,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hội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đồng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và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dự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phòng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rủi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B6472"/>
                </a:solidFill>
                <a:effectLst/>
                <a:uLnTx/>
                <a:uFillTx/>
                <a:latin typeface="DejaVu Sans"/>
                <a:ea typeface="DejaVu Sans"/>
                <a:cs typeface="DejaVu Sans"/>
              </a:rPr>
              <a:t> ro.</a:t>
            </a:r>
          </a:p>
        </p:txBody>
      </p:sp>
    </p:spTree>
    <p:extLst>
      <p:ext uri="{BB962C8B-B14F-4D97-AF65-F5344CB8AC3E}">
        <p14:creationId xmlns:p14="http://schemas.microsoft.com/office/powerpoint/2010/main" val="161893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9D442AC-D85F-45F4-9DA4-9BEA167C1CF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150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3150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Kết quả thực hiện và kết luận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355165-0DFE-4775-BBB4-12C89992F4E7}"/>
              </a:ext>
            </a:extLst>
          </p:cNvPr>
          <p:cNvSpPr>
            <a:spLocks noGrp="1"/>
          </p:cNvSpPr>
          <p:nvPr/>
        </p:nvSpPr>
        <p:spPr>
          <a:xfrm>
            <a:off x="10953750" y="485775"/>
            <a:ext cx="5524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buNone/>
              <a:defRPr sz="150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D39A8E-0ACD-4811-8902-8E5F4C4ABD4C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9810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Các đầu ra đã thể hiện trong báo cáo phân tích và thiết kế hệ thống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B1DC1-104C-4340-8A6B-01B4CACE507E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05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31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CB4D6-C60F-467D-9814-611BE10B52FC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yêu cầu chức năng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B7B7A-4947-4061-AAF7-52FBDFF10AF5}"/>
              </a:ext>
            </a:extLst>
          </p:cNvPr>
          <p:cNvSpPr>
            <a:spLocks noGrp="1"/>
          </p:cNvSpPr>
          <p:nvPr/>
        </p:nvSpPr>
        <p:spPr>
          <a:xfrm>
            <a:off x="3371850" y="147637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05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39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4B70D1-03C2-4B18-8699-F60C3EA52988}"/>
              </a:ext>
            </a:extLst>
          </p:cNvPr>
          <p:cNvSpPr>
            <a:spLocks noGrp="1"/>
          </p:cNvSpPr>
          <p:nvPr/>
        </p:nvSpPr>
        <p:spPr>
          <a:xfrm>
            <a:off x="3371850" y="2143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Use Case chi tiết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A35194-6D22-463A-B03A-5560467546B8}"/>
              </a:ext>
            </a:extLst>
          </p:cNvPr>
          <p:cNvSpPr>
            <a:spLocks noGrp="1"/>
          </p:cNvSpPr>
          <p:nvPr/>
        </p:nvSpPr>
        <p:spPr>
          <a:xfrm>
            <a:off x="6057900" y="147637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05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03445A-D62F-4C9D-8398-1291B034F531}"/>
              </a:ext>
            </a:extLst>
          </p:cNvPr>
          <p:cNvSpPr>
            <a:spLocks noGrp="1"/>
          </p:cNvSpPr>
          <p:nvPr/>
        </p:nvSpPr>
        <p:spPr>
          <a:xfrm>
            <a:off x="6057900" y="2143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bảng dữ liệu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199454-AD94-4937-9708-A8A699DDE135}"/>
              </a:ext>
            </a:extLst>
          </p:cNvPr>
          <p:cNvSpPr>
            <a:spLocks noGrp="1"/>
          </p:cNvSpPr>
          <p:nvPr/>
        </p:nvSpPr>
        <p:spPr>
          <a:xfrm>
            <a:off x="8743950" y="1476375"/>
            <a:ext cx="1619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4050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4050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1103C-D688-4D9B-98BD-02E2D7E661EB}"/>
              </a:ext>
            </a:extLst>
          </p:cNvPr>
          <p:cNvSpPr>
            <a:spLocks noGrp="1"/>
          </p:cNvSpPr>
          <p:nvPr/>
        </p:nvSpPr>
        <p:spPr>
          <a:xfrm>
            <a:off x="8743950" y="2143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50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màn hình chính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rcRect t="65" b="65"/>
          <a:stretch>
            <a:fillRect/>
          </a:stretch>
        </p:blipFill>
        <p:spPr>
          <a:xfrm>
            <a:off x="685800" y="2952750"/>
            <a:ext cx="7096125" cy="3362325"/>
          </a:xfrm>
          <a:prstGeom prst="roundRect">
            <a:avLst>
              <a:gd name="adj" fmla="val 3399"/>
            </a:avLst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A9ACC3-7FE0-4687-9306-7F1E1BEACE5A}"/>
              </a:ext>
            </a:extLst>
          </p:cNvPr>
          <p:cNvSpPr>
            <a:spLocks noGrp="1"/>
          </p:cNvSpPr>
          <p:nvPr/>
        </p:nvSpPr>
        <p:spPr>
          <a:xfrm>
            <a:off x="8239125" y="2924173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325" b="1">
                <a:solidFill>
                  <a:srgbClr val="087A55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2325" b="1" noProof="1">
                <a:solidFill>
                  <a:srgbClr val="087A55"/>
                </a:solidFill>
                <a:latin typeface="DejaVu Sans"/>
                <a:ea typeface="DejaVu Sans"/>
                <a:cs typeface="DejaVu Sans"/>
              </a:rPr>
              <a:t>Kết luận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049C79-A50C-4924-9A0D-A4CA16D3C91C}"/>
              </a:ext>
            </a:extLst>
          </p:cNvPr>
          <p:cNvSpPr>
            <a:spLocks noGrp="1"/>
          </p:cNvSpPr>
          <p:nvPr/>
        </p:nvSpPr>
        <p:spPr>
          <a:xfrm>
            <a:off x="8239125" y="3332384"/>
            <a:ext cx="31432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  <a:defRPr sz="1725" b="1">
                <a:solidFill>
                  <a:srgbClr val="111827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725" b="1" noProof="1">
                <a:solidFill>
                  <a:srgbClr val="111827"/>
                </a:solidFill>
                <a:latin typeface="DejaVu Sans"/>
                <a:ea typeface="DejaVu Sans"/>
                <a:cs typeface="DejaVu Sans"/>
              </a:rPr>
              <a:t>Dự án đã hình thành nền tảng phân tích, thiết kế rõ ràng cho một hệ thống quản lý dự án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19AC4C-9F06-4703-9AD5-7632787EFC68}"/>
              </a:ext>
            </a:extLst>
          </p:cNvPr>
          <p:cNvSpPr>
            <a:spLocks noGrp="1"/>
          </p:cNvSpPr>
          <p:nvPr/>
        </p:nvSpPr>
        <p:spPr>
          <a:xfrm>
            <a:off x="8239124" y="5116285"/>
            <a:ext cx="3267075" cy="164374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buNone/>
              <a:defRPr sz="1350" b="0">
                <a:solidFill>
                  <a:srgbClr val="5B6472"/>
                </a:solidFill>
                <a:latin typeface="DejaVu Sans"/>
                <a:ea typeface="DejaVu Sans"/>
                <a:cs typeface="DejaVu Sans"/>
              </a:defRPr>
            </a:pPr>
            <a:r>
              <a:rPr lang="en-US" sz="1350" b="0" noProof="1">
                <a:solidFill>
                  <a:srgbClr val="5B6472"/>
                </a:solidFill>
                <a:latin typeface="DejaVu Sans"/>
                <a:ea typeface="DejaVu Sans"/>
                <a:cs typeface="DejaVu Sans"/>
              </a:rPr>
              <a:t>Bước tiếp theo là hoàn thiện kiểm thử, triển khai thử nghiệm, đo hiệu quả sử dụng và thống nhất số liệu ngân sách trong toàn bộ hồ sơ.</a:t>
            </a:r>
          </a:p>
        </p:txBody>
      </p:sp>
    </p:spTree>
    <p:extLst>
      <p:ext uri="{BB962C8B-B14F-4D97-AF65-F5344CB8AC3E}">
        <p14:creationId xmlns:p14="http://schemas.microsoft.com/office/powerpoint/2010/main" val="1582075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756AB-4CC5-93DD-1C46-F877E8672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BC021E03-2DB7-15DD-BCFE-FBF9D8E87061}"/>
              </a:ext>
            </a:extLst>
          </p:cNvPr>
          <p:cNvSpPr txBox="1"/>
          <p:nvPr/>
        </p:nvSpPr>
        <p:spPr>
          <a:xfrm>
            <a:off x="4185557" y="2959640"/>
            <a:ext cx="382088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500" b="1" i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9565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B4CB8C644074DA8C0D9544B46C45A" ma:contentTypeVersion="10" ma:contentTypeDescription="Create a new document." ma:contentTypeScope="" ma:versionID="6cd6a6fc9d500661ae2c712001574a63">
  <xsd:schema xmlns:xsd="http://www.w3.org/2001/XMLSchema" xmlns:xs="http://www.w3.org/2001/XMLSchema" xmlns:p="http://schemas.microsoft.com/office/2006/metadata/properties" xmlns:ns2="6ab11da6-c5b9-49cb-ad83-ae21ec205006" xmlns:ns3="8620256f-1d2f-43d2-8d17-c8c02a124848" targetNamespace="http://schemas.microsoft.com/office/2006/metadata/properties" ma:root="true" ma:fieldsID="5a8690fc04d69f1d5e321c6403e17232" ns2:_="" ns3:_="">
    <xsd:import namespace="6ab11da6-c5b9-49cb-ad83-ae21ec205006"/>
    <xsd:import namespace="8620256f-1d2f-43d2-8d17-c8c02a1248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1da6-c5b9-49cb-ad83-ae21ec205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0256f-1d2f-43d2-8d17-c8c02a1248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c5c2c83-07ff-4f8e-b7a6-caccdf7c6711}" ma:internalName="TaxCatchAll" ma:showField="CatchAllData" ma:web="8620256f-1d2f-43d2-8d17-c8c02a1248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b11da6-c5b9-49cb-ad83-ae21ec205006">
      <Terms xmlns="http://schemas.microsoft.com/office/infopath/2007/PartnerControls"/>
    </lcf76f155ced4ddcb4097134ff3c332f>
    <TaxCatchAll xmlns="8620256f-1d2f-43d2-8d17-c8c02a124848" xsi:nil="true"/>
  </documentManagement>
</p:properties>
</file>

<file path=customXml/itemProps1.xml><?xml version="1.0" encoding="utf-8"?>
<ds:datastoreItem xmlns:ds="http://schemas.openxmlformats.org/officeDocument/2006/customXml" ds:itemID="{22F03FE3-A86E-4E68-A658-C0DC4CAF1A45}"/>
</file>

<file path=customXml/itemProps2.xml><?xml version="1.0" encoding="utf-8"?>
<ds:datastoreItem xmlns:ds="http://schemas.openxmlformats.org/officeDocument/2006/customXml" ds:itemID="{6A26BD38-6558-4866-9D21-01DC45A275ED}"/>
</file>

<file path=customXml/itemProps3.xml><?xml version="1.0" encoding="utf-8"?>
<ds:datastoreItem xmlns:ds="http://schemas.openxmlformats.org/officeDocument/2006/customXml" ds:itemID="{426FE8EE-3DE9-41B6-97DE-A7A3EB2A4EC1}"/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1926</Words>
  <Application>Microsoft Office PowerPoint</Application>
  <DocSecurity>0</DocSecurity>
  <PresentationFormat>Widescreen</PresentationFormat>
  <Paragraphs>279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DejaVu Sans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Linh Duc</cp:lastModifiedBy>
  <cp:revision>100</cp:revision>
  <dcterms:created xsi:type="dcterms:W3CDTF">2026-09-18T15:07:41Z</dcterms:created>
  <dcterms:modified xsi:type="dcterms:W3CDTF">2026-09-19T05:44:52Z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0x01010007BB4CB8C644074DA8C0D9544B46C45A</vt:lpwstr>
  </property>
</Properties>
</file>