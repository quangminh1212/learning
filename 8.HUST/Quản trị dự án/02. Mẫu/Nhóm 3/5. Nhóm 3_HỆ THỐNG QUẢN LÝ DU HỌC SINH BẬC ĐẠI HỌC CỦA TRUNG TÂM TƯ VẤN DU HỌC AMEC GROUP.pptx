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84" r:id="rId7"/>
    <p:sldId id="278" r:id="rId8"/>
    <p:sldId id="263" r:id="rId9"/>
    <p:sldId id="285" r:id="rId10"/>
    <p:sldId id="286" r:id="rId11"/>
    <p:sldId id="288" r:id="rId12"/>
    <p:sldId id="289" r:id="rId13"/>
    <p:sldId id="264" r:id="rId14"/>
    <p:sldId id="265" r:id="rId15"/>
    <p:sldId id="281" r:id="rId16"/>
    <p:sldId id="266" r:id="rId17"/>
    <p:sldId id="267" r:id="rId18"/>
    <p:sldId id="282" r:id="rId19"/>
    <p:sldId id="279" r:id="rId20"/>
    <p:sldId id="275" r:id="rId21"/>
    <p:sldId id="276" r:id="rId22"/>
    <p:sldId id="277" r:id="rId23"/>
    <p:sldId id="270" r:id="rId24"/>
    <p:sldId id="271" r:id="rId25"/>
    <p:sldId id="272" r:id="rId26"/>
    <p:sldId id="273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F1A"/>
    <a:srgbClr val="B33A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Chi phí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A1F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88F-45D9-8C29-70AB2C6F55CF}"/>
              </c:ext>
            </c:extLst>
          </c:dPt>
          <c:dPt>
            <c:idx val="1"/>
            <c:bubble3D val="0"/>
            <c:spPr>
              <a:solidFill>
                <a:srgbClr val="B33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88F-45D9-8C29-70AB2C6F55CF}"/>
              </c:ext>
            </c:extLst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88F-45D9-8C29-70AB2C6F55C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588F-45D9-8C29-70AB2C6F55C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588F-45D9-8C29-70AB2C6F55C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588F-45D9-8C29-70AB2C6F55C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Công lao động</c:v>
                </c:pt>
                <c:pt idx="1">
                  <c:v>Thiết bị, vật tư</c:v>
                </c:pt>
                <c:pt idx="2">
                  <c:v>Chi khác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342.86559999999997</c:v>
                </c:pt>
                <c:pt idx="1">
                  <c:v>75.885000000000005</c:v>
                </c:pt>
                <c:pt idx="2">
                  <c:v>51.9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8F-45D9-8C29-70AB2C6F55C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26683828673263"/>
          <c:y val="0.44414370078740151"/>
          <c:w val="0.20293015749506477"/>
          <c:h val="0.22737079740032493"/>
        </c:manualLayout>
      </c:layout>
      <c:overlay val="0"/>
      <c:txPr>
        <a:bodyPr/>
        <a:lstStyle/>
        <a:p>
          <a:pPr>
            <a:defRPr sz="1400">
              <a:solidFill>
                <a:srgbClr val="2A161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28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3_BangPhanRaCongViec.xlsx (sheet TonChiDA), Nhóm 3_Kinh phí dự án.xlsx (sheet DuToan). GỢI Ý: mở đầu, nêu tên đề tài, đơn vị khách hàng Amec, khung thời gian dự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3_Quản lý nhân lực.docx (mục 2) và Nhóm 3_Thuyết minh đề tài KH&amp;CN cấp Trường (mục 14, ảnh chụp) (phân công theo giai đoạn: Phương &amp; Ngân phụ trách khảo sát + phân tích/thiết kế). Tech Lead: Nhóm 3_BangPhanRaCongViec.xlsx sheet TonChiDA.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3_Báo cáo khảo sát AMEC.docx mục 1; Nhóm 3_BaoCao_KhaoSat_HienTrang_AMEC.docx mục 4.0, 5.1 (đã đạt được), 5.2 (lỗ hổng).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3_Báo cáo khảo sát AMEC.docx mục 5, 7; Nhóm 3_Báo cáo khảo sát AMEC.docx mục 6 (mục tiêu hệ thống).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3_BangPhanRaCongViec.xlsx sheet TonChiDA; Nhóm 3_Kinh phí dự án.xlsx sheet DuToan (đã sửa 470.650.600đ, xem ghi chú slide chi phí); phân hệ chức năng từ Nhóm 3_Phân tích hệ thống.docx và Nhóm 3_BangPhanRaCongViec.xlsx task 25–37. "Ngoài phạm vi" là suy luận hợp lý, chưa có văn bản gốc — nên xác nhận lại với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8C195-27FB-339B-2CD2-5CC05713F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60F2D-FAA5-14AA-8D45-C99DC8253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65C21-AEF0-C8C9-EC92-DA62E2288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3_Kinh phí dự án.xlsx sheet CongLaoDong (342,87 triệu + định mức), sheet ThietBiVatTu (75.885.000đ đã cộng lại, file gốc ghi nhầm 80.325.000đ), sheet ChiKhac (51.900.000đ). Tổng đúng: 470.650.600đ.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76D2B-7172-CB82-294D-8DCFC4FEB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04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6282C-34F6-A9FA-374B-78E93548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99153-1D39-B552-C2BC-9ED8FD9AA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B156E-76B3-3E9F-0090-D1CBF3BCE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3_Kinh phí dự án.xlsx sheet CongLaoDong (342,87 triệu + định mức), sheet ThietBiVatTu (75.885.000đ đã cộng lại, file gốc ghi nhầm 80.325.000đ), sheet ChiKhac (51.900.000đ). Tổng đúng: 470.650.600đ.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45022-289D-B928-F42D-5647CC2370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85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Script thuyết trình.docx, phần 2 (Nguyễn Đức Hậu) — "qua khảo sát 10 quy trình nghiệp vụ..., hệ thống lộ ra 10 lỗ hổng nghiêm trọng". Script chỉ liệt kê chi tiết 6 lỗ hổng, đã trình bày đầy đủ ở trên (có thể phần còn lại nhóm trình bày miệng, chưa có trong văn bản). Chi tiết 11 thư mục Google Shared Drive cũng theo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8DE6-CA1D-A45C-E03D-18632BC16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D03CA-37ED-6119-A2D8-B98E3583D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772E2-9CD2-6FF2-784A-B7A1B2243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Script thuyết trình.docx, phần 2 (Nguyễn Đức Hậu) — "qua khảo sát 10 quy trình nghiệp vụ..., hệ thống lộ ra 10 lỗ hổng nghiêm trọng". Script chỉ liệt kê chi tiết 6 lỗ hổng, đã trình bày đầy đủ ở trên (có thể phần còn lại nhóm trình bày miệng, chưa có trong văn bản). Chi tiết 11 thư mục Google Shared Drive cũng theo script.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BBB1-0587-CB9B-6720-49EA9FE5E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08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0544-A08B-2094-24D6-DCB81090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4DDCB-AC6F-D4FD-DE18-EA6E8F9D3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2C1EFB-F5CB-95E2-E800-22FBEDFE5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3_Phân tích hệ thống.docx mục I.1 (Actors), I.2 (13 UC, 6 nhóm).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96716-697F-123D-3322-45D92B3627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08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30E66-4E16-43A0-C028-38DB1228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DD3B0-B902-551F-B3BA-781891768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7FE1A-7DD1-9029-75E5-8DAC3EE0A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3_Phân tích hệ thống.docx mục I.1 (Actors), I.2 (13 UC, 6 nhóm).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F8A29-8842-F96D-CC46-088D180F0D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42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7FBB4-EA73-8CD4-4632-C79E22B32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89043-0EC7-F0F8-32AC-60E103AE9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F28AE-2286-6E2D-6575-DD28BFCDB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3_Phân tích hệ thống.docx mục I.1 (Actors), I.2 (13 UC, 6 nhóm).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F6C1E-5000-636D-9906-1A8B1EDB2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9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3_Phân tích hệ thống.docx mục I.1 (Actors), I.2 (13 UC, 6 nhóm).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3_Phân tích hệ thống.docx mục III (yêu cầu phi chức năng), mục 7.1–7.2 (nghiệm thu &amp; minh chứng). Danh sách 8 bảng suy ra từ tên bảng nhắc tới trong các UC (SinhVien_03, Visa_03…); sơ đồ ERD chi tiết coi như nhóm đã hoàn thiện riêng.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208BB-692B-6E8D-51E4-3D86941DA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D3A93-91C0-85F3-E6D6-F7919D4D8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2A42B-532F-7F0F-116E-301EE57C9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hợp lại từ các slide trước: Nhóm 3_BaoCao_KhaoSat_HienTrang_AMEC.docx, Nhóm 3_BangPhanRaCongViec.xlsx, Nhóm 3_Kinh phí dự án.xlsx, Nhóm 3_Quản lý chất lượng dự án.docx, KẾ HOẠCH QUẢN LÝ RỦI RO.docx. Dự phòng hỏi đáp: bảng RACI đầy đủ, danh sách 50 task, Risk Register đầy đủ, ERD chi tiết.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3D4AD-7AD2-2780-926B-CBC30B279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23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3_BangPhanRaCongViec.xlsx sheet WBS_PhanRaCTCongViec (giai đoạn, task, MO/ML/MP, buffer 10%); Nhóm 3_Kinh phí dự án.xlsx sheet ChuyenDe/CongLaoDong (manday theo giai đoạn, tổng 264,37).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cột "Thời gian" trong Nhóm 3_BangPhanRaCongViec.xlsx sheet WBS_PhanRaCTCongViec; UAT: Nhóm 3_Quản lý chất lượng dự án.docx mục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D09FC-4AB2-1071-27A5-FA5287A5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96D14-A63F-E2EB-8CFC-EAB39D91F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BE64D0-D95E-090A-3E3D-7311B486F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cột "Thời gian" trong Nhóm 3_BangPhanRaCongViec.xlsx sheet WBS_PhanRaCTCongViec; UAT: Nhóm 3_Quản lý chất lượng dự án.docx mục 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0189F-186E-4F3E-C02D-927675860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11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74C3-BA02-8F7F-A3EF-FA67C8A54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2950B-11ED-EBF9-FDAD-8F73DAAC5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21E7F-7052-19E1-CE21-93022C8E8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3_Kinh phí dự án.xlsx sheet CongLaoDong (342,87 triệu + định mức), sheet ThietBiVatTu (75.885.000đ đã cộng lại, file gốc ghi nhầm 80.325.000đ), sheet ChiKhac (51.900.000đ). Tổng đúng: 470.650.600đ.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0E7F1-4DD0-8529-B51E-7BBDABF4D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575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3538-E41F-931A-0B41-8A85AE649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62A75-CE02-8351-C005-8A1E5134F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88C8E-4DBA-3757-C048-4ABC846BD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3_Kinh phí dự án.xlsx sheet CongLaoDong (342,87 triệu + định mức), sheet ThietBiVatTu (75.885.000đ đã cộng lại, file gốc ghi nhầm 80.325.000đ), sheet ChiKhac (51.900.000đ). Tổng đúng: 470.650.600đ.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7B114-888C-F7F9-8E22-23A51FD0C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84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1BA0E-6361-72C7-7281-607A4D8B8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6ACFB-344F-5A36-480A-D14250626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7DE1B-596A-E164-8571-54F8504CB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3_Kinh phí dự án.xlsx sheet CongLaoDong (342,87 triệu + định mức), sheet ThietBiVatTu (75.885.000đ đã cộng lại, file gốc ghi nhầm 80.325.000đ), sheet ChiKhac (51.900.000đ). Tổng đúng: 470.650.600đ.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31552-3CF3-9A2C-E075-78DB58CFE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297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13EE-806C-A458-FD7A-83DD7E7B5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46310-45B2-2414-4D10-66A6ACC04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5A756-4CD9-81A3-88A6-DE8D40B4A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3_Kinh phí dự án.xlsx sheet CongLaoDong (342,87 triệu + định mức), sheet ThietBiVatTu (75.885.000đ đã cộng lại, file gốc ghi nhầm 80.325.000đ), sheet ChiKhac (51.900.000đ). Tổng đúng: 470.650.600đ.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FB17B-6717-77DB-CCFB-1E446F131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25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Nhóm 3_Quản lý chất lượng dự án.docx mục 1–2 (metric, lộ trình), mục 4 (nghiệm thu), mục 3 (RACI đầy đủ hơn trong file gốc — đây chỉ trích 3 dòng).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Script thuyết trình.docx, phần 5 (Chu Quang Hiếu) — mục 6 "Quản lý nhân sự": mô hình Tuckman 4 giai đoạn và cơ chế điều phối nguồn lực.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R1–R5 từ KẾ HOẠCH QUẢN LÝ RỦI RO.docx mục 2 (điểm 1–5 do nhóm quy đổi từ Thấp/TB/Cao); R6–R11 là đề xuất bổ sung theo Chương 8 và Nhóm 3_Báo cáo khảo sát AMEC.docx. Cần cập nhật lại file rủi ro gốc cho khớp trước khi nộp.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hợp lại từ các slide trước: Nhóm 3_BaoCao_KhaoSat_HienTrang_AMEC.docx, Nhóm 3_BangPhanRaCongViec.xlsx, Nhóm 3_Kinh phí dự án.xlsx, Nhóm 3_Quản lý chất lượng dự án.docx, KẾ HOẠCH QUẢN LÝ RỦI RO.docx. Dự phòng hỏi đáp: bảng RACI đầy đủ, danh sách 50 task, Risk Register đầy đủ, ERD chi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E8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QUẢN TRỊ DỰ ÁN CÔNG NGHỆ THÔNG TIN · MÃ CNTT20261_N03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Xây dựng hệ thống quản lý du học sinh bậc đại học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D9A4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Trung tâm tư vấn du học Amec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3  ·  01/09/2026 – 31/03/2027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Thành viên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dự án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011680" cy="4480560"/>
          </a:xfrm>
          <a:prstGeom prst="roundRect">
            <a:avLst>
              <a:gd name="adj" fmla="val 5455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8720" y="1737360"/>
            <a:ext cx="731520" cy="73152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88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Bùi Thanh Phương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20040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đốc dự án (PM)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40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hoạch, khảo sát, phân tích &amp; thiết kế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61488" y="1463040"/>
            <a:ext cx="2011680" cy="4480560"/>
          </a:xfrm>
          <a:prstGeom prst="roundRect">
            <a:avLst>
              <a:gd name="adj" fmla="val 54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01568" y="1737360"/>
            <a:ext cx="731520" cy="73152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401568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852928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Thanh Ngân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90088" y="320040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990088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898648" y="3840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yêu cầu, phân tích &amp; thiết kế hệ thống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74336" y="1463040"/>
            <a:ext cx="2011680" cy="4480560"/>
          </a:xfrm>
          <a:prstGeom prst="roundRect">
            <a:avLst>
              <a:gd name="adj" fmla="val 5455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14416" y="1737360"/>
            <a:ext cx="731520" cy="73152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614416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065776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Đức Hậu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202936" y="320040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202936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· Tech Lead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111496" y="3840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chương trình, kiểm thử đơn vị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87184" y="1463040"/>
            <a:ext cx="2011680" cy="4480560"/>
          </a:xfrm>
          <a:prstGeom prst="roundRect">
            <a:avLst>
              <a:gd name="adj" fmla="val 54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827264" y="1737360"/>
            <a:ext cx="731520" cy="73152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827264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278624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Quang Hiếu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415784" y="320040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415784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324344" y="3840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chương trình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00032" y="1463040"/>
            <a:ext cx="2011680" cy="4480560"/>
          </a:xfrm>
          <a:prstGeom prst="roundRect">
            <a:avLst>
              <a:gd name="adj" fmla="val 5455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040112" y="1737360"/>
            <a:ext cx="731520" cy="73152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0040112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9491472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Linh Hương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628632" y="320040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9628632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537192" y="3840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tích hợp, hệ thống &amp; hỗ trợ UAT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Khái quát về khách hàng và dự án: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2004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thành lập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132588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06324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phòng trong &amp; ngoài nước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31520" y="3429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500+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diện tuyển sinh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80360" y="320040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063240" y="3429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12.000+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đã xử lý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325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nghiệp vụ cốt lõi đều chạy trên Excel, giấy tờ, Zalo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0" y="1911096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hồ sơ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41080" y="1911096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64108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&amp; chọn trường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0" y="2478024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48640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532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&amp; pháp lý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41080" y="2478024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641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2532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bổng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0" y="3044952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48640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30998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641080" y="3044952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64108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0998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GPA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0" y="361188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54864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thân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641080" y="361188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86410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1440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sau xuất cảnh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0" y="4178808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548640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4233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thống kê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641080" y="4178808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864108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144000" y="4233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đối tác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731520" y="53949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đạt được: </a:t>
            </a: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tập trung trên Shared Drive, có quy ước đặt tên và phân quyền cơ bản theo bộ phận.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31520" y="5760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 còn hạn chế: </a:t>
            </a: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bảo đảm toàn vẹn dữ liệu, không phân quyền tới từng bản ghi, không cảnh báo hạn chót, không ghi vết thay đổi.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Khái quát về khách hàng và dự án: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TRẠNG (INPUT)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sai lệch, trùng lặp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754880" y="182880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152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Trễ hạn nộp hồ sơ, visa, học phí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542032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754880" y="254203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18104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31520" y="3273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chính, công nợ thiếu minh bạch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255264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754880" y="325526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31336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31520" y="3986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dữ liệu cá nhân yếu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968496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754880" y="396849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44568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31520" y="47000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kết nối sau khi SV xuất cảnh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4681728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754880" y="468172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31520" y="5413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thủ công mất 1–2 ngày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5394960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754880" y="539496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7880" y="3429000"/>
            <a:ext cx="640080" cy="548640"/>
          </a:xfrm>
          <a:prstGeom prst="rightArrow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766560" y="1234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(OUTPUT)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66560" y="1691640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94944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trung hóa dữ liệu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2167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CSDL duy nhất, bỏ Excel rời, phân quyền theo bộ phận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66560" y="2761488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94944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tài chính &amp; học thuật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3236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khoản thu, học bổng theo kỳ, lịch sử học tập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66560" y="3831336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949440" y="3950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thông minh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949440" y="43068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tỷ lệ đỗ visa, doanh thu, SV theo quốc gia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766560" y="4901184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949440" y="50200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suất &amp; bảo mật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5376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80% nhập liệu trùng; tuân thủ NĐ 13/2023/NĐ-CP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Khái quát về khách hàng và dự án: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169920" y="1280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phân hệ trong phạm vi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169920" y="1828800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07080" y="1892808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30708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81000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&amp; phân quyền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41720" y="1828800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78880" y="1892808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27888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8180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nhân viên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69920" y="2450592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07080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3070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81000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du học sinh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41720" y="2450592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78880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2788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78180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người thân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169920" y="3072384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307080" y="3136392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330708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81000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 chiếu &amp; Visa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41720" y="3072384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78880" y="3136392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627888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78180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Trường, quốc gia, ngành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169920" y="3694176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307080" y="3758184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33070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810000" y="3803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tập &amp; GPA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41720" y="3694176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278880" y="3758184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62788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781800" y="3803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bổng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169920" y="4315968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307080" y="4379976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330708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810000" y="44256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phí &amp; hóa đơn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141720" y="4315968"/>
            <a:ext cx="2788920" cy="502920"/>
          </a:xfrm>
          <a:prstGeom prst="roundRect">
            <a:avLst>
              <a:gd name="adj" fmla="val 218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278880" y="4379976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627888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781800" y="44256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thống kê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169920" y="5349240"/>
            <a:ext cx="5852160" cy="777240"/>
          </a:xfrm>
          <a:prstGeom prst="roundRect">
            <a:avLst>
              <a:gd name="adj" fmla="val 141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3352800" y="54406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phạm vi: </a:t>
            </a:r>
            <a:r>
              <a:rPr lang="en-US" sz="12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mobile riêng, cổng thanh toán online, tích hợp trực tiếp hệ thống của trường đối tác.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6D0A1-1970-276F-0D52-8E6FD301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36EC53-26F1-DF64-01A0-480713A17F1B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FE59D4-981C-1A91-28EB-DD5592003996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29A71E2-14A7-DA93-A90A-41553A4F3679}"/>
              </a:ext>
            </a:extLst>
          </p:cNvPr>
          <p:cNvSpPr txBox="1"/>
          <p:nvPr/>
        </p:nvSpPr>
        <p:spPr>
          <a:xfrm>
            <a:off x="73152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 (342,87 + 75,89 + 51,90)</a:t>
            </a:r>
            <a:endParaRPr lang="en-US" sz="12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34E5CC6-CD74-4051-3B00-A956D13E1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85800"/>
            <a:ext cx="11065009" cy="61722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28053003-B505-8A53-3A4D-E6C753331570}"/>
              </a:ext>
            </a:extLst>
          </p:cNvPr>
          <p:cNvSpPr txBox="1"/>
          <p:nvPr/>
        </p:nvSpPr>
        <p:spPr>
          <a:xfrm>
            <a:off x="594360" y="188327"/>
            <a:ext cx="10332720" cy="90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cs typeface="Times New Roman" pitchFamily="34" charset="-120"/>
              </a:rPr>
              <a:t>3.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khảo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sát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</a:p>
          <a:p>
            <a:r>
              <a:rPr lang="en-US" dirty="0"/>
              <a:t> 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93621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36CC2-2A56-039B-4F46-4ECE4905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57EDCA-5AF0-1F5D-30E1-140A8ACFB188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F9C8CA-7AEB-3C83-9B22-B85535CF16C9}"/>
              </a:ext>
            </a:extLst>
          </p:cNvPr>
          <p:cNvSpPr txBox="1"/>
          <p:nvPr/>
        </p:nvSpPr>
        <p:spPr>
          <a:xfrm>
            <a:off x="594360" y="553261"/>
            <a:ext cx="10332720" cy="90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cs typeface="Times New Roman" pitchFamily="34" charset="-120"/>
              </a:rPr>
              <a:t>3.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khảo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sát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</a:p>
          <a:p>
            <a:r>
              <a:rPr lang="en-US" dirty="0"/>
              <a:t> </a:t>
            </a:r>
            <a:endParaRPr lang="vi-VN" dirty="0"/>
          </a:p>
          <a:p>
            <a:pPr indent="0">
              <a:buNone/>
            </a:pPr>
            <a:r>
              <a:rPr lang="vi-VN" dirty="0">
                <a:latin typeface="+mj-lt"/>
              </a:rPr>
              <a:t>Một số biểu mẫu quản lý thủ công hiện tại</a:t>
            </a:r>
            <a:endParaRPr lang="en-US" dirty="0">
              <a:latin typeface="+mj-lt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1ECAA2-9756-FAFC-75E8-4C031F2300F0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0ECA8AA-FA9F-24F8-2B97-12E9BA0A7A0F}"/>
              </a:ext>
            </a:extLst>
          </p:cNvPr>
          <p:cNvSpPr txBox="1"/>
          <p:nvPr/>
        </p:nvSpPr>
        <p:spPr>
          <a:xfrm>
            <a:off x="73152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 (342,87 + 75,89 + 51,90)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ED1C2-D957-6325-8CDE-CC3DB1F1A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39" y="1821892"/>
            <a:ext cx="6666865" cy="444563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033C342F-9A42-87B4-AD8B-61F530255AB4}"/>
              </a:ext>
            </a:extLst>
          </p:cNvPr>
          <p:cNvSpPr txBox="1"/>
          <p:nvPr/>
        </p:nvSpPr>
        <p:spPr>
          <a:xfrm>
            <a:off x="1823464" y="5995882"/>
            <a:ext cx="4606520" cy="90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vi-VN" dirty="0">
                <a:latin typeface="+mj-lt"/>
              </a:rPr>
              <a:t>Phiếu khảo sát nhu cầu, nguyện vọng du học</a:t>
            </a:r>
            <a:endParaRPr lang="en-US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DA44CF-B11C-CEDA-2B26-154AD1AE54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596" y="1642322"/>
            <a:ext cx="3176270" cy="44907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B02C7B6C-B119-E263-1304-FB12FB3B868D}"/>
              </a:ext>
            </a:extLst>
          </p:cNvPr>
          <p:cNvSpPr txBox="1"/>
          <p:nvPr/>
        </p:nvSpPr>
        <p:spPr>
          <a:xfrm>
            <a:off x="7814730" y="5995882"/>
            <a:ext cx="4606520" cy="90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vi-VN" dirty="0">
                <a:latin typeface="+mj-lt"/>
              </a:rPr>
              <a:t>Phiếu đăng ký nguyện vọng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7851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khảo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sát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lỗ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hổng nghiệp vụ chi tiết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quy trình nghiệp vụ khảo sát · dữ liệu tập trung trên Google Shared Drive (11 thư mục, phân quyền cấp thư mục) · vẫn quản lý theo file nên phát sinh nhiều lỗ hổng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toàn vẹn dữ liệu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286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MSSV gõ tay, không ràng buộc khóa ngoại; VD dòng SV2026-16 (Mẫu 02) thành hồ sơ mồ côi.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78308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63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liệu trùng lặp 80%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286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phiếu đăng ký gốc (Mẫu 01A) phải nhập lại thủ công trên 7 bảng tính khác nhau.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nghẽn cấp mã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1 Cán bộ QTDL cấp MSSV, ùn tắc hồ sơ khi người này vắng mặt.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320040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338328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263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cảnh báo tự động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nhắc lịch phỏng vấn, hạn gia hạn Visa hay hạn đóng học phí.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hỗ trợ SV thất thoát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51206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 đổi qua Zalo/Facebook cá nhân của tư vấn viên, trung tâm không sở hữu dữ liệu.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0760" y="461772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63640" y="480060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263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thủ công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51206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1–2 ngày cuối tháng đếm &amp; dán số liệu, không có Dashboard thời gian thực.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4BFF9-B7F5-AE67-02C8-395CE7E2B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950383-09BB-CA85-C435-E4E4EEA44B3A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ACED4F-B637-5D6E-99C5-B4741F9D4405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khảo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sát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lỗ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hổng nghiệp vụ chi tiết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5D6576-8082-C849-40A0-0E88218F2698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873AC1-ECC7-E306-7182-BAA7982EF56C}"/>
              </a:ext>
            </a:extLst>
          </p:cNvPr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quy trình nghiệp vụ khảo sát · dữ liệu tập trung trên Google Shared Drive (11 thư mục, phân quyền cấp thư mục) · vẫn quản lý theo file nên phát sinh nhiều lỗ hổng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B0FD0CA-B7E6-8C9D-3088-0040C7EF82E8}"/>
              </a:ext>
            </a:extLst>
          </p:cNvPr>
          <p:cNvSpPr/>
          <p:nvPr/>
        </p:nvSpPr>
        <p:spPr>
          <a:xfrm>
            <a:off x="548640" y="178308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FC47655-1005-7DC7-618B-BFDAE6EC9BD3}"/>
              </a:ext>
            </a:extLst>
          </p:cNvPr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C9C0DE-70BA-3EFA-79DB-516D83CDA2EB}"/>
              </a:ext>
            </a:extLst>
          </p:cNvPr>
          <p:cNvSpPr txBox="1"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1D6E6F9-470A-26D6-8EE4-EC1CBA0FE711}"/>
              </a:ext>
            </a:extLst>
          </p:cNvPr>
          <p:cNvSpPr txBox="1"/>
          <p:nvPr/>
        </p:nvSpPr>
        <p:spPr>
          <a:xfrm>
            <a:off x="137160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chặt chẽ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07385E9-C79E-E587-4AC8-8CA06237620E}"/>
              </a:ext>
            </a:extLst>
          </p:cNvPr>
          <p:cNvSpPr txBox="1"/>
          <p:nvPr/>
        </p:nvSpPr>
        <p:spPr>
          <a:xfrm>
            <a:off x="1371600" y="2286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cấp file chứ không cấp bản ghi; một nhân viên có thể sửa/xem toàn bộ hồ sơ của đồng nghiệp khác.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6F49DC4-414C-844B-7D57-6C1B87330C67}"/>
              </a:ext>
            </a:extLst>
          </p:cNvPr>
          <p:cNvSpPr/>
          <p:nvPr/>
        </p:nvSpPr>
        <p:spPr>
          <a:xfrm>
            <a:off x="6080760" y="178308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2CBFF22-85AB-1905-70FF-AD2902ACCAD2}"/>
              </a:ext>
            </a:extLst>
          </p:cNvPr>
          <p:cNvSpPr/>
          <p:nvPr/>
        </p:nvSpPr>
        <p:spPr>
          <a:xfrm>
            <a:off x="6263640" y="196596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CCDD314-69A3-7096-D170-F8AA30D41F36}"/>
              </a:ext>
            </a:extLst>
          </p:cNvPr>
          <p:cNvSpPr txBox="1"/>
          <p:nvPr/>
        </p:nvSpPr>
        <p:spPr>
          <a:xfrm>
            <a:off x="6263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0B902D0-43B2-B1E3-EFEE-D4652C197DE9}"/>
              </a:ext>
            </a:extLst>
          </p:cNvPr>
          <p:cNvSpPr txBox="1"/>
          <p:nvPr/>
        </p:nvSpPr>
        <p:spPr>
          <a:xfrm>
            <a:off x="690372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soát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911372-D07B-0698-6C48-D6CCB583D416}"/>
              </a:ext>
            </a:extLst>
          </p:cNvPr>
          <p:cNvSpPr txBox="1"/>
          <p:nvPr/>
        </p:nvSpPr>
        <p:spPr>
          <a:xfrm>
            <a:off x="6903720" y="2286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dàng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Excel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gây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bí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688BAFE-8CF5-8A91-6233-23E023F772FE}"/>
              </a:ext>
            </a:extLst>
          </p:cNvPr>
          <p:cNvSpPr/>
          <p:nvPr/>
        </p:nvSpPr>
        <p:spPr>
          <a:xfrm>
            <a:off x="548640" y="320040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FBF0A90-A56E-3297-C758-91F892A7F6EA}"/>
              </a:ext>
            </a:extLst>
          </p:cNvPr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B107D72-9A68-6DC6-A99A-83D3ECC44DA3}"/>
              </a:ext>
            </a:extLst>
          </p:cNvPr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6DD2F33-BF84-AB7A-B089-821CB6F1286C}"/>
              </a:ext>
            </a:extLst>
          </p:cNvPr>
          <p:cNvSpPr txBox="1"/>
          <p:nvPr/>
        </p:nvSpPr>
        <p:spPr>
          <a:xfrm>
            <a:off x="137160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vết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2482D1B-ACDD-9299-02DA-F194B7EABC02}"/>
              </a:ext>
            </a:extLst>
          </p:cNvPr>
          <p:cNvSpPr txBox="1"/>
          <p:nvPr/>
        </p:nvSpPr>
        <p:spPr>
          <a:xfrm>
            <a:off x="137160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ở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Tài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hay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vết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D02EF13-77CE-5E29-86AB-65D7B7AF7199}"/>
              </a:ext>
            </a:extLst>
          </p:cNvPr>
          <p:cNvSpPr/>
          <p:nvPr/>
        </p:nvSpPr>
        <p:spPr>
          <a:xfrm>
            <a:off x="6080760" y="320040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037D2CC-AB9F-3198-9A4B-E96AF260C0E8}"/>
              </a:ext>
            </a:extLst>
          </p:cNvPr>
          <p:cNvSpPr/>
          <p:nvPr/>
        </p:nvSpPr>
        <p:spPr>
          <a:xfrm>
            <a:off x="6263640" y="3383280"/>
            <a:ext cx="457200" cy="4572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B2BDDE4-DB25-5345-6AB6-80CF7829AA76}"/>
              </a:ext>
            </a:extLst>
          </p:cNvPr>
          <p:cNvSpPr txBox="1"/>
          <p:nvPr/>
        </p:nvSpPr>
        <p:spPr>
          <a:xfrm>
            <a:off x="6263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E9D2705-0BD7-A649-CE39-599F6CA66C70}"/>
              </a:ext>
            </a:extLst>
          </p:cNvPr>
          <p:cNvSpPr txBox="1"/>
          <p:nvPr/>
        </p:nvSpPr>
        <p:spPr>
          <a:xfrm>
            <a:off x="690372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</a:t>
            </a: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83FC211-A1FE-A399-2B1B-680F2522C87F}"/>
              </a:ext>
            </a:extLst>
          </p:cNvPr>
          <p:cNvSpPr txBox="1"/>
          <p:nvPr/>
        </p:nvSpPr>
        <p:spPr>
          <a:xfrm>
            <a:off x="690372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chứa CCCD, Hộ chiếu, Thu nhập bảo lãnh chia sẻ qua link Drive vi phạm nghiêm trọng Nghị định 13/2023/NĐ-CP về bảo vệ dữ liệu cá nhân.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77479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0579-F3E9-8500-2EC1-1D841F79B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E07F05-462E-DB74-E81E-3B234256AA57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4E87A6-2D3E-56EC-5D94-2F954FF95B3E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quả phân tích: Tác nhân &amp; Use Case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9CDF09-E83A-DB46-F978-9AF9228F2199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1CA783-2347-A2E7-D725-B0BD3247BD55}"/>
              </a:ext>
            </a:extLst>
          </p:cNvPr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tác nhân (Actors)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9A09B29-1809-355A-04A4-5751017035B1}"/>
              </a:ext>
            </a:extLst>
          </p:cNvPr>
          <p:cNvSpPr/>
          <p:nvPr/>
        </p:nvSpPr>
        <p:spPr>
          <a:xfrm>
            <a:off x="548640" y="164592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5AFDB7-8D69-3D4E-62D3-B12C57BE668F}"/>
              </a:ext>
            </a:extLst>
          </p:cNvPr>
          <p:cNvSpPr/>
          <p:nvPr/>
        </p:nvSpPr>
        <p:spPr>
          <a:xfrm>
            <a:off x="731520" y="1764792"/>
            <a:ext cx="548640" cy="54864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4C7959D-9652-C5CB-4F6A-24CF712AF725}"/>
              </a:ext>
            </a:extLst>
          </p:cNvPr>
          <p:cNvSpPr txBox="1"/>
          <p:nvPr/>
        </p:nvSpPr>
        <p:spPr>
          <a:xfrm>
            <a:off x="731520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74D09FE-9280-2B5F-0512-13D3FE27C52E}"/>
              </a:ext>
            </a:extLst>
          </p:cNvPr>
          <p:cNvSpPr txBox="1"/>
          <p:nvPr/>
        </p:nvSpPr>
        <p:spPr>
          <a:xfrm>
            <a:off x="1417320" y="1719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nhân sự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638B52-233B-4A16-C5D4-50605E1EF967}"/>
              </a:ext>
            </a:extLst>
          </p:cNvPr>
          <p:cNvSpPr txBox="1"/>
          <p:nvPr/>
        </p:nvSpPr>
        <p:spPr>
          <a:xfrm>
            <a:off x="1417320" y="2029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khoản &amp; phân quyền nội bộ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0411CB2-5782-E779-6121-7400A528C90A}"/>
              </a:ext>
            </a:extLst>
          </p:cNvPr>
          <p:cNvSpPr/>
          <p:nvPr/>
        </p:nvSpPr>
        <p:spPr>
          <a:xfrm>
            <a:off x="548640" y="256032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5791AD2-FB57-85FE-6C91-AD9A593CE266}"/>
              </a:ext>
            </a:extLst>
          </p:cNvPr>
          <p:cNvSpPr/>
          <p:nvPr/>
        </p:nvSpPr>
        <p:spPr>
          <a:xfrm>
            <a:off x="731520" y="2679192"/>
            <a:ext cx="548640" cy="54864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2FC6E77-D370-C2BA-CDA5-D401FE464B78}"/>
              </a:ext>
            </a:extLst>
          </p:cNvPr>
          <p:cNvSpPr txBox="1"/>
          <p:nvPr/>
        </p:nvSpPr>
        <p:spPr>
          <a:xfrm>
            <a:off x="73152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0F769B6-6127-DD60-FBEF-069BFE92A992}"/>
              </a:ext>
            </a:extLst>
          </p:cNvPr>
          <p:cNvSpPr txBox="1"/>
          <p:nvPr/>
        </p:nvSpPr>
        <p:spPr>
          <a:xfrm>
            <a:off x="1417320" y="2633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tuyển sinh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0CB6BED-8859-2E66-D775-7C6C9C642F86}"/>
              </a:ext>
            </a:extLst>
          </p:cNvPr>
          <p:cNvSpPr txBox="1"/>
          <p:nvPr/>
        </p:nvSpPr>
        <p:spPr>
          <a:xfrm>
            <a:off x="1417320" y="2944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hồ sơ, tư vấn, quản lý trường đối tác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5A0CE53-2955-D363-7A5C-807619C287FA}"/>
              </a:ext>
            </a:extLst>
          </p:cNvPr>
          <p:cNvSpPr/>
          <p:nvPr/>
        </p:nvSpPr>
        <p:spPr>
          <a:xfrm>
            <a:off x="548640" y="347472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2E3AF18-4475-BFED-C77E-3321B7654509}"/>
              </a:ext>
            </a:extLst>
          </p:cNvPr>
          <p:cNvSpPr/>
          <p:nvPr/>
        </p:nvSpPr>
        <p:spPr>
          <a:xfrm>
            <a:off x="731520" y="3593592"/>
            <a:ext cx="548640" cy="54864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D9789E1-04E9-45BD-0C0A-7FFCD0165136}"/>
              </a:ext>
            </a:extLst>
          </p:cNvPr>
          <p:cNvSpPr txBox="1"/>
          <p:nvPr/>
        </p:nvSpPr>
        <p:spPr>
          <a:xfrm>
            <a:off x="731520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A66B2EB-33F0-E41B-CC64-1D373FE447CB}"/>
              </a:ext>
            </a:extLst>
          </p:cNvPr>
          <p:cNvSpPr txBox="1"/>
          <p:nvPr/>
        </p:nvSpPr>
        <p:spPr>
          <a:xfrm>
            <a:off x="1417320" y="3547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quản lý SV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415F620-DA84-E828-B268-B154ECD0A591}"/>
              </a:ext>
            </a:extLst>
          </p:cNvPr>
          <p:cNvSpPr txBox="1"/>
          <p:nvPr/>
        </p:nvSpPr>
        <p:spPr>
          <a:xfrm>
            <a:off x="1417320" y="3858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Visa, học tập, GPA, học bổng, tài chính, báo cáo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4E1AF87-10FE-651B-8E42-853B2D78FE4B}"/>
              </a:ext>
            </a:extLst>
          </p:cNvPr>
          <p:cNvSpPr/>
          <p:nvPr/>
        </p:nvSpPr>
        <p:spPr>
          <a:xfrm>
            <a:off x="548640" y="438912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78CE107-AB89-C259-6F01-91009A9DF22D}"/>
              </a:ext>
            </a:extLst>
          </p:cNvPr>
          <p:cNvSpPr/>
          <p:nvPr/>
        </p:nvSpPr>
        <p:spPr>
          <a:xfrm>
            <a:off x="731520" y="4507992"/>
            <a:ext cx="548640" cy="54864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844DBC0-A797-A287-3E9C-090083DDDEBD}"/>
              </a:ext>
            </a:extLst>
          </p:cNvPr>
          <p:cNvSpPr txBox="1"/>
          <p:nvPr/>
        </p:nvSpPr>
        <p:spPr>
          <a:xfrm>
            <a:off x="731520" y="4507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E04EA41-85AB-D5CE-ACD2-67B76EBFC7C0}"/>
              </a:ext>
            </a:extLst>
          </p:cNvPr>
          <p:cNvSpPr txBox="1"/>
          <p:nvPr/>
        </p:nvSpPr>
        <p:spPr>
          <a:xfrm>
            <a:off x="1417320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AB9EC1D-FBAD-1249-A2ED-9D3939A2020C}"/>
              </a:ext>
            </a:extLst>
          </p:cNvPr>
          <p:cNvSpPr txBox="1"/>
          <p:nvPr/>
        </p:nvSpPr>
        <p:spPr>
          <a:xfrm>
            <a:off x="1417320" y="4773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hồ sơ, tự cập nhật thông tin cá nhân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46F5D6D-1860-E4FC-5E93-E45D1ECE0349}"/>
              </a:ext>
            </a:extLst>
          </p:cNvPr>
          <p:cNvSpPr txBox="1"/>
          <p:nvPr/>
        </p:nvSpPr>
        <p:spPr>
          <a:xfrm>
            <a:off x="594360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Use Case · 6 nhóm chức năng</a:t>
            </a:r>
            <a:endParaRPr lang="en-US" sz="15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46D9295-6574-257F-64C7-ED6A7A9E9084}"/>
              </a:ext>
            </a:extLst>
          </p:cNvPr>
          <p:cNvSpPr/>
          <p:nvPr/>
        </p:nvSpPr>
        <p:spPr>
          <a:xfrm>
            <a:off x="5943600" y="1645920"/>
            <a:ext cx="2697480" cy="1078992"/>
          </a:xfrm>
          <a:prstGeom prst="roundRect">
            <a:avLst>
              <a:gd name="adj" fmla="val 1016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95A9C42-C0E7-1614-9F7E-21F3CE0C9129}"/>
              </a:ext>
            </a:extLst>
          </p:cNvPr>
          <p:cNvSpPr/>
          <p:nvPr/>
        </p:nvSpPr>
        <p:spPr>
          <a:xfrm>
            <a:off x="6080760" y="1783080"/>
            <a:ext cx="457200" cy="45720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A64AF4E-1B15-1CE6-936E-668C1BFA08EE}"/>
              </a:ext>
            </a:extLst>
          </p:cNvPr>
          <p:cNvSpPr txBox="1"/>
          <p:nvPr/>
        </p:nvSpPr>
        <p:spPr>
          <a:xfrm>
            <a:off x="6080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76FD755-4831-F464-1686-A0244938FB28}"/>
              </a:ext>
            </a:extLst>
          </p:cNvPr>
          <p:cNvSpPr txBox="1"/>
          <p:nvPr/>
        </p:nvSpPr>
        <p:spPr>
          <a:xfrm>
            <a:off x="6656832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&amp; Đăng nhập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B271161-6264-C34C-53E8-8A6E9575DD32}"/>
              </a:ext>
            </a:extLst>
          </p:cNvPr>
          <p:cNvSpPr txBox="1"/>
          <p:nvPr/>
        </p:nvSpPr>
        <p:spPr>
          <a:xfrm>
            <a:off x="608076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UC01–UC02</a:t>
            </a:r>
            <a:endParaRPr lang="en-US" sz="11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6886DCC-2219-0275-A12C-58472BDDDD5E}"/>
              </a:ext>
            </a:extLst>
          </p:cNvPr>
          <p:cNvSpPr/>
          <p:nvPr/>
        </p:nvSpPr>
        <p:spPr>
          <a:xfrm>
            <a:off x="8823960" y="1645920"/>
            <a:ext cx="2697480" cy="1078992"/>
          </a:xfrm>
          <a:prstGeom prst="roundRect">
            <a:avLst>
              <a:gd name="adj" fmla="val 1016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52BDE0F-79F3-5CEC-E9B3-A0C7EDE38CC2}"/>
              </a:ext>
            </a:extLst>
          </p:cNvPr>
          <p:cNvSpPr/>
          <p:nvPr/>
        </p:nvSpPr>
        <p:spPr>
          <a:xfrm>
            <a:off x="8961120" y="1783080"/>
            <a:ext cx="457200" cy="45720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51C7E55-54E5-654C-128D-F7E889C63550}"/>
              </a:ext>
            </a:extLst>
          </p:cNvPr>
          <p:cNvSpPr txBox="1"/>
          <p:nvPr/>
        </p:nvSpPr>
        <p:spPr>
          <a:xfrm>
            <a:off x="89611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AAD2A1B-7C99-4AA8-E3D8-41C40E2F4E49}"/>
              </a:ext>
            </a:extLst>
          </p:cNvPr>
          <p:cNvSpPr txBox="1"/>
          <p:nvPr/>
        </p:nvSpPr>
        <p:spPr>
          <a:xfrm>
            <a:off x="9537192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học sinh &amp; Người thân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D8874F7-D093-2528-CBA5-E071D206846B}"/>
              </a:ext>
            </a:extLst>
          </p:cNvPr>
          <p:cNvSpPr txBox="1"/>
          <p:nvPr/>
        </p:nvSpPr>
        <p:spPr>
          <a:xfrm>
            <a:off x="896112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UC03,04,06</a:t>
            </a:r>
            <a:endParaRPr lang="en-US" sz="11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396D8DC-26C2-CF78-331F-393D20602E2A}"/>
              </a:ext>
            </a:extLst>
          </p:cNvPr>
          <p:cNvSpPr/>
          <p:nvPr/>
        </p:nvSpPr>
        <p:spPr>
          <a:xfrm>
            <a:off x="5943600" y="2880360"/>
            <a:ext cx="2697480" cy="1078992"/>
          </a:xfrm>
          <a:prstGeom prst="roundRect">
            <a:avLst>
              <a:gd name="adj" fmla="val 1016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251E257A-8B8A-2BE7-8AEE-F6D901D15DF5}"/>
              </a:ext>
            </a:extLst>
          </p:cNvPr>
          <p:cNvSpPr/>
          <p:nvPr/>
        </p:nvSpPr>
        <p:spPr>
          <a:xfrm>
            <a:off x="6080760" y="3017520"/>
            <a:ext cx="457200" cy="45720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30E769C-9EF7-12D4-17E4-F149615191AB}"/>
              </a:ext>
            </a:extLst>
          </p:cNvPr>
          <p:cNvSpPr txBox="1"/>
          <p:nvPr/>
        </p:nvSpPr>
        <p:spPr>
          <a:xfrm>
            <a:off x="6080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B42D4AD-CA6B-CFDC-964C-B7B820497D5C}"/>
              </a:ext>
            </a:extLst>
          </p:cNvPr>
          <p:cNvSpPr txBox="1"/>
          <p:nvPr/>
        </p:nvSpPr>
        <p:spPr>
          <a:xfrm>
            <a:off x="6656832" y="2971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đối tác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C135307-7EDC-F67D-2629-64C45C640999}"/>
              </a:ext>
            </a:extLst>
          </p:cNvPr>
          <p:cNvSpPr txBox="1"/>
          <p:nvPr/>
        </p:nvSpPr>
        <p:spPr>
          <a:xfrm>
            <a:off x="6080760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UC07–UC08</a:t>
            </a:r>
            <a:endParaRPr lang="en-US" sz="11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5892D29-8186-E527-3E2A-BC1D061C571A}"/>
              </a:ext>
            </a:extLst>
          </p:cNvPr>
          <p:cNvSpPr/>
          <p:nvPr/>
        </p:nvSpPr>
        <p:spPr>
          <a:xfrm>
            <a:off x="8823960" y="2880360"/>
            <a:ext cx="2697480" cy="1078992"/>
          </a:xfrm>
          <a:prstGeom prst="roundRect">
            <a:avLst>
              <a:gd name="adj" fmla="val 1016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636BCF87-5214-F747-D115-6B63820B1A63}"/>
              </a:ext>
            </a:extLst>
          </p:cNvPr>
          <p:cNvSpPr/>
          <p:nvPr/>
        </p:nvSpPr>
        <p:spPr>
          <a:xfrm>
            <a:off x="8961120" y="3017520"/>
            <a:ext cx="457200" cy="45720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8AD8650-A06A-C437-DB49-C930D466915A}"/>
              </a:ext>
            </a:extLst>
          </p:cNvPr>
          <p:cNvSpPr txBox="1"/>
          <p:nvPr/>
        </p:nvSpPr>
        <p:spPr>
          <a:xfrm>
            <a:off x="89611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11A8919A-02D1-78FC-8304-8FD996AF6470}"/>
              </a:ext>
            </a:extLst>
          </p:cNvPr>
          <p:cNvSpPr txBox="1"/>
          <p:nvPr/>
        </p:nvSpPr>
        <p:spPr>
          <a:xfrm>
            <a:off x="9537192" y="2971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thuật &amp; GPA</a:t>
            </a: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3928478-4370-0412-778B-5EC40A2C9EE1}"/>
              </a:ext>
            </a:extLst>
          </p:cNvPr>
          <p:cNvSpPr txBox="1"/>
          <p:nvPr/>
        </p:nvSpPr>
        <p:spPr>
          <a:xfrm>
            <a:off x="8961120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UC09–UC10</a:t>
            </a:r>
            <a:endParaRPr lang="en-US" sz="11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30C1193-09CE-141F-C90E-581150C679CA}"/>
              </a:ext>
            </a:extLst>
          </p:cNvPr>
          <p:cNvSpPr/>
          <p:nvPr/>
        </p:nvSpPr>
        <p:spPr>
          <a:xfrm>
            <a:off x="5943600" y="4114800"/>
            <a:ext cx="2697480" cy="1078992"/>
          </a:xfrm>
          <a:prstGeom prst="roundRect">
            <a:avLst>
              <a:gd name="adj" fmla="val 1016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43B0EF6-AF4E-D4F3-C83E-6DAF762579DD}"/>
              </a:ext>
            </a:extLst>
          </p:cNvPr>
          <p:cNvSpPr/>
          <p:nvPr/>
        </p:nvSpPr>
        <p:spPr>
          <a:xfrm>
            <a:off x="6080760" y="4251960"/>
            <a:ext cx="457200" cy="45720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CAF65167-5C91-0AA8-CC46-577E92F6D290}"/>
              </a:ext>
            </a:extLst>
          </p:cNvPr>
          <p:cNvSpPr txBox="1"/>
          <p:nvPr/>
        </p:nvSpPr>
        <p:spPr>
          <a:xfrm>
            <a:off x="60807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12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458EE62-A71E-CADD-0430-F7EA90DBA326}"/>
              </a:ext>
            </a:extLst>
          </p:cNvPr>
          <p:cNvSpPr txBox="1"/>
          <p:nvPr/>
        </p:nvSpPr>
        <p:spPr>
          <a:xfrm>
            <a:off x="6656832" y="4206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 &amp; Học bổng</a:t>
            </a:r>
            <a:endParaRPr lang="en-US" sz="12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F6670885-9A00-2C75-7653-82AB5F87F8B3}"/>
              </a:ext>
            </a:extLst>
          </p:cNvPr>
          <p:cNvSpPr txBox="1"/>
          <p:nvPr/>
        </p:nvSpPr>
        <p:spPr>
          <a:xfrm>
            <a:off x="6080760" y="4800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UC11–UC12</a:t>
            </a:r>
            <a:endParaRPr lang="en-US" sz="11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F7A97C1F-42AE-D26E-D440-8F25DFE82651}"/>
              </a:ext>
            </a:extLst>
          </p:cNvPr>
          <p:cNvSpPr/>
          <p:nvPr/>
        </p:nvSpPr>
        <p:spPr>
          <a:xfrm>
            <a:off x="8823960" y="4114800"/>
            <a:ext cx="2697480" cy="1078992"/>
          </a:xfrm>
          <a:prstGeom prst="roundRect">
            <a:avLst>
              <a:gd name="adj" fmla="val 1016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C47ECF97-7EF1-647B-1A20-554C033E6F60}"/>
              </a:ext>
            </a:extLst>
          </p:cNvPr>
          <p:cNvSpPr/>
          <p:nvPr/>
        </p:nvSpPr>
        <p:spPr>
          <a:xfrm>
            <a:off x="8961120" y="4251960"/>
            <a:ext cx="457200" cy="45720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FC12B0A8-4DD4-DF78-706D-694E7DE7E1CE}"/>
              </a:ext>
            </a:extLst>
          </p:cNvPr>
          <p:cNvSpPr txBox="1"/>
          <p:nvPr/>
        </p:nvSpPr>
        <p:spPr>
          <a:xfrm>
            <a:off x="89611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2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396DE30-FC33-F3BD-2306-57CEDA34BA7D}"/>
              </a:ext>
            </a:extLst>
          </p:cNvPr>
          <p:cNvSpPr txBox="1"/>
          <p:nvPr/>
        </p:nvSpPr>
        <p:spPr>
          <a:xfrm>
            <a:off x="9537192" y="4206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lý &amp; Dashboard</a:t>
            </a:r>
            <a:endParaRPr lang="en-US" sz="12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F336896-0E65-C9F8-BEB0-4FFDDDCA9184}"/>
              </a:ext>
            </a:extLst>
          </p:cNvPr>
          <p:cNvSpPr txBox="1"/>
          <p:nvPr/>
        </p:nvSpPr>
        <p:spPr>
          <a:xfrm>
            <a:off x="8961120" y="4800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UC05, UC13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55749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9FDC-5A36-1D10-DBD2-3BCE8521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90D756-8639-24A9-1785-C180D0D72B68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550B9C-23F7-7B5F-3F7B-DEC3AD2C6012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quả phân tích: Tác nhân &amp; Use Case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8A39FE-AE7A-C126-C924-439B19FB1DAE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F91D97A-EE39-EDCE-5A63-BF7C495B1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56042" y="1051560"/>
            <a:ext cx="5209106" cy="543814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Text 1">
            <a:extLst>
              <a:ext uri="{FF2B5EF4-FFF2-40B4-BE49-F238E27FC236}">
                <a16:creationId xmlns:a16="http://schemas.microsoft.com/office/drawing/2014/main" id="{2F107247-B46B-50FD-656D-961B56DC6CEF}"/>
              </a:ext>
            </a:extLst>
          </p:cNvPr>
          <p:cNvSpPr txBox="1"/>
          <p:nvPr/>
        </p:nvSpPr>
        <p:spPr>
          <a:xfrm>
            <a:off x="4668747" y="6155168"/>
            <a:ext cx="2432444" cy="90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vi-VN" dirty="0">
                <a:latin typeface="+mj-lt"/>
              </a:rPr>
              <a:t>Sơ đồ usecase tổng quát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9720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037CE-9654-2B42-0D31-214D778E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EF045B-A4C1-ED96-F3AC-92160FCD10EE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5557F2-9303-4C90-F261-1C189D771731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quả phân tích: Tác nhân &amp; Use Case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6CA1DA-EB41-FEDE-C2A2-34AD1F9AF118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EA78A8AA-78DF-3AB4-5620-AC29CB7A0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92423" y="1173715"/>
            <a:ext cx="6202680" cy="507873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Text 1">
            <a:extLst>
              <a:ext uri="{FF2B5EF4-FFF2-40B4-BE49-F238E27FC236}">
                <a16:creationId xmlns:a16="http://schemas.microsoft.com/office/drawing/2014/main" id="{B4235C21-621C-F4CB-0026-5465407DDC75}"/>
              </a:ext>
            </a:extLst>
          </p:cNvPr>
          <p:cNvSpPr txBox="1"/>
          <p:nvPr/>
        </p:nvSpPr>
        <p:spPr>
          <a:xfrm>
            <a:off x="4977541" y="6183484"/>
            <a:ext cx="2432444" cy="90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vi-VN" dirty="0">
                <a:latin typeface="+mj-lt"/>
              </a:rPr>
              <a:t>Sơ đồ usecase phân rã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44470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quả phân tích: 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sở dữ liệu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60E399AE-FFFB-04BB-FCBC-4E31A36CD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519" y="539496"/>
            <a:ext cx="5216801" cy="5907024"/>
          </a:xfrm>
          <a:prstGeom prst="rect">
            <a:avLst/>
          </a:prstGeom>
        </p:spPr>
      </p:pic>
      <p:sp>
        <p:nvSpPr>
          <p:cNvPr id="60" name="Shape 15">
            <a:extLst>
              <a:ext uri="{FF2B5EF4-FFF2-40B4-BE49-F238E27FC236}">
                <a16:creationId xmlns:a16="http://schemas.microsoft.com/office/drawing/2014/main" id="{A91F100E-5442-570C-F88E-4508FF736749}"/>
              </a:ext>
            </a:extLst>
          </p:cNvPr>
          <p:cNvSpPr/>
          <p:nvPr/>
        </p:nvSpPr>
        <p:spPr>
          <a:xfrm>
            <a:off x="594360" y="1225296"/>
            <a:ext cx="5577840" cy="1401526"/>
          </a:xfrm>
          <a:prstGeom prst="roundRect">
            <a:avLst>
              <a:gd name="adj" fmla="val 4528"/>
            </a:avLst>
          </a:prstGeom>
          <a:solidFill>
            <a:srgbClr val="4A1210"/>
          </a:solidFill>
          <a:ln w="12700">
            <a:solidFill>
              <a:srgbClr val="4A1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7C120863-5504-4EC3-BEEF-FFE007C719DB}"/>
              </a:ext>
            </a:extLst>
          </p:cNvPr>
          <p:cNvSpPr txBox="1"/>
          <p:nvPr/>
        </p:nvSpPr>
        <p:spPr>
          <a:xfrm>
            <a:off x="822960" y="14081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CSDL </a:t>
            </a:r>
            <a:r>
              <a:rPr lang="vi-VN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bảng</a:t>
            </a:r>
            <a:endParaRPr lang="en-US" sz="1500" dirty="0"/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8BB77ED9-9F6C-B7C1-4AE9-506ECD8EABB7}"/>
              </a:ext>
            </a:extLst>
          </p:cNvPr>
          <p:cNvSpPr txBox="1"/>
          <p:nvPr/>
        </p:nvSpPr>
        <p:spPr>
          <a:xfrm>
            <a:off x="822960" y="186537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vi-V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SinhVien_03 làm trung tâm liên kết khóa ngoại chặt chẽ với các bảng TaiChinh_03, Visa_03, HocThuat_03, HocBong_03, GPA_03, NguoiThan_03, xóa bỏ hoàn toàn rủi ro hồ sơ mồ côi.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tích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Yêu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cầu phi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chức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năng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EB20AE-5216-B00C-C224-0C7A317AD1C3}"/>
              </a:ext>
            </a:extLst>
          </p:cNvPr>
          <p:cNvGrpSpPr/>
          <p:nvPr/>
        </p:nvGrpSpPr>
        <p:grpSpPr>
          <a:xfrm>
            <a:off x="1344427" y="1949014"/>
            <a:ext cx="9503145" cy="3366743"/>
            <a:chOff x="548640" y="1234440"/>
            <a:chExt cx="5212080" cy="2240280"/>
          </a:xfrm>
        </p:grpSpPr>
        <p:sp>
          <p:nvSpPr>
            <p:cNvPr id="5" name="Shape 3"/>
            <p:cNvSpPr/>
            <p:nvPr/>
          </p:nvSpPr>
          <p:spPr>
            <a:xfrm>
              <a:off x="548640" y="1234440"/>
              <a:ext cx="2514600" cy="1051560"/>
            </a:xfrm>
            <a:prstGeom prst="roundRect">
              <a:avLst>
                <a:gd name="adj" fmla="val 10435"/>
              </a:avLst>
            </a:prstGeom>
            <a:solidFill>
              <a:srgbClr val="F3DAD6"/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731520" y="1344168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7A1F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Hiệu năng</a:t>
              </a:r>
              <a:endParaRPr lang="en-US" sz="28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731520" y="1764792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E585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Phản hồi &lt; 2 giây · 100 người dùng đồng thời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246120" y="1234440"/>
              <a:ext cx="2514600" cy="1051560"/>
            </a:xfrm>
            <a:prstGeom prst="roundRect">
              <a:avLst>
                <a:gd name="adj" fmla="val 10435"/>
              </a:avLst>
            </a:prstGeom>
            <a:solidFill>
              <a:srgbClr val="F3DAD6"/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3429000" y="1344168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7A1F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Bảo mật</a:t>
              </a:r>
              <a:endParaRPr lang="en-US" sz="28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3429000" y="1764792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E585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Mật khẩu hash · phân quyền RBAC</a:t>
              </a:r>
              <a:endParaRPr lang="en-US" sz="2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48640" y="2423160"/>
              <a:ext cx="2514600" cy="1051560"/>
            </a:xfrm>
            <a:prstGeom prst="roundRect">
              <a:avLst>
                <a:gd name="adj" fmla="val 10435"/>
              </a:avLst>
            </a:prstGeom>
            <a:solidFill>
              <a:srgbClr val="F3DAD6"/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731520" y="2532888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7A1F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Toàn vẹn dữ liệu</a:t>
              </a:r>
              <a:endParaRPr lang="en-US" sz="28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731520" y="2953512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E585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CSDL SQL Server chuẩn 3NF, ràng buộc PK/FK</a:t>
              </a:r>
              <a:endParaRPr lang="en-US" sz="2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246120" y="2423160"/>
              <a:ext cx="2514600" cy="1051560"/>
            </a:xfrm>
            <a:prstGeom prst="roundRect">
              <a:avLst>
                <a:gd name="adj" fmla="val 10435"/>
              </a:avLst>
            </a:prstGeom>
            <a:solidFill>
              <a:srgbClr val="F3DAD6"/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3429000" y="2532888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7A1F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Khả dụng</a:t>
              </a:r>
              <a:endParaRPr lang="en-US" sz="280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3429000" y="2953512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E585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Giảm 80% nhập trùng · uptime 99,5%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62921-F271-47BF-9766-324628A5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8B5DC1E-16D9-B177-AA79-9FCA1A5A5D14}"/>
              </a:ext>
            </a:extLst>
          </p:cNvPr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luận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4F8E93-E3AE-58D8-4DBB-22A8BACC93DB}"/>
              </a:ext>
            </a:extLst>
          </p:cNvPr>
          <p:cNvSpPr/>
          <p:nvPr/>
        </p:nvSpPr>
        <p:spPr>
          <a:xfrm>
            <a:off x="2438400" y="2057400"/>
            <a:ext cx="3383280" cy="1691640"/>
          </a:xfrm>
          <a:prstGeom prst="roundRect">
            <a:avLst>
              <a:gd name="adj" fmla="val 3871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83D7E3-C08C-2280-1681-9BF41434275D}"/>
              </a:ext>
            </a:extLst>
          </p:cNvPr>
          <p:cNvSpPr/>
          <p:nvPr/>
        </p:nvSpPr>
        <p:spPr>
          <a:xfrm>
            <a:off x="2712720" y="233172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63CC8D-3374-3BC3-4C55-01172C5A5241}"/>
              </a:ext>
            </a:extLst>
          </p:cNvPr>
          <p:cNvSpPr txBox="1"/>
          <p:nvPr/>
        </p:nvSpPr>
        <p:spPr>
          <a:xfrm>
            <a:off x="27127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9B91EE-D249-49F8-ECC0-D10D4F632661}"/>
              </a:ext>
            </a:extLst>
          </p:cNvPr>
          <p:cNvSpPr txBox="1"/>
          <p:nvPr/>
        </p:nvSpPr>
        <p:spPr>
          <a:xfrm>
            <a:off x="271272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thời gian</a:t>
            </a:r>
            <a:endParaRPr lang="en-US" sz="1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A72BD91-101B-4840-E93E-208C52B06217}"/>
              </a:ext>
            </a:extLst>
          </p:cNvPr>
          <p:cNvSpPr/>
          <p:nvPr/>
        </p:nvSpPr>
        <p:spPr>
          <a:xfrm>
            <a:off x="6096000" y="2057400"/>
            <a:ext cx="3383280" cy="1691640"/>
          </a:xfrm>
          <a:prstGeom prst="roundRect">
            <a:avLst>
              <a:gd name="adj" fmla="val 3871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56E4CAD-B04F-7C7D-12F8-E6791C5C2B49}"/>
              </a:ext>
            </a:extLst>
          </p:cNvPr>
          <p:cNvSpPr/>
          <p:nvPr/>
        </p:nvSpPr>
        <p:spPr>
          <a:xfrm>
            <a:off x="6370320" y="233172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8F21C52-5F61-D856-DDE8-9F858572B9E1}"/>
              </a:ext>
            </a:extLst>
          </p:cNvPr>
          <p:cNvSpPr txBox="1"/>
          <p:nvPr/>
        </p:nvSpPr>
        <p:spPr>
          <a:xfrm>
            <a:off x="63703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403E1D8-9FF7-7D4D-CB9E-F6DE92A7D37E}"/>
              </a:ext>
            </a:extLst>
          </p:cNvPr>
          <p:cNvSpPr txBox="1"/>
          <p:nvPr/>
        </p:nvSpPr>
        <p:spPr>
          <a:xfrm>
            <a:off x="637032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chi phí</a:t>
            </a:r>
            <a:endParaRPr lang="en-US" sz="1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246CF7B-8908-3488-A3F3-F2BAED597CA1}"/>
              </a:ext>
            </a:extLst>
          </p:cNvPr>
          <p:cNvSpPr/>
          <p:nvPr/>
        </p:nvSpPr>
        <p:spPr>
          <a:xfrm>
            <a:off x="4251960" y="4000500"/>
            <a:ext cx="3383280" cy="1691640"/>
          </a:xfrm>
          <a:prstGeom prst="roundRect">
            <a:avLst>
              <a:gd name="adj" fmla="val 3871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3A7818D-F073-2C82-6C7F-89F133D9FCBF}"/>
              </a:ext>
            </a:extLst>
          </p:cNvPr>
          <p:cNvSpPr/>
          <p:nvPr/>
        </p:nvSpPr>
        <p:spPr>
          <a:xfrm>
            <a:off x="4526280" y="422910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067F275-81FF-2736-2A81-05E8998F28B7}"/>
              </a:ext>
            </a:extLst>
          </p:cNvPr>
          <p:cNvSpPr txBox="1"/>
          <p:nvPr/>
        </p:nvSpPr>
        <p:spPr>
          <a:xfrm>
            <a:off x="4526280" y="42291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B3DD2ED-9E35-E839-8264-C3F79864722A}"/>
              </a:ext>
            </a:extLst>
          </p:cNvPr>
          <p:cNvSpPr txBox="1"/>
          <p:nvPr/>
        </p:nvSpPr>
        <p:spPr>
          <a:xfrm>
            <a:off x="4526280" y="49606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nhân sự</a:t>
            </a:r>
            <a:endParaRPr lang="en-US" sz="19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E1E3C07F-B7A9-C7E7-6670-54D91162F003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Quản lý dự án</a:t>
            </a:r>
            <a:endParaRPr lang="en-US" sz="3000" dirty="0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C35988B2-D44D-4610-6391-55C04901C539}"/>
              </a:ext>
            </a:extLst>
          </p:cNvPr>
          <p:cNvSpPr/>
          <p:nvPr/>
        </p:nvSpPr>
        <p:spPr>
          <a:xfrm>
            <a:off x="594360" y="4000500"/>
            <a:ext cx="3383280" cy="1691640"/>
          </a:xfrm>
          <a:prstGeom prst="roundRect">
            <a:avLst>
              <a:gd name="adj" fmla="val 3871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803269EF-8814-4707-0BE7-E12AFFA65DD2}"/>
              </a:ext>
            </a:extLst>
          </p:cNvPr>
          <p:cNvSpPr/>
          <p:nvPr/>
        </p:nvSpPr>
        <p:spPr>
          <a:xfrm>
            <a:off x="868680" y="427482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F8E7E3FD-C690-AC20-817F-5D0D31946F30}"/>
              </a:ext>
            </a:extLst>
          </p:cNvPr>
          <p:cNvSpPr txBox="1"/>
          <p:nvPr/>
        </p:nvSpPr>
        <p:spPr>
          <a:xfrm>
            <a:off x="868680" y="42748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028B3D8F-4F4D-74C2-A328-9036097DA22E}"/>
              </a:ext>
            </a:extLst>
          </p:cNvPr>
          <p:cNvSpPr txBox="1"/>
          <p:nvPr/>
        </p:nvSpPr>
        <p:spPr>
          <a:xfrm>
            <a:off x="868680" y="50063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chất lượng</a:t>
            </a:r>
            <a:endParaRPr lang="en-US" sz="1900" dirty="0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E43C312B-52D0-AB92-BC27-00B217EA50B4}"/>
              </a:ext>
            </a:extLst>
          </p:cNvPr>
          <p:cNvSpPr/>
          <p:nvPr/>
        </p:nvSpPr>
        <p:spPr>
          <a:xfrm>
            <a:off x="7940040" y="4001959"/>
            <a:ext cx="3383280" cy="1691640"/>
          </a:xfrm>
          <a:prstGeom prst="roundRect">
            <a:avLst>
              <a:gd name="adj" fmla="val 3871"/>
            </a:avLst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A874374B-95E8-9367-12F2-6C71676CDF36}"/>
              </a:ext>
            </a:extLst>
          </p:cNvPr>
          <p:cNvSpPr/>
          <p:nvPr/>
        </p:nvSpPr>
        <p:spPr>
          <a:xfrm>
            <a:off x="8214360" y="4230559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E4EE0B19-838B-EE2A-9164-010EF9EEA43C}"/>
              </a:ext>
            </a:extLst>
          </p:cNvPr>
          <p:cNvSpPr txBox="1"/>
          <p:nvPr/>
        </p:nvSpPr>
        <p:spPr>
          <a:xfrm>
            <a:off x="8214360" y="423055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3BAB0432-AA2D-B7CB-740C-D6D9B0E21D99}"/>
              </a:ext>
            </a:extLst>
          </p:cNvPr>
          <p:cNvSpPr txBox="1"/>
          <p:nvPr/>
        </p:nvSpPr>
        <p:spPr>
          <a:xfrm>
            <a:off x="8214360" y="4962079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rủi ro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885358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5.1. Quản lý thời gian</a:t>
            </a:r>
          </a:p>
          <a:p>
            <a:pPr marL="0" indent="0" algn="ctr">
              <a:buNone/>
            </a:pPr>
            <a:r>
              <a:rPr lang="en-US" sz="28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</a:t>
            </a:r>
            <a:r>
              <a:rPr lang="en-US" sz="28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rã công việc (WBS) và ước lượng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123444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4A1210"/>
          </a:solidFill>
          <a:ln w="12700">
            <a:solidFill>
              <a:srgbClr val="4A1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480560" y="1234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du học sinh Amec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874520"/>
            <a:ext cx="0" cy="27432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90472" y="2148840"/>
            <a:ext cx="9189720" cy="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90472" y="2148840"/>
            <a:ext cx="0" cy="22860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07008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20700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&amp; yêu cầu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 · 36,3 md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64992" y="2148840"/>
            <a:ext cx="0" cy="22860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23160" y="23774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81528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08152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51460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&amp; thiết kế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 · 43,82 md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39512" y="2148840"/>
            <a:ext cx="0" cy="22860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23774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56048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95604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 &amp; giao diện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 · 41,07 md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14032" y="2148840"/>
            <a:ext cx="0" cy="22860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72200" y="23774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30568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3056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chương trình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task · 68,75 md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88552" y="2148840"/>
            <a:ext cx="0" cy="22860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046720" y="23774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705088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70508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13816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&amp; kiểm thử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13816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 · 56,28 md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863072" y="2148840"/>
            <a:ext cx="0" cy="22860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921240" y="2377440"/>
            <a:ext cx="1691640" cy="16459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579608" y="2514600"/>
            <a:ext cx="384048" cy="384048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057960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01268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&amp; bàn giao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012680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 · 18,15 md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389120"/>
            <a:ext cx="8787384" cy="1737360"/>
          </a:xfrm>
          <a:prstGeom prst="roundRect">
            <a:avLst>
              <a:gd name="adj" fmla="val 6316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777240" y="4526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 ước lượng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A16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 = (MO + 4·ML + MP) / 6</a:t>
            </a:r>
            <a:endParaRPr lang="en-US" sz="2200" dirty="0"/>
          </a:p>
        </p:txBody>
      </p:sp>
      <p:sp>
        <p:nvSpPr>
          <p:cNvPr id="48" name="Text 46"/>
          <p:cNvSpPr txBox="1"/>
          <p:nvPr/>
        </p:nvSpPr>
        <p:spPr>
          <a:xfrm>
            <a:off x="77724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chốt = EST × 1,1  (dự phòng 10%)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9601200" y="438912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4A1210"/>
          </a:solidFill>
          <a:ln w="12700">
            <a:solidFill>
              <a:srgbClr val="4A1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9692640" y="46177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9A4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264,37</a:t>
            </a:r>
            <a:endParaRPr lang="en-US" sz="3400" dirty="0"/>
          </a:p>
        </p:txBody>
      </p:sp>
      <p:sp>
        <p:nvSpPr>
          <p:cNvPr id="54" name="Text 52"/>
          <p:cNvSpPr txBox="1"/>
          <p:nvPr/>
        </p:nvSpPr>
        <p:spPr>
          <a:xfrm>
            <a:off x="9692640" y="5394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manday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task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5.1. Quản lý thời gian</a:t>
            </a:r>
          </a:p>
          <a:p>
            <a:pPr marL="0" indent="0" algn="ctr">
              <a:buNone/>
            </a:pPr>
            <a:r>
              <a:rPr lang="en-US" sz="28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Lịch</a:t>
            </a:r>
            <a:r>
              <a:rPr lang="en-US" sz="28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8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trình</a:t>
            </a:r>
            <a:r>
              <a:rPr lang="en-US" sz="28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8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thực</a:t>
            </a:r>
            <a:r>
              <a:rPr lang="en-US" sz="28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8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hiện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1371600"/>
            <a:ext cx="1216325" cy="365760"/>
          </a:xfrm>
          <a:prstGeom prst="rect">
            <a:avLst/>
          </a:prstGeom>
          <a:solidFill>
            <a:srgbClr val="F3DA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17520" y="1371600"/>
            <a:ext cx="1216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T9/26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33845" y="1371600"/>
            <a:ext cx="1256869" cy="365760"/>
          </a:xfrm>
          <a:prstGeom prst="rect">
            <a:avLst/>
          </a:prstGeom>
          <a:solidFill>
            <a:srgbClr val="FBEE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233845" y="1371600"/>
            <a:ext cx="1256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33845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90713" y="1371600"/>
            <a:ext cx="1216325" cy="365760"/>
          </a:xfrm>
          <a:prstGeom prst="rect">
            <a:avLst/>
          </a:prstGeom>
          <a:solidFill>
            <a:srgbClr val="F3DA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90713" y="1371600"/>
            <a:ext cx="1216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90713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707038" y="1371600"/>
            <a:ext cx="1256869" cy="365760"/>
          </a:xfrm>
          <a:prstGeom prst="rect">
            <a:avLst/>
          </a:prstGeom>
          <a:solidFill>
            <a:srgbClr val="FBEE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707038" y="1371600"/>
            <a:ext cx="1256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07038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63906" y="1371600"/>
            <a:ext cx="1256869" cy="365760"/>
          </a:xfrm>
          <a:prstGeom prst="rect">
            <a:avLst/>
          </a:prstGeom>
          <a:solidFill>
            <a:srgbClr val="F3DA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963906" y="1371600"/>
            <a:ext cx="1256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T1/27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63906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20775" y="1371600"/>
            <a:ext cx="1135236" cy="365760"/>
          </a:xfrm>
          <a:prstGeom prst="rect">
            <a:avLst/>
          </a:prstGeom>
          <a:solidFill>
            <a:srgbClr val="FBEE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220775" y="1371600"/>
            <a:ext cx="1135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20775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356011" y="1371600"/>
            <a:ext cx="1256869" cy="365760"/>
          </a:xfrm>
          <a:prstGeom prst="rect">
            <a:avLst/>
          </a:prstGeom>
          <a:solidFill>
            <a:srgbClr val="F3DA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356011" y="1371600"/>
            <a:ext cx="1256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56011" y="1737360"/>
            <a:ext cx="0" cy="3703320"/>
          </a:xfrm>
          <a:prstGeom prst="line">
            <a:avLst/>
          </a:prstGeom>
          <a:noFill/>
          <a:ln w="9525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48640" y="19933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Khảo sát &amp; yêu cầu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017520" y="1965960"/>
            <a:ext cx="973060" cy="384048"/>
          </a:xfrm>
          <a:prstGeom prst="roundRect">
            <a:avLst>
              <a:gd name="adj" fmla="val 19048"/>
            </a:avLst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063732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01/09–25/09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Phân tích &amp; thiết kế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990580" y="2551176"/>
            <a:ext cx="2432649" cy="384048"/>
          </a:xfrm>
          <a:prstGeom prst="roundRect">
            <a:avLst>
              <a:gd name="adj" fmla="val 19048"/>
            </a:avLst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990580" y="2551176"/>
            <a:ext cx="24326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25/09–24/11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1638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CSDL &amp; giao diện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63773" y="3136392"/>
            <a:ext cx="1297413" cy="384048"/>
          </a:xfrm>
          <a:prstGeom prst="roundRect">
            <a:avLst>
              <a:gd name="adj" fmla="val 19048"/>
            </a:avLst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463773" y="3136392"/>
            <a:ext cx="12974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25/11–27/12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Xây dựng chương trình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80097" y="3721608"/>
            <a:ext cx="2675914" cy="384048"/>
          </a:xfrm>
          <a:prstGeom prst="roundRect">
            <a:avLst>
              <a:gd name="adj" fmla="val 19048"/>
            </a:avLst>
          </a:prstGeom>
          <a:solidFill>
            <a:srgbClr val="4A1210"/>
          </a:solidFill>
          <a:ln w="12700">
            <a:solidFill>
              <a:srgbClr val="4A1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680097" y="3721608"/>
            <a:ext cx="2675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25/12–01/03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3342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Tích hợp &amp; kiểm thử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220775" y="4306824"/>
            <a:ext cx="1702854" cy="384048"/>
          </a:xfrm>
          <a:prstGeom prst="roundRect">
            <a:avLst>
              <a:gd name="adj" fmla="val 19048"/>
            </a:avLst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9220775" y="4306824"/>
            <a:ext cx="1702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01/02–15/03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4919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Triển khai &amp; bàn giao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923629" y="4892040"/>
            <a:ext cx="648706" cy="384048"/>
          </a:xfrm>
          <a:prstGeom prst="roundRect">
            <a:avLst>
              <a:gd name="adj" fmla="val 19048"/>
            </a:avLst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9661757" y="4892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15/03–31/03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017520" y="5989320"/>
            <a:ext cx="8595360" cy="0"/>
          </a:xfrm>
          <a:prstGeom prst="line">
            <a:avLst/>
          </a:prstGeom>
          <a:noFill/>
          <a:ln w="190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548640" y="5824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 quan trọng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62564" y="5861304"/>
            <a:ext cx="256032" cy="256032"/>
          </a:xfrm>
          <a:prstGeom prst="diamond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3213340" y="6181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yêu cầu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633170" y="5861304"/>
            <a:ext cx="256032" cy="256032"/>
          </a:xfrm>
          <a:prstGeom prst="diamond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6983946" y="5522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CSDL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187451" y="5861304"/>
            <a:ext cx="256032" cy="256032"/>
          </a:xfrm>
          <a:prstGeom prst="diamond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8943867" y="6181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Xong Integration Test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795613" y="5861304"/>
            <a:ext cx="256032" cy="256032"/>
          </a:xfrm>
          <a:prstGeom prst="diamond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9323429" y="5522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15–25/03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1444320" y="5861304"/>
            <a:ext cx="256032" cy="256032"/>
          </a:xfrm>
          <a:prstGeom prst="diamond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10698480" y="6181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giao 31/03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6C636-2FC6-B56D-720F-CBA1AB6F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0EADE0-200F-4843-330E-102B9F1311E1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8FEC19-5515-2749-79A4-475EEAE63366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5.1. Quản lý thời gian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5CDF34-3D8C-FB41-1C5B-743D5E75405E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5CBFCA75-79A5-0DC5-5FDC-BA0062DF9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910" y="1285923"/>
            <a:ext cx="9352170" cy="3538996"/>
          </a:xfrm>
          <a:prstGeom prst="rect">
            <a:avLst/>
          </a:prstGeom>
        </p:spPr>
      </p:pic>
      <p:sp>
        <p:nvSpPr>
          <p:cNvPr id="58" name="Text 1">
            <a:extLst>
              <a:ext uri="{FF2B5EF4-FFF2-40B4-BE49-F238E27FC236}">
                <a16:creationId xmlns:a16="http://schemas.microsoft.com/office/drawing/2014/main" id="{9816C7E3-F116-DAB0-1282-256A8062EAAD}"/>
              </a:ext>
            </a:extLst>
          </p:cNvPr>
          <p:cNvSpPr txBox="1"/>
          <p:nvPr/>
        </p:nvSpPr>
        <p:spPr>
          <a:xfrm>
            <a:off x="3947735" y="4824919"/>
            <a:ext cx="4606520" cy="538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vi-VN">
                <a:latin typeface="+mj-lt"/>
              </a:rPr>
              <a:t>Sơ đồ gantt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0911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7FA4-D442-7FF1-13D4-C6CF48823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083FB7-313B-F1D0-EF6B-ABF74284B604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156487-BC07-D980-B7BA-9B71AC674645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5.2. Quản lý chi phí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A6C7F5-98BB-5EC2-C24C-86F03B8EBA3D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149A0C7-473A-83CD-C245-6B32AD67311D}"/>
              </a:ext>
            </a:extLst>
          </p:cNvPr>
          <p:cNvSpPr txBox="1"/>
          <p:nvPr/>
        </p:nvSpPr>
        <p:spPr>
          <a:xfrm>
            <a:off x="4418303" y="58110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 (342,87 + 75,89 + 51,90)</a:t>
            </a:r>
            <a:endParaRPr lang="en-US" sz="12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ACC59C9-0A63-DBA6-41BE-BD8EE25A2C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103756"/>
              </p:ext>
            </p:extLst>
          </p:nvPr>
        </p:nvGraphicFramePr>
        <p:xfrm>
          <a:off x="3501957" y="1508760"/>
          <a:ext cx="69399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3D7B6036-AE54-AE5E-1AF6-E72C9E68FE3A}"/>
              </a:ext>
            </a:extLst>
          </p:cNvPr>
          <p:cNvSpPr/>
          <p:nvPr/>
        </p:nvSpPr>
        <p:spPr>
          <a:xfrm>
            <a:off x="1353117" y="4950221"/>
            <a:ext cx="2068100" cy="914400"/>
          </a:xfrm>
          <a:prstGeom prst="roundRect">
            <a:avLst>
              <a:gd name="adj" fmla="val 12000"/>
            </a:avLst>
          </a:prstGeom>
          <a:solidFill>
            <a:srgbClr val="4A1210"/>
          </a:solidFill>
          <a:ln w="12700">
            <a:solidFill>
              <a:srgbClr val="4A1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0DF99B4-60DD-F4A7-D5E5-1F99A63F537F}"/>
              </a:ext>
            </a:extLst>
          </p:cNvPr>
          <p:cNvSpPr txBox="1"/>
          <p:nvPr/>
        </p:nvSpPr>
        <p:spPr>
          <a:xfrm>
            <a:off x="1438986" y="5058876"/>
            <a:ext cx="1880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D9A4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475.090.600 </a:t>
            </a:r>
          </a:p>
        </p:txBody>
      </p:sp>
      <p:sp>
        <p:nvSpPr>
          <p:cNvPr id="16" name="Shape 50">
            <a:extLst>
              <a:ext uri="{FF2B5EF4-FFF2-40B4-BE49-F238E27FC236}">
                <a16:creationId xmlns:a16="http://schemas.microsoft.com/office/drawing/2014/main" id="{478F0308-43E8-8FFB-8286-BB3544184CDB}"/>
              </a:ext>
            </a:extLst>
          </p:cNvPr>
          <p:cNvSpPr/>
          <p:nvPr/>
        </p:nvSpPr>
        <p:spPr>
          <a:xfrm>
            <a:off x="1363817" y="1579076"/>
            <a:ext cx="2057400" cy="1035859"/>
          </a:xfrm>
          <a:prstGeom prst="roundRect">
            <a:avLst>
              <a:gd name="adj" fmla="val 6316"/>
            </a:avLst>
          </a:prstGeom>
          <a:solidFill>
            <a:srgbClr val="B33A30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51">
            <a:extLst>
              <a:ext uri="{FF2B5EF4-FFF2-40B4-BE49-F238E27FC236}">
                <a16:creationId xmlns:a16="http://schemas.microsoft.com/office/drawing/2014/main" id="{26357DE6-9639-C8EE-3F29-9D8C7948114D}"/>
              </a:ext>
            </a:extLst>
          </p:cNvPr>
          <p:cNvSpPr txBox="1"/>
          <p:nvPr/>
        </p:nvSpPr>
        <p:spPr>
          <a:xfrm>
            <a:off x="1455257" y="1731245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A4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342.865.600</a:t>
            </a:r>
            <a:endParaRPr lang="en-US" sz="2800" dirty="0"/>
          </a:p>
        </p:txBody>
      </p:sp>
      <p:sp>
        <p:nvSpPr>
          <p:cNvPr id="20" name="Text 52">
            <a:extLst>
              <a:ext uri="{FF2B5EF4-FFF2-40B4-BE49-F238E27FC236}">
                <a16:creationId xmlns:a16="http://schemas.microsoft.com/office/drawing/2014/main" id="{7EDE8AC5-0BC5-EE0D-3E4F-A57FEE878123}"/>
              </a:ext>
            </a:extLst>
          </p:cNvPr>
          <p:cNvSpPr txBox="1"/>
          <p:nvPr/>
        </p:nvSpPr>
        <p:spPr>
          <a:xfrm>
            <a:off x="1444557" y="2264954"/>
            <a:ext cx="1874520" cy="3499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lao động</a:t>
            </a:r>
            <a:endParaRPr lang="en-US" sz="1300" dirty="0"/>
          </a:p>
        </p:txBody>
      </p:sp>
      <p:sp>
        <p:nvSpPr>
          <p:cNvPr id="23" name="Shape 50">
            <a:extLst>
              <a:ext uri="{FF2B5EF4-FFF2-40B4-BE49-F238E27FC236}">
                <a16:creationId xmlns:a16="http://schemas.microsoft.com/office/drawing/2014/main" id="{3F684831-0C25-692F-2BBC-05D2A21C090B}"/>
              </a:ext>
            </a:extLst>
          </p:cNvPr>
          <p:cNvSpPr/>
          <p:nvPr/>
        </p:nvSpPr>
        <p:spPr>
          <a:xfrm>
            <a:off x="1353117" y="2781179"/>
            <a:ext cx="2057400" cy="882963"/>
          </a:xfrm>
          <a:prstGeom prst="roundRect">
            <a:avLst>
              <a:gd name="adj" fmla="val 6316"/>
            </a:avLst>
          </a:prstGeom>
          <a:solidFill>
            <a:srgbClr val="B33A30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51">
            <a:extLst>
              <a:ext uri="{FF2B5EF4-FFF2-40B4-BE49-F238E27FC236}">
                <a16:creationId xmlns:a16="http://schemas.microsoft.com/office/drawing/2014/main" id="{38E49C73-5500-8965-3000-631FA53B0271}"/>
              </a:ext>
            </a:extLst>
          </p:cNvPr>
          <p:cNvSpPr txBox="1"/>
          <p:nvPr/>
        </p:nvSpPr>
        <p:spPr>
          <a:xfrm>
            <a:off x="1413428" y="2832208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A4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80.325.000 </a:t>
            </a:r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7" name="Text 52">
            <a:extLst>
              <a:ext uri="{FF2B5EF4-FFF2-40B4-BE49-F238E27FC236}">
                <a16:creationId xmlns:a16="http://schemas.microsoft.com/office/drawing/2014/main" id="{C7651AA2-1143-2F0E-E759-BFAF5C1005BD}"/>
              </a:ext>
            </a:extLst>
          </p:cNvPr>
          <p:cNvSpPr txBox="1"/>
          <p:nvPr/>
        </p:nvSpPr>
        <p:spPr>
          <a:xfrm>
            <a:off x="1444557" y="3224157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 tư, Thiết bị</a:t>
            </a:r>
          </a:p>
        </p:txBody>
      </p:sp>
      <p:sp>
        <p:nvSpPr>
          <p:cNvPr id="35" name="Shape 50">
            <a:extLst>
              <a:ext uri="{FF2B5EF4-FFF2-40B4-BE49-F238E27FC236}">
                <a16:creationId xmlns:a16="http://schemas.microsoft.com/office/drawing/2014/main" id="{A381AB97-3598-7D46-5F1F-D7D4E24D7A36}"/>
              </a:ext>
            </a:extLst>
          </p:cNvPr>
          <p:cNvSpPr/>
          <p:nvPr/>
        </p:nvSpPr>
        <p:spPr>
          <a:xfrm>
            <a:off x="1363817" y="3820437"/>
            <a:ext cx="2057400" cy="1035859"/>
          </a:xfrm>
          <a:prstGeom prst="roundRect">
            <a:avLst>
              <a:gd name="adj" fmla="val 6316"/>
            </a:avLst>
          </a:prstGeom>
          <a:solidFill>
            <a:srgbClr val="B33A30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51">
            <a:extLst>
              <a:ext uri="{FF2B5EF4-FFF2-40B4-BE49-F238E27FC236}">
                <a16:creationId xmlns:a16="http://schemas.microsoft.com/office/drawing/2014/main" id="{52817E42-F25E-53A9-4FE4-3F7607EE7E26}"/>
              </a:ext>
            </a:extLst>
          </p:cNvPr>
          <p:cNvSpPr txBox="1"/>
          <p:nvPr/>
        </p:nvSpPr>
        <p:spPr>
          <a:xfrm>
            <a:off x="1455257" y="3947982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A4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51.900.000 </a:t>
            </a:r>
          </a:p>
        </p:txBody>
      </p:sp>
      <p:sp>
        <p:nvSpPr>
          <p:cNvPr id="39" name="Text 52">
            <a:extLst>
              <a:ext uri="{FF2B5EF4-FFF2-40B4-BE49-F238E27FC236}">
                <a16:creationId xmlns:a16="http://schemas.microsoft.com/office/drawing/2014/main" id="{2DA27950-A579-BF7B-E0C4-A9597E0C0DF4}"/>
              </a:ext>
            </a:extLst>
          </p:cNvPr>
          <p:cNvSpPr txBox="1"/>
          <p:nvPr/>
        </p:nvSpPr>
        <p:spPr>
          <a:xfrm>
            <a:off x="1363817" y="4506315"/>
            <a:ext cx="2046700" cy="3499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Khác (VPP, Công tác,...)</a:t>
            </a:r>
            <a:endParaRPr lang="en-US" sz="1300" dirty="0"/>
          </a:p>
        </p:txBody>
      </p:sp>
      <p:sp>
        <p:nvSpPr>
          <p:cNvPr id="41" name="Text 52">
            <a:extLst>
              <a:ext uri="{FF2B5EF4-FFF2-40B4-BE49-F238E27FC236}">
                <a16:creationId xmlns:a16="http://schemas.microsoft.com/office/drawing/2014/main" id="{FEF3CF6C-BA2F-25E0-4935-160770F13655}"/>
              </a:ext>
            </a:extLst>
          </p:cNvPr>
          <p:cNvSpPr txBox="1"/>
          <p:nvPr/>
        </p:nvSpPr>
        <p:spPr>
          <a:xfrm>
            <a:off x="1455257" y="5477287"/>
            <a:ext cx="2046700" cy="3499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05713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FC708-CA41-3EA1-2E70-7D9EE0C87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BA137E-36C3-0C96-09D6-7320E2DC59F5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736E50-99C9-BFA0-3934-9CB98EF702D9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5.2. Quản lý chi phí: Công lao động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96D1D0-5D40-D49C-CF22-66C9E5C69DFF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066D094-B4E2-589B-8A19-18FBB953F7C3}"/>
              </a:ext>
            </a:extLst>
          </p:cNvPr>
          <p:cNvSpPr txBox="1"/>
          <p:nvPr/>
        </p:nvSpPr>
        <p:spPr>
          <a:xfrm>
            <a:off x="73152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 (342,87 + 75,89 + 51,90)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8B118F-0372-1401-5268-36769F0F1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2069"/>
            <a:ext cx="10326623" cy="294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67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A82-1D1A-C074-F034-A04260B6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382780-9D6F-BDBB-30C4-716A2A36AD08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486D5D-40AF-FF99-92D1-9FED70F5BEBC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5.2. Quản lý chi phí: Vật tư, Thiết bị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4E582D-3992-B374-F4D9-CC1350BB392C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2B630C3-5B19-211F-D66D-802A625FA838}"/>
              </a:ext>
            </a:extLst>
          </p:cNvPr>
          <p:cNvSpPr txBox="1"/>
          <p:nvPr/>
        </p:nvSpPr>
        <p:spPr>
          <a:xfrm>
            <a:off x="73152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 (342,87 + 75,89 + 51,90)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26B1A0-A3B4-3186-30AF-187414474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10007816" cy="508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086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F40E8-074D-6B2E-DBA6-CE813260F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FDA6B4-6480-B8EC-2FA2-551DD69BA603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72FE06-D848-A526-E49D-C41AFBC3EE05}"/>
              </a:ext>
            </a:extLst>
          </p:cNvPr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5.2. Quản lý chi phí: Chi Khác (VPP, Công tác, Quản lý..)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6D7EED-8569-8894-5F15-68BD64D82017}"/>
              </a:ext>
            </a:extLst>
          </p:cNvPr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BA9C7C4-22B0-864B-BE25-CFC3ED47744E}"/>
              </a:ext>
            </a:extLst>
          </p:cNvPr>
          <p:cNvSpPr txBox="1"/>
          <p:nvPr/>
        </p:nvSpPr>
        <p:spPr>
          <a:xfrm>
            <a:off x="73152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dự toán (342,87 + 75,89 + 51,90)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4EE88F-46DD-F5D7-B769-8B5CB4741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051560"/>
            <a:ext cx="10773531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90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5.3. 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chất lượng dự án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2 giây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phản hồi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42900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toàn vẹn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3716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12648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liên thông phân hệ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41080" y="13716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82396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0,5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bug/KLOC Critical/High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kiểm thử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2514600" cy="777240"/>
          </a:xfrm>
          <a:prstGeom prst="chevron">
            <a:avLst/>
          </a:prstGeom>
          <a:solidFill>
            <a:srgbClr val="B33A3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60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T12–T02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337560"/>
            <a:ext cx="2514600" cy="777240"/>
          </a:xfrm>
          <a:prstGeom prst="chevron">
            <a:avLst/>
          </a:prstGeom>
          <a:solidFill>
            <a:srgbClr val="B33A3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52044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4160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T02/2027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3337560"/>
            <a:ext cx="2514600" cy="777240"/>
          </a:xfrm>
          <a:prstGeom prst="chevron">
            <a:avLst/>
          </a:prstGeom>
          <a:solidFill>
            <a:srgbClr val="B33A3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17220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4160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T03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03920" y="3337560"/>
            <a:ext cx="2514600" cy="777240"/>
          </a:xfrm>
          <a:prstGeom prst="chevron">
            <a:avLst/>
          </a:prstGeom>
          <a:solidFill>
            <a:srgbClr val="4A12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82396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4160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15–25/03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31520" y="4709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thu: 100% luồng nghiệp vụ đúng · CSDL chuẩn 3NF · 05 ngày chạy thử không </a:t>
            </a:r>
            <a:r>
              <a:rPr lang="en-US" sz="1300" i="1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300" i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nghiêm trọng.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949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RACI (trích)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623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4114800" cy="274320"/>
          </a:xfrm>
          <a:prstGeom prst="rect">
            <a:avLst/>
          </a:prstGeom>
          <a:solidFill>
            <a:srgbClr val="4A121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48640" y="5623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5623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5623560"/>
            <a:ext cx="1737360" cy="274320"/>
          </a:xfrm>
          <a:prstGeom prst="rect">
            <a:avLst/>
          </a:prstGeom>
          <a:solidFill>
            <a:srgbClr val="4A121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663440" y="5623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5623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5623560"/>
            <a:ext cx="1737360" cy="274320"/>
          </a:xfrm>
          <a:prstGeom prst="rect">
            <a:avLst/>
          </a:prstGeom>
          <a:solidFill>
            <a:srgbClr val="4A121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400800" y="5623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138160" y="5623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38160" y="5623560"/>
            <a:ext cx="1737360" cy="274320"/>
          </a:xfrm>
          <a:prstGeom prst="rect">
            <a:avLst/>
          </a:prstGeom>
          <a:solidFill>
            <a:srgbClr val="4A121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8138160" y="5623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875520" y="5623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875520" y="5623560"/>
            <a:ext cx="1737360" cy="274320"/>
          </a:xfrm>
          <a:prstGeom prst="rect">
            <a:avLst/>
          </a:prstGeom>
          <a:solidFill>
            <a:srgbClr val="4A121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9875520" y="5623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5897880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548640" y="5897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kiểm thử hệ thống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5897880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4663440" y="5897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00800" y="5897880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6400800" y="5897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38160" y="5897880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8138160" y="5897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875520" y="5897880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9875520" y="5897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" y="6190488"/>
            <a:ext cx="4114800" cy="292608"/>
          </a:xfrm>
          <a:prstGeom prst="rect">
            <a:avLst/>
          </a:prstGeom>
          <a:solidFill>
            <a:srgbClr val="FBEEEC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548640" y="61904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tích hợp &amp; hệ thống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63440" y="6190488"/>
            <a:ext cx="1737360" cy="292608"/>
          </a:xfrm>
          <a:prstGeom prst="rect">
            <a:avLst/>
          </a:prstGeom>
          <a:solidFill>
            <a:srgbClr val="FBEEEC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4663440" y="61904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00800" y="6190488"/>
            <a:ext cx="1737360" cy="292608"/>
          </a:xfrm>
          <a:prstGeom prst="rect">
            <a:avLst/>
          </a:prstGeom>
          <a:solidFill>
            <a:srgbClr val="FBEEEC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6400800" y="61904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138160" y="6190488"/>
            <a:ext cx="1737360" cy="292608"/>
          </a:xfrm>
          <a:prstGeom prst="rect">
            <a:avLst/>
          </a:prstGeom>
          <a:solidFill>
            <a:srgbClr val="FBEEEC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8138160" y="61904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875520" y="6190488"/>
            <a:ext cx="1737360" cy="292608"/>
          </a:xfrm>
          <a:prstGeom prst="rect">
            <a:avLst/>
          </a:prstGeom>
          <a:solidFill>
            <a:srgbClr val="FBEEEC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 txBox="1"/>
          <p:nvPr/>
        </p:nvSpPr>
        <p:spPr>
          <a:xfrm>
            <a:off x="9875520" y="61904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48640" y="6483096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548640" y="64830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 (UAT)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663440" y="6483096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 txBox="1"/>
          <p:nvPr/>
        </p:nvSpPr>
        <p:spPr>
          <a:xfrm>
            <a:off x="4663440" y="64830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400800" y="6483096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 txBox="1"/>
          <p:nvPr/>
        </p:nvSpPr>
        <p:spPr>
          <a:xfrm>
            <a:off x="6400800" y="64830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138160" y="6483096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 txBox="1"/>
          <p:nvPr/>
        </p:nvSpPr>
        <p:spPr>
          <a:xfrm>
            <a:off x="8138160" y="64830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9875520" y="6483096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C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 txBox="1"/>
          <p:nvPr/>
        </p:nvSpPr>
        <p:spPr>
          <a:xfrm>
            <a:off x="9875520" y="64830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5.4.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</a:t>
            </a:r>
            <a:r>
              <a:rPr lang="en-US" sz="3000" b="1" dirty="0" err="1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nhân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sự: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nhân sự chuyên trách · áp dụng mô hình Tuckman qua 4 giai đoạn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 — Hình thành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Kick-off, làm rõ vai trò, mục tiêu và quy tắc phối hợp.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20440" y="1965960"/>
            <a:ext cx="502920" cy="50292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520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Storming — Mâu thuẫn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trao đổi trực tiếp khi có khác biệt; PM giải quyết xung đột.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1965960"/>
            <a:ext cx="502920" cy="50292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263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Norming — Hòa giải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bàn giao BA → Dev → Tester: đặc tả → code → test case → nghiệm thu.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782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4A1210"/>
          </a:solidFill>
          <a:ln w="12700">
            <a:solidFill>
              <a:srgbClr val="4A12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06840" y="1965960"/>
            <a:ext cx="502920" cy="502920"/>
          </a:xfrm>
          <a:prstGeom prst="ellipse">
            <a:avLst/>
          </a:prstGeom>
          <a:solidFill>
            <a:srgbClr val="B33A30"/>
          </a:solidFill>
          <a:ln w="12700">
            <a:solidFill>
              <a:srgbClr val="B33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0068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— Thực hiện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 hợp ổn định, họp tiến độ hàng tuần để kiểm soát WBS.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3DAD6"/>
          </a:solidFill>
          <a:ln w="12700">
            <a:solidFill>
              <a:srgbClr val="F3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77240" y="4892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điều phối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230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có nhân sự quá tải hay nguy cơ trễ hạn, PM chủ động hoán đổi / điều chỉnh nguồn lực giữa các công việc có thể thay thế, trước khi tính đến điều chỉnh lịch trình chung của dự án.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5.5. </a:t>
            </a:r>
            <a:r>
              <a:rPr lang="en-US" sz="3000" b="1" dirty="0">
                <a:solidFill>
                  <a:srgbClr val="7A1F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rủi ro dự án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4D16253-1DD7-E3E6-53C9-434A4A4169E5}"/>
              </a:ext>
            </a:extLst>
          </p:cNvPr>
          <p:cNvGrpSpPr/>
          <p:nvPr/>
        </p:nvGrpSpPr>
        <p:grpSpPr>
          <a:xfrm>
            <a:off x="445332" y="1324337"/>
            <a:ext cx="6279620" cy="4685130"/>
            <a:chOff x="548640" y="1691640"/>
            <a:chExt cx="5852160" cy="3989555"/>
          </a:xfrm>
        </p:grpSpPr>
        <p:sp>
          <p:nvSpPr>
            <p:cNvPr id="52" name="Shape 50"/>
            <p:cNvSpPr/>
            <p:nvPr/>
          </p:nvSpPr>
          <p:spPr>
            <a:xfrm>
              <a:off x="548640" y="1691640"/>
              <a:ext cx="5330952" cy="685800"/>
            </a:xfrm>
            <a:prstGeom prst="roundRect">
              <a:avLst>
                <a:gd name="adj" fmla="val 16000"/>
              </a:avLst>
            </a:prstGeom>
            <a:solidFill>
              <a:srgbClr val="F3DAD6"/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3" name="Shape 51"/>
            <p:cNvSpPr/>
            <p:nvPr/>
          </p:nvSpPr>
          <p:spPr>
            <a:xfrm>
              <a:off x="685800" y="1810512"/>
              <a:ext cx="1234440" cy="438912"/>
            </a:xfrm>
            <a:prstGeom prst="roundRect">
              <a:avLst>
                <a:gd name="adj" fmla="val 16667"/>
              </a:avLst>
            </a:prstGeom>
            <a:solidFill>
              <a:srgbClr val="7A1F1A"/>
            </a:solidFill>
            <a:ln w="12700">
              <a:solidFill>
                <a:srgbClr val="7A1F1A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4" name="Text 52"/>
            <p:cNvSpPr txBox="1"/>
            <p:nvPr/>
          </p:nvSpPr>
          <p:spPr>
            <a:xfrm>
              <a:off x="685800" y="1810512"/>
              <a:ext cx="12344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vi-VN" sz="1600" b="1" dirty="0">
                  <a:solidFill>
                    <a:schemeClr val="bg1"/>
                  </a:solidFill>
                </a:rPr>
                <a:t>Critical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Text 53"/>
            <p:cNvSpPr txBox="1"/>
            <p:nvPr/>
          </p:nvSpPr>
          <p:spPr>
            <a:xfrm>
              <a:off x="2103120" y="1810512"/>
              <a:ext cx="4251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Lỗi logic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liên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thông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dữ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liệu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(Tài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chính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Visa, GPA)</a:t>
              </a:r>
              <a:endParaRPr lang="en-US" sz="16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548640" y="2514600"/>
              <a:ext cx="5330952" cy="685800"/>
            </a:xfrm>
            <a:prstGeom prst="roundRect">
              <a:avLst>
                <a:gd name="adj" fmla="val 16000"/>
              </a:avLst>
            </a:prstGeom>
            <a:solidFill>
              <a:srgbClr val="FBEEEC"/>
            </a:solidFill>
            <a:ln w="12700">
              <a:solidFill>
                <a:srgbClr val="FBEEEC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7" name="Shape 55"/>
            <p:cNvSpPr/>
            <p:nvPr/>
          </p:nvSpPr>
          <p:spPr>
            <a:xfrm>
              <a:off x="685800" y="2633472"/>
              <a:ext cx="1234440" cy="438912"/>
            </a:xfrm>
            <a:prstGeom prst="roundRect">
              <a:avLst>
                <a:gd name="adj" fmla="val 16667"/>
              </a:avLst>
            </a:prstGeom>
            <a:solidFill>
              <a:srgbClr val="7A1F1A"/>
            </a:solidFill>
            <a:ln w="12700">
              <a:solidFill>
                <a:srgbClr val="7A1F1A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8" name="Text 56"/>
            <p:cNvSpPr txBox="1"/>
            <p:nvPr/>
          </p:nvSpPr>
          <p:spPr>
            <a:xfrm>
              <a:off x="685800" y="2633472"/>
              <a:ext cx="12344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vi-V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  <a:endParaRPr lang="en-US" sz="1600" dirty="0"/>
            </a:p>
          </p:txBody>
        </p:sp>
        <p:sp>
          <p:nvSpPr>
            <p:cNvPr id="59" name="Text 57"/>
            <p:cNvSpPr txBox="1"/>
            <p:nvPr/>
          </p:nvSpPr>
          <p:spPr>
            <a:xfrm>
              <a:off x="2103120" y="2633472"/>
              <a:ext cx="4251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Hiệu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năng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hệ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thống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không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đạt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(&gt; 2s)</a:t>
              </a:r>
              <a:endParaRPr lang="en-US" sz="16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548640" y="3337560"/>
              <a:ext cx="5330952" cy="685800"/>
            </a:xfrm>
            <a:prstGeom prst="roundRect">
              <a:avLst>
                <a:gd name="adj" fmla="val 16000"/>
              </a:avLst>
            </a:prstGeom>
            <a:solidFill>
              <a:srgbClr val="F3DAD6"/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1" name="Shape 59"/>
            <p:cNvSpPr/>
            <p:nvPr/>
          </p:nvSpPr>
          <p:spPr>
            <a:xfrm>
              <a:off x="685800" y="3456432"/>
              <a:ext cx="1234440" cy="438912"/>
            </a:xfrm>
            <a:prstGeom prst="roundRect">
              <a:avLst>
                <a:gd name="adj" fmla="val 16667"/>
              </a:avLst>
            </a:prstGeom>
            <a:solidFill>
              <a:srgbClr val="7A1F1A"/>
            </a:solidFill>
            <a:ln w="12700">
              <a:solidFill>
                <a:srgbClr val="7A1F1A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2" name="Text 60"/>
            <p:cNvSpPr txBox="1"/>
            <p:nvPr/>
          </p:nvSpPr>
          <p:spPr>
            <a:xfrm>
              <a:off x="685800" y="3456432"/>
              <a:ext cx="12344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vi-V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Medium</a:t>
              </a:r>
              <a:endParaRPr lang="en-US" sz="1600" dirty="0"/>
            </a:p>
          </p:txBody>
        </p:sp>
        <p:sp>
          <p:nvSpPr>
            <p:cNvPr id="63" name="Text 61"/>
            <p:cNvSpPr txBox="1"/>
            <p:nvPr/>
          </p:nvSpPr>
          <p:spPr>
            <a:xfrm>
              <a:off x="2103120" y="3456432"/>
              <a:ext cx="381368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Chậm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trễ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chốt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yêu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cầu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từ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Lãnh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đạo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AMEC</a:t>
              </a:r>
              <a:endParaRPr lang="en-US" sz="16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548640" y="4160520"/>
              <a:ext cx="5330952" cy="685800"/>
            </a:xfrm>
            <a:prstGeom prst="roundRect">
              <a:avLst>
                <a:gd name="adj" fmla="val 16000"/>
              </a:avLst>
            </a:prstGeom>
            <a:solidFill>
              <a:srgbClr val="FBEEEC"/>
            </a:solidFill>
            <a:ln w="12700">
              <a:solidFill>
                <a:srgbClr val="FBEEEC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5" name="Shape 63"/>
            <p:cNvSpPr/>
            <p:nvPr/>
          </p:nvSpPr>
          <p:spPr>
            <a:xfrm>
              <a:off x="685800" y="4279392"/>
              <a:ext cx="1234440" cy="438912"/>
            </a:xfrm>
            <a:prstGeom prst="roundRect">
              <a:avLst>
                <a:gd name="adj" fmla="val 16667"/>
              </a:avLst>
            </a:prstGeom>
            <a:solidFill>
              <a:srgbClr val="7A1F1A"/>
            </a:solidFill>
            <a:ln w="12700">
              <a:solidFill>
                <a:srgbClr val="7A1F1A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6" name="Text 64"/>
            <p:cNvSpPr txBox="1"/>
            <p:nvPr/>
          </p:nvSpPr>
          <p:spPr>
            <a:xfrm>
              <a:off x="685800" y="4279392"/>
              <a:ext cx="12344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vi-V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  <a:endParaRPr lang="en-US" sz="1600" dirty="0"/>
            </a:p>
          </p:txBody>
        </p:sp>
        <p:sp>
          <p:nvSpPr>
            <p:cNvPr id="67" name="Text 65"/>
            <p:cNvSpPr txBox="1"/>
            <p:nvPr/>
          </p:nvSpPr>
          <p:spPr>
            <a:xfrm>
              <a:off x="2103120" y="4279392"/>
              <a:ext cx="4251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Sửa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lỗi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UAT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kéo</a:t>
              </a:r>
              <a:r>
                <a:rPr lang="en-US" sz="16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dài</a:t>
              </a:r>
              <a:endParaRPr lang="en-US" sz="1600" dirty="0"/>
            </a:p>
          </p:txBody>
        </p:sp>
        <p:sp>
          <p:nvSpPr>
            <p:cNvPr id="71" name="Shape 62">
              <a:extLst>
                <a:ext uri="{FF2B5EF4-FFF2-40B4-BE49-F238E27FC236}">
                  <a16:creationId xmlns:a16="http://schemas.microsoft.com/office/drawing/2014/main" id="{277121C3-B6EA-2E6B-8922-1DBB39AE5C52}"/>
                </a:ext>
              </a:extLst>
            </p:cNvPr>
            <p:cNvSpPr/>
            <p:nvPr/>
          </p:nvSpPr>
          <p:spPr>
            <a:xfrm>
              <a:off x="594360" y="4995395"/>
              <a:ext cx="5330952" cy="685800"/>
            </a:xfrm>
            <a:prstGeom prst="roundRect">
              <a:avLst>
                <a:gd name="adj" fmla="val 16000"/>
              </a:avLst>
            </a:prstGeom>
            <a:solidFill>
              <a:srgbClr val="FBEEEC"/>
            </a:solidFill>
            <a:ln w="12700">
              <a:solidFill>
                <a:srgbClr val="FBEEEC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3" name="Shape 63">
              <a:extLst>
                <a:ext uri="{FF2B5EF4-FFF2-40B4-BE49-F238E27FC236}">
                  <a16:creationId xmlns:a16="http://schemas.microsoft.com/office/drawing/2014/main" id="{7A7FB702-41B9-B389-AE83-C4B48F45412E}"/>
                </a:ext>
              </a:extLst>
            </p:cNvPr>
            <p:cNvSpPr/>
            <p:nvPr/>
          </p:nvSpPr>
          <p:spPr>
            <a:xfrm>
              <a:off x="731520" y="5114267"/>
              <a:ext cx="1234440" cy="438912"/>
            </a:xfrm>
            <a:prstGeom prst="roundRect">
              <a:avLst>
                <a:gd name="adj" fmla="val 16667"/>
              </a:avLst>
            </a:prstGeom>
            <a:solidFill>
              <a:srgbClr val="7A1F1A"/>
            </a:solidFill>
            <a:ln w="12700">
              <a:solidFill>
                <a:srgbClr val="7A1F1A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5" name="Text 64">
              <a:extLst>
                <a:ext uri="{FF2B5EF4-FFF2-40B4-BE49-F238E27FC236}">
                  <a16:creationId xmlns:a16="http://schemas.microsoft.com/office/drawing/2014/main" id="{A125E145-12A6-EF37-1493-EC7779AFAA7C}"/>
                </a:ext>
              </a:extLst>
            </p:cNvPr>
            <p:cNvSpPr txBox="1"/>
            <p:nvPr/>
          </p:nvSpPr>
          <p:spPr>
            <a:xfrm>
              <a:off x="731520" y="5114267"/>
              <a:ext cx="12344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vi-VN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  <a:endParaRPr lang="en-US" sz="1600" dirty="0"/>
            </a:p>
          </p:txBody>
        </p:sp>
        <p:sp>
          <p:nvSpPr>
            <p:cNvPr id="77" name="Text 65">
              <a:extLst>
                <a:ext uri="{FF2B5EF4-FFF2-40B4-BE49-F238E27FC236}">
                  <a16:creationId xmlns:a16="http://schemas.microsoft.com/office/drawing/2014/main" id="{D07A4497-600C-BCE5-C186-C90213154F64}"/>
                </a:ext>
              </a:extLst>
            </p:cNvPr>
            <p:cNvSpPr txBox="1"/>
            <p:nvPr/>
          </p:nvSpPr>
          <p:spPr>
            <a:xfrm>
              <a:off x="2148840" y="5114267"/>
              <a:ext cx="4251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Biến động nhân sự</a:t>
              </a:r>
              <a:endParaRPr lang="en-US" sz="1600" dirty="0"/>
            </a:p>
          </p:txBody>
        </p:sp>
      </p:grpSp>
      <p:sp>
        <p:nvSpPr>
          <p:cNvPr id="87" name="Text 57">
            <a:extLst>
              <a:ext uri="{FF2B5EF4-FFF2-40B4-BE49-F238E27FC236}">
                <a16:creationId xmlns:a16="http://schemas.microsoft.com/office/drawing/2014/main" id="{98373350-19A1-39D6-0014-27EA94E77403}"/>
              </a:ext>
            </a:extLst>
          </p:cNvPr>
          <p:cNvSpPr txBox="1"/>
          <p:nvPr/>
        </p:nvSpPr>
        <p:spPr>
          <a:xfrm>
            <a:off x="8749249" y="2436181"/>
            <a:ext cx="4973899" cy="555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 2s)</a:t>
            </a:r>
            <a:endParaRPr lang="en-US" sz="1600" dirty="0"/>
          </a:p>
        </p:txBody>
      </p:sp>
      <p:sp>
        <p:nvSpPr>
          <p:cNvPr id="95" name="Text 65">
            <a:extLst>
              <a:ext uri="{FF2B5EF4-FFF2-40B4-BE49-F238E27FC236}">
                <a16:creationId xmlns:a16="http://schemas.microsoft.com/office/drawing/2014/main" id="{229953F7-61C1-375F-6139-EADD73F6FFAD}"/>
              </a:ext>
            </a:extLst>
          </p:cNvPr>
          <p:cNvSpPr txBox="1"/>
          <p:nvPr/>
        </p:nvSpPr>
        <p:spPr>
          <a:xfrm>
            <a:off x="8695766" y="4408234"/>
            <a:ext cx="4973899" cy="555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UAT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</a:t>
            </a:r>
            <a:r>
              <a:rPr lang="en-US" sz="1600" dirty="0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dài</a:t>
            </a:r>
            <a:endParaRPr lang="en-US" sz="1600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5FFE12E-E52D-0694-088E-97BF153CDD16}"/>
              </a:ext>
            </a:extLst>
          </p:cNvPr>
          <p:cNvGrpSpPr/>
          <p:nvPr/>
        </p:nvGrpSpPr>
        <p:grpSpPr>
          <a:xfrm>
            <a:off x="6312851" y="1327445"/>
            <a:ext cx="5622692" cy="4682022"/>
            <a:chOff x="6877351" y="1264757"/>
            <a:chExt cx="6289576" cy="4846320"/>
          </a:xfrm>
        </p:grpSpPr>
        <p:sp>
          <p:nvSpPr>
            <p:cNvPr id="80" name="Shape 50">
              <a:extLst>
                <a:ext uri="{FF2B5EF4-FFF2-40B4-BE49-F238E27FC236}">
                  <a16:creationId xmlns:a16="http://schemas.microsoft.com/office/drawing/2014/main" id="{1B8A4D35-5E9B-1B89-917E-296A53E134C9}"/>
                </a:ext>
              </a:extLst>
            </p:cNvPr>
            <p:cNvSpPr/>
            <p:nvPr/>
          </p:nvSpPr>
          <p:spPr>
            <a:xfrm>
              <a:off x="6877351" y="1264757"/>
              <a:ext cx="6236093" cy="833077"/>
            </a:xfrm>
            <a:prstGeom prst="roundRect">
              <a:avLst>
                <a:gd name="adj" fmla="val 16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r>
                <a:rPr lang="vi-VN" sz="1400" dirty="0">
                  <a:solidFill>
                    <a:srgbClr val="2A16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 BA rà soát đặc tả; Dev cài đặt ràng buộc Foreign Key trong SQL Server; Tester thực hiện Integration Test kỹ lưỡng.</a:t>
              </a:r>
            </a:p>
          </p:txBody>
        </p:sp>
        <p:sp>
          <p:nvSpPr>
            <p:cNvPr id="84" name="Shape 54">
              <a:extLst>
                <a:ext uri="{FF2B5EF4-FFF2-40B4-BE49-F238E27FC236}">
                  <a16:creationId xmlns:a16="http://schemas.microsoft.com/office/drawing/2014/main" id="{CEC85E6F-B0DF-5AF3-6501-264166153846}"/>
                </a:ext>
              </a:extLst>
            </p:cNvPr>
            <p:cNvSpPr/>
            <p:nvPr/>
          </p:nvSpPr>
          <p:spPr>
            <a:xfrm>
              <a:off x="6877351" y="2264449"/>
              <a:ext cx="6236093" cy="833077"/>
            </a:xfrm>
            <a:prstGeom prst="roundRect">
              <a:avLst>
                <a:gd name="adj" fmla="val 16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FBEEEC"/>
              </a:solidFill>
              <a:prstDash val="solid"/>
            </a:ln>
          </p:spPr>
          <p:txBody>
            <a:bodyPr/>
            <a:lstStyle/>
            <a:p>
              <a:r>
                <a:rPr lang="en-US" sz="1400" dirty="0" err="1"/>
                <a:t>Tối</a:t>
              </a:r>
              <a:r>
                <a:rPr lang="en-US" sz="1400" dirty="0"/>
                <a:t> </a:t>
              </a:r>
              <a:r>
                <a:rPr lang="en-US" sz="1400" dirty="0" err="1"/>
                <a:t>ưu</a:t>
              </a:r>
              <a:r>
                <a:rPr lang="en-US" sz="1400" dirty="0"/>
                <a:t> </a:t>
              </a:r>
              <a:r>
                <a:rPr lang="en-US" sz="1400" dirty="0" err="1"/>
                <a:t>câu</a:t>
              </a:r>
              <a:r>
                <a:rPr lang="en-US" sz="1400" dirty="0"/>
                <a:t> </a:t>
              </a:r>
              <a:r>
                <a:rPr lang="en-US" sz="1400" dirty="0" err="1"/>
                <a:t>truy</a:t>
              </a:r>
              <a:r>
                <a:rPr lang="en-US" sz="1400" dirty="0"/>
                <a:t> </a:t>
              </a:r>
              <a:r>
                <a:rPr lang="en-US" sz="1400" dirty="0" err="1"/>
                <a:t>vấn</a:t>
              </a:r>
              <a:r>
                <a:rPr lang="en-US" sz="1400" dirty="0"/>
                <a:t> SQL </a:t>
              </a:r>
              <a:r>
                <a:rPr lang="en-US" sz="1400" dirty="0" err="1"/>
                <a:t>ngay</a:t>
              </a:r>
              <a:r>
                <a:rPr lang="en-US" sz="1400" dirty="0"/>
                <a:t> </a:t>
              </a:r>
              <a:r>
                <a:rPr lang="en-US" sz="1400" dirty="0" err="1"/>
                <a:t>khi</a:t>
              </a:r>
              <a:r>
                <a:rPr lang="en-US" sz="1400" dirty="0"/>
                <a:t> </a:t>
              </a:r>
              <a:r>
                <a:rPr lang="en-US" sz="1400" dirty="0" err="1"/>
                <a:t>lập</a:t>
              </a:r>
              <a:r>
                <a:rPr lang="en-US" sz="1400" dirty="0"/>
                <a:t> </a:t>
              </a:r>
              <a:r>
                <a:rPr lang="en-US" sz="1400" dirty="0" err="1"/>
                <a:t>trình</a:t>
              </a:r>
              <a:r>
                <a:rPr lang="en-US" sz="1400" dirty="0"/>
                <a:t> </a:t>
              </a:r>
              <a:r>
                <a:rPr lang="en-US" sz="1400" dirty="0" err="1"/>
                <a:t>và</a:t>
              </a:r>
              <a:r>
                <a:rPr lang="en-US" sz="1400" dirty="0"/>
                <a:t> test </a:t>
              </a:r>
              <a:r>
                <a:rPr lang="en-US" sz="1400" dirty="0" err="1"/>
                <a:t>hiệu</a:t>
              </a:r>
              <a:r>
                <a:rPr lang="en-US" sz="1400" dirty="0"/>
                <a:t> </a:t>
              </a:r>
              <a:r>
                <a:rPr lang="en-US" sz="1400" dirty="0" err="1"/>
                <a:t>năng</a:t>
              </a:r>
              <a:r>
                <a:rPr lang="en-US" sz="1400" dirty="0"/>
                <a:t> </a:t>
              </a:r>
              <a:r>
                <a:rPr lang="en-US" sz="1400" dirty="0" err="1"/>
                <a:t>vào</a:t>
              </a:r>
              <a:r>
                <a:rPr lang="en-US" sz="1400" dirty="0"/>
                <a:t> </a:t>
              </a:r>
              <a:r>
                <a:rPr lang="en-US" sz="1400" dirty="0" err="1"/>
                <a:t>đầu</a:t>
              </a:r>
              <a:r>
                <a:rPr lang="en-US" sz="1400" dirty="0"/>
                <a:t> T03/2027.</a:t>
              </a:r>
            </a:p>
            <a:p>
              <a:endParaRPr lang="en-US" sz="1400" dirty="0"/>
            </a:p>
          </p:txBody>
        </p:sp>
        <p:sp>
          <p:nvSpPr>
            <p:cNvPr id="88" name="Shape 58">
              <a:extLst>
                <a:ext uri="{FF2B5EF4-FFF2-40B4-BE49-F238E27FC236}">
                  <a16:creationId xmlns:a16="http://schemas.microsoft.com/office/drawing/2014/main" id="{1B1095EC-B7DF-09D8-54FB-16496345F043}"/>
                </a:ext>
              </a:extLst>
            </p:cNvPr>
            <p:cNvSpPr/>
            <p:nvPr/>
          </p:nvSpPr>
          <p:spPr>
            <a:xfrm>
              <a:off x="6877351" y="3264142"/>
              <a:ext cx="6236093" cy="833077"/>
            </a:xfrm>
            <a:prstGeom prst="roundRect">
              <a:avLst>
                <a:gd name="adj" fmla="val 1600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F3DAD6"/>
              </a:solidFill>
              <a:prstDash val="solid"/>
            </a:ln>
          </p:spPr>
          <p:txBody>
            <a:bodyPr/>
            <a:lstStyle/>
            <a:p>
              <a:r>
                <a:rPr lang="en-US" sz="1400" dirty="0" err="1"/>
                <a:t>Thiết</a:t>
              </a:r>
              <a:r>
                <a:rPr lang="en-US" sz="1400" dirty="0"/>
                <a:t> </a:t>
              </a:r>
              <a:r>
                <a:rPr lang="en-US" sz="1400" dirty="0" err="1"/>
                <a:t>lập</a:t>
              </a:r>
              <a:r>
                <a:rPr lang="en-US" sz="1400" dirty="0"/>
                <a:t> deadline </a:t>
              </a:r>
              <a:r>
                <a:rPr lang="en-US" sz="1400" dirty="0" err="1"/>
                <a:t>rõ</a:t>
              </a:r>
              <a:r>
                <a:rPr lang="en-US" sz="1400" dirty="0"/>
                <a:t> </a:t>
              </a:r>
              <a:r>
                <a:rPr lang="en-US" sz="1400" dirty="0" err="1"/>
                <a:t>ràng</a:t>
              </a:r>
              <a:r>
                <a:rPr lang="en-US" sz="1400" dirty="0"/>
                <a:t> </a:t>
              </a:r>
              <a:r>
                <a:rPr lang="en-US" sz="1400" dirty="0" err="1"/>
                <a:t>và</a:t>
              </a:r>
              <a:r>
                <a:rPr lang="en-US" sz="1400" dirty="0"/>
                <a:t> </a:t>
              </a:r>
              <a:r>
                <a:rPr lang="en-US" sz="1400" dirty="0" err="1"/>
                <a:t>đặt</a:t>
              </a:r>
              <a:r>
                <a:rPr lang="en-US" sz="1400" dirty="0"/>
                <a:t> buffer </a:t>
              </a:r>
              <a:r>
                <a:rPr lang="en-US" sz="1400" dirty="0" err="1"/>
                <a:t>thời</a:t>
              </a:r>
              <a:r>
                <a:rPr lang="en-US" sz="1400" dirty="0"/>
                <a:t> </a:t>
              </a:r>
              <a:r>
                <a:rPr lang="en-US" sz="1400" dirty="0" err="1"/>
                <a:t>gian</a:t>
              </a:r>
              <a:r>
                <a:rPr lang="en-US" sz="1400" dirty="0"/>
                <a:t> </a:t>
              </a:r>
              <a:r>
                <a:rPr lang="en-US" sz="1400" dirty="0" err="1"/>
                <a:t>dự</a:t>
              </a:r>
              <a:r>
                <a:rPr lang="en-US" sz="1400" dirty="0"/>
                <a:t> </a:t>
              </a:r>
              <a:r>
                <a:rPr lang="en-US" sz="1400" dirty="0" err="1"/>
                <a:t>phòng</a:t>
              </a:r>
              <a:r>
                <a:rPr lang="en-US" sz="1400" dirty="0"/>
                <a:t> 0.3 - 0.5 </a:t>
              </a:r>
            </a:p>
          </p:txBody>
        </p:sp>
        <p:sp>
          <p:nvSpPr>
            <p:cNvPr id="92" name="Shape 62">
              <a:extLst>
                <a:ext uri="{FF2B5EF4-FFF2-40B4-BE49-F238E27FC236}">
                  <a16:creationId xmlns:a16="http://schemas.microsoft.com/office/drawing/2014/main" id="{244E51A2-33A1-7309-CFAD-A5B74C38303B}"/>
                </a:ext>
              </a:extLst>
            </p:cNvPr>
            <p:cNvSpPr/>
            <p:nvPr/>
          </p:nvSpPr>
          <p:spPr>
            <a:xfrm>
              <a:off x="6877351" y="4263834"/>
              <a:ext cx="6236093" cy="833077"/>
            </a:xfrm>
            <a:prstGeom prst="roundRect">
              <a:avLst>
                <a:gd name="adj" fmla="val 16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FBEEEC"/>
              </a:solidFill>
              <a:prstDash val="solid"/>
            </a:ln>
          </p:spPr>
          <p:txBody>
            <a:bodyPr/>
            <a:lstStyle/>
            <a:p>
              <a:r>
                <a:rPr lang="en-US" sz="1400" dirty="0" err="1"/>
                <a:t>Thực</a:t>
              </a:r>
              <a:r>
                <a:rPr lang="en-US" sz="1400" dirty="0"/>
                <a:t> </a:t>
              </a:r>
              <a:r>
                <a:rPr lang="en-US" sz="1400" dirty="0" err="1"/>
                <a:t>hiện</a:t>
              </a:r>
              <a:r>
                <a:rPr lang="en-US" sz="1400" dirty="0"/>
                <a:t> Unit Test </a:t>
              </a:r>
              <a:r>
                <a:rPr lang="en-US" sz="1400" dirty="0" err="1"/>
                <a:t>liên</a:t>
              </a:r>
              <a:r>
                <a:rPr lang="en-US" sz="1400" dirty="0"/>
                <a:t> </a:t>
              </a:r>
              <a:r>
                <a:rPr lang="en-US" sz="1400" dirty="0" err="1"/>
                <a:t>tục</a:t>
              </a:r>
              <a:r>
                <a:rPr lang="en-US" sz="1400" dirty="0"/>
                <a:t> </a:t>
              </a:r>
              <a:r>
                <a:rPr lang="en-US" sz="1400" dirty="0" err="1"/>
                <a:t>từ</a:t>
              </a:r>
              <a:r>
                <a:rPr lang="en-US" sz="1400" dirty="0"/>
                <a:t> T12/2026, </a:t>
              </a:r>
              <a:r>
                <a:rPr lang="en-US" sz="1400" dirty="0" err="1"/>
                <a:t>kiểm</a:t>
              </a:r>
              <a:r>
                <a:rPr lang="en-US" sz="1400" dirty="0"/>
                <a:t> </a:t>
              </a:r>
              <a:r>
                <a:rPr lang="en-US" sz="1400" dirty="0" err="1"/>
                <a:t>soát</a:t>
              </a:r>
              <a:r>
                <a:rPr lang="en-US" sz="1400" dirty="0"/>
                <a:t> </a:t>
              </a:r>
              <a:r>
                <a:rPr lang="en-US" sz="1400" dirty="0" err="1"/>
                <a:t>mật</a:t>
              </a:r>
              <a:r>
                <a:rPr lang="en-US" sz="1400" dirty="0"/>
                <a:t> </a:t>
              </a:r>
              <a:r>
                <a:rPr lang="en-US" sz="1400" dirty="0" err="1"/>
                <a:t>độ</a:t>
              </a:r>
              <a:r>
                <a:rPr lang="en-US" sz="1400" dirty="0"/>
                <a:t> </a:t>
              </a:r>
              <a:r>
                <a:rPr lang="en-US" sz="1400" dirty="0" err="1"/>
                <a:t>lỗi</a:t>
              </a:r>
              <a:r>
                <a:rPr lang="en-US" sz="1400" dirty="0"/>
                <a:t> &lt; 0.5 bugs/KLOC</a:t>
              </a:r>
            </a:p>
          </p:txBody>
        </p:sp>
        <p:sp>
          <p:nvSpPr>
            <p:cNvPr id="96" name="Shape 62">
              <a:extLst>
                <a:ext uri="{FF2B5EF4-FFF2-40B4-BE49-F238E27FC236}">
                  <a16:creationId xmlns:a16="http://schemas.microsoft.com/office/drawing/2014/main" id="{675DEB57-8D0C-601F-8E66-F97EAAB63244}"/>
                </a:ext>
              </a:extLst>
            </p:cNvPr>
            <p:cNvSpPr/>
            <p:nvPr/>
          </p:nvSpPr>
          <p:spPr>
            <a:xfrm>
              <a:off x="6930834" y="5278000"/>
              <a:ext cx="6236093" cy="833077"/>
            </a:xfrm>
            <a:prstGeom prst="roundRect">
              <a:avLst>
                <a:gd name="adj" fmla="val 16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FBEEEC"/>
              </a:solidFill>
              <a:prstDash val="solid"/>
            </a:ln>
          </p:spPr>
          <p:txBody>
            <a:bodyPr/>
            <a:lstStyle/>
            <a:p>
              <a:r>
                <a:rPr lang="en-US" sz="1400" dirty="0" err="1"/>
                <a:t>Số</a:t>
              </a:r>
              <a:r>
                <a:rPr lang="en-US" sz="1400" dirty="0"/>
                <a:t> </a:t>
              </a:r>
              <a:r>
                <a:rPr lang="en-US" sz="1400" dirty="0" err="1"/>
                <a:t>hóa</a:t>
              </a:r>
              <a:r>
                <a:rPr lang="en-US" sz="1400" dirty="0"/>
                <a:t> </a:t>
              </a:r>
              <a:r>
                <a:rPr lang="en-US" sz="1400" dirty="0" err="1"/>
                <a:t>và</a:t>
              </a:r>
              <a:r>
                <a:rPr lang="en-US" sz="1400" dirty="0"/>
                <a:t> chia </a:t>
              </a:r>
              <a:r>
                <a:rPr lang="en-US" sz="1400" dirty="0" err="1"/>
                <a:t>sẻ</a:t>
              </a:r>
              <a:r>
                <a:rPr lang="en-US" sz="1400" dirty="0"/>
                <a:t> </a:t>
              </a:r>
              <a:r>
                <a:rPr lang="en-US" sz="1400" dirty="0" err="1"/>
                <a:t>toàn</a:t>
              </a:r>
              <a:r>
                <a:rPr lang="en-US" sz="1400" dirty="0"/>
                <a:t> </a:t>
              </a:r>
              <a:r>
                <a:rPr lang="en-US" sz="1400" dirty="0" err="1"/>
                <a:t>bộ</a:t>
              </a:r>
              <a:r>
                <a:rPr lang="en-US" sz="1400" dirty="0"/>
                <a:t> </a:t>
              </a:r>
              <a:r>
                <a:rPr lang="en-US" sz="1400" dirty="0" err="1"/>
                <a:t>tài</a:t>
              </a:r>
              <a:r>
                <a:rPr lang="en-US" sz="1400" dirty="0"/>
                <a:t> </a:t>
              </a:r>
              <a:r>
                <a:rPr lang="en-US" sz="1400" dirty="0" err="1"/>
                <a:t>liệu</a:t>
              </a:r>
              <a:r>
                <a:rPr lang="en-US" sz="1400" dirty="0"/>
                <a:t> </a:t>
              </a:r>
              <a:r>
                <a:rPr lang="en-US" sz="1400" dirty="0" err="1"/>
                <a:t>đặc</a:t>
              </a:r>
              <a:r>
                <a:rPr lang="en-US" sz="1400" dirty="0"/>
                <a:t> </a:t>
              </a:r>
              <a:r>
                <a:rPr lang="en-US" sz="1400" dirty="0" err="1"/>
                <a:t>tả</a:t>
              </a:r>
              <a:r>
                <a:rPr lang="en-US" sz="1400" dirty="0"/>
                <a:t>, ERD, Sequence Diagram </a:t>
              </a:r>
              <a:r>
                <a:rPr lang="en-US" sz="1400" dirty="0" err="1"/>
                <a:t>trên</a:t>
              </a:r>
              <a:r>
                <a:rPr lang="en-US" sz="1400" dirty="0"/>
                <a:t> </a:t>
              </a:r>
              <a:r>
                <a:rPr lang="en-US" sz="1400" dirty="0" err="1"/>
                <a:t>thư</a:t>
              </a:r>
              <a:r>
                <a:rPr lang="en-US" sz="1400" dirty="0"/>
                <a:t> </a:t>
              </a:r>
              <a:r>
                <a:rPr lang="en-US" sz="1400" dirty="0" err="1"/>
                <a:t>mục</a:t>
              </a:r>
              <a:r>
                <a:rPr lang="en-US" sz="1400" dirty="0"/>
                <a:t> </a:t>
              </a:r>
              <a:r>
                <a:rPr lang="en-US" sz="1400" dirty="0" err="1"/>
                <a:t>chung</a:t>
              </a:r>
              <a:r>
                <a:rPr lang="en-US" sz="1400" dirty="0"/>
                <a:t> </a:t>
              </a:r>
              <a:r>
                <a:rPr lang="en-US" sz="1400" dirty="0" err="1"/>
                <a:t>để</a:t>
              </a:r>
              <a:r>
                <a:rPr lang="en-US" sz="1400" dirty="0"/>
                <a:t> </a:t>
              </a:r>
              <a:r>
                <a:rPr lang="en-US" sz="1400" dirty="0" err="1"/>
                <a:t>sẵn</a:t>
              </a:r>
              <a:r>
                <a:rPr lang="en-US" sz="1400" dirty="0"/>
                <a:t> </a:t>
              </a:r>
              <a:r>
                <a:rPr lang="en-US" sz="1400" dirty="0" err="1"/>
                <a:t>sàng</a:t>
              </a:r>
              <a:r>
                <a:rPr lang="en-US" sz="1400" dirty="0"/>
                <a:t> </a:t>
              </a:r>
              <a:r>
                <a:rPr lang="en-US" sz="1400" dirty="0" err="1"/>
                <a:t>bàn</a:t>
              </a:r>
              <a:r>
                <a:rPr lang="en-US" sz="1400" dirty="0"/>
                <a:t> </a:t>
              </a:r>
              <a:r>
                <a:rPr lang="en-US" sz="1400" dirty="0" err="1"/>
                <a:t>giao</a:t>
              </a:r>
              <a:r>
                <a:rPr lang="en-US" sz="1400" dirty="0"/>
                <a:t> </a:t>
              </a:r>
              <a:r>
                <a:rPr lang="en-US" sz="1400" dirty="0" err="1"/>
                <a:t>công</a:t>
              </a:r>
              <a:r>
                <a:rPr lang="en-US" sz="1400" dirty="0"/>
                <a:t> </a:t>
              </a:r>
              <a:r>
                <a:rPr lang="en-US" sz="1400" dirty="0" err="1"/>
                <a:t>việc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7A1F1A"/>
          </a:solidFill>
          <a:ln w="12700">
            <a:solidFill>
              <a:srgbClr val="7A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 ơn thầy cô và các bạn đã lắng nghe 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9712096" y="-899809"/>
            <a:ext cx="3139440" cy="3079777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BB4CB8C644074DA8C0D9544B46C45A" ma:contentTypeVersion="10" ma:contentTypeDescription="Create a new document." ma:contentTypeScope="" ma:versionID="6cd6a6fc9d500661ae2c712001574a63">
  <xsd:schema xmlns:xsd="http://www.w3.org/2001/XMLSchema" xmlns:xs="http://www.w3.org/2001/XMLSchema" xmlns:p="http://schemas.microsoft.com/office/2006/metadata/properties" xmlns:ns2="6ab11da6-c5b9-49cb-ad83-ae21ec205006" xmlns:ns3="8620256f-1d2f-43d2-8d17-c8c02a124848" targetNamespace="http://schemas.microsoft.com/office/2006/metadata/properties" ma:root="true" ma:fieldsID="5a8690fc04d69f1d5e321c6403e17232" ns2:_="" ns3:_="">
    <xsd:import namespace="6ab11da6-c5b9-49cb-ad83-ae21ec205006"/>
    <xsd:import namespace="8620256f-1d2f-43d2-8d17-c8c02a1248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b11da6-c5b9-49cb-ad83-ae21ec2050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0256f-1d2f-43d2-8d17-c8c02a12484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c5c2c83-07ff-4f8e-b7a6-caccdf7c6711}" ma:internalName="TaxCatchAll" ma:showField="CatchAllData" ma:web="8620256f-1d2f-43d2-8d17-c8c02a1248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ab11da6-c5b9-49cb-ad83-ae21ec205006">
      <Terms xmlns="http://schemas.microsoft.com/office/infopath/2007/PartnerControls"/>
    </lcf76f155ced4ddcb4097134ff3c332f>
    <TaxCatchAll xmlns="8620256f-1d2f-43d2-8d17-c8c02a124848" xsi:nil="true"/>
  </documentManagement>
</p:properties>
</file>

<file path=customXml/itemProps1.xml><?xml version="1.0" encoding="utf-8"?>
<ds:datastoreItem xmlns:ds="http://schemas.openxmlformats.org/officeDocument/2006/customXml" ds:itemID="{C176B6A5-53F3-4239-90A8-F00671CB3321}"/>
</file>

<file path=customXml/itemProps2.xml><?xml version="1.0" encoding="utf-8"?>
<ds:datastoreItem xmlns:ds="http://schemas.openxmlformats.org/officeDocument/2006/customXml" ds:itemID="{4486113D-210D-4F46-BE0B-2AA720B1BDBB}"/>
</file>

<file path=customXml/itemProps3.xml><?xml version="1.0" encoding="utf-8"?>
<ds:datastoreItem xmlns:ds="http://schemas.openxmlformats.org/officeDocument/2006/customXml" ds:itemID="{0047135F-2EF1-45B1-81D0-B28799BF3D9D}"/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3473</Words>
  <Application>Microsoft Office PowerPoint</Application>
  <PresentationFormat>Widescreen</PresentationFormat>
  <Paragraphs>438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lý du học sinh Amec – Nhóm 3</dc:title>
  <dc:subject>PptxGenJS Presentation</dc:subject>
  <dc:creator>PptxGenJS</dc:creator>
  <cp:lastModifiedBy>Thanh Phương Bùi</cp:lastModifiedBy>
  <cp:revision>10</cp:revision>
  <dcterms:created xsi:type="dcterms:W3CDTF">2026-09-18T13:04:33Z</dcterms:created>
  <dcterms:modified xsi:type="dcterms:W3CDTF">2026-09-19T02:05:02Z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0x01010007BB4CB8C644074DA8C0D9544B46C45A</vt:lpwstr>
  </property>
</Properties>
</file>