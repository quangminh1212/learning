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W14XmOlC89l7OjkSax9+Tn2vP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C9FEEC-7A83-46CB-A566-6807C69C0785}">
  <a:tblStyle styleId="{4AC9FEEC-7A83-46CB-A566-6807C69C07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customschemas.google.com/relationships/presentationmetadata" Target="meta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Dữ liệu nhóm, thành viên, WBS, dự toán và tiến độ lấy từ hồ sơ Nhóm 1 trong C:\Dev\Learning\VIII.HUST\Quản trị dự án. Bố cục tham khảo deck QTDACNTT - Nhóm 6.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Cách chia phần và slide chuyển chương tham khảo deck Nhóm 6. Nội dung đã rút gọn để phù hợp bài Quản trị dự án của Nhóm 1.</a:t>
            </a: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53" name="Google Shape;5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82" name="Google Shape;8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02 - Du an Cong nghe thong tin.pptx. Dữ liệu dự án: slide-thuyet-trinh.pptx.</a:t>
            </a:r>
            <a:endParaRPr/>
          </a:p>
        </p:txBody>
      </p:sp>
      <p:sp>
        <p:nvSpPr>
          <p:cNvPr id="105" name="Google Shape;105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126" name="Google Shape;12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144" name="Google Shape;14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07 - Quan ly nhan luc.pptx. Dữ liệu phân công: slide-thuyet-trinh.pptx.</a:t>
            </a:r>
            <a:endParaRPr/>
          </a:p>
        </p:txBody>
      </p:sp>
      <p:sp>
        <p:nvSpPr>
          <p:cNvPr id="171" name="Google Shape;17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07 - Quan ly nhan luc.pptx. Dữ liệu phân công: slide-thuyet-trinh.pptx.</a:t>
            </a:r>
            <a:endParaRPr/>
          </a:p>
        </p:txBody>
      </p:sp>
      <p:sp>
        <p:nvSpPr>
          <p:cNvPr id="189" name="Google Shape;189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01 - Cac van de chung.pptx. Dữ liệu dự án: slide-thuyet-trinh.pptx.</a:t>
            </a:r>
            <a:endParaRPr/>
          </a:p>
        </p:txBody>
      </p:sp>
      <p:sp>
        <p:nvSpPr>
          <p:cNvPr id="206" name="Google Shape;206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04 - Quan ly thoi gian du an.pptx. Dữ liệu WBS: slide-thuyet-trinh.pptx.</a:t>
            </a:r>
            <a:endParaRPr/>
          </a:p>
        </p:txBody>
      </p:sp>
      <p:sp>
        <p:nvSpPr>
          <p:cNvPr id="237" name="Google Shape;237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3_QLDA.pdf. Dữ liệu lịch biểu: slide-thuyet-trinh.pptx.</a:t>
            </a:r>
            <a:endParaRPr/>
          </a:p>
        </p:txBody>
      </p:sp>
      <p:sp>
        <p:nvSpPr>
          <p:cNvPr id="264" name="Google Shape;264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3_QLDA.pdf. Dữ liệu lịch biểu: slide-thuyet-trinh.pptx.</a:t>
            </a:r>
            <a:endParaRPr/>
          </a:p>
        </p:txBody>
      </p:sp>
      <p:sp>
        <p:nvSpPr>
          <p:cNvPr id="291" name="Google Shape;291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Cập nhật theo yêu cầu người dùng: trần ngân sách tối đa 1.000.000.000 VNĐ. Dự toán cơ sở giữ nguyên từ file Nhóm 1 kinh-phi-du-an.xlsx: công lao động 285.396.650, thiết bị 73.800.000, chi khác 49.000.000, tổng 408.196.650 VNĐ. Phần còn lại là hạn mức chưa phân bổ, không phải chi phí đã dùng.</a:t>
            </a:r>
            <a:endParaRPr/>
          </a:p>
        </p:txBody>
      </p:sp>
      <p:sp>
        <p:nvSpPr>
          <p:cNvPr id="335" name="Google Shape;335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Nguồn kiến thức: C:\Users\GHC\Downloads\Slide\Chuong 06 - Quan ly chat luong du an.pptx. Chỉ tiêu chất lượng: slide-thuyet-trinh.pptx.</a:t>
            </a:r>
            <a:endParaRPr/>
          </a:p>
        </p:txBody>
      </p:sp>
      <p:sp>
        <p:nvSpPr>
          <p:cNvPr id="357" name="Google Shape;357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Danh sách rủi ro là đăng ký theo dõi đề xuất, không phải kết luận rủi ro đã xảy ra. Phần trình bày tổng hợp các Chương 1 - 8 và hồ sơ Nhóm 1.</a:t>
            </a:r>
            <a:endParaRPr/>
          </a:p>
        </p:txBody>
      </p:sp>
      <p:sp>
        <p:nvSpPr>
          <p:cNvPr id="386" name="Google Shape;386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Biểu đồ Use Case tổng quát được bổ sung từ phạm vi Nhóm 1: quản lý sản phẩm, nhập xuất, tồn kho, người dùng và báo cáo.</a:t>
            </a:r>
            <a:endParaRPr/>
          </a:p>
        </p:txBody>
      </p:sp>
      <p:sp>
        <p:nvSpPr>
          <p:cNvPr id="414" name="Google Shape;414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Biểu đồ trình tự ở mức tổng quát: người dùng gửi yêu cầu, lớp giao diện chuyển xử lý, nghiệp vụ kiểm tra và cập nhật CSDL, sau đó trả kết quả và cập nhật báo cáo.</a:t>
            </a:r>
            <a:endParaRPr/>
          </a:p>
        </p:txBody>
      </p:sp>
      <p:sp>
        <p:nvSpPr>
          <p:cNvPr id="472" name="Google Shape;472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Danh mục này tổng hợp các phần đã có trong bản v8 cập nhật, dựa trên dữ liệu Nhóm 1 và cách chia chương của môn Quản trị dự án.</a:t>
            </a:r>
            <a:endParaRPr/>
          </a:p>
        </p:txBody>
      </p:sp>
      <p:sp>
        <p:nvSpPr>
          <p:cNvPr id="529" name="Google Shape;529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Bảng rủi ro do người dùng cung cấp, bổ sung vào phần quản trị rủi ro của dự án Nhóm 1. P là xác suất, I là mức độ ảnh hưởng, Điểm = P x I.</a:t>
            </a:r>
            <a:endParaRPr/>
          </a:p>
        </p:txBody>
      </p:sp>
      <p:sp>
        <p:nvSpPr>
          <p:cNvPr id="546" name="Google Shape;546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t="12500" b="1250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" y="402114"/>
            <a:ext cx="2333625" cy="70072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552450" y="163830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2400"/>
              <a:buFont typeface="Calibri"/>
              <a:buNone/>
            </a:pPr>
            <a:r>
              <a:rPr lang="en-US" sz="24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QUẢN TRỊ DỰ ÁN CNTT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52450" y="2171700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75"/>
              <a:buFont typeface="Calibri"/>
              <a:buNone/>
            </a:pPr>
            <a:r>
              <a:rPr lang="en-US" sz="15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Dự án xây dựng hệ thống quản lý hàng hóa và kho bãi sản phẩm thời trang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52450" y="289560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Báo cáo theo hồ sơ Nhóm 1 · CNTT20261_N01</a:t>
            </a:r>
            <a:endParaRPr/>
          </a:p>
        </p:txBody>
      </p:sp>
      <p:graphicFrame>
        <p:nvGraphicFramePr>
          <p:cNvPr id="21" name="Google Shape;21;p1"/>
          <p:cNvGraphicFramePr/>
          <p:nvPr/>
        </p:nvGraphicFramePr>
        <p:xfrm>
          <a:off x="552450" y="3524250"/>
          <a:ext cx="6477000" cy="20193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297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Thành viên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Vai trò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Bùi Tuấn Anh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Chủ nhiệm, nghiệp vụ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Bùi Quốc Luýt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 Lead, back-end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Vũ Quang Minh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Back-end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Bạch Minh Quang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UI/UX, front-end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Đoàn Bảo Thiên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CSDL, kiểm thử và nghiệm thu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Google Shape;22;p1"/>
          <p:cNvSpPr/>
          <p:nvPr/>
        </p:nvSpPr>
        <p:spPr>
          <a:xfrm>
            <a:off x="8096250" y="2857500"/>
            <a:ext cx="17145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191500" y="2943225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DỰ TOÁN CƠ SỞ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191500" y="31813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408,2 triệu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9906000" y="2857500"/>
            <a:ext cx="17145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0001250" y="2943225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TRẦN NGÂN SÁCH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0001250" y="31813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1,0 tỷ VNĐ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096250" y="3714750"/>
            <a:ext cx="17145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191500" y="3800475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KHỐI LƯỢNG</a:t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191500" y="40386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Calibri"/>
              <a:buNone/>
            </a:pPr>
            <a:r>
              <a:rPr lang="en-US" sz="1650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52 task</a:t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9906000" y="3714750"/>
            <a:ext cx="17145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0001250" y="3800475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NGUỒN LỰC</a:t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0001250" y="40386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221,83 ngày-người</a:t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8096250" y="4857750"/>
            <a:ext cx="3524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975"/>
              <a:buFont typeface="Calibri"/>
              <a:buNone/>
            </a:pPr>
            <a:r>
              <a:rPr lang="en-US" sz="975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GVHD: ThS. Lê Thị Hoa · Hà Nội, tháng 9 năm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"/>
          <p:cNvPicPr preferRelativeResize="0"/>
          <p:nvPr/>
        </p:nvPicPr>
        <p:blipFill rotWithShape="1">
          <a:blip r:embed="rId3">
            <a:alphaModFix/>
          </a:blip>
          <a:srcRect t="12500" b="1250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4762500" y="742950"/>
            <a:ext cx="6572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2625"/>
              <a:buFont typeface="Calibri"/>
              <a:buNone/>
            </a:pPr>
            <a:r>
              <a:rPr lang="en-US" sz="262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CẤU TRÚC BÁO CÁO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762500" y="1581150"/>
            <a:ext cx="6381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I.  Tổng quan dự án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762500" y="2038350"/>
            <a:ext cx="6381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II. Tổ chức và lập kế hoạch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762500" y="2495550"/>
            <a:ext cx="6381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III. WBS, nguồn lực và tiến độ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762500" y="2952750"/>
            <a:ext cx="6381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IV. Dự toán và trần ngân sách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762500" y="3409950"/>
            <a:ext cx="6381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V. Chất lượng, thay đổi và báo cáo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62500" y="3867150"/>
            <a:ext cx="6381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VI. Rủi ro và kết luận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762500" y="4762500"/>
            <a:ext cx="63817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Các phần giữ cùng một mạch: thông tin → kế hoạch → bằng chứng → kiểm soát.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1258550" y="6534150"/>
            <a:ext cx="4191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I. THUYẾT MINH DỰ ÁN</a:t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THÔNG TIN CHUNG VỀ DỰ ÁN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Các số liệu nền dùng để lập kế hoạch và theo dõi dự án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76250" y="1181100"/>
            <a:ext cx="2571750" cy="723900"/>
          </a:xfrm>
          <a:prstGeom prst="roundRect">
            <a:avLst>
              <a:gd name="adj" fmla="val 13158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571500" y="126682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THỜI GIAN</a:t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71500" y="15049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01/09/2026 - 31/03/2027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238500" y="1181100"/>
            <a:ext cx="2571750" cy="723900"/>
          </a:xfrm>
          <a:prstGeom prst="roundRect">
            <a:avLst>
              <a:gd name="adj" fmla="val 13158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333750" y="126682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DỰ TOÁN CƠ SỞ</a:t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333750" y="15049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408.196.650 VNĐ</a:t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000750" y="1181100"/>
            <a:ext cx="2571750" cy="723900"/>
          </a:xfrm>
          <a:prstGeom prst="roundRect">
            <a:avLst>
              <a:gd name="adj" fmla="val 13158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096000" y="126682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TRẦN NGÂN SÁCH</a:t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096000" y="1504950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1.000.000.000 VNĐ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63000" y="1181100"/>
            <a:ext cx="2857500" cy="723900"/>
          </a:xfrm>
          <a:prstGeom prst="roundRect">
            <a:avLst>
              <a:gd name="adj" fmla="val 13158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858250" y="126682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QUY MÔ</a:t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858250" y="15049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 thành viên · 52 task</a:t>
            </a:r>
            <a:endParaRPr/>
          </a:p>
        </p:txBody>
      </p:sp>
      <p:graphicFrame>
        <p:nvGraphicFramePr>
          <p:cNvPr id="76" name="Google Shape;76;p4"/>
          <p:cNvGraphicFramePr/>
          <p:nvPr/>
        </p:nvGraphicFramePr>
        <p:xfrm>
          <a:off x="476250" y="2209800"/>
          <a:ext cx="11144250" cy="28575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293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Hạng mục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Số liệu Nhóm 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Vai trò trong quản trị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Đối tượng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Hệ thống quản lý hàng hóa và kho bãi sản phẩm thời trang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Case để áp dụng phương pháp quản trị dự án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Nguồn lực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221,83 ngày-người · 5 thành viên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Cơ sở phân công và theo dõi tải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Khối lượng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 task trong 6 giai đoạn A - 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Cơ sở lập WBS, lịch và mốc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Dự toán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408.196.650 VNĐ theo workbook kinh phí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chi phí của Nhóm 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Trần ngân sách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Không vượt 1.000.000.000 VNĐ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Hạn mức tối đa, không phải chi phí đã phát sinh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" name="Google Shape;77;p4"/>
          <p:cNvSpPr/>
          <p:nvPr/>
        </p:nvSpPr>
        <p:spPr>
          <a:xfrm>
            <a:off x="476250" y="5381625"/>
            <a:ext cx="11144250" cy="552450"/>
          </a:xfrm>
          <a:prstGeom prst="roundRect">
            <a:avLst>
              <a:gd name="adj" fmla="val 17241"/>
            </a:avLst>
          </a:prstGeom>
          <a:solidFill>
            <a:srgbClr val="F6F6F6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47700" y="5562600"/>
            <a:ext cx="10810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Phân biệt rõ: dự toán cơ sở là số liệu hồ sơ Nhóm 1, còn 1 tỷ VNĐ là giới hạn ngân sách tối đa theo yêu cầu mới.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I. THUYẾT MINH DỰ ÁN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BỐI CẢNH VÀ MỤC TIÊU QUẢN TRỊ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Từ vấn đề nghiệp vụ đến mục tiêu có thể đo và kiểm soát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476250" y="1181100"/>
            <a:ext cx="5334000" cy="3143250"/>
          </a:xfrm>
          <a:prstGeom prst="roundRect">
            <a:avLst>
              <a:gd name="adj" fmla="val 303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85800" y="1390650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BỐI CẢNH KHẢO SÁT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85800" y="1866900"/>
            <a:ext cx="4762500" cy="203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Quy trình nhập, xuất, kiểm kê và đổi trả cần được thống nhất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Dữ liệu đang gắn với sổ sách, Excel và nhiều biểu mẫu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Cần quản lý sản phẩm, biến thể màu x size, kho và vị trí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Hồ sơ Nhóm 1 ghi nhận 13 biểu mẫu đang sử dụng</a:t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286500" y="1181100"/>
            <a:ext cx="533400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496050" y="1390650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MỤC TIÊU QUẢN TRỊ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496050" y="1866900"/>
            <a:ext cx="4762500" cy="203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Chốt phạm vi và tiêu chí kết thúc trước khi triển khai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Quản lý 19 yêu cầu chức năng và 11 yêu cầu phi chức năng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Điều phối 52 task theo WBS, nguồn lực và phụ thuộc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Theo dõi tiến độ, chi phí, chất lượng, thay đổi và rủi ro</a:t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476250" y="4762500"/>
            <a:ext cx="11144250" cy="819150"/>
          </a:xfrm>
          <a:prstGeom prst="roundRect">
            <a:avLst>
              <a:gd name="adj" fmla="val 11628"/>
            </a:avLst>
          </a:prstGeom>
          <a:solidFill>
            <a:srgbClr val="F6F6F6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66750" y="494347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Mục tiêu của bài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2571750" y="4943475"/>
            <a:ext cx="86677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Cho thấy nhóm quản lý dự án bằng kế hoạch, hồ sơ và quyết định có căn cứ, không chỉ mô tả sản phẩm phần mềm.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I. THUYẾT MINH DỰ ÁN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PHẠM VI VÀ DANH MỤC ĐẦU RA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Phạm vi là căn cứ để lập WBS, dự toán, lịch và nghiệm thu</a:t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76250" y="1181100"/>
            <a:ext cx="5334000" cy="2419350"/>
          </a:xfrm>
          <a:prstGeom prst="roundRect">
            <a:avLst>
              <a:gd name="adj" fmla="val 3937"/>
            </a:avLst>
          </a:prstGeom>
          <a:solidFill>
            <a:srgbClr val="EEF8F1"/>
          </a:solidFill>
          <a:ln w="9525" cap="flat" cmpd="sng">
            <a:solidFill>
              <a:srgbClr val="B7DF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85800" y="1381125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37A4B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237A4B"/>
                </a:solidFill>
                <a:latin typeface="Calibri"/>
                <a:ea typeface="Calibri"/>
                <a:cs typeface="Calibri"/>
                <a:sym typeface="Calibri"/>
              </a:rPr>
              <a:t>TRONG PHẠM VI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685800" y="1857375"/>
            <a:ext cx="47625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Khảo sát và đặc tả yêu cầu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Phân tích, thiết kế, CSDL và UI/UX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Phát triển, kiểm thử và UAT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Cấu hình, đào tạo, nghiệm thu và bàn giao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286500" y="1181100"/>
            <a:ext cx="5334000" cy="2419350"/>
          </a:xfrm>
          <a:prstGeom prst="roundRect">
            <a:avLst>
              <a:gd name="adj" fmla="val 3937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496050" y="1381125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NGOÀI PHẠM VI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496050" y="1857375"/>
            <a:ext cx="47625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POS, thanh toán và hóa đơn điện tử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Kế toán giá vốn và công nợ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Sàn thương mại điện tử và vận chuyển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Ứng dụng di động riêng và mua thiết bị mới</a:t>
            </a:r>
            <a:endParaRPr/>
          </a:p>
        </p:txBody>
      </p:sp>
      <p:graphicFrame>
        <p:nvGraphicFramePr>
          <p:cNvPr id="122" name="Google Shape;122;p6"/>
          <p:cNvGraphicFramePr/>
          <p:nvPr/>
        </p:nvGraphicFramePr>
        <p:xfrm>
          <a:off x="476250" y="3905250"/>
          <a:ext cx="11144250" cy="1962125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316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Gói đầu ra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Hồ sơ / bằng chứng nghiệm thu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Khảo sát và đặc tả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khảo sát, 19 FR, 11 NFR và quy tắc nghiệp vụ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Phân tích và thiết kế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UML, lược đồ CSDL, từ điển dữ liệu, UI/UX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Phát triển và kiểm thử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Mã nguồn, báo cáo kiểm thử, kết quả UAT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Triển khai và bàn giao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Tài liệu cấu hình, hướng dẫn, biên bản nghiệm thu và xác nhận bàn giao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I. THUYẾT MINH DỰ ÁN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BÊN LIÊN QUAN VÀ GIAO TIẾP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Cơ chế phối hợp rõ giúp quyết định và thay đổi không bị thất lạc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137" name="Google Shape;137;p7"/>
          <p:cNvGraphicFramePr/>
          <p:nvPr/>
        </p:nvGraphicFramePr>
        <p:xfrm>
          <a:off x="476250" y="1219200"/>
          <a:ext cx="11144275" cy="37338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320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Bên liên quan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Kỳ vọng / trách nhiệm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Thông tin và nhịp phối hợp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Doanh nghiệp thời trang / khách hàng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Cung cấp yêu cầu, phản hồi và xác nhận nghiệm thu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Khảo sát, review theo mốc, sign-off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Giảng viên / chủ trì học phần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Định hướng chuyên môn và đánh giá kết quả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theo yêu cầu, trình bày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Giám đốc dự án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Tích hợp phạm vi, tiến độ, chi phí và rủi ro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Họp nhóm hàng tuần, báo cáo sai lệch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Đội dự án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Thực hiện gói công việc và cập nhật bằng chứng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Phân công theo WBS, cập nhật trạng thái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Nhà cung cấp / nguồn hỗ trợ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Cung cấp dịch vụ hoặc nguồn lực khi cần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Ghi nhận cam kết, kiểm tra đầu ra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Google Shape;138;p7"/>
          <p:cNvSpPr/>
          <p:nvPr/>
        </p:nvSpPr>
        <p:spPr>
          <a:xfrm>
            <a:off x="476250" y="5257800"/>
            <a:ext cx="11144250" cy="590550"/>
          </a:xfrm>
          <a:prstGeom prst="roundRect">
            <a:avLst>
              <a:gd name="adj" fmla="val 16129"/>
            </a:avLst>
          </a:prstGeom>
          <a:solidFill>
            <a:srgbClr val="F6F6F6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66750" y="542925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Nguyên tắc giao tiếp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2571750" y="5429250"/>
            <a:ext cx="8667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Thông tin quan trọng phải đi qua PM, có owner, thời hạn và dấu vết trong biên bản hoặc báo cáo.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II. TỔ CHỨC VÀ LẬP KẾ HOẠCH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VAI TRÒ PM VÀ CƠ CHẾ QUẢN TRỊ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PM biến thông tin rời rạc thành quyết định, hồ sơ và hành động kiểm soát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76250" y="1181100"/>
            <a:ext cx="3429000" cy="4000500"/>
          </a:xfrm>
          <a:prstGeom prst="roundRect">
            <a:avLst>
              <a:gd name="adj" fmla="val 2778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685800" y="139065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PM CHỊU TRÁCH NHIỆM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85800" y="1866900"/>
            <a:ext cx="295275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Tích hợp phạm vi, lịch, chi phí, chất lượng và rủi ro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Phân công theo WBS và điều phối tải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Theo dõi sai lệch, cập nhật baseline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Điều phối thay đổi và chuẩn bị quyết định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Tổ chức nghiệm thu, bàn giao và lưu hồ sơ</a:t>
            </a:r>
            <a:endParaRPr/>
          </a:p>
        </p:txBody>
      </p:sp>
      <p:graphicFrame>
        <p:nvGraphicFramePr>
          <p:cNvPr id="158" name="Google Shape;158;p9"/>
          <p:cNvGraphicFramePr/>
          <p:nvPr/>
        </p:nvGraphicFramePr>
        <p:xfrm>
          <a:off x="4381500" y="1181100"/>
          <a:ext cx="7239025" cy="26670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22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Hoạt động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Đầu ra quản trị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Điều phối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Phân công, biên bản họp, danh sách việc cần làm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Theo dõi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tiến độ, chi phí và sai lệch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 quyết định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Phiếu thay đổi hoặc phương án xử lý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Kiểm soát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Checklist, test report, sign-off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" name="Google Shape;159;p9"/>
          <p:cNvSpPr/>
          <p:nvPr/>
        </p:nvSpPr>
        <p:spPr>
          <a:xfrm>
            <a:off x="4381500" y="417195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NHỊP QUẢN TRỊ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381500" y="4552950"/>
            <a:ext cx="1752600" cy="647700"/>
          </a:xfrm>
          <a:prstGeom prst="roundRect">
            <a:avLst>
              <a:gd name="adj" fmla="val 11765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4438650" y="46863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Họp tuần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6210300" y="4552950"/>
            <a:ext cx="1752600" cy="647700"/>
          </a:xfrm>
          <a:prstGeom prst="roundRect">
            <a:avLst>
              <a:gd name="adj" fmla="val 11765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6267450" y="46863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Báo cáo mốc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8039100" y="4552950"/>
            <a:ext cx="1752600" cy="647700"/>
          </a:xfrm>
          <a:prstGeom prst="roundRect">
            <a:avLst>
              <a:gd name="adj" fmla="val 11765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8096250" y="46863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Review thay đổi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9867900" y="4552950"/>
            <a:ext cx="1752600" cy="647700"/>
          </a:xfrm>
          <a:prstGeom prst="roundRect">
            <a:avLst>
              <a:gd name="adj" fmla="val 11765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9925050" y="4686300"/>
            <a:ext cx="1638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Ký nhận đầu ra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II. TỔ CHỨC VÀ LẬP KẾ HOẠCH</a:t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ĐỘI DỰ ÁN VÀ PHÂN BỔ NGUỒN LỰC</a:t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Phân công theo vai trò, gói công việc và công số đã lập trong hồ sơ Nhóm 1</a:t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graphicFrame>
        <p:nvGraphicFramePr>
          <p:cNvPr id="182" name="Google Shape;182;p10"/>
          <p:cNvGraphicFramePr/>
          <p:nvPr/>
        </p:nvGraphicFramePr>
        <p:xfrm>
          <a:off x="476250" y="1219200"/>
          <a:ext cx="11144275" cy="3219475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3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Thành viên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Vai trò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Gói công việc chính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Bùi Tuấn Anh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PM, nghiệp vụ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A, B, C, E, 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43,27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Bùi Quốc Luýt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 Lead, back-end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B, D, 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48,95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Vũ Quang Minh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Back-end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B, D, 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41,98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Bạch Minh Quang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UI/UX, front-end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A, C, D, 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44,00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Đoàn Bảo Thiên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CSDL, kiểm thử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B, C, E, 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43,63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Tổng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800"/>
                        <a:buFont typeface="Calibri"/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 task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221,83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3" name="Google Shape;183;p10"/>
          <p:cNvSpPr/>
          <p:nvPr/>
        </p:nvSpPr>
        <p:spPr>
          <a:xfrm>
            <a:off x="476250" y="4838700"/>
            <a:ext cx="11144250" cy="876300"/>
          </a:xfrm>
          <a:prstGeom prst="roundRect">
            <a:avLst>
              <a:gd name="adj" fmla="val 10870"/>
            </a:avLst>
          </a:prstGeom>
          <a:solidFill>
            <a:srgbClr val="F6F6F6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85800" y="5029200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Nguyên tắc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2238375" y="5029200"/>
            <a:ext cx="90487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PM giữ đầu mối tích hợp. Tech Lead chịu trách nhiệm kỹ thuật. QA và kiểm thử được phân công chéo để có kiểm soát độc lập.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II. TỔ CHỨC VÀ LẬP KẾ HOẠCH</a:t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MA TRẬN RACI</a:t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RACI làm rõ ai thực hiện, ai chịu trách nhiệm cuối và ai cần được tham vấn</a:t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" name="Google Shape;19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graphicFrame>
        <p:nvGraphicFramePr>
          <p:cNvPr id="200" name="Google Shape;200;p11"/>
          <p:cNvGraphicFramePr/>
          <p:nvPr/>
        </p:nvGraphicFramePr>
        <p:xfrm>
          <a:off x="476250" y="1219200"/>
          <a:ext cx="11144250" cy="36196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590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Công việc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UI/UX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Tôn chỉ và phạm vi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A/R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Phân tích yêu cầu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Thiết kế hệ thống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Phát triển và tích hợp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Kiểm thử và UAT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Quản lý rủi ro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và nghiệm thu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A/R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1" name="Google Shape;201;p11"/>
          <p:cNvSpPr/>
          <p:nvPr/>
        </p:nvSpPr>
        <p:spPr>
          <a:xfrm>
            <a:off x="476250" y="5219700"/>
            <a:ext cx="11144250" cy="590550"/>
          </a:xfrm>
          <a:prstGeom prst="roundRect">
            <a:avLst>
              <a:gd name="adj" fmla="val 16129"/>
            </a:avLst>
          </a:prstGeom>
          <a:solidFill>
            <a:srgbClr val="F6F6F6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666750" y="5410200"/>
            <a:ext cx="1076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 = thực hiện · A = chịu trách nhiệm cuối · C = được tham vấn · I = được thông báo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III. TIẾN ĐỘ VÀ NGUỒN LỰC</a:t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TÔN CHỈ VÀ TIÊU CHÍ THÀNH CÔNG</a:t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Tôn chỉ biến mục tiêu thành baseline để đánh giá dự án</a:t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4" name="Google Shape;21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2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476250" y="1181100"/>
            <a:ext cx="2571750" cy="704850"/>
          </a:xfrm>
          <a:prstGeom prst="roundRect">
            <a:avLst>
              <a:gd name="adj" fmla="val 1351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571500" y="126682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THỜI HẠN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571500" y="15049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75"/>
              <a:buFont typeface="Calibri"/>
              <a:buNone/>
            </a:pPr>
            <a:r>
              <a:rPr lang="en-US" sz="15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31/03/2027</a:t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3238500" y="1181100"/>
            <a:ext cx="2571750" cy="704850"/>
          </a:xfrm>
          <a:prstGeom prst="roundRect">
            <a:avLst>
              <a:gd name="adj" fmla="val 1351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3333750" y="126682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DỰ TOÁN CƠ SỞ</a:t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3333750" y="15049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408,2 triệu VNĐ</a:t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6000750" y="1181100"/>
            <a:ext cx="2571750" cy="704850"/>
          </a:xfrm>
          <a:prstGeom prst="roundRect">
            <a:avLst>
              <a:gd name="adj" fmla="val 1351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6096000" y="126682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TRẦN NGÂN SÁCH</a:t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6096000" y="150495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75"/>
              <a:buFont typeface="Calibri"/>
              <a:buNone/>
            </a:pPr>
            <a:r>
              <a:rPr lang="en-US" sz="15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1,0 tỷ VNĐ</a:t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8763000" y="1181100"/>
            <a:ext cx="2857500" cy="704850"/>
          </a:xfrm>
          <a:prstGeom prst="roundRect">
            <a:avLst>
              <a:gd name="adj" fmla="val 1351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8858250" y="126682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KẾT QUẢ</a:t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8858250" y="150495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Sản phẩm + hồ sơ + nghiệm thu</a:t>
            </a:r>
            <a:endParaRPr/>
          </a:p>
        </p:txBody>
      </p:sp>
      <p:graphicFrame>
        <p:nvGraphicFramePr>
          <p:cNvPr id="229" name="Google Shape;229;p12"/>
          <p:cNvGraphicFramePr/>
          <p:nvPr/>
        </p:nvGraphicFramePr>
        <p:xfrm>
          <a:off x="476250" y="2209800"/>
          <a:ext cx="7239000" cy="2628875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Thành phần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 kết quản trị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Mục đích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Quản lý hàng hóa và kho bãi sản phẩm thời trang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vi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giai đoạn, 52 task, 19 FR và 11 NFR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Kết thúc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Đạt ≥95% test case, không còn Blocker/Critical, đủ hồ sơ ký nhận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Ngân sách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Dự toán cơ sở theo workbook, không vượt trần 1.000.000.000 VNĐ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0" name="Google Shape;230;p12"/>
          <p:cNvSpPr/>
          <p:nvPr/>
        </p:nvSpPr>
        <p:spPr>
          <a:xfrm>
            <a:off x="8096250" y="2209800"/>
            <a:ext cx="3524250" cy="2628900"/>
          </a:xfrm>
          <a:prstGeom prst="roundRect">
            <a:avLst>
              <a:gd name="adj" fmla="val 3623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8305800" y="2419350"/>
            <a:ext cx="3095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275"/>
              <a:buFont typeface="Calibri"/>
              <a:buNone/>
            </a:pPr>
            <a:r>
              <a:rPr lang="en-US" sz="12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NGUYÊN TẮC ĐIỀU HÀNH</a:t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8305800" y="2905125"/>
            <a:ext cx="30480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Không mở rộng phạm vi khi chưa phân tích tác động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Không dùng trần ngân sách để hợp thức hóa chi phí chưa có căn cứ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Mọi bàn giao cần bằng chứng và xác nhận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476250" y="5391150"/>
            <a:ext cx="11144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Tôn chỉ là điểm tham chiếu cho mọi quyết định sau đó.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III. TIẾN ĐỘ VÀ NGUỒN LỰC</a:t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WBS VÀ CÁC GÓI BÀN GIAO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WBS phân rã phạm vi thành sáu nhóm công việc có đầu ra cụ thể</a:t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4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476250" y="1181100"/>
            <a:ext cx="1793875" cy="628650"/>
          </a:xfrm>
          <a:prstGeom prst="roundRect">
            <a:avLst>
              <a:gd name="adj" fmla="val 12121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533400" y="1314450"/>
            <a:ext cx="16795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A · Khảo sát</a:t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2346325" y="1181100"/>
            <a:ext cx="1793875" cy="628650"/>
          </a:xfrm>
          <a:prstGeom prst="roundRect">
            <a:avLst>
              <a:gd name="adj" fmla="val 12121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2403475" y="1314450"/>
            <a:ext cx="16795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 · PTTK</a:t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4216400" y="1181100"/>
            <a:ext cx="1793875" cy="628650"/>
          </a:xfrm>
          <a:prstGeom prst="roundRect">
            <a:avLst>
              <a:gd name="adj" fmla="val 12121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4273550" y="1314450"/>
            <a:ext cx="16795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C · CSDL / UI</a:t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6086475" y="1181100"/>
            <a:ext cx="1793875" cy="628650"/>
          </a:xfrm>
          <a:prstGeom prst="roundRect">
            <a:avLst>
              <a:gd name="adj" fmla="val 12121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6143625" y="1314450"/>
            <a:ext cx="16795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D · Phát triển</a:t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7956550" y="1181100"/>
            <a:ext cx="1793875" cy="628650"/>
          </a:xfrm>
          <a:prstGeom prst="roundRect">
            <a:avLst>
              <a:gd name="adj" fmla="val 12121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8013700" y="1314450"/>
            <a:ext cx="16795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E · Kiểm thử</a:t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>
            <a:off x="9826625" y="1181100"/>
            <a:ext cx="1793875" cy="628650"/>
          </a:xfrm>
          <a:prstGeom prst="roundRect">
            <a:avLst>
              <a:gd name="adj" fmla="val 12121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9883775" y="1314450"/>
            <a:ext cx="167957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F · Bàn giao</a:t>
            </a:r>
            <a:endParaRPr/>
          </a:p>
        </p:txBody>
      </p:sp>
      <p:graphicFrame>
        <p:nvGraphicFramePr>
          <p:cNvPr id="260" name="Google Shape;260;p14"/>
          <p:cNvGraphicFramePr/>
          <p:nvPr/>
        </p:nvGraphicFramePr>
        <p:xfrm>
          <a:off x="476250" y="226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Gói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Đầu ra chính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Điều kiện chuyển tiếp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1 - 8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Khảo sát và đặc tả yêu cầu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Chốt yêu cầu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9 - 17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phân tích và thiết kế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Duyệt PTTK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18 - 25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CSDL, từ điển dữ liệu, UI/UX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Duyệt thiết kế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26 - 39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Mã nguồn và module chạy được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Tích hợp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40 - 47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kiểm thử và UAT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Đạt cổng chất lượng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48 - 52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Cấu hình, nghiệm thu, bàn giao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Ký nhận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III. TIẾN ĐỘ VÀ NGUỒN LỰC</a:t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LỊCH BIỂU VÀ CÁC MỐC KIỂM SOÁT</a:t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Lịch của Nhóm 1 gắn với phụ thuộc, sản phẩm và mốc nghiệm thu</a:t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" name="Google Shape;2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5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graphicFrame>
        <p:nvGraphicFramePr>
          <p:cNvPr id="275" name="Google Shape;275;p15"/>
          <p:cNvGraphicFramePr/>
          <p:nvPr/>
        </p:nvGraphicFramePr>
        <p:xfrm>
          <a:off x="47625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Giai đoạn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Thời gian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Mốc / sản phẩm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01/09 - 25/09/2026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1 - 8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Khảo sát, đặc tả yêu cầu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26/09 - 20/11/2026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9 - 17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phân tích thiết kế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21/11 - 25/12/2026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18 - 25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CSDL và UI/UX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26/12 - 15/02/2027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26 - 39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Mã nguồn và module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16/02 - 15/03/2027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40 - 47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Kiểm thử và UAT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16/03 - 31/03/2027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48 - 52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Nghiệm thu và bàn giao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" name="Google Shape;276;p15"/>
          <p:cNvSpPr/>
          <p:nvPr/>
        </p:nvSpPr>
        <p:spPr>
          <a:xfrm>
            <a:off x="476250" y="5010150"/>
            <a:ext cx="2571750" cy="704850"/>
          </a:xfrm>
          <a:prstGeom prst="roundRect">
            <a:avLst>
              <a:gd name="adj" fmla="val 1351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571500" y="509587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MỐC KIỂM SOÁT</a:t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571500" y="53340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25"/>
              <a:buFont typeface="Calibri"/>
              <a:buNone/>
            </a:pPr>
            <a:r>
              <a:rPr lang="en-US" sz="17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M1 - M6</a:t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3238500" y="5010150"/>
            <a:ext cx="2571750" cy="704850"/>
          </a:xfrm>
          <a:prstGeom prst="roundRect">
            <a:avLst>
              <a:gd name="adj" fmla="val 1351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3333750" y="509587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PHỤ THUỘC CHÍNH</a:t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3333750" y="53340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8, 17, 20, 39, 47</a:t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6000750" y="5010150"/>
            <a:ext cx="2571750" cy="704850"/>
          </a:xfrm>
          <a:prstGeom prst="roundRect">
            <a:avLst>
              <a:gd name="adj" fmla="val 1351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6096000" y="5095875"/>
            <a:ext cx="2381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THỜI HẠN</a:t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6096000" y="53340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75"/>
              <a:buFont typeface="Calibri"/>
              <a:buNone/>
            </a:pPr>
            <a:r>
              <a:rPr lang="en-US" sz="15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31/03/2027</a:t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8763000" y="5010150"/>
            <a:ext cx="2857500" cy="704850"/>
          </a:xfrm>
          <a:prstGeom prst="roundRect">
            <a:avLst>
              <a:gd name="adj" fmla="val 1351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8858250" y="5095875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TỔNG CÔNG VIỆC</a:t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8858250" y="5334000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50"/>
              <a:buFont typeface="Calibri"/>
              <a:buNone/>
            </a:pPr>
            <a:r>
              <a:rPr lang="en-US" sz="1650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52 task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III. TIẾN ĐỘ VÀ NGUỒN LỰC</a:t>
            </a: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ƯỚC LƯỢNG PERT VÀ ĐƯỜNG GĂNG</a:t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PERT hỗ trợ đánh giá bất định, CPM cho biết công việc quyết định thời hạn</a:t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476250" y="1181100"/>
            <a:ext cx="5334000" cy="2895600"/>
          </a:xfrm>
          <a:prstGeom prst="roundRect">
            <a:avLst>
              <a:gd name="adj" fmla="val 3289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685800" y="1409700"/>
            <a:ext cx="48577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CÔNG THỨC PERT</a:t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685800" y="1952625"/>
            <a:ext cx="4857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25"/>
              <a:buFont typeface="Calibri"/>
              <a:buNone/>
            </a:pPr>
            <a:r>
              <a:rPr lang="en-US" sz="20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EST = (MO + 4 × ML + MP) / 6</a:t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1143000" y="2809875"/>
            <a:ext cx="4000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 · lạc quan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ML · khả dĩ nhất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MP · bi quan</a:t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6286500" y="1181100"/>
            <a:ext cx="5334000" cy="289560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6534150" y="1466850"/>
            <a:ext cx="2286000" cy="800100"/>
          </a:xfrm>
          <a:prstGeom prst="roundRect">
            <a:avLst>
              <a:gd name="adj" fmla="val 11905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6629400" y="1552575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EST HỒ SƠ NHÓM 1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6629400" y="179070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221,83 ngày-người</a:t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9010650" y="1466850"/>
            <a:ext cx="2286000" cy="800100"/>
          </a:xfrm>
          <a:prstGeom prst="roundRect">
            <a:avLst>
              <a:gd name="adj" fmla="val 11905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9105900" y="1552575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PERT THAM CHIẾU</a:t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9105900" y="179070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201,67 ngày-người</a:t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6534150" y="2514600"/>
            <a:ext cx="2286000" cy="800100"/>
          </a:xfrm>
          <a:prstGeom prst="roundRect">
            <a:avLst>
              <a:gd name="adj" fmla="val 11905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6629400" y="2600325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/>
          </a:p>
        </p:txBody>
      </p:sp>
      <p:sp>
        <p:nvSpPr>
          <p:cNvPr id="315" name="Google Shape;315;p16"/>
          <p:cNvSpPr/>
          <p:nvPr/>
        </p:nvSpPr>
        <p:spPr>
          <a:xfrm>
            <a:off x="6629400" y="28384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20,17 ngày-người</a:t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9010650" y="2514600"/>
            <a:ext cx="2286000" cy="800100"/>
          </a:xfrm>
          <a:prstGeom prst="roundRect">
            <a:avLst>
              <a:gd name="adj" fmla="val 11905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9105900" y="2600325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NGUYÊN TẮC</a:t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9105900" y="283845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khi đổi phạm vi</a:t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476250" y="4591050"/>
            <a:ext cx="11144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75"/>
              <a:buFont typeface="Calibri"/>
              <a:buNone/>
            </a:pPr>
            <a:r>
              <a:rPr lang="en-US" sz="12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Đường găng có thời gian dự trữ bằng 0. Khi một công việc găng trễ, PM phải xem lại mốc bàn giao và phương án bù.</a:t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476250" y="5257800"/>
            <a:ext cx="1793875" cy="609600"/>
          </a:xfrm>
          <a:prstGeom prst="roundRect">
            <a:avLst>
              <a:gd name="adj" fmla="val 12500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533400" y="5391150"/>
            <a:ext cx="16795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Khởi động</a:t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2346325" y="5257800"/>
            <a:ext cx="1793875" cy="609600"/>
          </a:xfrm>
          <a:prstGeom prst="roundRect">
            <a:avLst>
              <a:gd name="adj" fmla="val 125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2403475" y="5391150"/>
            <a:ext cx="16795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Phân tích</a:t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4216400" y="5257800"/>
            <a:ext cx="1793875" cy="609600"/>
          </a:xfrm>
          <a:prstGeom prst="roundRect">
            <a:avLst>
              <a:gd name="adj" fmla="val 12500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4273550" y="5391150"/>
            <a:ext cx="16795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Thiết kế</a:t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6086475" y="5257800"/>
            <a:ext cx="1793875" cy="609600"/>
          </a:xfrm>
          <a:prstGeom prst="roundRect">
            <a:avLst>
              <a:gd name="adj" fmla="val 125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6143625" y="5391150"/>
            <a:ext cx="16795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Phát triển</a:t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7956550" y="5257800"/>
            <a:ext cx="1793875" cy="609600"/>
          </a:xfrm>
          <a:prstGeom prst="roundRect">
            <a:avLst>
              <a:gd name="adj" fmla="val 12500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>
            <a:off x="8013700" y="5391150"/>
            <a:ext cx="16795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Kiểm thử</a:t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9826625" y="5257800"/>
            <a:ext cx="1793875" cy="609600"/>
          </a:xfrm>
          <a:prstGeom prst="roundRect">
            <a:avLst>
              <a:gd name="adj" fmla="val 125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9883775" y="5391150"/>
            <a:ext cx="167957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Bàn giao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IV. DỰ TOÁN KINH PHÍ</a:t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DỰ TOÁN CƠ SỞ VÀ TRẦN NGÂN SÁCH</a:t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Tài liệu Nhóm 1 là cơ sở chi phí, 1 tỷ VNĐ là mức tối đa được phép sử dụng</a:t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3" name="Google Shape;34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8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graphicFrame>
        <p:nvGraphicFramePr>
          <p:cNvPr id="346" name="Google Shape;346;p18"/>
          <p:cNvGraphicFramePr/>
          <p:nvPr/>
        </p:nvGraphicFramePr>
        <p:xfrm>
          <a:off x="476250" y="1219200"/>
          <a:ext cx="5429250" cy="276225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224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Khoản mục theo workbook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Dự toán cơ sở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Tỷ trọng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Công lao động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285.396.650 VNĐ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70%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Vật tư, thiết bị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73.800.000 VNĐ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18%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 khác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49.000.000 VNĐ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Tổng dự toán cơ sở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408.196.650 VNĐ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7" name="Google Shape;347;p18"/>
          <p:cNvSpPr/>
          <p:nvPr/>
        </p:nvSpPr>
        <p:spPr>
          <a:xfrm>
            <a:off x="6286500" y="1219200"/>
            <a:ext cx="5334000" cy="2762250"/>
          </a:xfrm>
          <a:prstGeom prst="roundRect">
            <a:avLst>
              <a:gd name="adj" fmla="val 3448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6534150" y="1447800"/>
            <a:ext cx="4762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HẠN MỨC NGÂN SÁCH</a:t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6534150" y="19240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75"/>
              <a:buFont typeface="Calibri"/>
              <a:buNone/>
            </a:pPr>
            <a:r>
              <a:rPr lang="en-US" sz="217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1.000.000.000 VNĐ</a:t>
            </a:r>
            <a:endParaRPr/>
          </a:p>
        </p:txBody>
      </p:sp>
      <p:sp>
        <p:nvSpPr>
          <p:cNvPr id="350" name="Google Shape;350;p18"/>
          <p:cNvSpPr/>
          <p:nvPr/>
        </p:nvSpPr>
        <p:spPr>
          <a:xfrm>
            <a:off x="6534150" y="23622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Trần tối đa theo yêu cầu mới</a:t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6534150" y="2876550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Hạn mức còn lại so với dự toán cơ sở</a:t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6534150" y="314325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en-US" sz="1800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591.803.350 VNĐ</a:t>
            </a:r>
            <a:endParaRPr/>
          </a:p>
        </p:txBody>
      </p:sp>
      <p:graphicFrame>
        <p:nvGraphicFramePr>
          <p:cNvPr id="353" name="Google Shape;353;p18"/>
          <p:cNvGraphicFramePr/>
          <p:nvPr/>
        </p:nvGraphicFramePr>
        <p:xfrm>
          <a:off x="476250" y="4400550"/>
          <a:ext cx="11144250" cy="142875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Chỉ số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Ý nghĩa kiểm soát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BCWS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 phí kế hoạch đến mốc đang theo dõi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BCWP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Giá trị kế hoạch của phần việc đã hoàn thành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ACWP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 phí thực tế đã phát sinh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/ CPI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Sai lệch chi phí và hiệu quả sử dụng chi phí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9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V. CHẤT LƯỢNG VÀ KIỂM SOÁT</a:t>
            </a:r>
            <a:endParaRPr/>
          </a:p>
        </p:txBody>
      </p:sp>
      <p:sp>
        <p:nvSpPr>
          <p:cNvPr id="362" name="Google Shape;362;p19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CHẤT LƯỢNG, THAY ĐỔI VÀ BÁO CÁO</a:t>
            </a:r>
            <a:endParaRPr/>
          </a:p>
        </p:txBody>
      </p:sp>
      <p:sp>
        <p:nvSpPr>
          <p:cNvPr id="363" name="Google Shape;363;p19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Kiểm soát chất lượng đi cùng bằng chứng, thay đổi có hồ sơ và báo cáo có nhịp</a:t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5" name="Google Shape;36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9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graphicFrame>
        <p:nvGraphicFramePr>
          <p:cNvPr id="368" name="Google Shape;368;p19"/>
          <p:cNvGraphicFramePr/>
          <p:nvPr/>
        </p:nvGraphicFramePr>
        <p:xfrm>
          <a:off x="476250" y="1181100"/>
          <a:ext cx="6858000" cy="333375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213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 / cổng chất lượng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Mục tiêu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Bằng chứng và nhịp kiểm tra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case đạt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≥95%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kiểm thử tại M5 và trước nghiệm thu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Blocker / Critical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trước bàn giao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Danh sách lỗi và biên bản xử lý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Yêu cầu và đầu ra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có owner và sign-off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Traceability theo WBS và biên bản review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Thay đổi phạm vi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có phiếu và phân tích tác động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trong họp PM hàng tuần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Đúng mốc, đủ chỉ số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Báo cáo tiến độ, chi phí, chất lượng, rủi ro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9" name="Google Shape;369;p19"/>
          <p:cNvSpPr/>
          <p:nvPr/>
        </p:nvSpPr>
        <p:spPr>
          <a:xfrm>
            <a:off x="7715250" y="1181100"/>
            <a:ext cx="3905250" cy="3333750"/>
          </a:xfrm>
          <a:prstGeom prst="roundRect">
            <a:avLst>
              <a:gd name="adj" fmla="val 2857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7924800" y="1409700"/>
            <a:ext cx="34766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350"/>
              <a:buFont typeface="Calibri"/>
              <a:buNone/>
            </a:pPr>
            <a:r>
              <a:rPr lang="en-US" sz="13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QUY TRÌNH THAY ĐỔI</a:t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7924800" y="2000250"/>
            <a:ext cx="812006" cy="1409700"/>
          </a:xfrm>
          <a:prstGeom prst="roundRect">
            <a:avLst>
              <a:gd name="adj" fmla="val 9384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7981950" y="2133600"/>
            <a:ext cx="697706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Ghi nhận</a:t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8813006" y="2000250"/>
            <a:ext cx="812006" cy="1409700"/>
          </a:xfrm>
          <a:prstGeom prst="roundRect">
            <a:avLst>
              <a:gd name="adj" fmla="val 938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9"/>
          <p:cNvSpPr/>
          <p:nvPr/>
        </p:nvSpPr>
        <p:spPr>
          <a:xfrm>
            <a:off x="8870156" y="2133600"/>
            <a:ext cx="697706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Phân tích</a:t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9701213" y="2000250"/>
            <a:ext cx="812006" cy="1409700"/>
          </a:xfrm>
          <a:prstGeom prst="roundRect">
            <a:avLst>
              <a:gd name="adj" fmla="val 9384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9758363" y="2133600"/>
            <a:ext cx="697706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Phê duyệt</a:t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10589419" y="2000250"/>
            <a:ext cx="812006" cy="1409700"/>
          </a:xfrm>
          <a:prstGeom prst="roundRect">
            <a:avLst>
              <a:gd name="adj" fmla="val 9384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9"/>
          <p:cNvSpPr/>
          <p:nvPr/>
        </p:nvSpPr>
        <p:spPr>
          <a:xfrm>
            <a:off x="10646569" y="2133600"/>
            <a:ext cx="697706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Cập nhật</a:t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7924800" y="3714750"/>
            <a:ext cx="33337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Tài liệu phải cập nhật đồng bộ: tôn chỉ, WBS, lịch, dự toán, test case và thông báo cho bên liên quan.</a:t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476250" y="4953000"/>
            <a:ext cx="11144250" cy="742950"/>
          </a:xfrm>
          <a:prstGeom prst="roundRect">
            <a:avLst>
              <a:gd name="adj" fmla="val 12821"/>
            </a:avLst>
          </a:prstGeom>
          <a:solidFill>
            <a:srgbClr val="F6F6F6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685800" y="5162550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Cổng nghiệm thu</a:t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2476500" y="516255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lang="en-US" sz="12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Đủ đầu ra, đạt chất lượng, không còn lỗi nghiêm trọng và có xác nhận của bên liên quan.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0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VI. QUẢN LÝ RỦI RO</a:t>
            </a: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QUẢN LÝ RỦI RO VÀ KẾT LUẬN</a:t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Đăng ký rủi ro là công cụ theo dõi đề xuất cho dự án Nhóm 1</a:t>
            </a: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4" name="Google Shape;39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0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396" name="Google Shape;396;p20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476250" y="1181100"/>
            <a:ext cx="2167890" cy="609600"/>
          </a:xfrm>
          <a:prstGeom prst="roundRect">
            <a:avLst>
              <a:gd name="adj" fmla="val 12500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0"/>
          <p:cNvSpPr/>
          <p:nvPr/>
        </p:nvSpPr>
        <p:spPr>
          <a:xfrm>
            <a:off x="533400" y="1314450"/>
            <a:ext cx="205359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Nhận diện</a:t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2720340" y="1181100"/>
            <a:ext cx="2167890" cy="609600"/>
          </a:xfrm>
          <a:prstGeom prst="roundRect">
            <a:avLst>
              <a:gd name="adj" fmla="val 125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2777490" y="1314450"/>
            <a:ext cx="205359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Đánh giá</a:t>
            </a: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4964430" y="1181100"/>
            <a:ext cx="2167890" cy="609600"/>
          </a:xfrm>
          <a:prstGeom prst="roundRect">
            <a:avLst>
              <a:gd name="adj" fmla="val 12500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5021580" y="1314450"/>
            <a:ext cx="205359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Phòng ngừa</a:t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7208520" y="1181100"/>
            <a:ext cx="2167890" cy="609600"/>
          </a:xfrm>
          <a:prstGeom prst="roundRect">
            <a:avLst>
              <a:gd name="adj" fmla="val 125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7265670" y="1314450"/>
            <a:ext cx="205359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Giao owner</a:t>
            </a:r>
            <a:endParaRPr/>
          </a:p>
        </p:txBody>
      </p:sp>
      <p:sp>
        <p:nvSpPr>
          <p:cNvPr id="405" name="Google Shape;405;p20"/>
          <p:cNvSpPr/>
          <p:nvPr/>
        </p:nvSpPr>
        <p:spPr>
          <a:xfrm>
            <a:off x="9452610" y="1181100"/>
            <a:ext cx="2167890" cy="609600"/>
          </a:xfrm>
          <a:prstGeom prst="roundRect">
            <a:avLst>
              <a:gd name="adj" fmla="val 12500"/>
            </a:avLst>
          </a:prstGeom>
          <a:solidFill>
            <a:srgbClr val="FFF1F3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9509760" y="1314450"/>
            <a:ext cx="205359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75"/>
              <a:buFont typeface="Calibri"/>
              <a:buNone/>
            </a:pPr>
            <a:r>
              <a:rPr lang="en-US" sz="9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Theo dõi</a:t>
            </a:r>
            <a:endParaRPr/>
          </a:p>
        </p:txBody>
      </p:sp>
      <p:graphicFrame>
        <p:nvGraphicFramePr>
          <p:cNvPr id="407" name="Google Shape;407;p20"/>
          <p:cNvGraphicFramePr/>
          <p:nvPr/>
        </p:nvGraphicFramePr>
        <p:xfrm>
          <a:off x="47625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335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Rủi ro ưu tiên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Dấu hiệu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Đáp ứng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Mở rộng phạm vi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Nhiều yêu cầu mới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control, ưu tiên, rebaseline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Chậm phê duyệt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Sign-off trễ mốc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Lịch phê duyệt và escalation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 / khách hàng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Thiếu nguồn lực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trễ, tải lệch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Backup, chia sẻ tri thức, điều phối tải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 / Tech Lead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Vượt chi phí hoặc tiến độ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&lt; 0, CPI &lt; 1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 baseline, buffer, đường găng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UAT hoặc chất lượng không đạt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fail, lỗi nghiêm trọng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Phân tích nguyên nhân, sửa và re-test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38"/>
                        <a:buFont typeface="Calibri"/>
                        <a:buNone/>
                      </a:pPr>
                      <a:r>
                        <a:rPr lang="en-US" sz="938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 / QA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8" name="Google Shape;408;p20"/>
          <p:cNvSpPr/>
          <p:nvPr/>
        </p:nvSpPr>
        <p:spPr>
          <a:xfrm>
            <a:off x="476250" y="5314950"/>
            <a:ext cx="11144250" cy="552450"/>
          </a:xfrm>
          <a:prstGeom prst="roundRect">
            <a:avLst>
              <a:gd name="adj" fmla="val 17241"/>
            </a:avLst>
          </a:prstGeom>
          <a:solidFill>
            <a:srgbClr val="F6F6F6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685800" y="5495925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Kết luận</a:t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1952625" y="5495925"/>
            <a:ext cx="9286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Nhóm quản trị dự án bằng phạm vi, kế hoạch, ngân sách, chất lượng và rủi ro. Phần mềm chỉ là đầu ra của hệ thống quản trị đó.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1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PHỤ LỤC · SƠ ĐỒ DỰ ÁN</a:t>
            </a: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BIỂU ĐỒ USE CASE TỔNG QUÁT</a:t>
            </a:r>
            <a:endParaRPr/>
          </a:p>
        </p:txBody>
      </p:sp>
      <p:sp>
        <p:nvSpPr>
          <p:cNvPr id="420" name="Google Shape;420;p21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Các tác nhân chính và nhóm chức năng trong phạm vi hệ thống quản lý hàng hóa và kho</a:t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2714625" y="1381125"/>
            <a:ext cx="6858000" cy="4524375"/>
          </a:xfrm>
          <a:prstGeom prst="roundRect">
            <a:avLst>
              <a:gd name="adj" fmla="val 2526"/>
            </a:avLst>
          </a:prstGeom>
          <a:solidFill>
            <a:srgbClr val="F6F6F6"/>
          </a:solidFill>
          <a:ln w="14275" cap="flat" cmpd="sng">
            <a:solidFill>
              <a:srgbClr val="C810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3000375" y="1524000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200"/>
              <a:buFont typeface="Calibri"/>
              <a:buNone/>
            </a:pPr>
            <a:r>
              <a:rPr lang="en-US" sz="12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HỆ THỐNG QUẢN LÝ HÀNG HÓA VÀ KHO</a:t>
            </a:r>
            <a:endParaRPr/>
          </a:p>
        </p:txBody>
      </p:sp>
      <p:sp>
        <p:nvSpPr>
          <p:cNvPr id="423" name="Google Shape;423;p21"/>
          <p:cNvSpPr/>
          <p:nvPr/>
        </p:nvSpPr>
        <p:spPr>
          <a:xfrm>
            <a:off x="2238375" y="2095500"/>
            <a:ext cx="90487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3133725" y="2105025"/>
            <a:ext cx="19050" cy="666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1"/>
          <p:cNvSpPr/>
          <p:nvPr/>
        </p:nvSpPr>
        <p:spPr>
          <a:xfrm>
            <a:off x="3143250" y="2162175"/>
            <a:ext cx="23812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1"/>
          <p:cNvSpPr/>
          <p:nvPr/>
        </p:nvSpPr>
        <p:spPr>
          <a:xfrm>
            <a:off x="2238375" y="2095500"/>
            <a:ext cx="23812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2466975" y="1238250"/>
            <a:ext cx="19050" cy="8667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1"/>
          <p:cNvSpPr/>
          <p:nvPr/>
        </p:nvSpPr>
        <p:spPr>
          <a:xfrm>
            <a:off x="2476500" y="1228725"/>
            <a:ext cx="5048250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1"/>
          <p:cNvSpPr/>
          <p:nvPr/>
        </p:nvSpPr>
        <p:spPr>
          <a:xfrm>
            <a:off x="7515225" y="1238250"/>
            <a:ext cx="19050" cy="6667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1"/>
          <p:cNvSpPr/>
          <p:nvPr/>
        </p:nvSpPr>
        <p:spPr>
          <a:xfrm>
            <a:off x="2238375" y="4572000"/>
            <a:ext cx="61912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1"/>
          <p:cNvSpPr/>
          <p:nvPr/>
        </p:nvSpPr>
        <p:spPr>
          <a:xfrm>
            <a:off x="2847975" y="3219450"/>
            <a:ext cx="19050" cy="13620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2857500" y="3209925"/>
            <a:ext cx="52387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1"/>
          <p:cNvSpPr/>
          <p:nvPr/>
        </p:nvSpPr>
        <p:spPr>
          <a:xfrm>
            <a:off x="2238375" y="4572000"/>
            <a:ext cx="61912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1"/>
          <p:cNvSpPr/>
          <p:nvPr/>
        </p:nvSpPr>
        <p:spPr>
          <a:xfrm>
            <a:off x="2847975" y="4267200"/>
            <a:ext cx="19050" cy="31432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1"/>
          <p:cNvSpPr/>
          <p:nvPr/>
        </p:nvSpPr>
        <p:spPr>
          <a:xfrm>
            <a:off x="2857500" y="4257675"/>
            <a:ext cx="52387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1"/>
          <p:cNvSpPr/>
          <p:nvPr/>
        </p:nvSpPr>
        <p:spPr>
          <a:xfrm>
            <a:off x="2238375" y="4572000"/>
            <a:ext cx="190500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1"/>
          <p:cNvSpPr/>
          <p:nvPr/>
        </p:nvSpPr>
        <p:spPr>
          <a:xfrm>
            <a:off x="2419350" y="4581525"/>
            <a:ext cx="19050" cy="11334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2428875" y="5705475"/>
            <a:ext cx="661987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1"/>
          <p:cNvSpPr/>
          <p:nvPr/>
        </p:nvSpPr>
        <p:spPr>
          <a:xfrm>
            <a:off x="9039225" y="3219450"/>
            <a:ext cx="19050" cy="24955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1"/>
          <p:cNvSpPr/>
          <p:nvPr/>
        </p:nvSpPr>
        <p:spPr>
          <a:xfrm>
            <a:off x="8715375" y="3209925"/>
            <a:ext cx="33337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9334500" y="3143250"/>
            <a:ext cx="61912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1"/>
          <p:cNvSpPr/>
          <p:nvPr/>
        </p:nvSpPr>
        <p:spPr>
          <a:xfrm>
            <a:off x="9324975" y="3152775"/>
            <a:ext cx="19050" cy="111442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1"/>
          <p:cNvSpPr/>
          <p:nvPr/>
        </p:nvSpPr>
        <p:spPr>
          <a:xfrm>
            <a:off x="8715375" y="4257675"/>
            <a:ext cx="61912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9715500" y="3143250"/>
            <a:ext cx="238125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1"/>
          <p:cNvSpPr/>
          <p:nvPr/>
        </p:nvSpPr>
        <p:spPr>
          <a:xfrm>
            <a:off x="9705975" y="3152775"/>
            <a:ext cx="19050" cy="24669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1"/>
          <p:cNvSpPr/>
          <p:nvPr/>
        </p:nvSpPr>
        <p:spPr>
          <a:xfrm>
            <a:off x="7239000" y="5610225"/>
            <a:ext cx="2476500" cy="19050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7229475" y="5267325"/>
            <a:ext cx="19050" cy="35242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523875" y="1809750"/>
            <a:ext cx="1714500" cy="590550"/>
          </a:xfrm>
          <a:prstGeom prst="roundRect">
            <a:avLst>
              <a:gd name="adj" fmla="val 16129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1"/>
          <p:cNvSpPr/>
          <p:nvPr/>
        </p:nvSpPr>
        <p:spPr>
          <a:xfrm>
            <a:off x="619125" y="18859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750"/>
              <a:buFont typeface="Calibri"/>
              <a:buNone/>
            </a:pPr>
            <a:r>
              <a:rPr lang="en-US" sz="7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ACTOR</a:t>
            </a:r>
            <a:endParaRPr/>
          </a:p>
        </p:txBody>
      </p:sp>
      <p:sp>
        <p:nvSpPr>
          <p:cNvPr id="450" name="Google Shape;450;p21"/>
          <p:cNvSpPr/>
          <p:nvPr/>
        </p:nvSpPr>
        <p:spPr>
          <a:xfrm>
            <a:off x="619125" y="207645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Quản trị viên</a:t>
            </a:r>
            <a:endParaRPr/>
          </a:p>
        </p:txBody>
      </p:sp>
      <p:sp>
        <p:nvSpPr>
          <p:cNvPr id="451" name="Google Shape;451;p21"/>
          <p:cNvSpPr/>
          <p:nvPr/>
        </p:nvSpPr>
        <p:spPr>
          <a:xfrm>
            <a:off x="523875" y="4286250"/>
            <a:ext cx="1714500" cy="590550"/>
          </a:xfrm>
          <a:prstGeom prst="roundRect">
            <a:avLst>
              <a:gd name="adj" fmla="val 16129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1"/>
          <p:cNvSpPr/>
          <p:nvPr/>
        </p:nvSpPr>
        <p:spPr>
          <a:xfrm>
            <a:off x="619125" y="436245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750"/>
              <a:buFont typeface="Calibri"/>
              <a:buNone/>
            </a:pPr>
            <a:r>
              <a:rPr lang="en-US" sz="7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ACTOR</a:t>
            </a:r>
            <a:endParaRPr/>
          </a:p>
        </p:txBody>
      </p:sp>
      <p:sp>
        <p:nvSpPr>
          <p:cNvPr id="453" name="Google Shape;453;p21"/>
          <p:cNvSpPr/>
          <p:nvPr/>
        </p:nvSpPr>
        <p:spPr>
          <a:xfrm>
            <a:off x="619125" y="455295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Nhân viên kho</a:t>
            </a:r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9953625" y="2857500"/>
            <a:ext cx="1714500" cy="590550"/>
          </a:xfrm>
          <a:prstGeom prst="roundRect">
            <a:avLst>
              <a:gd name="adj" fmla="val 16129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1"/>
          <p:cNvSpPr/>
          <p:nvPr/>
        </p:nvSpPr>
        <p:spPr>
          <a:xfrm>
            <a:off x="10048875" y="29337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750"/>
              <a:buFont typeface="Calibri"/>
              <a:buNone/>
            </a:pPr>
            <a:r>
              <a:rPr lang="en-US" sz="7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ACTOR</a:t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10048875" y="3124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Quản lý cửa hàng</a:t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3381375" y="1905000"/>
            <a:ext cx="2381250" cy="533400"/>
          </a:xfrm>
          <a:prstGeom prst="ellipse">
            <a:avLst/>
          </a:prstGeom>
          <a:solidFill>
            <a:srgbClr val="FFFFFF"/>
          </a:solidFill>
          <a:ln w="11900" cap="flat" cmpd="sng">
            <a:solidFill>
              <a:srgbClr val="C810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Đăng nhập và phân quyền</a:t>
            </a:r>
            <a:endParaRPr/>
          </a:p>
        </p:txBody>
      </p:sp>
      <p:sp>
        <p:nvSpPr>
          <p:cNvPr id="458" name="Google Shape;458;p21"/>
          <p:cNvSpPr/>
          <p:nvPr/>
        </p:nvSpPr>
        <p:spPr>
          <a:xfrm>
            <a:off x="6334125" y="1905000"/>
            <a:ext cx="2381250" cy="533400"/>
          </a:xfrm>
          <a:prstGeom prst="ellipse">
            <a:avLst/>
          </a:prstGeom>
          <a:solidFill>
            <a:srgbClr val="FFFFFF"/>
          </a:solidFill>
          <a:ln w="11900" cap="flat" cmpd="sng">
            <a:solidFill>
              <a:srgbClr val="C810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Quản lý sản phẩm / biến thể</a:t>
            </a:r>
            <a:endParaRPr/>
          </a:p>
        </p:txBody>
      </p:sp>
      <p:sp>
        <p:nvSpPr>
          <p:cNvPr id="459" name="Google Shape;459;p21"/>
          <p:cNvSpPr/>
          <p:nvPr/>
        </p:nvSpPr>
        <p:spPr>
          <a:xfrm>
            <a:off x="3381375" y="2952750"/>
            <a:ext cx="2381250" cy="533400"/>
          </a:xfrm>
          <a:prstGeom prst="ellipse">
            <a:avLst/>
          </a:prstGeom>
          <a:solidFill>
            <a:srgbClr val="FFFFFF"/>
          </a:solidFill>
          <a:ln w="11900" cap="flat" cmpd="sng">
            <a:solidFill>
              <a:srgbClr val="C810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Nhập hàng</a:t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6334125" y="2952750"/>
            <a:ext cx="2381250" cy="533400"/>
          </a:xfrm>
          <a:prstGeom prst="ellipse">
            <a:avLst/>
          </a:prstGeom>
          <a:solidFill>
            <a:srgbClr val="FFFFFF"/>
          </a:solidFill>
          <a:ln w="11900" cap="flat" cmpd="sng">
            <a:solidFill>
              <a:srgbClr val="C810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Xuất hàng / đổi trả</a:t>
            </a: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3381375" y="4000500"/>
            <a:ext cx="2381250" cy="533400"/>
          </a:xfrm>
          <a:prstGeom prst="ellipse">
            <a:avLst/>
          </a:prstGeom>
          <a:solidFill>
            <a:srgbClr val="FFFFFF"/>
          </a:solidFill>
          <a:ln w="11900" cap="flat" cmpd="sng">
            <a:solidFill>
              <a:srgbClr val="C810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Kiểm kê và điều chỉnh tồn</a:t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6334125" y="4000500"/>
            <a:ext cx="2381250" cy="533400"/>
          </a:xfrm>
          <a:prstGeom prst="ellipse">
            <a:avLst/>
          </a:prstGeom>
          <a:solidFill>
            <a:srgbClr val="FFFFFF"/>
          </a:solidFill>
          <a:ln w="11900" cap="flat" cmpd="sng">
            <a:solidFill>
              <a:srgbClr val="C810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 cứu tồn kho</a:t>
            </a: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4857750" y="5000625"/>
            <a:ext cx="2381250" cy="533400"/>
          </a:xfrm>
          <a:prstGeom prst="ellipse">
            <a:avLst/>
          </a:prstGeom>
          <a:solidFill>
            <a:srgbClr val="FFFFFF"/>
          </a:solidFill>
          <a:ln w="11900" cap="flat" cmpd="sng">
            <a:solidFill>
              <a:srgbClr val="C810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Báo cáo quản trị</a:t>
            </a: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2857500" y="6076950"/>
            <a:ext cx="6477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975"/>
              <a:buFont typeface="Calibri"/>
              <a:buNone/>
            </a:pPr>
            <a:r>
              <a:rPr lang="en-US" sz="975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Khung hệ thống thể hiện phần việc thuộc phạm vi dự án. Nét nối thể hiện tác nhân tham gia use case.</a:t>
            </a:r>
            <a:endParaRPr/>
          </a:p>
        </p:txBody>
      </p:sp>
      <p:sp>
        <p:nvSpPr>
          <p:cNvPr id="465" name="Google Shape;465;p21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1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2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2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PHỤ LỤC · SƠ ĐỒ DỰ ÁN</a:t>
            </a:r>
            <a:endParaRPr/>
          </a:p>
        </p:txBody>
      </p:sp>
      <p:sp>
        <p:nvSpPr>
          <p:cNvPr id="477" name="Google Shape;477;p22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BIỂU ĐỒ TRÌNH TỰ TỔNG QUÁT</a:t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Luồng xử lý chung từ yêu cầu nghiệp vụ đến cập nhật dữ liệu và báo cáo</a:t>
            </a:r>
            <a:endParaRPr/>
          </a:p>
        </p:txBody>
      </p:sp>
      <p:sp>
        <p:nvSpPr>
          <p:cNvPr id="479" name="Google Shape;479;p22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0" name="Google Shape;48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2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483" name="Google Shape;483;p22"/>
          <p:cNvSpPr/>
          <p:nvPr/>
        </p:nvSpPr>
        <p:spPr>
          <a:xfrm>
            <a:off x="523875" y="1285875"/>
            <a:ext cx="1619250" cy="476250"/>
          </a:xfrm>
          <a:prstGeom prst="roundRect">
            <a:avLst>
              <a:gd name="adj" fmla="val 180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600075" y="1438275"/>
            <a:ext cx="14668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050"/>
              <a:buFont typeface="Calibri"/>
              <a:buNone/>
            </a:pPr>
            <a:r>
              <a:rPr lang="en-US" sz="10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Người dùng</a:t>
            </a:r>
            <a:endParaRPr/>
          </a:p>
        </p:txBody>
      </p:sp>
      <p:cxnSp>
        <p:nvCxnSpPr>
          <p:cNvPr id="485" name="Google Shape;485;p22"/>
          <p:cNvCxnSpPr/>
          <p:nvPr/>
        </p:nvCxnSpPr>
        <p:spPr>
          <a:xfrm>
            <a:off x="1333500" y="1762125"/>
            <a:ext cx="0" cy="4191000"/>
          </a:xfrm>
          <a:prstGeom prst="straightConnector1">
            <a:avLst/>
          </a:prstGeom>
          <a:noFill/>
          <a:ln w="11425" cap="flat" cmpd="sng">
            <a:solidFill>
              <a:srgbClr val="E8D9D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86" name="Google Shape;486;p22"/>
          <p:cNvSpPr/>
          <p:nvPr/>
        </p:nvSpPr>
        <p:spPr>
          <a:xfrm>
            <a:off x="2762250" y="1285875"/>
            <a:ext cx="1619250" cy="476250"/>
          </a:xfrm>
          <a:prstGeom prst="roundRect">
            <a:avLst>
              <a:gd name="adj" fmla="val 180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2838450" y="1438275"/>
            <a:ext cx="14668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050"/>
              <a:buFont typeface="Calibri"/>
              <a:buNone/>
            </a:pPr>
            <a:r>
              <a:rPr lang="en-US" sz="10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Giao diện</a:t>
            </a:r>
            <a:endParaRPr/>
          </a:p>
        </p:txBody>
      </p:sp>
      <p:cxnSp>
        <p:nvCxnSpPr>
          <p:cNvPr id="488" name="Google Shape;488;p22"/>
          <p:cNvCxnSpPr/>
          <p:nvPr/>
        </p:nvCxnSpPr>
        <p:spPr>
          <a:xfrm>
            <a:off x="3571875" y="1762125"/>
            <a:ext cx="0" cy="4191000"/>
          </a:xfrm>
          <a:prstGeom prst="straightConnector1">
            <a:avLst/>
          </a:prstGeom>
          <a:noFill/>
          <a:ln w="11425" cap="flat" cmpd="sng">
            <a:solidFill>
              <a:srgbClr val="E8D9D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89" name="Google Shape;489;p22"/>
          <p:cNvSpPr/>
          <p:nvPr/>
        </p:nvSpPr>
        <p:spPr>
          <a:xfrm>
            <a:off x="5000625" y="1285875"/>
            <a:ext cx="1619250" cy="476250"/>
          </a:xfrm>
          <a:prstGeom prst="roundRect">
            <a:avLst>
              <a:gd name="adj" fmla="val 180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5076825" y="1438275"/>
            <a:ext cx="14668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050"/>
              <a:buFont typeface="Calibri"/>
              <a:buNone/>
            </a:pPr>
            <a:r>
              <a:rPr lang="en-US" sz="10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Nghiệp vụ</a:t>
            </a:r>
            <a:endParaRPr/>
          </a:p>
        </p:txBody>
      </p:sp>
      <p:cxnSp>
        <p:nvCxnSpPr>
          <p:cNvPr id="491" name="Google Shape;491;p22"/>
          <p:cNvCxnSpPr/>
          <p:nvPr/>
        </p:nvCxnSpPr>
        <p:spPr>
          <a:xfrm>
            <a:off x="5810250" y="1762125"/>
            <a:ext cx="0" cy="4191000"/>
          </a:xfrm>
          <a:prstGeom prst="straightConnector1">
            <a:avLst/>
          </a:prstGeom>
          <a:noFill/>
          <a:ln w="11425" cap="flat" cmpd="sng">
            <a:solidFill>
              <a:srgbClr val="E8D9D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92" name="Google Shape;492;p22"/>
          <p:cNvSpPr/>
          <p:nvPr/>
        </p:nvSpPr>
        <p:spPr>
          <a:xfrm>
            <a:off x="7239000" y="1285875"/>
            <a:ext cx="1619250" cy="476250"/>
          </a:xfrm>
          <a:prstGeom prst="roundRect">
            <a:avLst>
              <a:gd name="adj" fmla="val 180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7315200" y="1438275"/>
            <a:ext cx="14668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050"/>
              <a:buFont typeface="Calibri"/>
              <a:buNone/>
            </a:pPr>
            <a:r>
              <a:rPr lang="en-US" sz="10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CSDL</a:t>
            </a:r>
            <a:endParaRPr/>
          </a:p>
        </p:txBody>
      </p:sp>
      <p:cxnSp>
        <p:nvCxnSpPr>
          <p:cNvPr id="494" name="Google Shape;494;p22"/>
          <p:cNvCxnSpPr/>
          <p:nvPr/>
        </p:nvCxnSpPr>
        <p:spPr>
          <a:xfrm>
            <a:off x="8048625" y="1762125"/>
            <a:ext cx="0" cy="4191000"/>
          </a:xfrm>
          <a:prstGeom prst="straightConnector1">
            <a:avLst/>
          </a:prstGeom>
          <a:noFill/>
          <a:ln w="11425" cap="flat" cmpd="sng">
            <a:solidFill>
              <a:srgbClr val="E8D9D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95" name="Google Shape;495;p22"/>
          <p:cNvSpPr/>
          <p:nvPr/>
        </p:nvSpPr>
        <p:spPr>
          <a:xfrm>
            <a:off x="9477375" y="1285875"/>
            <a:ext cx="1619250" cy="476250"/>
          </a:xfrm>
          <a:prstGeom prst="roundRect">
            <a:avLst>
              <a:gd name="adj" fmla="val 18000"/>
            </a:avLst>
          </a:prstGeom>
          <a:solidFill>
            <a:srgbClr val="FFF8F9"/>
          </a:solidFill>
          <a:ln w="9525" cap="flat" cmpd="sng">
            <a:solidFill>
              <a:srgbClr val="E8D9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2"/>
          <p:cNvSpPr/>
          <p:nvPr/>
        </p:nvSpPr>
        <p:spPr>
          <a:xfrm>
            <a:off x="9553575" y="1438275"/>
            <a:ext cx="14668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050"/>
              <a:buFont typeface="Calibri"/>
              <a:buNone/>
            </a:pPr>
            <a:r>
              <a:rPr lang="en-US" sz="105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Quản lý / PM</a:t>
            </a:r>
            <a:endParaRPr/>
          </a:p>
        </p:txBody>
      </p:sp>
      <p:cxnSp>
        <p:nvCxnSpPr>
          <p:cNvPr id="497" name="Google Shape;497;p22"/>
          <p:cNvCxnSpPr/>
          <p:nvPr/>
        </p:nvCxnSpPr>
        <p:spPr>
          <a:xfrm>
            <a:off x="10287000" y="1762125"/>
            <a:ext cx="0" cy="4191000"/>
          </a:xfrm>
          <a:prstGeom prst="straightConnector1">
            <a:avLst/>
          </a:prstGeom>
          <a:noFill/>
          <a:ln w="11425" cap="flat" cmpd="sng">
            <a:solidFill>
              <a:srgbClr val="E8D9D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98" name="Google Shape;498;p22"/>
          <p:cNvSpPr/>
          <p:nvPr/>
        </p:nvSpPr>
        <p:spPr>
          <a:xfrm>
            <a:off x="1333500" y="2081213"/>
            <a:ext cx="2238375" cy="285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2"/>
          <p:cNvSpPr/>
          <p:nvPr/>
        </p:nvSpPr>
        <p:spPr>
          <a:xfrm rot="5400000">
            <a:off x="3486150" y="2028825"/>
            <a:ext cx="114300" cy="114300"/>
          </a:xfrm>
          <a:prstGeom prst="triangle">
            <a:avLst>
              <a:gd name="adj" fmla="val 50000"/>
            </a:avLst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2"/>
          <p:cNvSpPr/>
          <p:nvPr/>
        </p:nvSpPr>
        <p:spPr>
          <a:xfrm>
            <a:off x="1409700" y="1857375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Chọn nghiệp vụ</a:t>
            </a:r>
            <a:endParaRPr/>
          </a:p>
        </p:txBody>
      </p:sp>
      <p:sp>
        <p:nvSpPr>
          <p:cNvPr id="501" name="Google Shape;501;p22"/>
          <p:cNvSpPr/>
          <p:nvPr/>
        </p:nvSpPr>
        <p:spPr>
          <a:xfrm>
            <a:off x="3571875" y="2509838"/>
            <a:ext cx="2238375" cy="285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2"/>
          <p:cNvSpPr/>
          <p:nvPr/>
        </p:nvSpPr>
        <p:spPr>
          <a:xfrm rot="5400000">
            <a:off x="5724525" y="2457450"/>
            <a:ext cx="114300" cy="114300"/>
          </a:xfrm>
          <a:prstGeom prst="triangle">
            <a:avLst>
              <a:gd name="adj" fmla="val 50000"/>
            </a:avLst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3648075" y="2286000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Gửi yêu cầu</a:t>
            </a:r>
            <a:endParaRPr/>
          </a:p>
        </p:txBody>
      </p:sp>
      <p:sp>
        <p:nvSpPr>
          <p:cNvPr id="504" name="Google Shape;504;p22"/>
          <p:cNvSpPr/>
          <p:nvPr/>
        </p:nvSpPr>
        <p:spPr>
          <a:xfrm>
            <a:off x="5810250" y="2938463"/>
            <a:ext cx="2238375" cy="285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2"/>
          <p:cNvSpPr/>
          <p:nvPr/>
        </p:nvSpPr>
        <p:spPr>
          <a:xfrm rot="5400000">
            <a:off x="7962900" y="2886075"/>
            <a:ext cx="114300" cy="114300"/>
          </a:xfrm>
          <a:prstGeom prst="triangle">
            <a:avLst>
              <a:gd name="adj" fmla="val 50000"/>
            </a:avLst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2"/>
          <p:cNvSpPr/>
          <p:nvPr/>
        </p:nvSpPr>
        <p:spPr>
          <a:xfrm>
            <a:off x="5886450" y="2714625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Kiểm tra dữ liệu</a:t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>
            <a:off x="5810250" y="3367088"/>
            <a:ext cx="2238375" cy="285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2"/>
          <p:cNvSpPr/>
          <p:nvPr/>
        </p:nvSpPr>
        <p:spPr>
          <a:xfrm rot="-5400000">
            <a:off x="8039100" y="3314700"/>
            <a:ext cx="114300" cy="114300"/>
          </a:xfrm>
          <a:prstGeom prst="triangle">
            <a:avLst>
              <a:gd name="adj" fmla="val 50000"/>
            </a:avLst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2"/>
          <p:cNvSpPr/>
          <p:nvPr/>
        </p:nvSpPr>
        <p:spPr>
          <a:xfrm>
            <a:off x="5886450" y="3143250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900"/>
              <a:buFont typeface="Calibri"/>
              <a:buNone/>
            </a:pPr>
            <a:r>
              <a:rPr lang="en-US" sz="900" b="0" i="1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Trả kết quả</a:t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>
            <a:off x="5810250" y="3795713"/>
            <a:ext cx="2238375" cy="285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2"/>
          <p:cNvSpPr/>
          <p:nvPr/>
        </p:nvSpPr>
        <p:spPr>
          <a:xfrm rot="5400000">
            <a:off x="7962900" y="3743325"/>
            <a:ext cx="114300" cy="114300"/>
          </a:xfrm>
          <a:prstGeom prst="triangle">
            <a:avLst>
              <a:gd name="adj" fmla="val 50000"/>
            </a:avLst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5886450" y="3571875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Lưu / cập nhật</a:t>
            </a:r>
            <a:endParaRPr/>
          </a:p>
        </p:txBody>
      </p:sp>
      <p:sp>
        <p:nvSpPr>
          <p:cNvPr id="513" name="Google Shape;513;p22"/>
          <p:cNvSpPr/>
          <p:nvPr/>
        </p:nvSpPr>
        <p:spPr>
          <a:xfrm>
            <a:off x="5810250" y="4224338"/>
            <a:ext cx="2238375" cy="285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2"/>
          <p:cNvSpPr/>
          <p:nvPr/>
        </p:nvSpPr>
        <p:spPr>
          <a:xfrm rot="-5400000">
            <a:off x="8039100" y="4171950"/>
            <a:ext cx="114300" cy="114300"/>
          </a:xfrm>
          <a:prstGeom prst="triangle">
            <a:avLst>
              <a:gd name="adj" fmla="val 50000"/>
            </a:avLst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2"/>
          <p:cNvSpPr/>
          <p:nvPr/>
        </p:nvSpPr>
        <p:spPr>
          <a:xfrm>
            <a:off x="5886450" y="4000500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900"/>
              <a:buFont typeface="Calibri"/>
              <a:buNone/>
            </a:pPr>
            <a:r>
              <a:rPr lang="en-US" sz="900" b="0" i="1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Xác nhận cập nhật</a:t>
            </a:r>
            <a:endParaRPr/>
          </a:p>
        </p:txBody>
      </p:sp>
      <p:sp>
        <p:nvSpPr>
          <p:cNvPr id="516" name="Google Shape;516;p22"/>
          <p:cNvSpPr/>
          <p:nvPr/>
        </p:nvSpPr>
        <p:spPr>
          <a:xfrm>
            <a:off x="3571875" y="4652963"/>
            <a:ext cx="2238375" cy="285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2"/>
          <p:cNvSpPr/>
          <p:nvPr/>
        </p:nvSpPr>
        <p:spPr>
          <a:xfrm rot="-5400000">
            <a:off x="5800725" y="4600575"/>
            <a:ext cx="114300" cy="114300"/>
          </a:xfrm>
          <a:prstGeom prst="triangle">
            <a:avLst>
              <a:gd name="adj" fmla="val 50000"/>
            </a:avLst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2"/>
          <p:cNvSpPr/>
          <p:nvPr/>
        </p:nvSpPr>
        <p:spPr>
          <a:xfrm>
            <a:off x="3648075" y="4429125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900"/>
              <a:buFont typeface="Calibri"/>
              <a:buNone/>
            </a:pPr>
            <a:r>
              <a:rPr lang="en-US" sz="900" b="0" i="1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Trả kết quả</a:t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1333500" y="5081588"/>
            <a:ext cx="2238375" cy="28575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2"/>
          <p:cNvSpPr/>
          <p:nvPr/>
        </p:nvSpPr>
        <p:spPr>
          <a:xfrm rot="-5400000">
            <a:off x="3562350" y="5029200"/>
            <a:ext cx="114300" cy="114300"/>
          </a:xfrm>
          <a:prstGeom prst="triangle">
            <a:avLst>
              <a:gd name="adj" fmla="val 50000"/>
            </a:avLst>
          </a:prstGeom>
          <a:solidFill>
            <a:srgbClr val="62626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2"/>
          <p:cNvSpPr/>
          <p:nvPr/>
        </p:nvSpPr>
        <p:spPr>
          <a:xfrm>
            <a:off x="1409700" y="4857750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900"/>
              <a:buFont typeface="Calibri"/>
              <a:buNone/>
            </a:pPr>
            <a:r>
              <a:rPr lang="en-US" sz="900" b="0" i="1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Hiển thị kết quả</a:t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5810250" y="5605463"/>
            <a:ext cx="4476750" cy="285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2"/>
          <p:cNvSpPr/>
          <p:nvPr/>
        </p:nvSpPr>
        <p:spPr>
          <a:xfrm rot="5400000">
            <a:off x="10201275" y="5553075"/>
            <a:ext cx="114300" cy="114300"/>
          </a:xfrm>
          <a:prstGeom prst="triangle">
            <a:avLst>
              <a:gd name="adj" fmla="val 50000"/>
            </a:avLst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2"/>
          <p:cNvSpPr/>
          <p:nvPr/>
        </p:nvSpPr>
        <p:spPr>
          <a:xfrm>
            <a:off x="5886450" y="5381625"/>
            <a:ext cx="4324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-US" sz="900" b="0" i="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Cập nhật báo cáo / chỉ số</a:t>
            </a:r>
            <a:endParaRPr/>
          </a:p>
        </p:txBody>
      </p:sp>
      <p:sp>
        <p:nvSpPr>
          <p:cNvPr id="525" name="Google Shape;525;p22"/>
          <p:cNvSpPr/>
          <p:nvPr/>
        </p:nvSpPr>
        <p:spPr>
          <a:xfrm>
            <a:off x="4095750" y="6076950"/>
            <a:ext cx="4000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975"/>
              <a:buFont typeface="Calibri"/>
              <a:buNone/>
            </a:pPr>
            <a:r>
              <a:rPr lang="en-US" sz="975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Mũi tên liền: yêu cầu     Nét đứt: phản hồi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3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3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3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Calibri"/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PHỤ LỤC · KIỂM TRA NỘI DUNG</a:t>
            </a:r>
            <a:endParaRPr/>
          </a:p>
        </p:txBody>
      </p:sp>
      <p:sp>
        <p:nvSpPr>
          <p:cNvPr id="534" name="Google Shape;534;p23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1875"/>
              <a:buFont typeface="Calibri"/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KIỂM TRA ĐỦ CÁC PHẦN QUẢN TRỊ DỰ ÁN</a:t>
            </a:r>
            <a:endParaRPr/>
          </a:p>
        </p:txBody>
      </p:sp>
      <p:sp>
        <p:nvSpPr>
          <p:cNvPr id="535" name="Google Shape;535;p23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50"/>
              <a:buFont typeface="Calibri"/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Danh mục đối chiếu để bảo đảm bài trình bày có đủ hồ sơ quản trị chính</a:t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7" name="Google Shape;53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3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750"/>
              <a:buFont typeface="Calibri"/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539" name="Google Shape;539;p23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1028"/>
              </a:buClr>
              <a:buSzPts val="900"/>
              <a:buFont typeface="Calibri"/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graphicFrame>
        <p:nvGraphicFramePr>
          <p:cNvPr id="540" name="Google Shape;540;p23"/>
          <p:cNvGraphicFramePr/>
          <p:nvPr/>
        </p:nvGraphicFramePr>
        <p:xfrm>
          <a:off x="476250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254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Nhóm nội dung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Nội dung cần có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Khởi động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Tôn chỉ, mục tiêu, bối cảnh và thông tin chung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3 - 5, 12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vi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Phạm vi trong / ngoài, đầu ra, FR và NFR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6, 12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Bên liên quan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Stakeholder, giao tiếp và cơ chế xác nhận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Tổ chức dự án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Vai trò PM, đội dự án, phân bổ nguồn lực và RACI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9 - 11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Kế hoạch thực hiện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WBS, gói bàn giao, lịch, mốc và phụ thuộc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14 - 15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Thời gian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PERT, buffer và đường găng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 phí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Dự toán Nhóm 1, EVM và trần tối đa 1 tỷ VNĐ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Kiểm soát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Chất lượng, thay đổi, báo cáo, UAT và nghiệm thu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19 - 20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Sơ đồ hệ thống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 tổng quát và trình tự tổng quát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75"/>
                        <a:buFont typeface="Calibri"/>
                        <a:buNone/>
                      </a:pPr>
                      <a:r>
                        <a:rPr lang="en-US" sz="1975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21 - 22</a:t>
                      </a:r>
                      <a:endParaRPr sz="2400"/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41" name="Google Shape;541;p23"/>
          <p:cNvSpPr/>
          <p:nvPr/>
        </p:nvSpPr>
        <p:spPr>
          <a:xfrm>
            <a:off x="476250" y="5619750"/>
            <a:ext cx="11144250" cy="419100"/>
          </a:xfrm>
          <a:prstGeom prst="roundRect">
            <a:avLst>
              <a:gd name="adj" fmla="val 22727"/>
            </a:avLst>
          </a:prstGeom>
          <a:solidFill>
            <a:srgbClr val="EEF8F1"/>
          </a:solidFill>
          <a:ln w="9525" cap="flat" cmpd="sng">
            <a:solidFill>
              <a:srgbClr val="B7DF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3"/>
          <p:cNvSpPr/>
          <p:nvPr/>
        </p:nvSpPr>
        <p:spPr>
          <a:xfrm>
            <a:off x="666750" y="5743575"/>
            <a:ext cx="10763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37A4B"/>
              </a:buClr>
              <a:buSzPts val="1050"/>
              <a:buFont typeface="Calibri"/>
              <a:buNone/>
            </a:pPr>
            <a:r>
              <a:rPr lang="en-US" sz="1050" b="1" i="0">
                <a:solidFill>
                  <a:srgbClr val="237A4B"/>
                </a:solidFill>
                <a:latin typeface="Calibri"/>
                <a:ea typeface="Calibri"/>
                <a:cs typeface="Calibri"/>
                <a:sym typeface="Calibri"/>
              </a:rPr>
              <a:t>Kết luận kiểm tra: bản trình bày đã bao phủ các nhóm nội dung quản trị dự án chính trong phạm vi tài liệu Nhóm 1.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4"/>
          <p:cNvSpPr/>
          <p:nvPr/>
        </p:nvSpPr>
        <p:spPr>
          <a:xfrm>
            <a:off x="0" y="0"/>
            <a:ext cx="12192000" cy="295275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0" y="295275"/>
            <a:ext cx="12192000" cy="47625"/>
          </a:xfrm>
          <a:prstGeom prst="rect">
            <a:avLst/>
          </a:prstGeom>
          <a:solidFill>
            <a:srgbClr val="C7A2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4"/>
          <p:cNvSpPr/>
          <p:nvPr/>
        </p:nvSpPr>
        <p:spPr>
          <a:xfrm>
            <a:off x="361950" y="28575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PHỤ LỤC · QUẢN TRỊ RỦI RO</a:t>
            </a:r>
            <a:endParaRPr/>
          </a:p>
        </p:txBody>
      </p:sp>
      <p:sp>
        <p:nvSpPr>
          <p:cNvPr id="551" name="Google Shape;551;p24"/>
          <p:cNvSpPr/>
          <p:nvPr/>
        </p:nvSpPr>
        <p:spPr>
          <a:xfrm>
            <a:off x="476250" y="523875"/>
            <a:ext cx="11239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ĐĂNG KÝ RỦI RO R01 – R06</a:t>
            </a:r>
            <a:endParaRPr/>
          </a:p>
        </p:txBody>
      </p:sp>
      <p:sp>
        <p:nvSpPr>
          <p:cNvPr id="552" name="Google Shape;552;p24"/>
          <p:cNvSpPr/>
          <p:nvPr/>
        </p:nvSpPr>
        <p:spPr>
          <a:xfrm>
            <a:off x="476250" y="866775"/>
            <a:ext cx="11239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Các rủi ro ưu tiên từ phạm vi, kỹ thuật và tiến độ</a:t>
            </a:r>
            <a:endParaRPr/>
          </a:p>
        </p:txBody>
      </p:sp>
      <p:sp>
        <p:nvSpPr>
          <p:cNvPr id="553" name="Google Shape;553;p24"/>
          <p:cNvSpPr/>
          <p:nvPr/>
        </p:nvSpPr>
        <p:spPr>
          <a:xfrm>
            <a:off x="476250" y="6477000"/>
            <a:ext cx="11239500" cy="14288"/>
          </a:xfrm>
          <a:prstGeom prst="rect">
            <a:avLst/>
          </a:prstGeom>
          <a:solidFill>
            <a:srgbClr val="C810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4" name="Google Shape;55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6609353"/>
            <a:ext cx="323850" cy="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4"/>
          <p:cNvSpPr/>
          <p:nvPr/>
        </p:nvSpPr>
        <p:spPr>
          <a:xfrm>
            <a:off x="914400" y="6543675"/>
            <a:ext cx="790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>
                <a:solidFill>
                  <a:srgbClr val="626262"/>
                </a:solidFill>
                <a:latin typeface="Calibri"/>
                <a:ea typeface="Calibri"/>
                <a:cs typeface="Calibri"/>
                <a:sym typeface="Calibri"/>
              </a:rPr>
              <a:t>Nhóm 1 · CNTT20261_N01 · Quản trị dự án CNTT</a:t>
            </a:r>
            <a:endParaRPr/>
          </a:p>
        </p:txBody>
      </p:sp>
      <p:sp>
        <p:nvSpPr>
          <p:cNvPr id="556" name="Google Shape;556;p24"/>
          <p:cNvSpPr/>
          <p:nvPr/>
        </p:nvSpPr>
        <p:spPr>
          <a:xfrm>
            <a:off x="11277600" y="653415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>
                <a:solidFill>
                  <a:srgbClr val="C81028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graphicFrame>
        <p:nvGraphicFramePr>
          <p:cNvPr id="557" name="Google Shape;557;p24"/>
          <p:cNvGraphicFramePr/>
          <p:nvPr/>
        </p:nvGraphicFramePr>
        <p:xfrm>
          <a:off x="333375" y="119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{4AC9FEEC-7A83-46CB-A566-6807C69C0785}</a:tableStyleId>
              </a:tblPr>
              <a:tblGrid>
                <a:gridCol w="58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00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9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5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Rủi ro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5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Nhóm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5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5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5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Điểm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5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Chiến lược ứng phó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5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Chủ sở hữu đề xuất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5"/>
                        <a:buFont typeface="Calibri"/>
                        <a:buNone/>
                      </a:pPr>
                      <a:r>
                        <a:rPr lang="en-US" sz="150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Dấu hiệu kích hoạt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81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R01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Thay đổi yêu cầu sau khi đã chốt đặc tả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Phạm vi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16 -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Thiết lập quy trình yêu cầu thay đổi; chốt baseline yêu cầu; đánh giá tác động trước khi phê duyệt.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Bùi Tuấn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Xuất hiện yêu cầu mới hoặc sửa FR/NFR đã chốt.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R02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Thiết kế UML không nhất quán với yêu cầu/nghiệp vụ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Phạm vi/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Kỹ thuật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12 -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 chéo Use Case - Class - Sequence; kiểm tra traceability với 19 FR và 11 NFR.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Bùi Tuấn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Anh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Phát hiện luồng nghiệp vụ không khớp giữa các tài liệu.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R03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Sai mô hình CSDL hoặc ràng buộc tồn kho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Kỹ thuật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15 -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 lược đồ, khóa, CHECK/UNIQUE; kiểm thử dữ liệu mẫu trước khi code nghiệp vụ.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Phạm Đoàn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Bảo Thiên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Phát hiện lỗi PK/FK, tồn âm hoặc dữ liệu trùng trong test.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R04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Lỗi đồng thời làm sai lệch tồn kho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Kỹ thuật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20 -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Rất cao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Dùng transaction nguyên tử, khóa dòng SELECT ... FOR UPDATE, test đồng thời và kiểm thử tải.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Bùi Quốc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Luýt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Tồn kho sai khi hai giao dịch xuất/nhập đồng thời.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R05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Module phát triển chậm làm ảnh hưởng chuỗi công việc phía sau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Tiến độ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16 -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Cao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Theo dõi công việc tiền nhiệm; tích hợp từng phần; điều phối lại nguồn lực khi công việc nền tảng bị chậm.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Bùi Quốc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Luýt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653"/>
                        <a:buFont typeface="Calibri"/>
                        <a:buNone/>
                      </a:pPr>
                      <a:r>
                        <a:rPr lang="en-US" sz="1453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Công việc vượt EST chốt hoặc ảnh hưởng task kế tiếp.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58" name="Google Shape;558;p24" descr="Ảnh màn hình 2026-09-19 lúc 10.10.37.png"/>
          <p:cNvPicPr preferRelativeResize="0"/>
          <p:nvPr/>
        </p:nvPicPr>
        <p:blipFill rotWithShape="1">
          <a:blip r:embed="rId4">
            <a:alphaModFix/>
          </a:blip>
          <a:srcRect l="28556" t="49460" r="29627" b="37520"/>
          <a:stretch/>
        </p:blipFill>
        <p:spPr>
          <a:xfrm>
            <a:off x="6601700" y="555488"/>
            <a:ext cx="4675901" cy="448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b11da6-c5b9-49cb-ad83-ae21ec205006">
      <Terms xmlns="http://schemas.microsoft.com/office/infopath/2007/PartnerControls"/>
    </lcf76f155ced4ddcb4097134ff3c332f>
    <TaxCatchAll xmlns="8620256f-1d2f-43d2-8d17-c8c02a12484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BB4CB8C644074DA8C0D9544B46C45A" ma:contentTypeVersion="10" ma:contentTypeDescription="Create a new document." ma:contentTypeScope="" ma:versionID="6cd6a6fc9d500661ae2c712001574a63">
  <xsd:schema xmlns:xsd="http://www.w3.org/2001/XMLSchema" xmlns:xs="http://www.w3.org/2001/XMLSchema" xmlns:p="http://schemas.microsoft.com/office/2006/metadata/properties" xmlns:ns2="6ab11da6-c5b9-49cb-ad83-ae21ec205006" xmlns:ns3="8620256f-1d2f-43d2-8d17-c8c02a124848" targetNamespace="http://schemas.microsoft.com/office/2006/metadata/properties" ma:root="true" ma:fieldsID="5a8690fc04d69f1d5e321c6403e17232" ns2:_="" ns3:_="">
    <xsd:import namespace="6ab11da6-c5b9-49cb-ad83-ae21ec205006"/>
    <xsd:import namespace="8620256f-1d2f-43d2-8d17-c8c02a1248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11da6-c5b9-49cb-ad83-ae21ec2050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0256f-1d2f-43d2-8d17-c8c02a12484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c5c2c83-07ff-4f8e-b7a6-caccdf7c6711}" ma:internalName="TaxCatchAll" ma:showField="CatchAllData" ma:web="8620256f-1d2f-43d2-8d17-c8c02a1248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A08F02-C844-4522-A9AE-511074BB2982}">
  <ds:schemaRefs>
    <ds:schemaRef ds:uri="http://schemas.microsoft.com/office/2006/metadata/properties"/>
    <ds:schemaRef ds:uri="http://schemas.microsoft.com/office/infopath/2007/PartnerControls"/>
    <ds:schemaRef ds:uri="6ab11da6-c5b9-49cb-ad83-ae21ec205006"/>
    <ds:schemaRef ds:uri="8620256f-1d2f-43d2-8d17-c8c02a124848"/>
  </ds:schemaRefs>
</ds:datastoreItem>
</file>

<file path=customXml/itemProps2.xml><?xml version="1.0" encoding="utf-8"?>
<ds:datastoreItem xmlns:ds="http://schemas.openxmlformats.org/officeDocument/2006/customXml" ds:itemID="{39E7E431-45C9-4DA7-A913-8B20BA5193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C15AFF-5CB7-4681-AECD-7F236B8B87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b11da6-c5b9-49cb-ad83-ae21ec205006"/>
    <ds:schemaRef ds:uri="8620256f-1d2f-43d2-8d17-c8c02a1248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2026-09-19T07:46:26Z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0x01010007BB4CB8C644074DA8C0D9544B46C45A</vt:lpwstr>
  </property>
  <property fmtid="{D5CDD505-2E9C-101B-9397-08002B2CF9AE}" pid="3" name="MediaServiceImageTags">
    <vt:lpwstr/>
  </property>
</Properties>
</file>