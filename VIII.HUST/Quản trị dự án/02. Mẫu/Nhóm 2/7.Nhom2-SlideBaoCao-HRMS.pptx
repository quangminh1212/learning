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charts/chart2.xml" ContentType="application/vnd.openxmlformats-officedocument.drawingml.chart+xml"/>
  <Override PartName="/ppt/charts/chart1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6" r:id="rId18"/>
    <p:sldId id="273" r:id="rId19"/>
    <p:sldId id="274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DF99FB-C0E4-D46B-4D7B-1922D8C15597}" v="86" dt="2026-09-18T13:58:08.8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442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Relationship Id="rId30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ong Tra Giang 202490043" userId="S::giang.mct2490043@sis.hust.edu.vn::19228e1a-ef97-468d-abfe-1d08d9dcdfe0" providerId="AD" clId="Web-{E6DF99FB-C0E4-D46B-4D7B-1922D8C15597}"/>
    <pc:docChg chg="modSld">
      <pc:chgData name="Mai Cong Tra Giang 202490043" userId="S::giang.mct2490043@sis.hust.edu.vn::19228e1a-ef97-468d-abfe-1d08d9dcdfe0" providerId="AD" clId="Web-{E6DF99FB-C0E4-D46B-4D7B-1922D8C15597}" dt="2026-09-18T13:58:08.395" v="39" actId="20577"/>
      <pc:docMkLst>
        <pc:docMk/>
      </pc:docMkLst>
      <pc:sldChg chg="modSp">
        <pc:chgData name="Mai Cong Tra Giang 202490043" userId="S::giang.mct2490043@sis.hust.edu.vn::19228e1a-ef97-468d-abfe-1d08d9dcdfe0" providerId="AD" clId="Web-{E6DF99FB-C0E4-D46B-4D7B-1922D8C15597}" dt="2026-09-18T13:58:08.395" v="39" actId="20577"/>
        <pc:sldMkLst>
          <pc:docMk/>
          <pc:sldMk cId="0" sldId="259"/>
        </pc:sldMkLst>
        <pc:spChg chg="mod">
          <ac:chgData name="Mai Cong Tra Giang 202490043" userId="S::giang.mct2490043@sis.hust.edu.vn::19228e1a-ef97-468d-abfe-1d08d9dcdfe0" providerId="AD" clId="Web-{E6DF99FB-C0E4-D46B-4D7B-1922D8C15597}" dt="2026-09-18T13:58:08.395" v="39" actId="20577"/>
          <ac:spMkLst>
            <pc:docMk/>
            <pc:sldMk cId="0" sldId="259"/>
            <ac:spMk id="17" creationId="{00000000-0000-0000-0000-000000000000}"/>
          </ac:spMkLst>
        </pc:spChg>
      </pc:sldChg>
      <pc:sldChg chg="modSp">
        <pc:chgData name="Mai Cong Tra Giang 202490043" userId="S::giang.mct2490043@sis.hust.edu.vn::19228e1a-ef97-468d-abfe-1d08d9dcdfe0" providerId="AD" clId="Web-{E6DF99FB-C0E4-D46B-4D7B-1922D8C15597}" dt="2026-09-18T13:27:36.350" v="37" actId="20577"/>
        <pc:sldMkLst>
          <pc:docMk/>
          <pc:sldMk cId="0" sldId="260"/>
        </pc:sldMkLst>
        <pc:spChg chg="mod">
          <ac:chgData name="Mai Cong Tra Giang 202490043" userId="S::giang.mct2490043@sis.hust.edu.vn::19228e1a-ef97-468d-abfe-1d08d9dcdfe0" providerId="AD" clId="Web-{E6DF99FB-C0E4-D46B-4D7B-1922D8C15597}" dt="2026-09-18T13:27:36.350" v="37" actId="20577"/>
          <ac:spMkLst>
            <pc:docMk/>
            <pc:sldMk cId="0" sldId="260"/>
            <ac:spMk id="15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B10E-4D24-8DE4-27698301481E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Dữ liệu phân mảnh 3 nơi</c:v>
                </c:pt>
                <c:pt idx="1">
                  <c:v>Báo cáo thủ công cho BGĐ</c:v>
                </c:pt>
                <c:pt idx="2">
                  <c:v>Không cảnh báo hạn HĐLĐ</c:v>
                </c:pt>
                <c:pt idx="3">
                  <c:v>Sai sót đối soát chấm công</c:v>
                </c:pt>
                <c:pt idx="4">
                  <c:v>Không có self-service</c:v>
                </c:pt>
                <c:pt idx="5">
                  <c:v>Chốt công tháng kéo dài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</c:v>
                </c:pt>
                <c:pt idx="1">
                  <c:v>7.2</c:v>
                </c:pt>
                <c:pt idx="2">
                  <c:v>15</c:v>
                </c:pt>
                <c:pt idx="3">
                  <c:v>30</c:v>
                </c:pt>
                <c:pt idx="4">
                  <c:v>54</c:v>
                </c:pt>
                <c:pt idx="5">
                  <c:v>107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B10E-4D24-8DE4-27698301481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3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C47C-45D7-A29A-4B033EFDFF2B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Năm 1</c:v>
                </c:pt>
                <c:pt idx="1">
                  <c:v>Năm 2</c:v>
                </c:pt>
                <c:pt idx="2">
                  <c:v>Năm 3</c:v>
                </c:pt>
                <c:pt idx="3">
                  <c:v>Năm 4</c:v>
                </c:pt>
                <c:pt idx="4">
                  <c:v>Năm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115</c:v>
                </c:pt>
                <c:pt idx="1">
                  <c:v>280</c:v>
                </c:pt>
                <c:pt idx="2">
                  <c:v>445</c:v>
                </c:pt>
                <c:pt idx="3">
                  <c:v>610</c:v>
                </c:pt>
                <c:pt idx="4">
                  <c:v>775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C47C-45D7-A29A-4B033EFDFF2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4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</c:v>
                </c:pt>
              </c:strCache>
            </c:strRef>
          </c:tx>
          <c:spPr>
            <a:solidFill>
              <a:srgbClr val="2E75B6"/>
            </a:solidFill>
          </c:spPr>
          <c:invertIfNegative val="1"/>
          <c:dPt>
            <c:idx val="4"/>
            <c:invertIfNegative val="1"/>
            <c:bubble3D val="0"/>
            <c:spPr>
              <a:solidFill>
                <a:srgbClr val="1F4E79"/>
              </a:solidFill>
            </c:spPr>
            <c:extLst>
              <c:ext xmlns:c16="http://schemas.microsoft.com/office/drawing/2014/chart" uri="{C3380CC4-5D6E-409C-BE32-E72D297353CC}">
                <c16:uniqueId val="{00000001-F37B-45C2-B340-AC5FC5546D32}"/>
              </c:ext>
            </c:extLst>
          </c:dPt>
          <c:dLbls>
            <c:numFmt formatCode="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>
                    <a:solidFill>
                      <a:srgbClr val="2D2D2D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Chi phí quản lý</c:v>
                </c:pt>
                <c:pt idx="1">
                  <c:v>Hạ tầng cloud</c:v>
                </c:pt>
                <c:pt idx="2">
                  <c:v>Dự phòng</c:v>
                </c:pt>
                <c:pt idx="3">
                  <c:v>Khảo sát, đào tạo</c:v>
                </c:pt>
                <c:pt idx="4">
                  <c:v>Nhân công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46</c:v>
                </c:pt>
                <c:pt idx="2">
                  <c:v>57.03</c:v>
                </c:pt>
                <c:pt idx="3">
                  <c:v>57</c:v>
                </c:pt>
                <c:pt idx="4">
                  <c:v>447.97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37B-45C2-B340-AC5FC5546D3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3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>
          <c:spPr>
            <a:ln w="6350">
              <a:solidFill>
                <a:srgbClr val="E2E8F0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solidFill>
              <a:srgbClr val="CCCCCC"/>
            </a:solidFill>
          </a:ln>
        </c:spPr>
        <c:txPr>
          <a:bodyPr/>
          <a:lstStyle/>
          <a:p>
            <a:pPr>
              <a:defRPr sz="1200">
                <a:solidFill>
                  <a:srgbClr val="777777"/>
                </a:solidFill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A4A76E-721B-4F89-8AB9-B4F41A239FD7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8E1E61-3F39-441E-AF41-D9624EC9AAB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29064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Phần hỏi đáp 5 phút; câu hỏi có thể dành cho tất cả thành viên, mỗi người nắm phần mình chủ trì.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4828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438912"/>
            <a:ext cx="786384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A0BBDD"/>
                </a:solidFill>
                <a:latin typeface="Arial"/>
              </a:rPr>
              <a:t>HỌC PHẦN QUẢN TRỊ DỰ ÁN CÔNG NGHỆ THÔNG TIN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7863840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800" b="1" i="0">
                <a:solidFill>
                  <a:srgbClr val="FFFFFF"/>
                </a:solidFill>
                <a:latin typeface="Arial"/>
              </a:rPr>
              <a:t>Quản trị dự án xây dựng Hệ thống Quản trị Nhân sự (HRMS) cho doanh nghiệp vừa và nhỏ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382192"/>
            <a:ext cx="182880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2612160"/>
            <a:ext cx="7150320" cy="12311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lang="vi-VN" sz="1400">
                <a:solidFill>
                  <a:srgbClr val="FFFFFF"/>
                </a:solidFill>
                <a:latin typeface="Arial"/>
              </a:rPr>
              <a:t>Giảng viên hướng dẫn: ThS. Lê Thị Hoa</a:t>
            </a:r>
            <a:endParaRPr lang="en-US" sz="1400" b="0" i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  <a:buNone/>
            </a:pPr>
            <a:r>
              <a:rPr sz="1400" b="0" i="0" err="1">
                <a:solidFill>
                  <a:srgbClr val="FFFFFF"/>
                </a:solidFill>
                <a:latin typeface="Arial"/>
              </a:rPr>
              <a:t>Nhóm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02 – B2CQ-CNTT-K69(01)</a:t>
            </a:r>
            <a:endParaRPr lang="en-US" sz="1400" b="0" i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  <a:buNone/>
            </a:pPr>
            <a:r>
              <a:rPr sz="1400" b="0" i="0" err="1">
                <a:solidFill>
                  <a:srgbClr val="FFFFFF"/>
                </a:solidFill>
                <a:latin typeface="Arial"/>
              </a:rPr>
              <a:t>Mã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</a:t>
            </a:r>
            <a:r>
              <a:rPr sz="1400" b="0" i="0" err="1">
                <a:solidFill>
                  <a:srgbClr val="FFFFFF"/>
                </a:solidFill>
                <a:latin typeface="Arial"/>
              </a:rPr>
              <a:t>đề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</a:t>
            </a:r>
            <a:r>
              <a:rPr sz="1400" b="0" i="0" err="1">
                <a:solidFill>
                  <a:srgbClr val="FFFFFF"/>
                </a:solidFill>
                <a:latin typeface="Arial"/>
              </a:rPr>
              <a:t>tài</a:t>
            </a:r>
            <a:r>
              <a:rPr lang="en-US" sz="1400" b="0" i="0">
                <a:solidFill>
                  <a:srgbClr val="FFFFFF"/>
                </a:solidFill>
                <a:latin typeface="Arial"/>
              </a:rPr>
              <a:t>: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VB2-CNTT-K69(1)-N02</a:t>
            </a:r>
            <a:endParaRPr lang="en-US" sz="1400" b="0" i="0">
              <a:solidFill>
                <a:srgbClr val="FFFFFF"/>
              </a:solidFill>
              <a:latin typeface="Arial"/>
            </a:endParaRPr>
          </a:p>
          <a:p>
            <a:pPr algn="l">
              <a:spcAft>
                <a:spcPts val="400"/>
              </a:spcAft>
              <a:buNone/>
            </a:pPr>
            <a:r>
              <a:rPr lang="en-US" sz="1400">
                <a:solidFill>
                  <a:srgbClr val="FFFFFF"/>
                </a:solidFill>
                <a:latin typeface="Arial"/>
              </a:rPr>
              <a:t>Thành </a:t>
            </a:r>
            <a:r>
              <a:rPr lang="en-US" sz="1400" err="1">
                <a:solidFill>
                  <a:srgbClr val="FFFFFF"/>
                </a:solidFill>
                <a:latin typeface="Arial"/>
              </a:rPr>
              <a:t>viên</a:t>
            </a:r>
            <a:r>
              <a:rPr lang="en-US" sz="1400">
                <a:solidFill>
                  <a:srgbClr val="FFFFFF"/>
                </a:solidFill>
                <a:latin typeface="Arial"/>
              </a:rPr>
              <a:t>: </a:t>
            </a:r>
            <a:r>
              <a:rPr sz="1400" b="0" i="0" err="1">
                <a:solidFill>
                  <a:srgbClr val="FFFFFF"/>
                </a:solidFill>
                <a:latin typeface="Arial"/>
              </a:rPr>
              <a:t>Trần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Đức Cường · Lê Xuân </a:t>
            </a:r>
            <a:r>
              <a:rPr sz="1400" b="0" i="0" err="1">
                <a:solidFill>
                  <a:srgbClr val="FFFFFF"/>
                </a:solidFill>
                <a:latin typeface="Arial"/>
              </a:rPr>
              <a:t>Bách</a:t>
            </a:r>
            <a:r>
              <a:rPr sz="1400" b="0" i="0">
                <a:solidFill>
                  <a:srgbClr val="FFFFFF"/>
                </a:solidFill>
                <a:latin typeface="Arial"/>
              </a:rPr>
              <a:t> · Bùi Tiến Thành · Nguyễn Phương Thảo · Mai Công Trà Giang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407408"/>
            <a:ext cx="7863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A0BBDD"/>
                </a:solidFill>
                <a:latin typeface="Arial"/>
              </a:rPr>
              <a:t>Đại học Bách khoa Hà Nội · Trường Công nghệ Thông tin và Truyền thông · Hà Nội,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3556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i="0">
                <a:solidFill>
                  <a:srgbClr val="1F4E79"/>
                </a:solidFill>
                <a:latin typeface="Arial"/>
              </a:rPr>
              <a:t>09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nội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dung</a:t>
            </a:r>
            <a:r>
              <a:rPr lang="en-US" sz="2400" b="1" i="0">
                <a:solidFill>
                  <a:srgbClr val="1F4E79"/>
                </a:solidFill>
                <a:latin typeface="Arial"/>
              </a:rPr>
              <a:t>,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từ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tên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dự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án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tới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kết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luận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lang="en-US" sz="2400" b="1" i="0">
                <a:solidFill>
                  <a:srgbClr val="1F4E79"/>
                </a:solidFill>
                <a:latin typeface="Arial"/>
              </a:rPr>
              <a:t>&amp;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hướng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phát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triển</a:t>
            </a:r>
            <a:endParaRPr sz="24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57200" y="1207008"/>
            <a:ext cx="850392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83464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21792" y="142646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0" y="1700784"/>
            <a:ext cx="2651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 err="1">
                <a:solidFill>
                  <a:srgbClr val="1F4E79"/>
                </a:solidFill>
                <a:latin typeface="Arial"/>
              </a:rPr>
              <a:t>Tên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dự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án</a:t>
            </a:r>
            <a:r>
              <a:rPr sz="1600" b="1" i="0">
                <a:solidFill>
                  <a:srgbClr val="1F4E79"/>
                </a:solidFill>
                <a:latin typeface="Arial"/>
              </a:rPr>
              <a:t>,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nhóm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thực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hiện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04520" y="1371600"/>
            <a:ext cx="274320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69112" y="142646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9112" y="1700784"/>
            <a:ext cx="256032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 err="1">
                <a:solidFill>
                  <a:srgbClr val="1F4E79"/>
                </a:solidFill>
                <a:latin typeface="Arial"/>
              </a:rPr>
              <a:t>Mục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tiêu</a:t>
            </a:r>
            <a:r>
              <a:rPr sz="1600" b="1" i="0">
                <a:solidFill>
                  <a:srgbClr val="1F4E79"/>
                </a:solidFill>
                <a:latin typeface="Arial"/>
              </a:rPr>
              <a:t>, ý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nghĩa</a:t>
            </a:r>
            <a:r>
              <a:rPr sz="1600" b="1" i="0">
                <a:solidFill>
                  <a:srgbClr val="1F4E79"/>
                </a:solidFill>
                <a:latin typeface="Arial"/>
              </a:rPr>
              <a:t>,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yêu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cầu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4240" y="1371600"/>
            <a:ext cx="265176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58831" y="1426464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8831" y="1700784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 err="1">
                <a:solidFill>
                  <a:srgbClr val="1F4E79"/>
                </a:solidFill>
                <a:latin typeface="Arial"/>
              </a:rPr>
              <a:t>Tính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khả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thi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" y="2267712"/>
            <a:ext cx="283464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" y="23225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596896"/>
            <a:ext cx="2651760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Các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chức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năng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của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dự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án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404520" y="2267712"/>
            <a:ext cx="274320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9112" y="23225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9112" y="2596896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Nguồn nhân lực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94240" y="2267712"/>
            <a:ext cx="265176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58831" y="2322576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58831" y="2596896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 err="1">
                <a:solidFill>
                  <a:srgbClr val="1F4E79"/>
                </a:solidFill>
                <a:latin typeface="Arial"/>
              </a:rPr>
              <a:t>Thời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gian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thực</a:t>
            </a:r>
            <a:r>
              <a:rPr sz="1600" b="1" i="0">
                <a:solidFill>
                  <a:srgbClr val="1F4E79"/>
                </a:solidFill>
                <a:latin typeface="Arial"/>
              </a:rPr>
              <a:t>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hiện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57200" y="3163824"/>
            <a:ext cx="283464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" y="321868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565008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Kinh </a:t>
            </a:r>
            <a:r>
              <a:rPr sz="1600" b="1" i="0" err="1">
                <a:solidFill>
                  <a:srgbClr val="1F4E79"/>
                </a:solidFill>
                <a:latin typeface="Arial"/>
              </a:rPr>
              <a:t>phí</a:t>
            </a:r>
            <a:endParaRPr sz="16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404520" y="3163824"/>
            <a:ext cx="274320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569112" y="321868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9112" y="3565008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Kết quả thực hiện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94240" y="3163824"/>
            <a:ext cx="2651760" cy="78638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58831" y="3218688"/>
            <a:ext cx="6400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09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58831" y="3565008"/>
            <a:ext cx="233172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Kết luận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133087"/>
            <a:ext cx="822960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1792" y="4133087"/>
            <a:ext cx="7900416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Xen giữa 07 và 08: </a:t>
            </a:r>
            <a:r>
              <a:rPr sz="1600" b="0" i="0">
                <a:solidFill>
                  <a:srgbClr val="2D2D2D"/>
                </a:solidFill>
                <a:latin typeface="Arial"/>
              </a:rPr>
              <a:t>quản lý chất lượng và quản lý rủi 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01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99752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Dự án HRMS cho Minh Phú kéo dài 06 tháng, trọn gói 640 triệu đồng, do nhóm 05 thành viên thực hiện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Khung dự án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19072"/>
            <a:ext cx="393192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Chủ đầu tư: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Cty TNHH SX Cơ khí &amp; TM Minh Phú</a:t>
            </a: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Thời gian: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01/09/2026 – 28/02/2027</a:t>
            </a: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Kinh phí: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640 triệu đồng, trọn gói</a:t>
            </a: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Bảo trợ: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ThS. Lê Thị Hoa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Nhóm 02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754880" y="1719072"/>
          <a:ext cx="3931920" cy="25359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Thành viên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Vai trò chính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Trần Đức Cường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Giám đốc dự án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Lê Xuân Bách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Kiến trúc sư, trưởng nhóm lập trình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Bùi Tiến 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DevOps, Front-end, trưởng nhóm kiểm thử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Nguyễn Phương Thảo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Phân tích nghiệp vụ – SRS, dữ liệu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Mai Công Trà Giang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Phân tích nghiệp vụ – khảo sát, UAT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Tôn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chỉ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dự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án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và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Thuyết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minh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đề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tài</a:t>
            </a:r>
            <a:r>
              <a:rPr sz="1300" b="0" i="0">
                <a:solidFill>
                  <a:srgbClr val="777777"/>
                </a:solidFill>
                <a:latin typeface="Arial"/>
              </a:rPr>
              <a:t>,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Phụ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lục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PL1.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02 Mục tiêu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025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i="0" err="1">
                <a:solidFill>
                  <a:srgbClr val="1F4E79"/>
                </a:solidFill>
                <a:latin typeface="Arial"/>
              </a:rPr>
              <a:t>Bối</a:t>
            </a:r>
            <a:r>
              <a:rPr lang="en-US"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lang="en-US" sz="2400" b="1" i="0" err="1">
                <a:solidFill>
                  <a:srgbClr val="1F4E79"/>
                </a:solidFill>
                <a:latin typeface="Arial"/>
              </a:rPr>
              <a:t>cảnh</a:t>
            </a:r>
            <a:r>
              <a:rPr lang="en-US" sz="2400" b="1" i="0">
                <a:solidFill>
                  <a:srgbClr val="1F4E79"/>
                </a:solidFill>
                <a:latin typeface="Arial"/>
              </a:rPr>
              <a:t>: </a:t>
            </a:r>
            <a:r>
              <a:rPr lang="en-US" sz="2400" b="1">
                <a:solidFill>
                  <a:srgbClr val="1F4E79"/>
                </a:solidFill>
                <a:latin typeface="Arial"/>
              </a:rPr>
              <a:t>06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quy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trình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nhân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sự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thủ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công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khiến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Minh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Phú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mất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4–5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ngày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để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chốt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công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mỗi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tháng</a:t>
            </a:r>
            <a:endParaRPr sz="24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4937760" cy="32316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>
              <a:spcAft>
                <a:spcPts val="1200"/>
              </a:spcAft>
              <a:buFont typeface="Arial"/>
              <a:buChar char="▪"/>
            </a:pPr>
            <a:r>
              <a:rPr sz="2000" b="0" i="0" dirty="0">
                <a:solidFill>
                  <a:srgbClr val="2D2D2D"/>
                </a:solidFill>
                <a:latin typeface="Arial"/>
              </a:rPr>
              <a:t>137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nhân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sự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: 43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văn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phòng</a:t>
            </a:r>
            <a:r>
              <a:rPr lang="en-US" sz="2000" dirty="0">
                <a:solidFill>
                  <a:srgbClr val="2D2D2D"/>
                </a:solidFill>
                <a:latin typeface="Arial"/>
              </a:rPr>
              <a:t> (HN+HCM)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, 94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công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nhân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tại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Hải Dương</a:t>
            </a:r>
            <a:r>
              <a:rPr lang="en-US" sz="2000" dirty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dirty="0" err="1">
                <a:solidFill>
                  <a:srgbClr val="2D2D2D"/>
                </a:solidFill>
                <a:latin typeface="Arial"/>
              </a:rPr>
              <a:t>với</a:t>
            </a:r>
            <a:r>
              <a:rPr lang="en-US" sz="2000" dirty="0">
                <a:solidFill>
                  <a:srgbClr val="2D2D2D"/>
                </a:solidFill>
                <a:latin typeface="Arial"/>
              </a:rPr>
              <a:t> 04 </a:t>
            </a:r>
            <a:r>
              <a:rPr lang="en-US" sz="2000" dirty="0" err="1">
                <a:solidFill>
                  <a:srgbClr val="2D2D2D"/>
                </a:solidFill>
                <a:latin typeface="Arial"/>
              </a:rPr>
              <a:t>loại</a:t>
            </a:r>
            <a:r>
              <a:rPr lang="en-US" sz="2000" dirty="0">
                <a:solidFill>
                  <a:srgbClr val="2D2D2D"/>
                </a:solidFill>
                <a:latin typeface="Arial"/>
              </a:rPr>
              <a:t> ca </a:t>
            </a:r>
            <a:r>
              <a:rPr lang="en-US" sz="2000" dirty="0" err="1">
                <a:solidFill>
                  <a:srgbClr val="2D2D2D"/>
                </a:solidFill>
                <a:latin typeface="Arial"/>
              </a:rPr>
              <a:t>làm</a:t>
            </a:r>
            <a:r>
              <a:rPr lang="en-US" sz="2000" dirty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dirty="0" err="1">
                <a:solidFill>
                  <a:srgbClr val="2D2D2D"/>
                </a:solidFill>
                <a:latin typeface="Arial"/>
              </a:rPr>
              <a:t>việc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.</a:t>
            </a: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0" i="0" dirty="0">
                <a:solidFill>
                  <a:srgbClr val="2D2D2D"/>
                </a:solidFill>
                <a:latin typeface="Arial"/>
              </a:rPr>
              <a:t>06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quy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trình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chạy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trên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Excel,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hồ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sơ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giấy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, Zalo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và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Google Drive.</a:t>
            </a:r>
            <a:endParaRPr sz="2000" b="0" i="0" dirty="0">
              <a:solidFill>
                <a:srgbClr val="2D2D2D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0" i="0" dirty="0">
                <a:solidFill>
                  <a:srgbClr val="2D2D2D"/>
                </a:solidFill>
                <a:latin typeface="Arial"/>
              </a:rPr>
              <a:t>03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máy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chấm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công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không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nối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mạng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,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dữ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liệu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chép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bằng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USB.</a:t>
            </a:r>
            <a:endParaRPr sz="2000" b="0" i="0" dirty="0">
              <a:solidFill>
                <a:srgbClr val="2D2D2D"/>
              </a:solidFill>
              <a:latin typeface="Arial"/>
              <a:cs typeface="Arial"/>
            </a:endParaRPr>
          </a:p>
          <a:p>
            <a:pPr marL="171450" indent="-171450" algn="l">
              <a:spcAft>
                <a:spcPts val="1200"/>
              </a:spcAft>
              <a:buFont typeface="Arial"/>
              <a:buChar char="▪"/>
            </a:pPr>
            <a:r>
              <a:rPr sz="2000" b="0" i="0" dirty="0" err="1">
                <a:solidFill>
                  <a:srgbClr val="2D2D2D"/>
                </a:solidFill>
                <a:latin typeface="Arial"/>
              </a:rPr>
              <a:t>Kỳ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chốt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công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b="0" i="0" dirty="0">
                <a:solidFill>
                  <a:srgbClr val="2D2D2D"/>
                </a:solidFill>
                <a:latin typeface="Arial"/>
              </a:rPr>
              <a:t>08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/2026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chậm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10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ngày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so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với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hạn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Kế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2D2D2D"/>
                </a:solidFill>
                <a:latin typeface="Arial"/>
              </a:rPr>
              <a:t>toán</a:t>
            </a:r>
            <a:r>
              <a:rPr sz="2000" b="0" i="0" dirty="0">
                <a:solidFill>
                  <a:srgbClr val="2D2D2D"/>
                </a:solidFill>
                <a:latin typeface="Arial"/>
              </a:rPr>
              <a:t>.</a:t>
            </a:r>
            <a:endParaRPr sz="2000" b="0" i="0" dirty="0">
              <a:solidFill>
                <a:srgbClr val="2D2D2D"/>
              </a:solidFill>
              <a:latin typeface="Arial"/>
              <a:cs typeface="Arial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5806440" y="1335024"/>
            <a:ext cx="2880360" cy="93268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61888" y="1417320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1F4E79"/>
                </a:solidFill>
                <a:latin typeface="Arial"/>
              </a:rPr>
              <a:t>4–5 ngày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61888" y="1773936"/>
            <a:ext cx="2606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chốt công mỗi tháng, thêm 03 ngày cho Kế toán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806440" y="2368296"/>
            <a:ext cx="2880360" cy="93268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1888" y="2450591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1F4E79"/>
                </a:solidFill>
                <a:latin typeface="Arial"/>
              </a:rPr>
              <a:t>04 nhân viên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2807208"/>
            <a:ext cx="2606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vượt 200 giờ làm thêm năm 2025, rủi ro phạt 20–100 triệu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06440" y="3401568"/>
            <a:ext cx="2880360" cy="93268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61888" y="3483863"/>
            <a:ext cx="26060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1F4E79"/>
                </a:solidFill>
                <a:latin typeface="Arial"/>
              </a:rPr>
              <a:t>~217 triệu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61888" y="3840479"/>
            <a:ext cx="260604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chi phí ẩn mỗi năm từ các điểm nghẽn đã lượng hóa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Báo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cáo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khảo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sát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hiện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trạng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As-Is (PL3), 12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phỏng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vấn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, 15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biểu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mẫu</a:t>
            </a:r>
            <a:r>
              <a:rPr sz="1300" b="0" i="0">
                <a:solidFill>
                  <a:srgbClr val="777777"/>
                </a:solidFill>
                <a:latin typeface="Arial"/>
              </a:rPr>
              <a:t>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02 Mục tiêu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025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F4E79"/>
                </a:solidFill>
                <a:latin typeface="Arial"/>
              </a:rPr>
              <a:t>06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điểm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nghẽn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lượng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hóa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được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gây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thiệt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hại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ẩn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khoảng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217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triệu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đồng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mỗi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năm</a:t>
            </a:r>
            <a:endParaRPr sz="2400" b="1" i="0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1480" y="1335024"/>
          <a:ext cx="5074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023360"/>
            <a:ext cx="4892040" cy="365760"/>
          </a:xfrm>
          <a:prstGeom prst="roundRect">
            <a:avLst>
              <a:gd name="adj" fmla="val 14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023360"/>
            <a:ext cx="463600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7A5200"/>
                </a:solidFill>
                <a:latin typeface="Arial"/>
              </a:rPr>
              <a:t>Chốt công tháng: 107 triệu = 49% tổng thiệt hại ẩn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3350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Nghĩa là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719072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Chốt công chiếm 107 triệu, gần nửa thiệt hại.</a:t>
            </a:r>
          </a:p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Hai điểm nghẽn pháp lý chưa quy ra tiền.</a:t>
            </a:r>
          </a:p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Rủi ro phạt 20–100 triệu nằm ngoài 217 triệu.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768096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Báo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cáo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khảo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sát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hiện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trạng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As-Is (PL3)</a:t>
            </a:r>
            <a:endParaRPr lang="en-US" sz="1300" b="0" i="0">
              <a:solidFill>
                <a:srgbClr val="777777"/>
              </a:solidFill>
              <a:latin typeface="Arial"/>
            </a:endParaRPr>
          </a:p>
          <a:p>
            <a:pPr algn="l">
              <a:spcAft>
                <a:spcPts val="0"/>
              </a:spcAft>
              <a:buNone/>
            </a:pPr>
            <a:r>
              <a:rPr lang="en-US" sz="1300">
                <a:solidFill>
                  <a:srgbClr val="777777"/>
                </a:solidFill>
                <a:latin typeface="Arial"/>
              </a:rPr>
              <a:t>(*) Self-service: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hệ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thống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tự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động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để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nhân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viên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tự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thực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hiện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các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thủ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tục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hành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chính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cá</a:t>
            </a:r>
            <a:r>
              <a:rPr lang="en-US" sz="1300">
                <a:solidFill>
                  <a:srgbClr val="777777"/>
                </a:solidFill>
                <a:latin typeface="Arial"/>
              </a:rPr>
              <a:t> </a:t>
            </a:r>
            <a:r>
              <a:rPr lang="en-US" sz="1300" err="1">
                <a:solidFill>
                  <a:srgbClr val="777777"/>
                </a:solidFill>
                <a:latin typeface="Arial"/>
              </a:rPr>
              <a:t>nhân</a:t>
            </a:r>
            <a:endParaRPr sz="1300" b="0" i="0">
              <a:solidFill>
                <a:srgbClr val="777777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02 Mục tiêu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025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 err="1">
                <a:solidFill>
                  <a:srgbClr val="1F4E79"/>
                </a:solidFill>
                <a:latin typeface="Arial"/>
              </a:rPr>
              <a:t>Mục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tiêu</a:t>
            </a:r>
            <a:r>
              <a:rPr sz="2400" b="1" i="0">
                <a:solidFill>
                  <a:srgbClr val="1F4E79"/>
                </a:solidFill>
                <a:latin typeface="Arial"/>
              </a:rPr>
              <a:t>: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rút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chốt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công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còn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1–2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ngày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và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tự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động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hóa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lang="en-US" sz="2400" b="1" i="0" err="1">
                <a:solidFill>
                  <a:srgbClr val="1F4E79"/>
                </a:solidFill>
                <a:latin typeface="Arial"/>
              </a:rPr>
              <a:t>các</a:t>
            </a:r>
            <a:r>
              <a:rPr lang="en-US"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cảnh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báo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tuân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thủ</a:t>
            </a:r>
            <a:endParaRPr sz="24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Chỉ tiêu quản trị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19072"/>
            <a:ext cx="3931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100% công việc hoàn thành trong 06 tháng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Lệch tiến độ, chi phí ≤ 10% (SPI, CPI ≥ 0,90)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100% yêu cầu SRS được bao phủ (RTM)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100% sản phẩm duyệt nội bộ trước bàn giao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Giá trị cho Minh Phú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719072"/>
            <a:ext cx="39319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Chốt công từ 4–5 ngày còn 1–2 ngày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Cảnh báo tự động hạn hợp đồng và giờ làm thêm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Một nguồn dữ liệu duy nhất, có nhật ký thay đổi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Nguồn: Tôn chỉ dự án (PL1), mục Mục tiêu và tiêu chí thành công.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02 Mục tiêu</a:t>
            </a:r>
          </a:p>
        </p:txBody>
      </p:sp>
      <p:sp>
        <p:nvSpPr>
          <p:cNvPr id="5" name="Rectangle 4"/>
          <p:cNvSpPr/>
          <p:nvPr/>
        </p:nvSpPr>
        <p:spPr>
          <a:xfrm>
            <a:off x="931025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Phạm vi khóa ở 03 module M0–M2; tính lương và bảo hiểm nằm ngoài phạm vi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Trong phạm vi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19072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03 module: M0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phân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quyền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, M1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hồ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sơ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–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hợp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đồng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, M2 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quản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lí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ca –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chấm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công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 err="1">
                <a:solidFill>
                  <a:srgbClr val="2D2D2D"/>
                </a:solidFill>
                <a:latin typeface="Arial"/>
              </a:rPr>
              <a:t>Chuyển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đổi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dữ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liệu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từ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Excel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và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hồ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sơ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giấy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Đào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tạo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theo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vai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trò</a:t>
            </a:r>
            <a:r>
              <a:rPr sz="2000" b="0" i="0">
                <a:solidFill>
                  <a:srgbClr val="2D2D2D"/>
                </a:solidFill>
                <a:latin typeface="Arial"/>
              </a:rPr>
              <a:t>,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xuất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CSV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cho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MISA SME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1335024"/>
            <a:ext cx="39319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Ngoài phạm vi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1719072"/>
            <a:ext cx="393192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Tính lương, kết nối hai chiều với kế toán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Tuyển dụng, KPI, đào tạo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Nghiệp vụ bảo hiểm và thuế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96512"/>
            <a:ext cx="8229600" cy="420624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1792" y="4096512"/>
            <a:ext cx="7900416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600" b="1" i="0">
                <a:solidFill>
                  <a:srgbClr val="1F4E79"/>
                </a:solidFill>
                <a:latin typeface="Arial"/>
              </a:rPr>
              <a:t>Chuẩn tuân thủ: </a:t>
            </a:r>
            <a:r>
              <a:rPr sz="1600" b="0" i="0">
                <a:solidFill>
                  <a:srgbClr val="2D2D2D"/>
                </a:solidFill>
                <a:latin typeface="Arial"/>
              </a:rPr>
              <a:t>ISO/IEC 25010 · OWASP Top 10 · BLLĐ 2019 · NĐ 13/2023/NĐ-CP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Nguồn: Tôn chỉ dự án (PL1), mục Phạm vi và ràng buộc.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03 Khả thi</a:t>
            </a:r>
          </a:p>
        </p:txBody>
      </p:sp>
      <p:sp>
        <p:nvSpPr>
          <p:cNvPr id="6" name="Rectangle 5"/>
          <p:cNvSpPr/>
          <p:nvPr/>
        </p:nvSpPr>
        <p:spPr>
          <a:xfrm>
            <a:off x="1762298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Dự án khả thi cả bốn mặt: hoàn vốn sau 49–52 tháng và ROI 5 năm đạt 17–25%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1480" y="1335024"/>
          <a:ext cx="507492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023360"/>
            <a:ext cx="4892040" cy="365760"/>
          </a:xfrm>
          <a:prstGeom prst="roundRect">
            <a:avLst>
              <a:gd name="adj" fmla="val 14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023360"/>
            <a:ext cx="4636007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7A5200"/>
                </a:solidFill>
                <a:latin typeface="Arial"/>
              </a:rPr>
              <a:t>Lợi ích lũy kế vượt mức đầu tư 640 triệu trong năm thứ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335024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Bốn khía cạnh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1719072"/>
            <a:ext cx="3017520" cy="2834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Kỹ thuật: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React, FastAPI, PostgreSQL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Kinh tế: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tiết kiệm 150–200 tr/năm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Nguồn lực: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290,4/300 ngày công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Pháp lý: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hỗ trợ tuân thủ luật lao động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Thuyết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minh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đề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tài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(PL1),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mục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Phân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tích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khả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thi</a:t>
            </a:r>
            <a:r>
              <a:rPr sz="1300" b="0" i="0">
                <a:solidFill>
                  <a:srgbClr val="777777"/>
                </a:solidFill>
                <a:latin typeface="Arial"/>
              </a:rPr>
              <a:t>; chi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phí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vận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hành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30–40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triệu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đồng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/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năm</a:t>
            </a:r>
            <a:r>
              <a:rPr sz="1300" b="0" i="0">
                <a:solidFill>
                  <a:srgbClr val="777777"/>
                </a:solidFill>
                <a:latin typeface="Arial"/>
              </a:rPr>
              <a:t>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04 Chức năng</a:t>
            </a:r>
          </a:p>
        </p:txBody>
      </p:sp>
      <p:sp>
        <p:nvSpPr>
          <p:cNvPr id="7" name="Rectangle 6"/>
          <p:cNvSpPr/>
          <p:nvPr/>
        </p:nvSpPr>
        <p:spPr>
          <a:xfrm>
            <a:off x="2593570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Ba module với 12 ca sử dụng, triển khai tuần tự M0 → M1 → M2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1335024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1335024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1426464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Arial"/>
              </a:rPr>
              <a:t>M0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1901952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UC01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1335024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Đăng nhập, phân quyền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31920" y="1335024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Quản lý tài khoản · Phân quyền vai trò · Nhật ký truy cập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359152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2359152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2450592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Arial"/>
              </a:rPr>
              <a:t>M1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2926080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UC02–UC06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91640" y="2359152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Hồ sơ, hợp đồng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2359152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Hồ sơ nhân viên · Điều chuyển, nghỉ việc · Cảnh báo hạn hợp đồng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57200" y="3383280"/>
            <a:ext cx="54864" cy="9144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3474720"/>
            <a:ext cx="868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600" b="1" i="0">
                <a:solidFill>
                  <a:srgbClr val="1F4E79"/>
                </a:solidFill>
                <a:latin typeface="Arial"/>
              </a:rPr>
              <a:t>M2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3950208"/>
            <a:ext cx="86868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UC07–UC12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91640" y="3383280"/>
            <a:ext cx="210312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1" i="0">
                <a:solidFill>
                  <a:srgbClr val="2E75B6"/>
                </a:solidFill>
                <a:latin typeface="Arial"/>
              </a:rPr>
              <a:t>Ca làm việc, chấm công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338328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Phân ca, đồng bộ chấm công · Đơn nghỉ phép, làm thêm · Chốt bảng công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Người dùng: HR Admin · Manager · Employee. Tác nhân: máy chấm công, bộ hẹn giờ (PL4).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05 Nhân lực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4843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05 thành viên gánh 290,4 ngày công, đạt mức sử dụng năng lực 96,8%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57200" y="1335024"/>
          <a:ext cx="5394960" cy="3013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Thành viên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Vai trò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Hệ số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Ngày công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Thành tiền (đ)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Trần Đức Cường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Giám đốc dự án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0,75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57,6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109.296.000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Lê Xuân Bách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Kiến trúc sư, lập trình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0,60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57,8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87.740.400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Bùi Tiến 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DevOps, kiểm thử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0,60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58,7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89.106.600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Nguyễn Phương Thảo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Phân tích nghiệp vụ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0,55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58,1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80.846.150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Mai Công Trà Giang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Khảo sát, UAT, đào tạo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0,55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58,2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80.985.300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290,4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447.974.450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989320" y="1335024"/>
            <a:ext cx="2697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Nguyên tắc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1719072"/>
            <a:ext cx="2780280" cy="26673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 err="1">
                <a:solidFill>
                  <a:srgbClr val="2D2D2D"/>
                </a:solidFill>
                <a:latin typeface="Arial"/>
              </a:rPr>
              <a:t>Mỗi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gói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việc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có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01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người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chịu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trách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nhiệm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chính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 err="1">
                <a:solidFill>
                  <a:srgbClr val="2D2D2D"/>
                </a:solidFill>
                <a:latin typeface="Arial"/>
              </a:rPr>
              <a:t>Trần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tải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≤ 60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ngày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công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mỗi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người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8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Quản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lý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bằng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ma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trận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vai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trò-trách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nhiệm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RACI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Nguồn: WBS và Bảng kinh phí công việc (PL2); định mức hệ số × 2.530.000 đ/ngày công.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06 Lịch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6116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Lịch 06 tháng chia 06 giai đoạn và 08 cột mốc; Tết 2027 là ràng buộc lớn nhất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11680" y="1536192"/>
            <a:ext cx="1097280" cy="24505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011680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1536192"/>
            <a:ext cx="1097280" cy="24505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206240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1536192"/>
            <a:ext cx="1097280" cy="2450592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0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T1/27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98079" y="1316736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77777"/>
                </a:solidFill>
                <a:latin typeface="Arial"/>
              </a:rPr>
              <a:t>T2/27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1316736"/>
            <a:ext cx="795528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100" b="0" i="0">
                <a:solidFill>
                  <a:srgbClr val="777777"/>
                </a:solidFill>
                <a:latin typeface="Arial"/>
              </a:rPr>
              <a:t>ngày công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1572768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2D2D2D"/>
                </a:solidFill>
                <a:latin typeface="Arial"/>
              </a:rPr>
              <a:t>Khởi tạo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1572768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7,9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048256" y="1613916"/>
            <a:ext cx="402336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7200" y="181051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2D2D2D"/>
                </a:solidFill>
                <a:latin typeface="Arial"/>
              </a:rPr>
              <a:t>Lập kế hoạch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1810512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34,3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87168" y="1851660"/>
            <a:ext cx="978408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7200" y="204825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1. Phạm vi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2048256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14,9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02152" y="2089404"/>
            <a:ext cx="475488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57200" y="228600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2. Phân tích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2286000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41,0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014215" y="2327148"/>
            <a:ext cx="1490472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7200" y="25237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3. Thiết kế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71600" y="2523744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36,6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41264" y="2564891"/>
            <a:ext cx="73152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7200" y="2761487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4. Phát triển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371600" y="2761487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60,4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0216" y="2802635"/>
            <a:ext cx="1234440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2999231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5. Kiểm thử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2999231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28,8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24344" y="3040379"/>
            <a:ext cx="758952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57200" y="3236975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1" i="0">
                <a:solidFill>
                  <a:srgbClr val="2D2D2D"/>
                </a:solidFill>
                <a:latin typeface="Arial"/>
              </a:rPr>
              <a:t>6. Triển khai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1600" y="3236975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37,5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827264" y="3278123"/>
            <a:ext cx="758952" cy="1371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57200" y="3474719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2D2D2D"/>
                </a:solidFill>
                <a:latin typeface="Arial"/>
              </a:rPr>
              <a:t>Kết thúc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3474719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8,7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75904" y="3515867"/>
            <a:ext cx="219456" cy="1371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57200" y="3712463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200" b="0" i="0">
                <a:solidFill>
                  <a:srgbClr val="2D2D2D"/>
                </a:solidFill>
                <a:latin typeface="Arial"/>
              </a:rPr>
              <a:t>Giám sát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371600" y="3712463"/>
            <a:ext cx="612648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200" b="0" i="0">
                <a:solidFill>
                  <a:srgbClr val="777777"/>
                </a:solidFill>
                <a:latin typeface="Arial"/>
              </a:rPr>
              <a:t>20,3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011680" y="3753611"/>
            <a:ext cx="6583680" cy="137160"/>
          </a:xfrm>
          <a:prstGeom prst="rect">
            <a:avLst/>
          </a:prstGeom>
          <a:solidFill>
            <a:srgbClr val="BDD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7" name="Diamond 56"/>
          <p:cNvSpPr/>
          <p:nvPr/>
        </p:nvSpPr>
        <p:spPr>
          <a:xfrm>
            <a:off x="2368296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2212848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M1</a:t>
            </a:r>
          </a:p>
        </p:txBody>
      </p:sp>
      <p:sp>
        <p:nvSpPr>
          <p:cNvPr id="59" name="Diamond 58"/>
          <p:cNvSpPr/>
          <p:nvPr/>
        </p:nvSpPr>
        <p:spPr>
          <a:xfrm>
            <a:off x="3383280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27832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M2</a:t>
            </a:r>
          </a:p>
        </p:txBody>
      </p:sp>
      <p:sp>
        <p:nvSpPr>
          <p:cNvPr id="61" name="Diamond 60"/>
          <p:cNvSpPr/>
          <p:nvPr/>
        </p:nvSpPr>
        <p:spPr>
          <a:xfrm>
            <a:off x="5422392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266944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M3</a:t>
            </a:r>
          </a:p>
        </p:txBody>
      </p:sp>
      <p:sp>
        <p:nvSpPr>
          <p:cNvPr id="63" name="Diamond 62"/>
          <p:cNvSpPr/>
          <p:nvPr/>
        </p:nvSpPr>
        <p:spPr>
          <a:xfrm>
            <a:off x="6181344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025896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M4</a:t>
            </a:r>
          </a:p>
        </p:txBody>
      </p:sp>
      <p:sp>
        <p:nvSpPr>
          <p:cNvPr id="65" name="Diamond 64"/>
          <p:cNvSpPr/>
          <p:nvPr/>
        </p:nvSpPr>
        <p:spPr>
          <a:xfrm>
            <a:off x="7461504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306056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M5</a:t>
            </a:r>
          </a:p>
        </p:txBody>
      </p:sp>
      <p:sp>
        <p:nvSpPr>
          <p:cNvPr id="67" name="Diamond 66"/>
          <p:cNvSpPr/>
          <p:nvPr/>
        </p:nvSpPr>
        <p:spPr>
          <a:xfrm>
            <a:off x="8001000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845552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M6</a:t>
            </a:r>
          </a:p>
        </p:txBody>
      </p:sp>
      <p:sp>
        <p:nvSpPr>
          <p:cNvPr id="69" name="Diamond 68"/>
          <p:cNvSpPr/>
          <p:nvPr/>
        </p:nvSpPr>
        <p:spPr>
          <a:xfrm>
            <a:off x="8211312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8055864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M7</a:t>
            </a:r>
          </a:p>
        </p:txBody>
      </p:sp>
      <p:sp>
        <p:nvSpPr>
          <p:cNvPr id="71" name="Diamond 70"/>
          <p:cNvSpPr/>
          <p:nvPr/>
        </p:nvSpPr>
        <p:spPr>
          <a:xfrm>
            <a:off x="8476488" y="4041647"/>
            <a:ext cx="118872" cy="118872"/>
          </a:xfrm>
          <a:prstGeom prst="diamond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321040" y="4197095"/>
            <a:ext cx="429768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100" b="1" i="0">
                <a:solidFill>
                  <a:srgbClr val="1F4E79"/>
                </a:solidFill>
                <a:latin typeface="Arial"/>
              </a:rPr>
              <a:t>M8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583680" y="1609344"/>
            <a:ext cx="2011680" cy="329184"/>
          </a:xfrm>
          <a:prstGeom prst="roundRect">
            <a:avLst>
              <a:gd name="adj" fmla="val 14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711696" y="1609344"/>
            <a:ext cx="1755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200" b="1" i="0">
                <a:solidFill>
                  <a:srgbClr val="7A5200"/>
                </a:solidFill>
                <a:latin typeface="Arial"/>
              </a:rPr>
              <a:t>Tết 2027 rơi vào M5–M6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WBS (PL2),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ước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lượng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PERT,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đường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găng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trên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MS Project. Thanh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đậm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=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giai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đoạn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phát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triển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.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07 Kinh phí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87389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Dự toán 640 triệu đồng, 70% là chi phí nhân công; thanh toán 06 đợt theo cột mốc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11480" y="1335024"/>
          <a:ext cx="48006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02920" y="4023360"/>
            <a:ext cx="4617720" cy="365760"/>
          </a:xfrm>
          <a:prstGeom prst="roundRect">
            <a:avLst>
              <a:gd name="adj" fmla="val 14000"/>
            </a:avLst>
          </a:prstGeom>
          <a:solidFill>
            <a:srgbClr val="FFF2CC"/>
          </a:solidFill>
          <a:ln w="12700">
            <a:solidFill>
              <a:srgbClr val="E6C8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" y="4023360"/>
            <a:ext cx="4361688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300" b="1" i="0">
                <a:solidFill>
                  <a:srgbClr val="7A5200"/>
                </a:solidFill>
                <a:latin typeface="Arial"/>
              </a:rPr>
              <a:t>Nhân công 447,97 triệu = 70% tổng dự toán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1335024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Nghĩa là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1719072"/>
            <a:ext cx="3246120" cy="21031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06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đợt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theo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cột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mốc</a:t>
            </a:r>
            <a:r>
              <a:rPr sz="2000" b="0" i="0">
                <a:solidFill>
                  <a:srgbClr val="2D2D2D"/>
                </a:solidFill>
                <a:latin typeface="Arial"/>
              </a:rPr>
              <a:t>: 20 – 15 – 15 – 25 – 20 – 5%</a:t>
            </a: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 err="1">
                <a:solidFill>
                  <a:srgbClr val="2D2D2D"/>
                </a:solidFill>
                <a:latin typeface="Arial"/>
              </a:rPr>
              <a:t>Dòng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tiền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không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âm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ở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mọi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tháng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(</a:t>
            </a:r>
            <a:r>
              <a:rPr lang="en-US" sz="2000" b="0" i="0" err="1">
                <a:solidFill>
                  <a:srgbClr val="2D2D2D"/>
                </a:solidFill>
                <a:latin typeface="Arial"/>
              </a:rPr>
              <a:t>thu</a:t>
            </a:r>
            <a:r>
              <a:rPr lang="en-US" sz="2000" b="0" i="0">
                <a:solidFill>
                  <a:srgbClr val="2D2D2D"/>
                </a:solidFill>
                <a:latin typeface="Arial"/>
              </a:rPr>
              <a:t> &gt; chi)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1000"/>
              </a:spcAft>
              <a:buFont typeface="Arial"/>
              <a:buChar char="▪"/>
            </a:pPr>
            <a:r>
              <a:rPr sz="2000" b="0" i="0" err="1">
                <a:solidFill>
                  <a:srgbClr val="2D2D2D"/>
                </a:solidFill>
                <a:latin typeface="Arial"/>
              </a:rPr>
              <a:t>Dự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phòng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57,03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triệu</a:t>
            </a:r>
            <a:r>
              <a:rPr sz="2000" b="0" i="0">
                <a:solidFill>
                  <a:srgbClr val="2D2D2D"/>
                </a:solidFill>
                <a:latin typeface="Arial"/>
              </a:rPr>
              <a:t>, PM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duyệt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≤ 10 tr/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lần</a:t>
            </a:r>
            <a:endParaRPr sz="2000" b="0" i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Bảng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kinh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phí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và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kế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hoạch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dòng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tiền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(PL2)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Chất lượng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18661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 err="1">
                <a:solidFill>
                  <a:srgbClr val="1F4E79"/>
                </a:solidFill>
                <a:latin typeface="Arial"/>
              </a:rPr>
              <a:t>Chất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lượng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đo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bằng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08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tiêu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chí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và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kiểm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soát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qua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quy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trình</a:t>
            </a:r>
            <a:r>
              <a:rPr sz="2400" b="1" i="0">
                <a:solidFill>
                  <a:srgbClr val="1F4E79"/>
                </a:solidFill>
                <a:latin typeface="Arial"/>
              </a:rPr>
              <a:t> 04 </a:t>
            </a:r>
            <a:r>
              <a:rPr sz="2400" b="1" i="0" err="1">
                <a:solidFill>
                  <a:srgbClr val="1F4E79"/>
                </a:solidFill>
                <a:latin typeface="Arial"/>
              </a:rPr>
              <a:t>bước</a:t>
            </a:r>
            <a:endParaRPr sz="2400" b="1" i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4023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Bốn tiêu chí trọng yếu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719072"/>
            <a:ext cx="4023360" cy="26622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 err="1">
                <a:solidFill>
                  <a:srgbClr val="2D2D2D"/>
                </a:solidFill>
                <a:latin typeface="Arial"/>
              </a:rPr>
              <a:t>Phù</a:t>
            </a:r>
            <a:r>
              <a:rPr sz="2000" b="1" i="0">
                <a:solidFill>
                  <a:srgbClr val="2D2D2D"/>
                </a:solidFill>
                <a:latin typeface="Arial"/>
              </a:rPr>
              <a:t>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hợp</a:t>
            </a:r>
            <a:r>
              <a:rPr sz="2000" b="1" i="0">
                <a:solidFill>
                  <a:srgbClr val="2D2D2D"/>
                </a:solidFill>
                <a:latin typeface="Arial"/>
              </a:rPr>
              <a:t>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chức</a:t>
            </a:r>
            <a:r>
              <a:rPr sz="2000" b="1" i="0">
                <a:solidFill>
                  <a:srgbClr val="2D2D2D"/>
                </a:solidFill>
                <a:latin typeface="Arial"/>
              </a:rPr>
              <a:t>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năng</a:t>
            </a:r>
            <a:r>
              <a:rPr sz="2000" b="1" i="0">
                <a:solidFill>
                  <a:srgbClr val="2D2D2D"/>
                </a:solidFill>
                <a:latin typeface="Arial"/>
              </a:rPr>
              <a:t>: </a:t>
            </a:r>
            <a:r>
              <a:rPr sz="2000" b="0" i="0">
                <a:solidFill>
                  <a:srgbClr val="2D2D2D"/>
                </a:solidFill>
                <a:latin typeface="Arial"/>
              </a:rPr>
              <a:t>100% ca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sử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dụng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đạt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System Test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Hiệu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năng</a:t>
            </a:r>
            <a:r>
              <a:rPr sz="2000" b="1" i="0">
                <a:solidFill>
                  <a:srgbClr val="2D2D2D"/>
                </a:solidFill>
                <a:latin typeface="Arial"/>
              </a:rPr>
              <a:t>: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phản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hồi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&lt; 2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giây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với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200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người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dùng</a:t>
            </a:r>
            <a:endParaRPr sz="2000" b="0" i="0">
              <a:solidFill>
                <a:srgbClr val="2D2D2D"/>
              </a:solidFill>
              <a:latin typeface="Arial"/>
            </a:endParaRP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>
                <a:solidFill>
                  <a:srgbClr val="2D2D2D"/>
                </a:solidFill>
                <a:latin typeface="Arial"/>
              </a:rPr>
              <a:t>Bảo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mật</a:t>
            </a:r>
            <a:r>
              <a:rPr sz="2000" b="1" i="0">
                <a:solidFill>
                  <a:srgbClr val="2D2D2D"/>
                </a:solidFill>
                <a:latin typeface="Arial"/>
              </a:rPr>
              <a:t>: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không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lỗ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</a:t>
            </a:r>
            <a:r>
              <a:rPr sz="2000" b="0" i="0" err="1">
                <a:solidFill>
                  <a:srgbClr val="2D2D2D"/>
                </a:solidFill>
                <a:latin typeface="Arial"/>
              </a:rPr>
              <a:t>hổng</a:t>
            </a:r>
            <a:r>
              <a:rPr sz="2000" b="0" i="0">
                <a:solidFill>
                  <a:srgbClr val="2D2D2D"/>
                </a:solidFill>
                <a:latin typeface="Arial"/>
              </a:rPr>
              <a:t> Critical/High (OWASP)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1" i="0" err="1">
                <a:solidFill>
                  <a:srgbClr val="2D2D2D"/>
                </a:solidFill>
                <a:latin typeface="Arial"/>
              </a:rPr>
              <a:t>Khả</a:t>
            </a:r>
            <a:r>
              <a:rPr sz="2000" b="1" i="0">
                <a:solidFill>
                  <a:srgbClr val="2D2D2D"/>
                </a:solidFill>
                <a:latin typeface="Arial"/>
              </a:rPr>
              <a:t> </a:t>
            </a:r>
            <a:r>
              <a:rPr sz="2000" b="1" i="0" err="1">
                <a:solidFill>
                  <a:srgbClr val="2D2D2D"/>
                </a:solidFill>
                <a:latin typeface="Arial"/>
              </a:rPr>
              <a:t>dụng</a:t>
            </a:r>
            <a:r>
              <a:rPr sz="2000" b="1" i="0">
                <a:solidFill>
                  <a:srgbClr val="2D2D2D"/>
                </a:solidFill>
                <a:latin typeface="Arial"/>
              </a:rPr>
              <a:t>: </a:t>
            </a:r>
            <a:r>
              <a:rPr b="0" i="0" err="1">
                <a:solidFill>
                  <a:srgbClr val="2D2D2D"/>
                </a:solidFill>
                <a:latin typeface="Arial"/>
              </a:rPr>
              <a:t>chốt</a:t>
            </a:r>
            <a:r>
              <a:rPr b="0" i="0">
                <a:solidFill>
                  <a:srgbClr val="2D2D2D"/>
                </a:solidFill>
                <a:latin typeface="Arial"/>
              </a:rPr>
              <a:t> </a:t>
            </a:r>
            <a:r>
              <a:rPr b="0" i="0" err="1">
                <a:solidFill>
                  <a:srgbClr val="2D2D2D"/>
                </a:solidFill>
                <a:latin typeface="Arial"/>
              </a:rPr>
              <a:t>công</a:t>
            </a:r>
            <a:r>
              <a:rPr b="0" i="0">
                <a:solidFill>
                  <a:srgbClr val="2D2D2D"/>
                </a:solidFill>
                <a:latin typeface="Arial"/>
              </a:rPr>
              <a:t> ≤ 30 </a:t>
            </a:r>
            <a:r>
              <a:rPr b="0" i="0" err="1">
                <a:solidFill>
                  <a:srgbClr val="2D2D2D"/>
                </a:solidFill>
                <a:latin typeface="Arial"/>
              </a:rPr>
              <a:t>phút</a:t>
            </a:r>
            <a:r>
              <a:rPr b="0" i="0">
                <a:solidFill>
                  <a:srgbClr val="2D2D2D"/>
                </a:solidFill>
                <a:latin typeface="Arial"/>
              </a:rPr>
              <a:t>, </a:t>
            </a:r>
            <a:r>
              <a:rPr lang="en-US" err="1">
                <a:solidFill>
                  <a:srgbClr val="2D2D2D"/>
                </a:solidFill>
                <a:latin typeface="Arial"/>
              </a:rPr>
              <a:t>điểm</a:t>
            </a:r>
            <a:r>
              <a:rPr lang="en-US">
                <a:solidFill>
                  <a:srgbClr val="2D2D2D"/>
                </a:solidFill>
                <a:latin typeface="Arial"/>
              </a:rPr>
              <a:t> </a:t>
            </a:r>
            <a:r>
              <a:rPr lang="en-US" err="1">
                <a:solidFill>
                  <a:srgbClr val="2D2D2D"/>
                </a:solidFill>
                <a:latin typeface="Arial"/>
              </a:rPr>
              <a:t>khảo</a:t>
            </a:r>
            <a:r>
              <a:rPr lang="en-US">
                <a:solidFill>
                  <a:srgbClr val="2D2D2D"/>
                </a:solidFill>
                <a:latin typeface="Arial"/>
              </a:rPr>
              <a:t> </a:t>
            </a:r>
            <a:r>
              <a:rPr lang="en-US" err="1">
                <a:solidFill>
                  <a:srgbClr val="2D2D2D"/>
                </a:solidFill>
                <a:latin typeface="Arial"/>
              </a:rPr>
              <a:t>sát</a:t>
            </a:r>
            <a:r>
              <a:rPr lang="en-US">
                <a:solidFill>
                  <a:srgbClr val="2D2D2D"/>
                </a:solidFill>
                <a:latin typeface="Arial"/>
              </a:rPr>
              <a:t> </a:t>
            </a:r>
            <a:r>
              <a:rPr lang="en-US" err="1">
                <a:solidFill>
                  <a:srgbClr val="2D2D2D"/>
                </a:solidFill>
                <a:latin typeface="Arial"/>
              </a:rPr>
              <a:t>người</a:t>
            </a:r>
            <a:r>
              <a:rPr lang="en-US">
                <a:solidFill>
                  <a:srgbClr val="2D2D2D"/>
                </a:solidFill>
                <a:latin typeface="Arial"/>
              </a:rPr>
              <a:t> dung </a:t>
            </a:r>
            <a:r>
              <a:rPr b="0" i="0">
                <a:solidFill>
                  <a:srgbClr val="2D2D2D"/>
                </a:solidFill>
                <a:latin typeface="Arial"/>
              </a:rPr>
              <a:t>SUS ≥ 70</a:t>
            </a:r>
            <a:endParaRPr sz="2000" b="0" i="0">
              <a:solidFill>
                <a:srgbClr val="2D2D2D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46320" y="1335024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Quy trình kiểm soát</a:t>
            </a:r>
          </a:p>
        </p:txBody>
      </p:sp>
      <p:sp>
        <p:nvSpPr>
          <p:cNvPr id="20" name="Oval 19"/>
          <p:cNvSpPr/>
          <p:nvPr/>
        </p:nvSpPr>
        <p:spPr>
          <a:xfrm>
            <a:off x="4846320" y="1828800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846320" y="182880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13248" y="1719072"/>
            <a:ext cx="32735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Tự kiểm theo checklist</a:t>
            </a:r>
          </a:p>
        </p:txBody>
      </p:sp>
      <p:sp>
        <p:nvSpPr>
          <p:cNvPr id="23" name="Oval 22"/>
          <p:cNvSpPr/>
          <p:nvPr/>
        </p:nvSpPr>
        <p:spPr>
          <a:xfrm>
            <a:off x="4846320" y="2523744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46320" y="252374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13248" y="2414015"/>
            <a:ext cx="32735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Peer review chéo 100% sản phẩm</a:t>
            </a:r>
          </a:p>
        </p:txBody>
      </p:sp>
      <p:sp>
        <p:nvSpPr>
          <p:cNvPr id="26" name="Oval 25"/>
          <p:cNvSpPr/>
          <p:nvPr/>
        </p:nvSpPr>
        <p:spPr>
          <a:xfrm>
            <a:off x="4846320" y="3218687"/>
            <a:ext cx="384048" cy="384048"/>
          </a:xfrm>
          <a:prstGeom prst="ellipse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218687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13248" y="3108959"/>
            <a:ext cx="32735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Giám đốc dự án rà soát baseline</a:t>
            </a:r>
          </a:p>
        </p:txBody>
      </p:sp>
      <p:sp>
        <p:nvSpPr>
          <p:cNvPr id="29" name="Oval 28"/>
          <p:cNvSpPr/>
          <p:nvPr/>
        </p:nvSpPr>
        <p:spPr>
          <a:xfrm>
            <a:off x="4846320" y="3913631"/>
            <a:ext cx="384048" cy="384048"/>
          </a:xfrm>
          <a:prstGeom prst="ellipse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846320" y="3913631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3803903"/>
            <a:ext cx="3273552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Nghiệm thu nội bộ có biên bản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Kiểm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thử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V-Model: Unit → Integration → System → UAT.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Rủi ro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49934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08 Kết quả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863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15 rủi ro được nhận diện; 04 rủi ro hạng A đều đã có chủ sở hữu và biện pháp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1335024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Phân hạng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1719072"/>
            <a:ext cx="2286000" cy="56692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1F4E79"/>
                </a:solidFill>
                <a:latin typeface="Arial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1719072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Hạng 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377439"/>
            <a:ext cx="2286000" cy="56692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4360" y="2377439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2377439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Hạng 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035807"/>
            <a:ext cx="2286000" cy="566928"/>
          </a:xfrm>
          <a:prstGeom prst="rect">
            <a:avLst/>
          </a:prstGeom>
          <a:solidFill>
            <a:srgbClr val="EBF3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035807"/>
            <a:ext cx="64008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777777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3035807"/>
            <a:ext cx="1371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000" b="0" i="0">
                <a:solidFill>
                  <a:srgbClr val="2D2D2D"/>
                </a:solidFill>
                <a:latin typeface="Arial"/>
              </a:rPr>
              <a:t>Hạng C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2971800" y="1335024"/>
          <a:ext cx="57150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Mã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Rủi ro hạng A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Điểm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Chủ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Ứng phó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R01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Dữ liệu nguồn không sạch làm chậm chuyển đổi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Thảo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Giảm thiểu: làm sạch, khử trùng lặp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R02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Tết 2027 trùng kiểm thử, UAT, đào tạo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Cường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Né tránh: đưa UAT, đào tạo lên trước Tết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R03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Thiếu đầu mối có thẩm quyền xác nhận yêu cầu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Cường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Né tránh: chỉ định đầu mối trước M3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R04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94 công nhân ngại đổi cách chấm công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Giang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Giảm thiểu: đào tạo theo vai trò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Nguồn: PL6. Hạng A = 15–25 điểm, B = 8–14, C = 1–7; dự phòng 57,03 triệu.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56032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01 Dự 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1272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02 Mục tiêu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2545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03 Khả thi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93818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04 Chức năng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5090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05 Nhân lực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56363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06 Lịch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7636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07 Kinh phí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18909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Chất lượng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0181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Rủi 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81454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1" i="0">
                <a:solidFill>
                  <a:srgbClr val="2E75B6"/>
                </a:solidFill>
                <a:latin typeface="Arial"/>
              </a:rPr>
              <a:t>08 Kết quả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1207" y="214884"/>
            <a:ext cx="631767" cy="41148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12727" y="45720"/>
            <a:ext cx="83127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  <a:buNone/>
            </a:pPr>
            <a:r>
              <a:rPr sz="900" b="0" i="0">
                <a:solidFill>
                  <a:srgbClr val="777777"/>
                </a:solidFill>
                <a:latin typeface="Arial"/>
              </a:rPr>
              <a:t>09 Kết luận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65760"/>
            <a:ext cx="82296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US" sz="2400" b="1" i="0" dirty="0">
                <a:solidFill>
                  <a:srgbClr val="1F4E79"/>
                </a:solidFill>
                <a:latin typeface="Arial"/>
              </a:rPr>
              <a:t>06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sản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phẩm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quản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trị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đã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hoàn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thành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và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số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liệu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đối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chiếu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chéo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nhất</a:t>
            </a:r>
            <a:r>
              <a:rPr sz="2400" b="1" i="0" dirty="0">
                <a:solidFill>
                  <a:srgbClr val="1F4E79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1F4E79"/>
                </a:solidFill>
                <a:latin typeface="Arial"/>
              </a:rPr>
              <a:t>quán</a:t>
            </a:r>
            <a:endParaRPr sz="2400" b="1" i="0" dirty="0">
              <a:solidFill>
                <a:srgbClr val="1F4E79"/>
              </a:solidFill>
              <a:latin typeface="Arial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207008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26987"/>
              </p:ext>
            </p:extLst>
          </p:nvPr>
        </p:nvGraphicFramePr>
        <p:xfrm>
          <a:off x="457200" y="1335024"/>
          <a:ext cx="5120640" cy="30854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882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Sản phẩm quản trị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Giai đoạn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Tình trạng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PL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Thuyết minh đề tài; Tôn chỉ dự án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Khởi tạo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PL1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WBS; kinh phí, dự toán, dòng tiền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Lập kế hoạch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PL2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 chất lượng, nguồn lực, RACI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Lập kế hoạch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PL5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 rủi ro, thời gian, hợp đồng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Lập kế hoạch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PL6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882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Báo </a:t>
                      </a:r>
                      <a:r>
                        <a:rPr sz="1300" b="0" err="1">
                          <a:solidFill>
                            <a:srgbClr val="2D2D2D"/>
                          </a:solidFill>
                          <a:latin typeface="Arial"/>
                        </a:rPr>
                        <a:t>cáo</a:t>
                      </a:r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 </a:t>
                      </a:r>
                      <a:r>
                        <a:rPr sz="1300" b="0" err="1">
                          <a:solidFill>
                            <a:srgbClr val="2D2D2D"/>
                          </a:solidFill>
                          <a:latin typeface="Arial"/>
                        </a:rPr>
                        <a:t>khảo</a:t>
                      </a:r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 </a:t>
                      </a:r>
                      <a:r>
                        <a:rPr sz="1300" b="0" err="1">
                          <a:solidFill>
                            <a:srgbClr val="2D2D2D"/>
                          </a:solidFill>
                          <a:latin typeface="Arial"/>
                        </a:rPr>
                        <a:t>sát</a:t>
                      </a:r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 </a:t>
                      </a:r>
                      <a:r>
                        <a:rPr sz="1300" b="0" err="1">
                          <a:solidFill>
                            <a:srgbClr val="2D2D2D"/>
                          </a:solidFill>
                          <a:latin typeface="Arial"/>
                        </a:rPr>
                        <a:t>hiện</a:t>
                      </a:r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 </a:t>
                      </a:r>
                      <a:r>
                        <a:rPr sz="1300" b="0" err="1">
                          <a:solidFill>
                            <a:srgbClr val="2D2D2D"/>
                          </a:solidFill>
                          <a:latin typeface="Arial"/>
                        </a:rPr>
                        <a:t>trạng</a:t>
                      </a:r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 As-Is</a:t>
                      </a:r>
                      <a:r>
                        <a:rPr lang="en-US" sz="1300" b="0">
                          <a:solidFill>
                            <a:srgbClr val="2D2D2D"/>
                          </a:solidFill>
                          <a:latin typeface="Arial"/>
                        </a:rPr>
                        <a:t>, SRS, RTM</a:t>
                      </a:r>
                      <a:endParaRPr sz="1300" b="0">
                        <a:solidFill>
                          <a:srgbClr val="2D2D2D"/>
                        </a:solidFill>
                        <a:latin typeface="Arial"/>
                      </a:endParaRP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Phân tích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PL3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882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Báo cáo phân tích, thiết kế hệ thống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Thiết kế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Hoàn thành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PL4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806440" y="133502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1" i="0">
                <a:solidFill>
                  <a:srgbClr val="2E75B6"/>
                </a:solidFill>
                <a:latin typeface="Arial"/>
              </a:rPr>
              <a:t>Đối chiếu chéo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6440" y="1719072"/>
            <a:ext cx="2880360" cy="2743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Ngày công WBS = kinh phí = 290,4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Tổng dự toán khớp 640 triệu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08 cột mốc khớp 06 đợt thanh toán</a:t>
            </a:r>
          </a:p>
          <a:p>
            <a:pPr marL="171450" indent="-171450" algn="l">
              <a:spcAft>
                <a:spcPts val="600"/>
              </a:spcAft>
              <a:buFont typeface="Arial"/>
              <a:buChar char="▪"/>
            </a:pPr>
            <a:r>
              <a:rPr sz="2000" b="0" i="0">
                <a:solidFill>
                  <a:srgbClr val="2D2D2D"/>
                </a:solidFill>
                <a:latin typeface="Arial"/>
              </a:rPr>
              <a:t>12 ca sử dụng khớp ma trận RTM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Báo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cáo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tổng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hợp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và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các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phụ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lục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PL1–PL6.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200" b="0" i="0">
                <a:solidFill>
                  <a:srgbClr val="A0BBDD"/>
                </a:solidFill>
                <a:latin typeface="Arial"/>
              </a:rPr>
              <a:t>09 · Kết luận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94944"/>
            <a:ext cx="8229600" cy="36576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017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1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</a:rPr>
              <a:t>1. Kế hoạch truy vết được: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137 gói công việc → 290,4 ngày công → 640 triệu đồng → 08 cột mốc.</a:t>
            </a:r>
          </a:p>
          <a:p>
            <a:pPr algn="l">
              <a:spcAft>
                <a:spcPts val="1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</a:rPr>
              <a:t>2. Nhu cầu đã được lượng hóa: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217 triệu đồng thiệt hại ẩn mỗi năm, hoàn vốn sau 49–52 tháng.</a:t>
            </a:r>
          </a:p>
          <a:p>
            <a:pPr algn="l">
              <a:spcAft>
                <a:spcPts val="1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</a:rPr>
              <a:t>3. Phạm vi và rủi ro đã khóa: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03 module kiểm soát qua CCB; 04 rủi ro hạng A đã có chủ sở hữu.</a:t>
            </a:r>
          </a:p>
          <a:p>
            <a:pPr algn="l">
              <a:spcAft>
                <a:spcPts val="1400"/>
              </a:spcAft>
              <a:buNone/>
            </a:pPr>
            <a:r>
              <a:rPr sz="2000" b="1" i="0">
                <a:solidFill>
                  <a:srgbClr val="FFFFFF"/>
                </a:solidFill>
                <a:latin typeface="Arial"/>
              </a:rPr>
              <a:t>4. Giá trị sau go-live: </a:t>
            </a:r>
            <a:r>
              <a:rPr sz="2000" b="0" i="0">
                <a:solidFill>
                  <a:srgbClr val="FFFFFF"/>
                </a:solidFill>
                <a:latin typeface="Arial"/>
              </a:rPr>
              <a:t>chốt công còn 1–2 ngày, cảnh báo hợp đồng và làm thêm giờ tự động.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500" b="0" i="0">
                <a:solidFill>
                  <a:srgbClr val="A0BBDD"/>
                </a:solidFill>
                <a:latin typeface="Arial"/>
              </a:rPr>
              <a:t>Hướng phát triển: mở rộng sang tính lương, tuyển dụng, KPI và đào tạo thành các dự án tiếp theo.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A0BBDD"/>
                </a:solidFill>
                <a:latin typeface="Arial"/>
              </a:rPr>
              <a:t>Nhóm 02 – B2CQ-CNTT-K69(01) · Đại học Bách khoa Hà Nội · Hồ sơ dự án: Phụ lục PL1–PL6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A0BBDD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77840" y="0"/>
            <a:ext cx="3566160" cy="5143500"/>
          </a:xfrm>
          <a:prstGeom prst="rect">
            <a:avLst/>
          </a:prstGeom>
          <a:solidFill>
            <a:srgbClr val="D67052"/>
          </a:solidFill>
          <a:ln/>
        </p:spPr>
        <p:txBody>
          <a:bodyPr/>
          <a:lstStyle/>
          <a:p>
            <a:endParaRPr lang="en-GB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7880" y="1097280"/>
            <a:ext cx="2926080" cy="29260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3716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HỎI &amp; ĐÁP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457200" y="1645920"/>
            <a:ext cx="4846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2B2A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Cảm ơn thầy cô và các bạn đã lắng nghe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926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i="1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anose="020B0604020202020204" pitchFamily="34" charset="0"/>
                <a:ea typeface="Georgia" pitchFamily="34" charset="-122"/>
                <a:cs typeface="Arial" panose="020B0604020202020204" pitchFamily="34" charset="0"/>
              </a:rPr>
              <a:t>Nhóm 02 sẵn sàng trả lời câu hỏi</a:t>
            </a:r>
            <a:endParaRPr lang="en-US" sz="1600" dirty="0">
              <a:solidFill>
                <a:schemeClr val="tx2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457200" y="34290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F6A6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Cường · Bách · Thành · Thảo · Giang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1">
                <a:solidFill>
                  <a:srgbClr val="777777"/>
                </a:solidFill>
                <a:latin typeface="Arial"/>
              </a:rPr>
              <a:t>Phụ lục A — Sản phẩm và minh chứng theo giai đoạn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Mỗi giai đoạn khép lại bằng một cột mốc và một bộ minh chứng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99616"/>
          <a:ext cx="8229600" cy="3065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Giai đoạn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Thời gian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Phụ trách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Sản phẩm chính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Mốc / PL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1. Xác định phạm vi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12/10 – 24/10/2026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Thành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Chọn công nghệ; 03 môi trường, CI/CD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PL1, PL2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2. Phân tích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26/10 – 04/12/2026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Giang, Thảo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Khảo sát As-Is; SRS, RTM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M3 · PL3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3. Thiết kế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07/12 – 25/12/2026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UML, ERD, kiến trúc, giao diện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M4 · PL4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4. Phát triển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28/12/2026 – 29/01/2027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Bách, Thành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03 increment M0/M1/M2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M5 · PL2, PL5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5. Kiểm thử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25/01 – 12/02/2027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Thành, Giang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Unit, Integration, System, UAT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M6 · PL5, PL6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6. Triển khai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08/02 – 28/02/2027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Thảo, Giang, Bách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Chuyển đổi dữ liệu, đào tạo, go-live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M7 · PL6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Bảng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phân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rã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công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việc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(PL2)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và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Kế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hoạch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quản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lý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thời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gian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(PL6)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1">
                <a:solidFill>
                  <a:srgbClr val="777777"/>
                </a:solidFill>
                <a:latin typeface="Arial"/>
              </a:rPr>
              <a:t>Phụ lục B — Bộ 08 tiêu chí chất lượng ISO/IEC 25010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Cả 08 tiêu chí đều có ngưỡng đo được và nghiệm thu bằng minh chứng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99616"/>
          <a:ext cx="8229600" cy="3052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12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Tiêu chí ISO/IEC 25010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Ngưỡng chấp nhận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Minh chứng nghiệm thu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Phù hợp chức năng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100% ca sử dụng đạt System 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Biên bản System Test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Hiệu năng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&lt; 2 giây với 200 người dùng đồng thời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Báo cáo kiểm thử tải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Khả dụng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Chốt công ≤ 30 phút; SUS ≥ 70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Biên bản UAT, phiếu SUS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Tin cậy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Sẵn sàng ≥ 99% trong 30 ngày hyper-care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Nhật ký giám sát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Bảo mật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Không lỗ hổng Critical/High (OWASP)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Báo cáo quét bảo mật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Bảo trì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100% commit qua pull request có review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Lịch sử pull request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Tương thích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Chrome, Edge, Firefox; CSV cho Kế toán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Ma trận kiểm thử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Khả chuyển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Tái lập môi trường trong ≤ 02 giờ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Kịch bản dựng môi trường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63440"/>
            <a:ext cx="76809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Nguồn: Kế hoạch quản lý chất lượng (PL5); ISO/IEC 25010:2011; OWASP Top 10 (2021).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400" b="0" i="1">
                <a:solidFill>
                  <a:srgbClr val="777777"/>
                </a:solidFill>
                <a:latin typeface="Arial"/>
              </a:rPr>
              <a:t>Phụ lục C — Chi tiết lượng hóa điểm nghẽn hiện trạng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2400" b="1" i="0">
                <a:solidFill>
                  <a:srgbClr val="1F4E79"/>
                </a:solidFill>
                <a:latin typeface="Arial"/>
              </a:rPr>
              <a:t>Chi phí ẩn 217 triệu đồng mỗi năm tính từ thời gian thao tác thực đo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53312"/>
            <a:ext cx="8229600" cy="18288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499616"/>
          <a:ext cx="8229600" cy="293141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Điểm nghẽn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Cách lượng hóa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Chi phí ẩn (tr/năm)</a:t>
                      </a:r>
                    </a:p>
                  </a:txBody>
                  <a:tcPr marL="64008" marR="64008" marT="27432" marB="27432" anchor="ctr"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Chốt công tháng kéo dài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4–5 ngày công/tháng của HR và Kế toán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107,0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Không có self-service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Nhân viên hỏi đáp thủ công qua Zalo, email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54,0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Sai sót đối soát chấm công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Đối chiếu lại dữ liệu USB và bảng Excel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30,0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Không cảnh báo hạn HĐLĐ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01 ca bỏ sót 2 tháng, 02 ca gia hạn muộn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15,0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Báo cáo thủ công cho BGĐ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Tổng hợp số liệu từ nhiều bảng rời rạc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7,2</a:t>
                      </a:r>
                    </a:p>
                  </a:txBody>
                  <a:tcPr marL="64008" marR="64008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Dữ liệu phân mảnh 3 nơi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Nhập trùng và đối chiếu giữa 3 nguồn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D2D2D"/>
                          </a:solidFill>
                          <a:latin typeface="Arial"/>
                        </a:rPr>
                        <a:t>4,0</a:t>
                      </a:r>
                    </a:p>
                  </a:txBody>
                  <a:tcPr marL="64008" marR="64008" marT="27432" marB="27432" anchor="ctr"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Tổng cộng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Chưa tính rủi ro phạt 20–100 triệu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D2D2D"/>
                          </a:solidFill>
                          <a:latin typeface="Arial"/>
                        </a:rPr>
                        <a:t>217,2</a:t>
                      </a:r>
                    </a:p>
                  </a:txBody>
                  <a:tcPr marL="64008" marR="64008" marT="27432" marB="27432" anchor="ctr"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663440"/>
            <a:ext cx="768096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  <a:buNone/>
            </a:pPr>
            <a:r>
              <a:rPr sz="1300" b="0" i="0" err="1">
                <a:solidFill>
                  <a:srgbClr val="777777"/>
                </a:solidFill>
                <a:latin typeface="Arial"/>
              </a:rPr>
              <a:t>Nguồn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: Báo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cáo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khảo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sát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hiện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trạng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As-Is (PL3),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mục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Lượng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hóa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điểm</a:t>
            </a:r>
            <a:r>
              <a:rPr sz="1300" b="0" i="0">
                <a:solidFill>
                  <a:srgbClr val="777777"/>
                </a:solidFill>
                <a:latin typeface="Arial"/>
              </a:rPr>
              <a:t> </a:t>
            </a:r>
            <a:r>
              <a:rPr sz="1300" b="0" i="0" err="1">
                <a:solidFill>
                  <a:srgbClr val="777777"/>
                </a:solidFill>
                <a:latin typeface="Arial"/>
              </a:rPr>
              <a:t>nghẽn</a:t>
            </a:r>
            <a:r>
              <a:rPr sz="1300" b="0" i="0">
                <a:solidFill>
                  <a:srgbClr val="777777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466344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0"/>
              </a:spcAft>
              <a:buNone/>
            </a:pPr>
            <a:r>
              <a:rPr sz="1300" b="0" i="0">
                <a:solidFill>
                  <a:srgbClr val="777777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BB4CB8C644074DA8C0D9544B46C45A" ma:contentTypeVersion="10" ma:contentTypeDescription="Create a new document." ma:contentTypeScope="" ma:versionID="6cd6a6fc9d500661ae2c712001574a63">
  <xsd:schema xmlns:xsd="http://www.w3.org/2001/XMLSchema" xmlns:xs="http://www.w3.org/2001/XMLSchema" xmlns:p="http://schemas.microsoft.com/office/2006/metadata/properties" xmlns:ns2="6ab11da6-c5b9-49cb-ad83-ae21ec205006" xmlns:ns3="8620256f-1d2f-43d2-8d17-c8c02a124848" targetNamespace="http://schemas.microsoft.com/office/2006/metadata/properties" ma:root="true" ma:fieldsID="5a8690fc04d69f1d5e321c6403e17232" ns2:_="" ns3:_="">
    <xsd:import namespace="6ab11da6-c5b9-49cb-ad83-ae21ec205006"/>
    <xsd:import namespace="8620256f-1d2f-43d2-8d17-c8c02a1248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b11da6-c5b9-49cb-ad83-ae21ec2050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546fe6cf-c6c6-432e-bc3b-e1a865b285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20256f-1d2f-43d2-8d17-c8c02a124848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c5c2c83-07ff-4f8e-b7a6-caccdf7c6711}" ma:internalName="TaxCatchAll" ma:showField="CatchAllData" ma:web="8620256f-1d2f-43d2-8d17-c8c02a1248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ab11da6-c5b9-49cb-ad83-ae21ec205006">
      <Terms xmlns="http://schemas.microsoft.com/office/infopath/2007/PartnerControls"/>
    </lcf76f155ced4ddcb4097134ff3c332f>
    <TaxCatchAll xmlns="8620256f-1d2f-43d2-8d17-c8c02a124848" xsi:nil="true"/>
  </documentManagement>
</p:properties>
</file>

<file path=customXml/itemProps1.xml><?xml version="1.0" encoding="utf-8"?>
<ds:datastoreItem xmlns:ds="http://schemas.openxmlformats.org/officeDocument/2006/customXml" ds:itemID="{F76A0375-0B29-4EE9-AAD6-E3BBE74005F5}"/>
</file>

<file path=customXml/itemProps2.xml><?xml version="1.0" encoding="utf-8"?>
<ds:datastoreItem xmlns:ds="http://schemas.openxmlformats.org/officeDocument/2006/customXml" ds:itemID="{DF6F073B-F145-456D-BBE8-036F84C048F2}"/>
</file>

<file path=customXml/itemProps3.xml><?xml version="1.0" encoding="utf-8"?>
<ds:datastoreItem xmlns:ds="http://schemas.openxmlformats.org/officeDocument/2006/customXml" ds:itemID="{45E2FA02-DDF0-4F1A-A623-CBF9643C66C7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2947</Words>
  <Application>Microsoft Office PowerPoint</Application>
  <PresentationFormat>On-screen Show (16:9)</PresentationFormat>
  <Paragraphs>549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DUC CUONG TRAN</cp:lastModifiedBy>
  <cp:revision>4</cp:revision>
  <dcterms:created xsi:type="dcterms:W3CDTF">2013-01-27T09:14:16Z</dcterms:created>
  <dcterms:modified xsi:type="dcterms:W3CDTF">2026-09-18T14:25:39Z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0x01010007BB4CB8C644074DA8C0D9544B46C45A</vt:lpwstr>
  </property>
</Properties>
</file>