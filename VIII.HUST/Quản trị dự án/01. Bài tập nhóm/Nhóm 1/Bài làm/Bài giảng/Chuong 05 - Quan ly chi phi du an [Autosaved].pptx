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710" r:id="rId2"/>
    <p:sldId id="737" r:id="rId3"/>
    <p:sldId id="711" r:id="rId4"/>
    <p:sldId id="827" r:id="rId5"/>
    <p:sldId id="828" r:id="rId6"/>
    <p:sldId id="829" r:id="rId7"/>
    <p:sldId id="830" r:id="rId8"/>
    <p:sldId id="831" r:id="rId9"/>
    <p:sldId id="832" r:id="rId10"/>
    <p:sldId id="805" r:id="rId11"/>
    <p:sldId id="806" r:id="rId12"/>
    <p:sldId id="807" r:id="rId13"/>
    <p:sldId id="808" r:id="rId14"/>
    <p:sldId id="835" r:id="rId15"/>
    <p:sldId id="833" r:id="rId16"/>
    <p:sldId id="834" r:id="rId17"/>
    <p:sldId id="809" r:id="rId18"/>
    <p:sldId id="804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99CC00"/>
    <a:srgbClr val="000099"/>
    <a:srgbClr val="000000"/>
    <a:srgbClr val="990000"/>
    <a:srgbClr val="3E6A54"/>
    <a:srgbClr val="00006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576" autoAdjust="0"/>
  </p:normalViewPr>
  <p:slideViewPr>
    <p:cSldViewPr>
      <p:cViewPr varScale="1">
        <p:scale>
          <a:sx n="85" d="100"/>
          <a:sy n="85" d="100"/>
        </p:scale>
        <p:origin x="53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algn="r"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algn="r" defTabSz="935038">
              <a:defRPr sz="1200"/>
            </a:lvl1pPr>
          </a:lstStyle>
          <a:p>
            <a:pPr>
              <a:defRPr/>
            </a:pPr>
            <a:fld id="{D4671FB7-9685-4358-B7D6-E2C8A748A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62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0985985B-89C4-4417-9DE5-CA04F84F3B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085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3862B11-8F63-4CC3-8203-DE734D23F314}" type="slidenum">
              <a:rPr lang="en-US" sz="1200" smtClean="0">
                <a:cs typeface="Arial" charset="0"/>
              </a:rPr>
              <a:pPr eaLnBrk="1" hangingPunct="1"/>
              <a:t>1</a:t>
            </a:fld>
            <a:endParaRPr lang="en-US" sz="1200">
              <a:cs typeface="Arial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FA739E1-FDF8-4CDD-9627-5B848FC57E78}" type="slidenum">
              <a:rPr lang="en-US" sz="1200" smtClean="0"/>
              <a:pPr eaLnBrk="1" hangingPunct="1"/>
              <a:t>2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CEC6BBD-09EF-4899-B15D-049C48900366}" type="slidenum">
              <a:rPr lang="en-US" sz="1200" smtClean="0"/>
              <a:pPr eaLnBrk="1" hangingPunct="1"/>
              <a:t>10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0B4F0ED-90A0-4E51-AAE7-AAA2C8015831}" type="slidenum">
              <a:rPr lang="en-US" sz="1200" smtClean="0"/>
              <a:pPr eaLnBrk="1" hangingPunct="1"/>
              <a:t>11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8CB5AB2-A173-45E6-9545-3FD439001520}" type="slidenum">
              <a:rPr lang="en-US" sz="1200" smtClean="0"/>
              <a:pPr eaLnBrk="1" hangingPunct="1"/>
              <a:t>12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8694738" y="6553200"/>
            <a:ext cx="449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24275332-1977-4463-A81A-5FF4D37A00E5}" type="slidenum">
              <a:rPr lang="en-US" sz="1400">
                <a:solidFill>
                  <a:schemeClr val="bg2"/>
                </a:solidFill>
              </a:rPr>
              <a:pPr>
                <a:defRPr/>
              </a:pPr>
              <a:t>‹#›</a:t>
            </a:fld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3C43E46-298B-40BC-ABC5-321025D58FDB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791D6E8-471C-4EE2-B338-A625F13F35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87965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7CDEE-FE05-4FA7-B2B6-42B41EEEE5F5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ABEEA-C6D3-4C6D-8178-0697585FFE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2468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59461-969E-4E71-AC75-253E7B480BA1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F330D-2724-4C6F-A9E1-0F9C9770E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46270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C3F4C-F0BE-4CF7-9538-0C9CBA141A3C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CBB97-9BCC-441A-BC77-4C85C9D63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75825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D0421-C7CF-465A-897F-B18C5104E33C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70961-9760-481F-9FDD-4B8A26179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4689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3"/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6" name="Clip" r:id="rId3" imgW="6857143" imgH="48963" progId="">
                  <p:embed/>
                </p:oleObj>
              </mc:Choice>
              <mc:Fallback>
                <p:oleObj name="Clip" r:id="rId3" imgW="6857143" imgH="48963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6CD26-7928-4780-B503-64C8BE6C619C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5A4D9-78C6-4AB6-AABC-3ADB78D15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3404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935C6-AC8B-4766-B55D-DC0409DD096D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23869-1430-42E5-B014-3DF2EF5F88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07241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2D05E-823C-412D-AD56-C507920BD4DF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86A5B-9B41-48E2-A22E-1086F6372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56804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16FAF-F7CA-4BCE-903A-9164AFB0682B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C38C1-0218-4730-A68F-4D2AD10B3E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02308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0E55C-746D-4205-935A-E2371454203A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7D477-66E0-4F53-B7CA-8E92A97C7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7810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E23B5B-B372-4CBB-A2F9-F72A3031E516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36355-863B-4B97-9568-7A53C2010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82637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3"/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Clip" r:id="rId3" imgW="6857143" imgH="48963" progId="">
                  <p:embed/>
                </p:oleObj>
              </mc:Choice>
              <mc:Fallback>
                <p:oleObj name="Clip" r:id="rId3" imgW="6857143" imgH="48963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770313" cy="418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0913" y="1905000"/>
            <a:ext cx="3770312" cy="2014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0913" y="4071938"/>
            <a:ext cx="3770312" cy="201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D5227-3578-46D1-BA8D-B015530A97AF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F3F24-4A2D-4E67-ADDA-6AD9AD8C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734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228600"/>
            <a:ext cx="77168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F1BA997D-AC40-42F2-8BC4-AD4C236E0691}" type="datetime4">
              <a:rPr lang="en-US"/>
              <a:pPr>
                <a:defRPr/>
              </a:pPr>
              <a:t>October 18, 2019</a:t>
            </a:fld>
            <a:endParaRPr lang="en-US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Dr. Tran Van Lang, HCM City Institute of Information Technology</a:t>
            </a:r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9C29EAF-0BDF-4545-9499-21E3499A4F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1026" name="Object 23"/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Clip" r:id="rId15" imgW="6857143" imgH="48963" progId="">
                  <p:embed/>
                </p:oleObj>
              </mc:Choice>
              <mc:Fallback>
                <p:oleObj name="Clip" r:id="rId15" imgW="6857143" imgH="48963" progId="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24" r:id="rId2"/>
    <p:sldLayoutId id="2147484025" r:id="rId3"/>
    <p:sldLayoutId id="2147484026" r:id="rId4"/>
    <p:sldLayoutId id="2147484027" r:id="rId5"/>
    <p:sldLayoutId id="2147484034" r:id="rId6"/>
    <p:sldLayoutId id="2147484028" r:id="rId7"/>
    <p:sldLayoutId id="2147484029" r:id="rId8"/>
    <p:sldLayoutId id="2147484030" r:id="rId9"/>
    <p:sldLayoutId id="2147484031" r:id="rId10"/>
    <p:sldLayoutId id="2147484032" r:id="rId11"/>
    <p:sldLayoutId id="2147484035" r:id="rId12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0" descr="elearning-graphic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1400"/>
            <a:ext cx="2819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AutoShape 4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rgbClr val="000099"/>
                </a:solidFill>
                <a:latin typeface="Times New Roman" pitchFamily="18" charset="0"/>
              </a:rPr>
              <a:t>BÀI GIẢNG</a:t>
            </a: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 </a:t>
            </a:r>
            <a:b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</a:br>
            <a:b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</a:br>
            <a:r>
              <a:rPr lang="en-US" b="1" dirty="0">
                <a:solidFill>
                  <a:srgbClr val="000099"/>
                </a:solidFill>
                <a:latin typeface="Times New Roman" pitchFamily="18" charset="0"/>
              </a:rPr>
              <a:t>QUẢN TRỊ DỰ ÁN </a:t>
            </a:r>
            <a:br>
              <a:rPr lang="en-US" b="1" dirty="0">
                <a:solidFill>
                  <a:srgbClr val="000099"/>
                </a:solidFill>
                <a:latin typeface="Times New Roman" pitchFamily="18" charset="0"/>
              </a:rPr>
            </a:br>
            <a:r>
              <a:rPr lang="en-US" b="1" dirty="0">
                <a:solidFill>
                  <a:srgbClr val="000099"/>
                </a:solidFill>
                <a:latin typeface="Times New Roman" pitchFamily="18" charset="0"/>
              </a:rPr>
              <a:t>CÔNG NGHỆ THÔNG TIN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sz="140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609600"/>
            <a:ext cx="8229600" cy="1219200"/>
          </a:xfrm>
        </p:spPr>
        <p:txBody>
          <a:bodyPr/>
          <a:lstStyle/>
          <a:p>
            <a:pPr eaLnBrk="1" hangingPunct="1"/>
            <a:r>
              <a:rPr lang="en-US" sz="3200" b="1" dirty="0" err="1">
                <a:latin typeface="Arial" charset="0"/>
                <a:cs typeface="Arial" charset="0"/>
              </a:rPr>
              <a:t>Chương</a:t>
            </a:r>
            <a:r>
              <a:rPr lang="en-US" sz="3200" b="1" dirty="0">
                <a:latin typeface="Arial" charset="0"/>
                <a:cs typeface="Arial" charset="0"/>
              </a:rPr>
              <a:t> 5 </a:t>
            </a:r>
            <a:br>
              <a:rPr lang="en-US" b="1" dirty="0">
                <a:latin typeface="Arial" charset="0"/>
                <a:cs typeface="Arial" charset="0"/>
              </a:rPr>
            </a:br>
            <a:r>
              <a:rPr lang="en-US" sz="3200" b="1" dirty="0">
                <a:latin typeface="Arial" charset="0"/>
                <a:cs typeface="Arial" charset="0"/>
              </a:rPr>
              <a:t>QUẢN LÝ CHI PHÍ </a:t>
            </a:r>
            <a:endParaRPr lang="en-US" b="1" dirty="0">
              <a:latin typeface="Arial" charset="0"/>
              <a:cs typeface="Arial" charset="0"/>
            </a:endParaRPr>
          </a:p>
        </p:txBody>
      </p:sp>
      <p:grpSp>
        <p:nvGrpSpPr>
          <p:cNvPr id="8195" name="Group 33"/>
          <p:cNvGrpSpPr>
            <a:grpSpLocks/>
          </p:cNvGrpSpPr>
          <p:nvPr/>
        </p:nvGrpSpPr>
        <p:grpSpPr bwMode="auto">
          <a:xfrm>
            <a:off x="533400" y="3429000"/>
            <a:ext cx="6435728" cy="474663"/>
            <a:chOff x="336" y="2160"/>
            <a:chExt cx="4054" cy="299"/>
          </a:xfrm>
        </p:grpSpPr>
        <p:sp>
          <p:nvSpPr>
            <p:cNvPr id="8208" name="Line 11"/>
            <p:cNvSpPr>
              <a:spLocks noChangeShapeType="1"/>
            </p:cNvSpPr>
            <p:nvPr/>
          </p:nvSpPr>
          <p:spPr bwMode="gray">
            <a:xfrm>
              <a:off x="474" y="2434"/>
              <a:ext cx="2166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Rectangle 12"/>
            <p:cNvSpPr>
              <a:spLocks noChangeArrowheads="1"/>
            </p:cNvSpPr>
            <p:nvPr/>
          </p:nvSpPr>
          <p:spPr bwMode="gray">
            <a:xfrm rot="3419336">
              <a:off x="336" y="2160"/>
              <a:ext cx="236" cy="235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8210" name="Text Box 13"/>
            <p:cNvSpPr txBox="1">
              <a:spLocks noChangeArrowheads="1"/>
            </p:cNvSpPr>
            <p:nvPr/>
          </p:nvSpPr>
          <p:spPr bwMode="gray">
            <a:xfrm>
              <a:off x="672" y="2160"/>
              <a:ext cx="37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Tầm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quan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trọng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của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quản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lý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chi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phí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dự</a:t>
              </a:r>
              <a:r>
                <a:rPr lang="fr-FR" sz="2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fr-FR" sz="24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án</a:t>
              </a:r>
              <a:endParaRPr lang="en-US" sz="240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11" name="Text Box 14"/>
            <p:cNvSpPr txBox="1">
              <a:spLocks noChangeArrowheads="1"/>
            </p:cNvSpPr>
            <p:nvPr/>
          </p:nvSpPr>
          <p:spPr bwMode="gray">
            <a:xfrm>
              <a:off x="341" y="217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8196" name="Group 34"/>
          <p:cNvGrpSpPr>
            <a:grpSpLocks/>
          </p:cNvGrpSpPr>
          <p:nvPr/>
        </p:nvGrpSpPr>
        <p:grpSpPr bwMode="auto">
          <a:xfrm>
            <a:off x="533400" y="4114800"/>
            <a:ext cx="4013201" cy="498475"/>
            <a:chOff x="336" y="2592"/>
            <a:chExt cx="2528" cy="314"/>
          </a:xfrm>
        </p:grpSpPr>
        <p:sp>
          <p:nvSpPr>
            <p:cNvPr id="8204" name="Line 16"/>
            <p:cNvSpPr>
              <a:spLocks noChangeShapeType="1"/>
            </p:cNvSpPr>
            <p:nvPr/>
          </p:nvSpPr>
          <p:spPr bwMode="gray">
            <a:xfrm>
              <a:off x="474" y="2881"/>
              <a:ext cx="2167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Rectangle 17"/>
            <p:cNvSpPr>
              <a:spLocks noChangeArrowheads="1"/>
            </p:cNvSpPr>
            <p:nvPr/>
          </p:nvSpPr>
          <p:spPr bwMode="gray">
            <a:xfrm rot="3419336">
              <a:off x="336" y="2607"/>
              <a:ext cx="236" cy="235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2F47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8206" name="Text Box 18"/>
            <p:cNvSpPr txBox="1">
              <a:spLocks noChangeArrowheads="1"/>
            </p:cNvSpPr>
            <p:nvPr/>
          </p:nvSpPr>
          <p:spPr bwMode="gray">
            <a:xfrm>
              <a:off x="624" y="2592"/>
              <a:ext cx="22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400" dirty="0"/>
                <a:t> </a:t>
              </a:r>
              <a:r>
                <a:rPr lang="en-US" sz="2400" dirty="0" err="1"/>
                <a:t>Ước</a:t>
              </a:r>
              <a:r>
                <a:rPr lang="en-US" sz="2400" dirty="0"/>
                <a:t> </a:t>
              </a:r>
              <a:r>
                <a:rPr lang="en-US" sz="2400" dirty="0" err="1"/>
                <a:t>lượng</a:t>
              </a:r>
              <a:r>
                <a:rPr lang="en-US" sz="2400" dirty="0"/>
                <a:t> chi </a:t>
              </a:r>
              <a:r>
                <a:rPr lang="en-US" sz="2400" dirty="0" err="1"/>
                <a:t>phí</a:t>
              </a:r>
              <a:r>
                <a:rPr lang="en-US" sz="2400" dirty="0"/>
                <a:t> </a:t>
              </a:r>
              <a:r>
                <a:rPr lang="en-US" sz="2400" dirty="0" err="1"/>
                <a:t>dự</a:t>
              </a:r>
              <a:r>
                <a:rPr lang="en-US" sz="2400" dirty="0"/>
                <a:t> </a:t>
              </a:r>
              <a:r>
                <a:rPr lang="en-US" sz="2400" dirty="0" err="1"/>
                <a:t>án</a:t>
              </a:r>
              <a:endParaRPr lang="en-US" sz="240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07" name="Text Box 19"/>
            <p:cNvSpPr txBox="1">
              <a:spLocks noChangeArrowheads="1"/>
            </p:cNvSpPr>
            <p:nvPr/>
          </p:nvSpPr>
          <p:spPr bwMode="gray">
            <a:xfrm>
              <a:off x="341" y="261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8197" name="Group 35"/>
          <p:cNvGrpSpPr>
            <a:grpSpLocks/>
          </p:cNvGrpSpPr>
          <p:nvPr/>
        </p:nvGrpSpPr>
        <p:grpSpPr bwMode="auto">
          <a:xfrm>
            <a:off x="527050" y="4800605"/>
            <a:ext cx="4332289" cy="479426"/>
            <a:chOff x="332" y="3039"/>
            <a:chExt cx="2729" cy="302"/>
          </a:xfrm>
        </p:grpSpPr>
        <p:sp>
          <p:nvSpPr>
            <p:cNvPr id="8200" name="Line 21"/>
            <p:cNvSpPr>
              <a:spLocks noChangeShapeType="1"/>
            </p:cNvSpPr>
            <p:nvPr/>
          </p:nvSpPr>
          <p:spPr bwMode="gray">
            <a:xfrm>
              <a:off x="474" y="3312"/>
              <a:ext cx="2166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Rectangle 22"/>
            <p:cNvSpPr>
              <a:spLocks noChangeArrowheads="1"/>
            </p:cNvSpPr>
            <p:nvPr/>
          </p:nvSpPr>
          <p:spPr bwMode="gray">
            <a:xfrm rot="3419336">
              <a:off x="336" y="3039"/>
              <a:ext cx="236" cy="235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764718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8202" name="Text Box 23"/>
            <p:cNvSpPr txBox="1">
              <a:spLocks noChangeArrowheads="1"/>
            </p:cNvSpPr>
            <p:nvPr/>
          </p:nvSpPr>
          <p:spPr bwMode="gray">
            <a:xfrm>
              <a:off x="720" y="3039"/>
              <a:ext cx="23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sz="2400" dirty="0" err="1"/>
                <a:t>Xác</a:t>
              </a:r>
              <a:r>
                <a:rPr lang="en-US" sz="2400" dirty="0"/>
                <a:t> </a:t>
              </a:r>
              <a:r>
                <a:rPr lang="en-US" sz="2400" dirty="0" err="1"/>
                <a:t>định</a:t>
              </a:r>
              <a:r>
                <a:rPr lang="en-US" sz="2400" dirty="0"/>
                <a:t> </a:t>
              </a:r>
              <a:r>
                <a:rPr lang="en-US" sz="2400" dirty="0" err="1"/>
                <a:t>ngân</a:t>
              </a:r>
              <a:r>
                <a:rPr lang="en-US" sz="2400" dirty="0"/>
                <a:t> </a:t>
              </a:r>
              <a:r>
                <a:rPr lang="en-US" sz="2400" dirty="0" err="1"/>
                <a:t>sách</a:t>
              </a:r>
              <a:r>
                <a:rPr lang="en-US" sz="2400" dirty="0"/>
                <a:t> </a:t>
              </a:r>
              <a:r>
                <a:rPr lang="en-US" sz="2400" dirty="0" err="1"/>
                <a:t>dự</a:t>
              </a:r>
              <a:r>
                <a:rPr lang="en-US" sz="2400" dirty="0"/>
                <a:t> </a:t>
              </a:r>
              <a:r>
                <a:rPr lang="en-US" sz="2400" dirty="0" err="1"/>
                <a:t>án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8203" name="Text Box 24"/>
            <p:cNvSpPr txBox="1">
              <a:spLocks noChangeArrowheads="1"/>
            </p:cNvSpPr>
            <p:nvPr/>
          </p:nvSpPr>
          <p:spPr bwMode="gray">
            <a:xfrm>
              <a:off x="332" y="3050"/>
              <a:ext cx="2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3</a:t>
              </a:r>
            </a:p>
          </p:txBody>
        </p:sp>
      </p:grpSp>
      <p:sp>
        <p:nvSpPr>
          <p:cNvPr id="64544" name="Oval 32"/>
          <p:cNvSpPr>
            <a:spLocks noChangeArrowheads="1"/>
          </p:cNvSpPr>
          <p:nvPr/>
        </p:nvSpPr>
        <p:spPr bwMode="auto">
          <a:xfrm>
            <a:off x="1752600" y="2514600"/>
            <a:ext cx="2286000" cy="6858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FFFF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 err="1">
                <a:solidFill>
                  <a:srgbClr val="2B548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Nội</a:t>
            </a:r>
            <a:r>
              <a:rPr lang="en-US" sz="2400" b="1" dirty="0">
                <a:solidFill>
                  <a:srgbClr val="2B548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dung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gray">
          <a:xfrm>
            <a:off x="1073624" y="5451940"/>
            <a:ext cx="26180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khiển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gray">
          <a:xfrm>
            <a:off x="544511" y="5405437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gray">
          <a:xfrm rot="3419336">
            <a:off x="520701" y="5468664"/>
            <a:ext cx="374651" cy="373063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764718"/>
              </a:gs>
            </a:gsLst>
            <a:lin ang="5400000" scaled="1"/>
          </a:gradFill>
          <a:ln w="9525">
            <a:miter lim="800000"/>
            <a:headEnd/>
            <a:tailEnd/>
          </a:ln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gray">
          <a:xfrm>
            <a:off x="514735" y="5486127"/>
            <a:ext cx="380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gray">
          <a:xfrm>
            <a:off x="1143000" y="5913903"/>
            <a:ext cx="3438526" cy="1588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1. TẦM QUAN TRỌNG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153400" cy="45720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/>
              <a:t>Những dự án về CNTT thường có hồ sơ theo dõi kém hiệu quả cho việc đạt được mục đích về giá cả.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/>
              <a:t>Chi phí trung bình vượt quá dự toán ban đầu theo nghiên cứu từ năm 1995 của CHAOS là 189%; đã được cải thiện 145% trong nghiên cứu năm 2001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/>
              <a:t>Ở Mỹ các dự án CNTT bị huỷ làm tốn trên 81 tỉ đô la năm 1995 </a:t>
            </a:r>
          </a:p>
        </p:txBody>
      </p:sp>
      <p:pic>
        <p:nvPicPr>
          <p:cNvPr id="9220" name="Picture 4" descr="j028361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138" y="5486400"/>
            <a:ext cx="131286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F85B818-1272-49EF-8084-0DE3D68E9FB7}" type="slidenum">
              <a:rPr lang="en-US" sz="1400" smtClean="0"/>
              <a:pPr eaLnBrk="1" hangingPunct="1"/>
              <a:t>3</a:t>
            </a:fld>
            <a:endParaRPr lang="en-US" sz="140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09600" y="1371600"/>
            <a:ext cx="35052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Project Cost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1534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con </a:t>
            </a:r>
            <a:r>
              <a:rPr lang="en-US" sz="2400" dirty="0" err="1"/>
              <a:t>mắt</a:t>
            </a:r>
            <a:r>
              <a:rPr lang="en-US" sz="2400" dirty="0"/>
              <a:t> </a:t>
            </a:r>
            <a:r>
              <a:rPr lang="en-US" sz="2400" dirty="0" err="1"/>
              <a:t>phê</a:t>
            </a:r>
            <a:r>
              <a:rPr lang="en-US" sz="2400" dirty="0"/>
              <a:t> </a:t>
            </a:r>
            <a:r>
              <a:rPr lang="en-US" sz="2400" dirty="0" err="1"/>
              <a:t>bình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sai</a:t>
            </a:r>
            <a:r>
              <a:rPr lang="en-US" sz="2400" dirty="0"/>
              <a:t> </a:t>
            </a:r>
            <a:r>
              <a:rPr lang="en-US" sz="2400" dirty="0" err="1"/>
              <a:t>lầm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sót</a:t>
            </a:r>
            <a:r>
              <a:rPr lang="en-US" sz="2400" dirty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rõ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phác</a:t>
            </a:r>
            <a:r>
              <a:rPr lang="en-US" sz="2400" dirty="0"/>
              <a:t> </a:t>
            </a:r>
            <a:r>
              <a:rPr lang="en-US" sz="2400" dirty="0" err="1"/>
              <a:t>thảo</a:t>
            </a:r>
            <a:r>
              <a:rPr lang="en-US" sz="2400" dirty="0"/>
              <a:t> </a:t>
            </a:r>
            <a:r>
              <a:rPr lang="en-US" sz="2400" dirty="0" err="1"/>
              <a:t>rõ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rằng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đích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đúng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tiềm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hay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609600" y="1371600"/>
            <a:ext cx="58674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Nguyên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tắc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ước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lượng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chi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phí</a:t>
            </a:r>
            <a:endParaRPr lang="en-US" sz="2400" b="1" dirty="0"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66869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153400" cy="45720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Phạm</a:t>
            </a:r>
            <a:r>
              <a:rPr lang="en-US" sz="2400" dirty="0"/>
              <a:t> vi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ra.</a:t>
            </a:r>
            <a:r>
              <a:rPr lang="en-US" sz="2400" dirty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Giai</a:t>
            </a:r>
            <a:r>
              <a:rPr lang="en-US" sz="2400" dirty="0"/>
              <a:t> </a:t>
            </a:r>
            <a:r>
              <a:rPr lang="en-US" sz="2400" dirty="0" err="1"/>
              <a:t>đoạn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nhiệm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rằng</a:t>
            </a:r>
            <a:r>
              <a:rPr lang="en-US" sz="2400" dirty="0"/>
              <a:t> </a:t>
            </a:r>
            <a:r>
              <a:rPr lang="en-US" sz="2400" dirty="0" err="1"/>
              <a:t>nỗ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bày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ngữ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bày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đo</a:t>
            </a:r>
            <a:r>
              <a:rPr lang="en-US" sz="2400" dirty="0"/>
              <a:t> </a:t>
            </a:r>
            <a:r>
              <a:rPr lang="en-US" sz="2400" dirty="0" err="1"/>
              <a:t>lường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dõi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. 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609600" y="1371600"/>
            <a:ext cx="58674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Nguyên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tắc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ước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lượng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chi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phí</a:t>
            </a:r>
            <a:endParaRPr lang="en-US" sz="2400" b="1" dirty="0"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83520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153400" cy="45720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 err="1"/>
              <a:t>Đừng</a:t>
            </a:r>
            <a:r>
              <a:rPr lang="en-US" sz="2400" dirty="0"/>
              <a:t> </a:t>
            </a:r>
            <a:r>
              <a:rPr lang="en-US" sz="2400" dirty="0" err="1"/>
              <a:t>quên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nỗ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Lập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,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,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hoá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, </a:t>
            </a:r>
            <a:r>
              <a:rPr lang="en-US" sz="2400" dirty="0" err="1"/>
              <a:t>chứng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rằng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,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bày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ngữ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. 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609600" y="1371600"/>
            <a:ext cx="58674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Nguyên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tắc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ước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lượng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chi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phí</a:t>
            </a:r>
            <a:endParaRPr lang="en-US" sz="2400" b="1" dirty="0"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2234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566" y="1066800"/>
            <a:ext cx="879143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Ví</a:t>
            </a:r>
            <a:r>
              <a:rPr lang="en-US" sz="2200" b="1" dirty="0"/>
              <a:t> </a:t>
            </a:r>
            <a:r>
              <a:rPr lang="en-US" sz="2200" b="1" dirty="0" err="1"/>
              <a:t>dụ</a:t>
            </a:r>
            <a:r>
              <a:rPr lang="en-US" sz="2200" b="1" dirty="0"/>
              <a:t>: </a:t>
            </a:r>
            <a:endParaRPr lang="en-US" sz="2200" dirty="0"/>
          </a:p>
          <a:p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việc</a:t>
            </a:r>
            <a:r>
              <a:rPr lang="en-US" sz="2200" dirty="0"/>
              <a:t>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tự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hoá</a:t>
            </a:r>
            <a:r>
              <a:rPr lang="en-US" sz="2200" dirty="0"/>
              <a:t> </a:t>
            </a:r>
            <a:r>
              <a:rPr lang="en-US" sz="2200" dirty="0" err="1"/>
              <a:t>lưc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bán</a:t>
            </a:r>
            <a:r>
              <a:rPr lang="en-US" sz="2200" dirty="0"/>
              <a:t> </a:t>
            </a:r>
            <a:r>
              <a:rPr lang="en-US" sz="2200" dirty="0" err="1"/>
              <a:t>hàng</a:t>
            </a:r>
            <a:r>
              <a:rPr lang="en-US" sz="2200" dirty="0"/>
              <a:t> </a:t>
            </a:r>
            <a:r>
              <a:rPr lang="en-US" sz="2200" dirty="0" err="1"/>
              <a:t>quy</a:t>
            </a:r>
            <a:r>
              <a:rPr lang="en-US" sz="2200" dirty="0"/>
              <a:t> </a:t>
            </a:r>
            <a:r>
              <a:rPr lang="en-US" sz="2200" dirty="0" err="1"/>
              <a:t>mô</a:t>
            </a:r>
            <a:r>
              <a:rPr lang="en-US" sz="2200" dirty="0"/>
              <a:t> </a:t>
            </a:r>
            <a:r>
              <a:rPr lang="en-US" sz="2200" dirty="0" err="1"/>
              <a:t>lớn</a:t>
            </a:r>
            <a:r>
              <a:rPr lang="en-US" sz="2200" dirty="0"/>
              <a:t>. Amy </a:t>
            </a:r>
            <a:r>
              <a:rPr lang="en-US" sz="2200" dirty="0" err="1"/>
              <a:t>đang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quá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r>
              <a:rPr lang="en-US" sz="2200" dirty="0"/>
              <a:t> </a:t>
            </a:r>
            <a:r>
              <a:rPr lang="en-US" sz="2200" dirty="0" err="1"/>
              <a:t>thông</a:t>
            </a:r>
            <a:r>
              <a:rPr lang="en-US" sz="2200" dirty="0"/>
              <a:t> qua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.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ban </a:t>
            </a:r>
            <a:r>
              <a:rPr lang="en-US" sz="2200" dirty="0" err="1"/>
              <a:t>đầu</a:t>
            </a:r>
            <a:r>
              <a:rPr lang="en-US" sz="2200" dirty="0"/>
              <a:t> do </a:t>
            </a:r>
            <a:r>
              <a:rPr lang="en-US" sz="2200" dirty="0" err="1"/>
              <a:t>nhà</a:t>
            </a:r>
            <a:r>
              <a:rPr lang="en-US" sz="2200" dirty="0"/>
              <a:t> </a:t>
            </a:r>
            <a:r>
              <a:rPr lang="en-US" sz="2200" dirty="0" err="1"/>
              <a:t>thầu</a:t>
            </a:r>
            <a:r>
              <a:rPr lang="en-US" sz="2200" dirty="0"/>
              <a:t> </a:t>
            </a:r>
            <a:r>
              <a:rPr lang="en-US" sz="2200" dirty="0" err="1"/>
              <a:t>tiềm</a:t>
            </a:r>
            <a:r>
              <a:rPr lang="en-US" sz="2200" dirty="0"/>
              <a:t> </a:t>
            </a:r>
            <a:r>
              <a:rPr lang="en-US" sz="2200" dirty="0" err="1"/>
              <a:t>năng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biêt</a:t>
            </a:r>
            <a:r>
              <a:rPr lang="en-US" sz="2200" dirty="0"/>
              <a:t> </a:t>
            </a:r>
            <a:r>
              <a:rPr lang="en-US" sz="2200" dirty="0" err="1"/>
              <a:t>rằng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sẽ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1,5 </a:t>
            </a:r>
            <a:r>
              <a:rPr lang="en-US" sz="2200" dirty="0" err="1"/>
              <a:t>triệu</a:t>
            </a:r>
            <a:r>
              <a:rPr lang="en-US" sz="2200" dirty="0"/>
              <a:t> USD. Do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ai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văn</a:t>
            </a:r>
            <a:r>
              <a:rPr lang="en-US" sz="2200" dirty="0"/>
              <a:t> </a:t>
            </a:r>
            <a:r>
              <a:rPr lang="en-US" sz="2200" dirty="0" err="1"/>
              <a:t>phòng</a:t>
            </a:r>
            <a:r>
              <a:rPr lang="en-US" sz="2200" dirty="0"/>
              <a:t> </a:t>
            </a:r>
            <a:r>
              <a:rPr lang="en-US" sz="2200" dirty="0" err="1"/>
              <a:t>quản</a:t>
            </a:r>
            <a:r>
              <a:rPr lang="en-US" sz="2200" dirty="0"/>
              <a:t> </a:t>
            </a:r>
            <a:r>
              <a:rPr lang="en-US" sz="2200" dirty="0" err="1"/>
              <a:t>lý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bất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</a:t>
            </a:r>
            <a:r>
              <a:rPr lang="en-US" sz="2200" dirty="0" err="1"/>
              <a:t>kinh</a:t>
            </a:r>
            <a:r>
              <a:rPr lang="en-US" sz="2200" dirty="0"/>
              <a:t> </a:t>
            </a:r>
            <a:r>
              <a:rPr lang="en-US" sz="2200" dirty="0" err="1"/>
              <a:t>nghiệm</a:t>
            </a:r>
            <a:r>
              <a:rPr lang="en-US" sz="2200" dirty="0"/>
              <a:t> </a:t>
            </a:r>
            <a:r>
              <a:rPr lang="en-US" sz="2200" dirty="0" err="1"/>
              <a:t>gì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loại</a:t>
            </a:r>
            <a:r>
              <a:rPr lang="en-US" sz="2200" dirty="0"/>
              <a:t> </a:t>
            </a:r>
            <a:r>
              <a:rPr lang="en-US" sz="2200" dirty="0" err="1"/>
              <a:t>nỗ</a:t>
            </a:r>
            <a:r>
              <a:rPr lang="en-US" sz="2200" dirty="0"/>
              <a:t> </a:t>
            </a:r>
            <a:r>
              <a:rPr lang="en-US" sz="2200" dirty="0" err="1"/>
              <a:t>lực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</a:t>
            </a:r>
            <a:r>
              <a:rPr lang="en-US" sz="2200" dirty="0" err="1"/>
              <a:t>nên</a:t>
            </a:r>
            <a:r>
              <a:rPr lang="en-US" sz="2200" dirty="0"/>
              <a:t> </a:t>
            </a:r>
            <a:r>
              <a:rPr lang="en-US" sz="2200" dirty="0" err="1"/>
              <a:t>chuyên</a:t>
            </a:r>
            <a:r>
              <a:rPr lang="en-US" sz="2200" dirty="0"/>
              <a:t> </a:t>
            </a:r>
            <a:r>
              <a:rPr lang="en-US" sz="2200" dirty="0" err="1"/>
              <a:t>gia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</a:t>
            </a:r>
            <a:r>
              <a:rPr lang="en-US" sz="2200" dirty="0" err="1"/>
              <a:t>nội</a:t>
            </a:r>
            <a:r>
              <a:rPr lang="en-US" sz="2200" dirty="0"/>
              <a:t> dung </a:t>
            </a:r>
            <a:r>
              <a:rPr lang="en-US" sz="2200" dirty="0" err="1"/>
              <a:t>chuyên</a:t>
            </a:r>
            <a:r>
              <a:rPr lang="en-US" sz="2200" dirty="0"/>
              <a:t> </a:t>
            </a:r>
            <a:r>
              <a:rPr lang="en-US" sz="2200" dirty="0" err="1"/>
              <a:t>ngành</a:t>
            </a:r>
            <a:r>
              <a:rPr lang="en-US" sz="2200" dirty="0"/>
              <a:t> </a:t>
            </a:r>
            <a:r>
              <a:rPr lang="en-US" sz="2200" dirty="0" err="1"/>
              <a:t>đã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đưa</a:t>
            </a:r>
            <a:r>
              <a:rPr lang="en-US" sz="2200" dirty="0"/>
              <a:t> </a:t>
            </a:r>
            <a:r>
              <a:rPr lang="en-US" sz="2200" dirty="0" err="1"/>
              <a:t>đến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en-US" sz="2200" dirty="0" err="1"/>
              <a:t>đánh</a:t>
            </a:r>
            <a:r>
              <a:rPr lang="en-US" sz="2200" dirty="0"/>
              <a:t>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</a:t>
            </a:r>
            <a:r>
              <a:rPr lang="en-US" sz="2200" dirty="0" err="1"/>
              <a:t>việc</a:t>
            </a:r>
            <a:r>
              <a:rPr lang="en-US" sz="2200" dirty="0"/>
              <a:t> </a:t>
            </a:r>
            <a:r>
              <a:rPr lang="en-US" sz="2200" dirty="0" err="1"/>
              <a:t>liên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. </a:t>
            </a:r>
            <a:r>
              <a:rPr lang="en-US" sz="2200" dirty="0" err="1"/>
              <a:t>Các</a:t>
            </a:r>
            <a:r>
              <a:rPr lang="en-US" sz="2200" dirty="0"/>
              <a:t> con </a:t>
            </a:r>
            <a:r>
              <a:rPr lang="en-US" sz="2200" dirty="0" err="1"/>
              <a:t>số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do </a:t>
            </a:r>
            <a:r>
              <a:rPr lang="en-US" sz="2200" dirty="0" err="1"/>
              <a:t>nhà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đưa</a:t>
            </a:r>
            <a:r>
              <a:rPr lang="en-US" sz="2200" dirty="0"/>
              <a:t> </a:t>
            </a:r>
            <a:r>
              <a:rPr lang="en-US" sz="2200" dirty="0" err="1"/>
              <a:t>ra</a:t>
            </a:r>
            <a:r>
              <a:rPr lang="en-US" sz="2200" dirty="0"/>
              <a:t> </a:t>
            </a:r>
            <a:r>
              <a:rPr lang="en-US" sz="2200" dirty="0" err="1"/>
              <a:t>dựa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đã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chuyên</a:t>
            </a:r>
            <a:r>
              <a:rPr lang="en-US" sz="2200" dirty="0"/>
              <a:t> </a:t>
            </a:r>
            <a:r>
              <a:rPr lang="en-US" sz="2200" dirty="0" err="1"/>
              <a:t>gia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</a:t>
            </a:r>
            <a:r>
              <a:rPr lang="en-US" sz="2200" dirty="0" err="1"/>
              <a:t>nội</a:t>
            </a:r>
            <a:r>
              <a:rPr lang="en-US" sz="2200" dirty="0"/>
              <a:t> dung </a:t>
            </a:r>
            <a:r>
              <a:rPr lang="en-US" sz="2200" dirty="0" err="1"/>
              <a:t>chuyên</a:t>
            </a:r>
            <a:r>
              <a:rPr lang="en-US" sz="2200" dirty="0"/>
              <a:t> </a:t>
            </a:r>
            <a:r>
              <a:rPr lang="en-US" sz="2200" dirty="0" err="1"/>
              <a:t>ngành</a:t>
            </a:r>
            <a:r>
              <a:rPr lang="en-US" sz="2200" dirty="0"/>
              <a:t> </a:t>
            </a:r>
            <a:r>
              <a:rPr lang="en-US" sz="2200" dirty="0" err="1"/>
              <a:t>thấy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con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chính</a:t>
            </a:r>
            <a:r>
              <a:rPr lang="en-US" sz="2200" dirty="0"/>
              <a:t> </a:t>
            </a:r>
            <a:r>
              <a:rPr lang="en-US" sz="2200" dirty="0" err="1"/>
              <a:t>xác</a:t>
            </a:r>
            <a:r>
              <a:rPr lang="en-US" sz="2200" dirty="0"/>
              <a:t>. </a:t>
            </a:r>
            <a:r>
              <a:rPr lang="en-US" sz="2200" dirty="0" err="1"/>
              <a:t>Tuy</a:t>
            </a:r>
            <a:r>
              <a:rPr lang="en-US" sz="2200" dirty="0"/>
              <a:t> </a:t>
            </a:r>
            <a:r>
              <a:rPr lang="en-US" sz="2200" dirty="0" err="1"/>
              <a:t>nhiên</a:t>
            </a:r>
            <a:r>
              <a:rPr lang="en-US" sz="2200" dirty="0"/>
              <a:t>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cơ</a:t>
            </a:r>
            <a:r>
              <a:rPr lang="en-US" sz="2200" dirty="0"/>
              <a:t> </a:t>
            </a:r>
            <a:r>
              <a:rPr lang="en-US" sz="2200" dirty="0" err="1"/>
              <a:t>sở</a:t>
            </a:r>
            <a:r>
              <a:rPr lang="en-US" sz="2200" dirty="0"/>
              <a:t> </a:t>
            </a:r>
            <a:r>
              <a:rPr lang="en-US" sz="2200" dirty="0" err="1"/>
              <a:t>vật</a:t>
            </a:r>
            <a:r>
              <a:rPr lang="en-US" sz="2200" dirty="0"/>
              <a:t> </a:t>
            </a:r>
            <a:r>
              <a:rPr lang="en-US" sz="2200" dirty="0" err="1"/>
              <a:t>chất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nỗ</a:t>
            </a:r>
            <a:r>
              <a:rPr lang="en-US" sz="2200" dirty="0"/>
              <a:t> </a:t>
            </a:r>
            <a:r>
              <a:rPr lang="en-US" sz="2200" dirty="0" err="1"/>
              <a:t>lực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mong</a:t>
            </a:r>
            <a:r>
              <a:rPr lang="en-US" sz="2200" dirty="0"/>
              <a:t> </a:t>
            </a:r>
            <a:r>
              <a:rPr lang="en-US" sz="2200" dirty="0" err="1"/>
              <a:t>đợi</a:t>
            </a:r>
            <a:r>
              <a:rPr lang="en-US" sz="2200" dirty="0"/>
              <a:t> </a:t>
            </a:r>
            <a:r>
              <a:rPr lang="en-US" sz="2200" dirty="0" err="1"/>
              <a:t>mà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</a:t>
            </a:r>
            <a:r>
              <a:rPr lang="en-US" sz="2200" dirty="0" err="1"/>
              <a:t>ty</a:t>
            </a:r>
            <a:r>
              <a:rPr lang="en-US" sz="2200" dirty="0"/>
              <a:t> </a:t>
            </a:r>
            <a:r>
              <a:rPr lang="en-US" sz="2200" dirty="0" err="1"/>
              <a:t>mong</a:t>
            </a:r>
            <a:r>
              <a:rPr lang="en-US" sz="2200" dirty="0"/>
              <a:t> </a:t>
            </a:r>
            <a:r>
              <a:rPr lang="en-US" sz="2200" dirty="0" err="1"/>
              <a:t>muốn</a:t>
            </a:r>
            <a:r>
              <a:rPr lang="en-US" sz="2200" dirty="0"/>
              <a:t> </a:t>
            </a:r>
            <a:r>
              <a:rPr lang="en-US" sz="2200" dirty="0" err="1"/>
              <a:t>đóng</a:t>
            </a:r>
            <a:r>
              <a:rPr lang="en-US" sz="2200" dirty="0"/>
              <a:t> </a:t>
            </a:r>
            <a:r>
              <a:rPr lang="en-US" sz="2200" dirty="0" err="1"/>
              <a:t>góp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. 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/>
              <a:t>khi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xét</a:t>
            </a:r>
            <a:r>
              <a:rPr lang="en-US" sz="2200" dirty="0"/>
              <a:t> </a:t>
            </a:r>
            <a:r>
              <a:rPr lang="en-US" sz="2200" dirty="0" err="1"/>
              <a:t>duyệt</a:t>
            </a:r>
            <a:r>
              <a:rPr lang="en-US" sz="2200" dirty="0"/>
              <a:t> </a:t>
            </a:r>
            <a:r>
              <a:rPr lang="en-US" sz="2200" dirty="0" err="1"/>
              <a:t>cẩn</a:t>
            </a:r>
            <a:r>
              <a:rPr lang="en-US" sz="2200" dirty="0"/>
              <a:t> </a:t>
            </a:r>
            <a:r>
              <a:rPr lang="en-US" sz="2200" dirty="0" err="1"/>
              <a:t>thận</a:t>
            </a:r>
            <a:r>
              <a:rPr lang="en-US" sz="2200" dirty="0"/>
              <a:t>, Amy </a:t>
            </a:r>
            <a:r>
              <a:rPr lang="en-US" sz="2200" dirty="0" err="1"/>
              <a:t>đã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nhà</a:t>
            </a:r>
            <a:r>
              <a:rPr lang="en-US" sz="2200" dirty="0"/>
              <a:t> </a:t>
            </a:r>
            <a:r>
              <a:rPr lang="en-US" sz="2200" dirty="0" err="1"/>
              <a:t>tài</a:t>
            </a:r>
            <a:r>
              <a:rPr lang="en-US" sz="2200" dirty="0"/>
              <a:t> </a:t>
            </a:r>
            <a:r>
              <a:rPr lang="en-US" sz="2200" dirty="0" err="1"/>
              <a:t>trợ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mình</a:t>
            </a:r>
            <a:r>
              <a:rPr lang="en-US" sz="2200" dirty="0"/>
              <a:t>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sửa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 4,0 </a:t>
            </a:r>
            <a:r>
              <a:rPr lang="en-US" sz="2200" dirty="0" err="1"/>
              <a:t>triệu</a:t>
            </a:r>
            <a:r>
              <a:rPr lang="en-US" sz="2200" dirty="0"/>
              <a:t> USD. </a:t>
            </a:r>
            <a:r>
              <a:rPr lang="en-US" sz="2200" dirty="0" err="1"/>
              <a:t>Ước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</a:t>
            </a:r>
            <a:r>
              <a:rPr lang="en-US" sz="2200" dirty="0" err="1"/>
              <a:t>đến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cả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nỗ</a:t>
            </a:r>
            <a:r>
              <a:rPr lang="en-US" sz="2200" dirty="0"/>
              <a:t> </a:t>
            </a:r>
            <a:r>
              <a:rPr lang="en-US" sz="2200" dirty="0" err="1"/>
              <a:t>lực</a:t>
            </a:r>
            <a:r>
              <a:rPr lang="en-US" sz="2200" dirty="0"/>
              <a:t>, </a:t>
            </a:r>
            <a:r>
              <a:rPr lang="en-US" sz="2200" dirty="0" err="1"/>
              <a:t>nguyên</a:t>
            </a:r>
            <a:r>
              <a:rPr lang="en-US" sz="2200" dirty="0"/>
              <a:t> </a:t>
            </a:r>
            <a:r>
              <a:rPr lang="en-US" sz="2200" dirty="0" err="1"/>
              <a:t>vật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en-US" sz="2200" dirty="0"/>
              <a:t>, </a:t>
            </a:r>
            <a:r>
              <a:rPr lang="en-US" sz="2200" dirty="0" err="1"/>
              <a:t>cơ</a:t>
            </a:r>
            <a:r>
              <a:rPr lang="en-US" sz="2200" dirty="0"/>
              <a:t> </a:t>
            </a:r>
            <a:r>
              <a:rPr lang="en-US" sz="2200" dirty="0" err="1"/>
              <a:t>sở</a:t>
            </a:r>
            <a:r>
              <a:rPr lang="en-US" sz="2200" dirty="0"/>
              <a:t> </a:t>
            </a:r>
            <a:r>
              <a:rPr lang="en-US" sz="2200" dirty="0" err="1"/>
              <a:t>vật</a:t>
            </a:r>
            <a:r>
              <a:rPr lang="en-US" sz="2200" dirty="0"/>
              <a:t> </a:t>
            </a:r>
            <a:r>
              <a:rPr lang="en-US" sz="2200" dirty="0" err="1"/>
              <a:t>chất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bởi</a:t>
            </a:r>
            <a:r>
              <a:rPr lang="en-US" sz="2200" dirty="0"/>
              <a:t> </a:t>
            </a:r>
            <a:r>
              <a:rPr lang="en-US" sz="2200" dirty="0" err="1"/>
              <a:t>nhà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</a:t>
            </a:r>
            <a:r>
              <a:rPr lang="en-US" sz="2200" dirty="0" err="1"/>
              <a:t>ty</a:t>
            </a:r>
            <a:r>
              <a:rPr lang="en-US" sz="2200" dirty="0"/>
              <a:t> </a:t>
            </a:r>
            <a:r>
              <a:rPr lang="en-US" sz="2200" dirty="0" err="1"/>
              <a:t>cần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892969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057400"/>
            <a:ext cx="8153400" cy="4572000"/>
          </a:xfrm>
        </p:spPr>
        <p:txBody>
          <a:bodyPr/>
          <a:lstStyle/>
          <a:p>
            <a:r>
              <a:rPr lang="en-US" sz="2600" i="1" dirty="0"/>
              <a:t>Chi </a:t>
            </a:r>
            <a:r>
              <a:rPr lang="en-US" sz="2600" i="1" dirty="0" err="1"/>
              <a:t>phí</a:t>
            </a:r>
            <a:r>
              <a:rPr lang="en-US" sz="2600" i="1" dirty="0"/>
              <a:t> </a:t>
            </a:r>
            <a:r>
              <a:rPr lang="en-US" sz="2600" i="1" dirty="0" err="1"/>
              <a:t>nguyên</a:t>
            </a:r>
            <a:r>
              <a:rPr lang="en-US" sz="2600" i="1" dirty="0"/>
              <a:t> </a:t>
            </a:r>
            <a:r>
              <a:rPr lang="en-US" sz="2600" i="1" dirty="0" err="1"/>
              <a:t>vật</a:t>
            </a:r>
            <a:r>
              <a:rPr lang="en-US" sz="2600" i="1" dirty="0"/>
              <a:t> </a:t>
            </a:r>
            <a:r>
              <a:rPr lang="en-US" sz="2600" i="1" dirty="0" err="1"/>
              <a:t>liệu</a:t>
            </a:r>
            <a:r>
              <a:rPr lang="en-US" sz="2600" i="1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loại</a:t>
            </a:r>
            <a:r>
              <a:rPr lang="en-US" sz="2600" dirty="0"/>
              <a:t> chi </a:t>
            </a:r>
            <a:r>
              <a:rPr lang="en-US" sz="2600" dirty="0" err="1"/>
              <a:t>phí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chi </a:t>
            </a:r>
            <a:r>
              <a:rPr lang="en-US" sz="2600" dirty="0" err="1"/>
              <a:t>tất</a:t>
            </a:r>
            <a:r>
              <a:rPr lang="en-US" sz="2600" dirty="0"/>
              <a:t> </a:t>
            </a: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,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phận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nguồn</a:t>
            </a:r>
            <a:r>
              <a:rPr lang="en-US" sz="2600" dirty="0"/>
              <a:t> </a:t>
            </a:r>
            <a:r>
              <a:rPr lang="en-US" sz="2600" dirty="0" err="1"/>
              <a:t>cung</a:t>
            </a:r>
            <a:r>
              <a:rPr lang="en-US" sz="2600" dirty="0"/>
              <a:t> </a:t>
            </a:r>
            <a:r>
              <a:rPr lang="en-US" sz="2600" dirty="0" err="1"/>
              <a:t>cấp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  <a:r>
              <a:rPr lang="en-US" sz="2600" dirty="0" err="1"/>
              <a:t>trở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phận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chuyển</a:t>
            </a:r>
            <a:r>
              <a:rPr lang="en-US" sz="2600" dirty="0"/>
              <a:t> </a:t>
            </a:r>
            <a:r>
              <a:rPr lang="en-US" sz="2600" dirty="0" err="1"/>
              <a:t>giao</a:t>
            </a:r>
            <a:r>
              <a:rPr lang="en-US" sz="2600" dirty="0"/>
              <a:t>. </a:t>
            </a:r>
          </a:p>
          <a:p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công</a:t>
            </a:r>
            <a:r>
              <a:rPr lang="en-US" sz="2600" dirty="0"/>
              <a:t> </a:t>
            </a:r>
            <a:r>
              <a:rPr lang="en-US" sz="2600" dirty="0" err="1"/>
              <a:t>cụ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công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nguyên</a:t>
            </a:r>
            <a:r>
              <a:rPr lang="en-US" sz="2600" dirty="0"/>
              <a:t> </a:t>
            </a:r>
            <a:r>
              <a:rPr lang="en-US" sz="2600" dirty="0" err="1"/>
              <a:t>vật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chúng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trở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phận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chuyển</a:t>
            </a:r>
            <a:r>
              <a:rPr lang="en-US" sz="2600" dirty="0"/>
              <a:t> </a:t>
            </a:r>
            <a:r>
              <a:rPr lang="en-US" sz="2600" dirty="0" err="1"/>
              <a:t>giao</a:t>
            </a:r>
            <a:r>
              <a:rPr lang="en-US" sz="2600" dirty="0"/>
              <a:t>.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 err="1"/>
              <a:t>Ví</a:t>
            </a:r>
            <a:r>
              <a:rPr lang="en-US" sz="2600" b="1" dirty="0"/>
              <a:t> </a:t>
            </a:r>
            <a:r>
              <a:rPr lang="en-US" sz="2600" b="1" dirty="0" err="1"/>
              <a:t>dụ</a:t>
            </a:r>
            <a:r>
              <a:rPr lang="en-US" sz="2600" dirty="0"/>
              <a:t>: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máy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bàn</a:t>
            </a:r>
            <a:r>
              <a:rPr lang="en-US" sz="2600" dirty="0"/>
              <a:t>, </a:t>
            </a:r>
            <a:r>
              <a:rPr lang="en-US" sz="2600" dirty="0" err="1"/>
              <a:t>máy</a:t>
            </a:r>
            <a:r>
              <a:rPr lang="en-US" sz="2600" dirty="0"/>
              <a:t> </a:t>
            </a:r>
            <a:r>
              <a:rPr lang="en-US" sz="2600" dirty="0" err="1"/>
              <a:t>dịch</a:t>
            </a:r>
            <a:r>
              <a:rPr lang="en-US" sz="2600" dirty="0"/>
              <a:t> </a:t>
            </a:r>
            <a:r>
              <a:rPr lang="en-US" sz="2600" dirty="0" err="1"/>
              <a:t>vụ</a:t>
            </a:r>
            <a:r>
              <a:rPr lang="en-US" sz="2600" dirty="0"/>
              <a:t>, </a:t>
            </a:r>
            <a:r>
              <a:rPr lang="en-US" sz="2600" dirty="0" err="1"/>
              <a:t>máy</a:t>
            </a:r>
            <a:r>
              <a:rPr lang="en-US" sz="2600" dirty="0"/>
              <a:t> </a:t>
            </a:r>
            <a:r>
              <a:rPr lang="en-US" sz="2600" dirty="0" err="1"/>
              <a:t>chủ</a:t>
            </a:r>
            <a:r>
              <a:rPr lang="en-US" sz="2600" dirty="0"/>
              <a:t> </a:t>
            </a:r>
            <a:r>
              <a:rPr lang="en-US" sz="2600" dirty="0" err="1"/>
              <a:t>truy</a:t>
            </a:r>
            <a:r>
              <a:rPr lang="en-US" sz="2600" dirty="0"/>
              <a:t> </a:t>
            </a:r>
            <a:r>
              <a:rPr lang="en-US" sz="2600" dirty="0" err="1"/>
              <a:t>cập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sợi</a:t>
            </a:r>
            <a:r>
              <a:rPr lang="en-US" sz="2600" dirty="0"/>
              <a:t> </a:t>
            </a:r>
            <a:r>
              <a:rPr lang="en-US" sz="2600" dirty="0" err="1"/>
              <a:t>cáp</a:t>
            </a:r>
            <a:r>
              <a:rPr lang="en-US" sz="2600" dirty="0"/>
              <a:t> </a:t>
            </a:r>
            <a:r>
              <a:rPr lang="en-US" sz="2600" dirty="0" err="1"/>
              <a:t>quang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nguyên</a:t>
            </a:r>
            <a:r>
              <a:rPr lang="en-US" sz="2600" dirty="0"/>
              <a:t> </a:t>
            </a:r>
            <a:r>
              <a:rPr lang="en-US" sz="2600" dirty="0" err="1"/>
              <a:t>vật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</a:t>
            </a:r>
            <a:r>
              <a:rPr lang="en-US" sz="2600" dirty="0" err="1"/>
              <a:t>nâng</a:t>
            </a:r>
            <a:r>
              <a:rPr lang="en-US" sz="2600" dirty="0"/>
              <a:t> </a:t>
            </a:r>
            <a:r>
              <a:rPr lang="en-US" sz="2600" dirty="0" err="1"/>
              <a:t>cấp</a:t>
            </a:r>
            <a:r>
              <a:rPr lang="en-US" sz="2600" dirty="0"/>
              <a:t> </a:t>
            </a:r>
            <a:r>
              <a:rPr lang="en-US" sz="2600" dirty="0" err="1"/>
              <a:t>mạng</a:t>
            </a:r>
            <a:r>
              <a:rPr lang="en-US" sz="2600" dirty="0"/>
              <a:t>. </a:t>
            </a:r>
            <a:r>
              <a:rPr lang="en-US" sz="2600" dirty="0" err="1"/>
              <a:t>Mã</a:t>
            </a:r>
            <a:r>
              <a:rPr lang="en-US" sz="2600" dirty="0"/>
              <a:t> </a:t>
            </a:r>
            <a:r>
              <a:rPr lang="en-US" sz="2600" dirty="0" err="1"/>
              <a:t>bản</a:t>
            </a:r>
            <a:r>
              <a:rPr lang="en-US" sz="2600" dirty="0"/>
              <a:t> </a:t>
            </a:r>
            <a:r>
              <a:rPr lang="en-US" sz="2600" dirty="0" err="1"/>
              <a:t>quyền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mềm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nguyên</a:t>
            </a:r>
            <a:r>
              <a:rPr lang="en-US" sz="2600" dirty="0"/>
              <a:t> </a:t>
            </a:r>
            <a:r>
              <a:rPr lang="en-US" sz="2600" dirty="0" err="1"/>
              <a:t>vật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nhiều</a:t>
            </a:r>
            <a:r>
              <a:rPr lang="en-US" sz="2600" dirty="0"/>
              <a:t> </a:t>
            </a:r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</a:t>
            </a:r>
            <a:r>
              <a:rPr lang="en-US" sz="2600" dirty="0" err="1"/>
              <a:t>công</a:t>
            </a:r>
            <a:r>
              <a:rPr lang="en-US" sz="2600" dirty="0"/>
              <a:t> </a:t>
            </a:r>
            <a:r>
              <a:rPr lang="en-US" sz="2600" dirty="0" err="1"/>
              <a:t>nghệ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tin. </a:t>
            </a:r>
          </a:p>
          <a:p>
            <a:endParaRPr lang="en-US" sz="2600" dirty="0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609600" y="1371600"/>
            <a:ext cx="38100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Chi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phí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nguyên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vật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liệu</a:t>
            </a:r>
            <a:endParaRPr lang="en-US" sz="2400" b="1" dirty="0"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04369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FF3F24-4A2D-4E67-ADDA-6AD9AD8C928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Arial" charset="0"/>
                <a:cs typeface="Arial" charset="0"/>
              </a:rPr>
              <a:t>2. ƯỚC LƯỢNG CHI PHÍ DỰ ÁN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057400"/>
            <a:ext cx="8153400" cy="4572000"/>
          </a:xfrm>
        </p:spPr>
        <p:txBody>
          <a:bodyPr/>
          <a:lstStyle/>
          <a:p>
            <a:r>
              <a:rPr lang="en-US" sz="2400" i="1" dirty="0"/>
              <a:t>Chi </a:t>
            </a:r>
            <a:r>
              <a:rPr lang="en-US" sz="2400" i="1" dirty="0" err="1"/>
              <a:t>phí</a:t>
            </a:r>
            <a:r>
              <a:rPr lang="en-US" sz="2400" i="1" dirty="0"/>
              <a:t> </a:t>
            </a:r>
            <a:r>
              <a:rPr lang="en-US" sz="2400" i="1" dirty="0" err="1"/>
              <a:t>cơ</a:t>
            </a:r>
            <a:r>
              <a:rPr lang="en-US" sz="2400" i="1" dirty="0"/>
              <a:t> </a:t>
            </a:r>
            <a:r>
              <a:rPr lang="en-US" sz="2400" i="1" dirty="0" err="1"/>
              <a:t>sở</a:t>
            </a:r>
            <a:r>
              <a:rPr lang="en-US" sz="2400" i="1" dirty="0"/>
              <a:t> </a:t>
            </a:r>
            <a:r>
              <a:rPr lang="en-US" sz="2400" i="1" dirty="0" err="1"/>
              <a:t>vật</a:t>
            </a:r>
            <a:r>
              <a:rPr lang="en-US" sz="2400" i="1" dirty="0"/>
              <a:t> </a:t>
            </a:r>
            <a:r>
              <a:rPr lang="en-US" sz="2400" i="1" dirty="0" err="1"/>
              <a:t>chất</a:t>
            </a:r>
            <a:r>
              <a:rPr lang="en-US" sz="2400" i="1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,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hay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hạ</a:t>
            </a:r>
            <a:r>
              <a:rPr lang="en-US" sz="2400" dirty="0"/>
              <a:t> </a:t>
            </a:r>
            <a:r>
              <a:rPr lang="en-US" sz="2400" dirty="0" err="1"/>
              <a:t>tầng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suốt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trở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phận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b="1" dirty="0" err="1"/>
              <a:t>Ví</a:t>
            </a:r>
            <a:r>
              <a:rPr lang="en-US" sz="2400" b="1" dirty="0"/>
              <a:t> </a:t>
            </a:r>
            <a:r>
              <a:rPr lang="en-US" sz="2400" b="1" dirty="0" err="1"/>
              <a:t>dụ</a:t>
            </a:r>
            <a:r>
              <a:rPr lang="en-US" sz="2400" b="1" dirty="0"/>
              <a:t>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Đội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 </a:t>
            </a:r>
            <a:r>
              <a:rPr lang="en-US" sz="2400" dirty="0" err="1"/>
              <a:t>hành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thương</a:t>
            </a:r>
            <a:r>
              <a:rPr lang="en-US" sz="2400" dirty="0"/>
              <a:t> </a:t>
            </a:r>
            <a:r>
              <a:rPr lang="en-US" sz="2400" dirty="0" err="1"/>
              <a:t>mại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, </a:t>
            </a:r>
            <a:r>
              <a:rPr lang="en-US" sz="2400" dirty="0" err="1"/>
              <a:t>bàn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,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bàn</a:t>
            </a:r>
            <a:r>
              <a:rPr lang="en-US" sz="2400" dirty="0"/>
              <a:t>,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, </a:t>
            </a:r>
            <a:r>
              <a:rPr lang="en-US" sz="2400" dirty="0" err="1"/>
              <a:t>mạng</a:t>
            </a:r>
            <a:r>
              <a:rPr lang="en-US" sz="2400" dirty="0"/>
              <a:t> LAN/WAN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mọi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.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mềm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môi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cũng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609600" y="1371600"/>
            <a:ext cx="38100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Chi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phí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cơ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sở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vật</a:t>
            </a:r>
            <a:r>
              <a:rPr lang="en-US" sz="2400" b="1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chất</a:t>
            </a:r>
            <a:endParaRPr lang="en-US" sz="2400" b="1" dirty="0"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985145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F2E4908-E137-4F64-A539-137B33974EA3}" type="slidenum">
              <a:rPr lang="en-US" sz="1400" smtClean="0"/>
              <a:pPr eaLnBrk="1" hangingPunct="1"/>
              <a:t>10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Giới thiệu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Đây là công việc được thực hiện lại nhiều lần. Qua đó xác định thời gian hoàn thành từng công việc của dự án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Sau mỗi lần, mức độ chính xác sẽ được nâng cao: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Giai đoạn xác định mục tiêu, sai số từ 50 – 100%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Giai đoạn phân tích, sai số chỉ còn 25-50%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Sai số chỉ còn 10% ở giai đoạn thiết kế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2987A83-384C-4BF9-B0D6-EB7F51BBEFC4}" type="slidenum">
              <a:rPr lang="en-US" sz="1400" smtClean="0"/>
              <a:pPr eaLnBrk="1" hangingPunct="1"/>
              <a:t>11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Kỹ thuật ước lượng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Có 3 kỹ thuật ước lượng: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Đánh giá của chuyên gia: 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Cần chuyên gia kinh nghiệm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Sử dụng ý kiến của nhiều chuyên gia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Sử dụng lại dự án tương tự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So sánh công việc với công việc tương tự đã thực hiện trong các dự án khác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>
                <a:latin typeface="Arial" charset="0"/>
                <a:cs typeface="Arial" charset="0"/>
              </a:rPr>
              <a:t>Xây dựng dự án thành những công việc thường hay gặp</a:t>
            </a: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57A8703-8674-4877-8BA3-087C3B312B5E}" type="slidenum">
              <a:rPr lang="en-US" sz="1400" smtClean="0"/>
              <a:pPr eaLnBrk="1" hangingPunct="1"/>
              <a:t>12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Kỹ thuật ước lượng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latin typeface="Arial" pitchFamily="34" charset="0"/>
                <a:cs typeface="Arial" pitchFamily="34" charset="0"/>
              </a:rPr>
              <a:t> 3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kỹ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thuật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ước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dirty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tiếp</a:t>
            </a:r>
            <a:r>
              <a:rPr lang="en-US" dirty="0">
                <a:latin typeface="Arial" pitchFamily="34" charset="0"/>
                <a:cs typeface="Arial" pitchFamily="34" charset="0"/>
              </a:rPr>
              <a:t>):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Dùng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công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thức</a:t>
            </a:r>
            <a:r>
              <a:rPr lang="en-US" dirty="0">
                <a:latin typeface="Arial" pitchFamily="34" charset="0"/>
                <a:cs typeface="Arial" pitchFamily="34" charset="0"/>
              </a:rPr>
              <a:t>: COCOMO(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nổi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tiếng</a:t>
            </a:r>
            <a:r>
              <a:rPr lang="en-US" dirty="0">
                <a:latin typeface="Arial" pitchFamily="34" charset="0"/>
                <a:cs typeface="Arial" pitchFamily="34" charset="0"/>
              </a:rPr>
              <a:t>). D</a:t>
            </a:r>
            <a:r>
              <a:rPr lang="vi-VN" dirty="0">
                <a:latin typeface="Arial" pitchFamily="34" charset="0"/>
                <a:cs typeface="Arial" pitchFamily="34" charset="0"/>
              </a:rPr>
              <a:t>ùng để ước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vi-VN" dirty="0">
                <a:latin typeface="Arial" pitchFamily="34" charset="0"/>
                <a:cs typeface="Arial" pitchFamily="34" charset="0"/>
              </a:rPr>
              <a:t>lượng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  <a:r>
              <a:rPr lang="vi-VN" dirty="0">
                <a:latin typeface="Arial" pitchFamily="34" charset="0"/>
                <a:cs typeface="Arial" pitchFamily="34" charset="0"/>
              </a:rPr>
              <a:t> giá thành dự án, ngày công, lịch biểu, biên chế cho từng giai </a:t>
            </a:r>
            <a:r>
              <a:rPr lang="en-US" dirty="0">
                <a:latin typeface="Arial" pitchFamily="34" charset="0"/>
                <a:cs typeface="Arial" pitchFamily="34" charset="0"/>
              </a:rPr>
              <a:t>đ</a:t>
            </a:r>
            <a:r>
              <a:rPr lang="vi-VN" dirty="0">
                <a:latin typeface="Arial" pitchFamily="34" charset="0"/>
                <a:cs typeface="Arial" pitchFamily="34" charset="0"/>
              </a:rPr>
              <a:t>oạn sau: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vi-VN" dirty="0">
                <a:latin typeface="Arial" pitchFamily="34" charset="0"/>
                <a:ea typeface="+mn-ea"/>
                <a:cs typeface="Arial" pitchFamily="34" charset="0"/>
              </a:rPr>
              <a:t>Thiết kế sơ bộ (PD)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vi-VN" dirty="0">
                <a:latin typeface="Arial" pitchFamily="34" charset="0"/>
                <a:ea typeface="+mn-ea"/>
                <a:cs typeface="Arial" pitchFamily="34" charset="0"/>
              </a:rPr>
              <a:t>Thiết kế chi tiết (DD)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vi-VN" dirty="0">
                <a:latin typeface="Arial" pitchFamily="34" charset="0"/>
                <a:ea typeface="+mn-ea"/>
                <a:cs typeface="Arial" pitchFamily="34" charset="0"/>
              </a:rPr>
              <a:t>Lập trình và kiểm thử (CUT)</a:t>
            </a:r>
            <a:endParaRPr lang="en-US" dirty="0">
              <a:latin typeface="Arial" pitchFamily="34" charset="0"/>
              <a:ea typeface="+mn-ea"/>
              <a:cs typeface="Arial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vi-VN" dirty="0">
                <a:latin typeface="Arial" pitchFamily="34" charset="0"/>
                <a:ea typeface="+mn-ea"/>
                <a:cs typeface="Arial" pitchFamily="34" charset="0"/>
              </a:rPr>
              <a:t> Kiểm thử hệ thống (ST)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Ví dụ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DFDA2AD-C89F-464A-90AE-1A5C5FD4F69F}" type="slidenum">
              <a:rPr lang="en-US" sz="1400" smtClean="0"/>
              <a:pPr eaLnBrk="1" hangingPunct="1"/>
              <a:t>13</a:t>
            </a:fld>
            <a:endParaRPr lang="en-US" sz="1400"/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91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Ước lượng việc lập trình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6ABEEA-C6D3-4C6D-8178-0697585FFE5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ó hai nhân tố ảnh hưởng tới thời gian để thực hiện một công việc: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000" dirty="0">
                <a:latin typeface="Arial" pitchFamily="34" charset="0"/>
                <a:ea typeface="+mn-ea"/>
                <a:cs typeface="Arial" pitchFamily="34" charset="0"/>
              </a:rPr>
              <a:t>Đ</a:t>
            </a:r>
            <a:r>
              <a:rPr lang="vi-VN" sz="2000" dirty="0">
                <a:latin typeface="Arial" pitchFamily="34" charset="0"/>
                <a:ea typeface="+mn-ea"/>
                <a:cs typeface="Arial" pitchFamily="34" charset="0"/>
              </a:rPr>
              <a:t>ộ phức tạp của công việc (C)</a:t>
            </a:r>
            <a:endParaRPr lang="en-US" sz="2000" dirty="0">
              <a:latin typeface="Arial" pitchFamily="34" charset="0"/>
              <a:ea typeface="+mn-ea"/>
              <a:cs typeface="Arial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000" dirty="0">
                <a:latin typeface="Arial" pitchFamily="34" charset="0"/>
                <a:ea typeface="+mn-ea"/>
                <a:cs typeface="Arial" pitchFamily="34" charset="0"/>
              </a:rPr>
              <a:t>H</a:t>
            </a:r>
            <a:r>
              <a:rPr lang="vi-VN" sz="2000" dirty="0">
                <a:latin typeface="Arial" pitchFamily="34" charset="0"/>
                <a:ea typeface="+mn-ea"/>
                <a:cs typeface="Arial" pitchFamily="34" charset="0"/>
              </a:rPr>
              <a:t>iệu năng của người thực hiện</a:t>
            </a:r>
            <a:r>
              <a:rPr lang="en-US" sz="2000" dirty="0"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vi-VN" sz="2000" dirty="0">
                <a:latin typeface="Arial" pitchFamily="34" charset="0"/>
                <a:ea typeface="+mn-ea"/>
                <a:cs typeface="Arial" pitchFamily="34" charset="0"/>
              </a:rPr>
              <a:t>phụ thuộc vào số năm kinh nghiệm(G) và tri thức về </a:t>
            </a:r>
            <a:r>
              <a:rPr lang="en-US" sz="2000" dirty="0">
                <a:latin typeface="Arial" pitchFamily="34" charset="0"/>
                <a:ea typeface="+mn-ea"/>
                <a:cs typeface="Arial" pitchFamily="34" charset="0"/>
              </a:rPr>
              <a:t>CV (J)</a:t>
            </a:r>
            <a:r>
              <a:rPr lang="vi-VN" sz="2000" dirty="0">
                <a:latin typeface="Arial" pitchFamily="34" charset="0"/>
                <a:ea typeface="+mn-ea"/>
                <a:cs typeface="Arial" pitchFamily="34" charset="0"/>
              </a:rPr>
              <a:t>. </a:t>
            </a:r>
            <a:endParaRPr lang="en-US" sz="2000" dirty="0">
              <a:latin typeface="Arial" pitchFamily="34" charset="0"/>
              <a:ea typeface="+mn-ea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ông thức: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			D = C x (G + J)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Courier New" pitchFamily="49" charset="0"/>
              <a:buChar char="o"/>
              <a:defRPr/>
            </a:pPr>
            <a:r>
              <a:rPr lang="vi-VN" sz="1800" dirty="0">
                <a:latin typeface="Arial" pitchFamily="34" charset="0"/>
                <a:ea typeface="+mn-ea"/>
                <a:cs typeface="Arial" pitchFamily="34" charset="0"/>
              </a:rPr>
              <a:t>D là độ dài thời gian thực hiện công việc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Courier New" pitchFamily="49" charset="0"/>
              <a:buChar char="o"/>
              <a:defRPr/>
            </a:pPr>
            <a:r>
              <a:rPr lang="vi-VN" sz="1800" dirty="0">
                <a:latin typeface="Arial" pitchFamily="34" charset="0"/>
                <a:ea typeface="+mn-ea"/>
                <a:cs typeface="Arial" pitchFamily="34" charset="0"/>
              </a:rPr>
              <a:t>C là nhân tố độ phức tạp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Courier New" pitchFamily="49" charset="0"/>
              <a:buChar char="o"/>
              <a:defRPr/>
            </a:pP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G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là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nhân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tố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kinh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nghiệm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nói</a:t>
            </a:r>
            <a:r>
              <a:rPr lang="en-US" sz="18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ea typeface="+mn-ea"/>
                <a:cs typeface="Arial" pitchFamily="34" charset="0"/>
              </a:rPr>
              <a:t>chung</a:t>
            </a:r>
            <a:endParaRPr lang="en-US" sz="1800" dirty="0">
              <a:latin typeface="Arial" pitchFamily="34" charset="0"/>
              <a:ea typeface="+mn-ea"/>
              <a:cs typeface="Arial" pitchFamily="34" charset="0"/>
            </a:endParaRP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Courier New" pitchFamily="49" charset="0"/>
              <a:buChar char="o"/>
              <a:defRPr/>
            </a:pPr>
            <a:r>
              <a:rPr lang="vi-VN" sz="1800" dirty="0">
                <a:latin typeface="Arial" pitchFamily="34" charset="0"/>
                <a:ea typeface="+mn-ea"/>
                <a:cs typeface="Arial" pitchFamily="34" charset="0"/>
              </a:rPr>
              <a:t>J là nhân tố tri thức về công việc đang xét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268579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3. XÁC ĐỊNH NGÂN SÁCH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000" i="1" dirty="0"/>
          </a:p>
          <a:p>
            <a:pPr marL="0" indent="0">
              <a:buNone/>
            </a:pPr>
            <a:r>
              <a:rPr lang="en-US" sz="3000" i="1" dirty="0" err="1"/>
              <a:t>Dự</a:t>
            </a:r>
            <a:r>
              <a:rPr lang="en-US" sz="3000" i="1" dirty="0"/>
              <a:t> </a:t>
            </a:r>
            <a:r>
              <a:rPr lang="en-US" sz="3000" i="1" dirty="0" err="1"/>
              <a:t>toán</a:t>
            </a:r>
            <a:r>
              <a:rPr lang="en-US" sz="3000" i="1" dirty="0"/>
              <a:t> </a:t>
            </a:r>
            <a:r>
              <a:rPr lang="en-US" sz="3000" i="1" dirty="0" err="1"/>
              <a:t>ngân</a:t>
            </a:r>
            <a:r>
              <a:rPr lang="en-US" sz="3000" i="1" dirty="0"/>
              <a:t> </a:t>
            </a:r>
            <a:r>
              <a:rPr lang="en-US" sz="3000" i="1" dirty="0" err="1"/>
              <a:t>sách</a:t>
            </a:r>
            <a:r>
              <a:rPr lang="en-US" sz="3000" i="1" dirty="0"/>
              <a:t> </a:t>
            </a:r>
            <a:r>
              <a:rPr lang="en-US" sz="3000" i="1" dirty="0" err="1"/>
              <a:t>cho</a:t>
            </a:r>
            <a:r>
              <a:rPr lang="en-US" sz="3000" i="1" dirty="0"/>
              <a:t> </a:t>
            </a:r>
            <a:r>
              <a:rPr lang="en-US" sz="3000" i="1" dirty="0" err="1"/>
              <a:t>các</a:t>
            </a:r>
            <a:r>
              <a:rPr lang="en-US" sz="3000" i="1" dirty="0"/>
              <a:t> chi </a:t>
            </a:r>
            <a:r>
              <a:rPr lang="en-US" sz="3000" i="1" dirty="0" err="1"/>
              <a:t>phí</a:t>
            </a:r>
            <a:r>
              <a:rPr lang="en-US" sz="3000" i="1" dirty="0"/>
              <a:t> </a:t>
            </a:r>
            <a:r>
              <a:rPr lang="en-US" sz="3000" dirty="0" err="1"/>
              <a:t>là</a:t>
            </a:r>
            <a:r>
              <a:rPr lang="en-US" sz="3000" dirty="0"/>
              <a:t> </a:t>
            </a: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hoạt</a:t>
            </a:r>
            <a:r>
              <a:rPr lang="en-US" sz="3000" dirty="0"/>
              <a:t> </a:t>
            </a:r>
            <a:r>
              <a:rPr lang="en-US" sz="3000" dirty="0" err="1"/>
              <a:t>động</a:t>
            </a:r>
            <a:r>
              <a:rPr lang="en-US" sz="3000" dirty="0"/>
              <a:t> </a:t>
            </a:r>
            <a:r>
              <a:rPr lang="en-US" sz="3000" dirty="0" err="1"/>
              <a:t>nghiệp</a:t>
            </a:r>
            <a:r>
              <a:rPr lang="en-US" sz="3000" dirty="0"/>
              <a:t> </a:t>
            </a:r>
            <a:r>
              <a:rPr lang="en-US" sz="3000" dirty="0" err="1"/>
              <a:t>vụ</a:t>
            </a:r>
            <a:r>
              <a:rPr lang="en-US" sz="3000" dirty="0"/>
              <a:t> </a:t>
            </a:r>
            <a:r>
              <a:rPr lang="en-US" sz="3000" dirty="0" err="1"/>
              <a:t>theo</a:t>
            </a:r>
            <a:r>
              <a:rPr lang="en-US" sz="3000" dirty="0"/>
              <a:t> </a:t>
            </a:r>
            <a:r>
              <a:rPr lang="en-US" sz="3000" dirty="0" err="1"/>
              <a:t>dõi</a:t>
            </a:r>
            <a:r>
              <a:rPr lang="en-US" sz="3000" dirty="0"/>
              <a:t> </a:t>
            </a:r>
            <a:r>
              <a:rPr lang="en-US" sz="3000" dirty="0" err="1"/>
              <a:t>tất</a:t>
            </a:r>
            <a:r>
              <a:rPr lang="en-US" sz="3000" dirty="0"/>
              <a:t> </a:t>
            </a:r>
            <a:r>
              <a:rPr lang="en-US" sz="3000" dirty="0" err="1"/>
              <a:t>cả</a:t>
            </a:r>
            <a:r>
              <a:rPr lang="en-US" sz="3000" dirty="0"/>
              <a:t> </a:t>
            </a:r>
            <a:r>
              <a:rPr lang="en-US" sz="3000" dirty="0" err="1"/>
              <a:t>các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trực</a:t>
            </a:r>
            <a:r>
              <a:rPr lang="en-US" sz="3000" dirty="0"/>
              <a:t> </a:t>
            </a:r>
            <a:r>
              <a:rPr lang="en-US" sz="3000" dirty="0" err="1"/>
              <a:t>tiếp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gián</a:t>
            </a:r>
            <a:r>
              <a:rPr lang="en-US" sz="3000" dirty="0"/>
              <a:t> </a:t>
            </a:r>
            <a:r>
              <a:rPr lang="en-US" sz="3000" dirty="0" err="1"/>
              <a:t>tiếp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công</a:t>
            </a:r>
            <a:r>
              <a:rPr lang="en-US" sz="3000" dirty="0"/>
              <a:t> </a:t>
            </a:r>
            <a:r>
              <a:rPr lang="en-US" sz="3000" dirty="0" err="1"/>
              <a:t>ty</a:t>
            </a:r>
            <a:r>
              <a:rPr lang="en-US" sz="3000" dirty="0"/>
              <a:t> </a:t>
            </a:r>
            <a:r>
              <a:rPr lang="en-US" sz="3000" dirty="0" err="1"/>
              <a:t>bằng</a:t>
            </a:r>
            <a:r>
              <a:rPr lang="en-US" sz="3000" dirty="0"/>
              <a:t> </a:t>
            </a:r>
            <a:r>
              <a:rPr lang="en-US" sz="3000" dirty="0" err="1"/>
              <a:t>dự</a:t>
            </a:r>
            <a:r>
              <a:rPr lang="en-US" sz="3000" dirty="0"/>
              <a:t> </a:t>
            </a:r>
            <a:r>
              <a:rPr lang="en-US" sz="3000" dirty="0" err="1"/>
              <a:t>án</a:t>
            </a:r>
            <a:r>
              <a:rPr lang="en-US" sz="3000" dirty="0"/>
              <a:t>. 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 err="1"/>
              <a:t>Khi</a:t>
            </a:r>
            <a:r>
              <a:rPr lang="en-US" sz="3000" dirty="0"/>
              <a:t> </a:t>
            </a:r>
            <a:r>
              <a:rPr lang="en-US" sz="3000" dirty="0" err="1"/>
              <a:t>đó</a:t>
            </a:r>
            <a:r>
              <a:rPr lang="en-US" sz="3000" dirty="0"/>
              <a:t> </a:t>
            </a:r>
            <a:r>
              <a:rPr lang="en-US" sz="3000" dirty="0" err="1"/>
              <a:t>doanh</a:t>
            </a:r>
            <a:r>
              <a:rPr lang="en-US" sz="3000" dirty="0"/>
              <a:t> </a:t>
            </a:r>
            <a:r>
              <a:rPr lang="en-US" sz="3000" dirty="0" err="1"/>
              <a:t>thu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dự</a:t>
            </a:r>
            <a:r>
              <a:rPr lang="en-US" sz="3000" dirty="0"/>
              <a:t> </a:t>
            </a:r>
            <a:r>
              <a:rPr lang="en-US" sz="3000" dirty="0" err="1"/>
              <a:t>án</a:t>
            </a:r>
            <a:r>
              <a:rPr lang="en-US" sz="3000" dirty="0"/>
              <a:t> </a:t>
            </a:r>
            <a:r>
              <a:rPr lang="en-US" sz="3000" dirty="0" err="1"/>
              <a:t>được</a:t>
            </a:r>
            <a:r>
              <a:rPr lang="en-US" sz="3000" dirty="0"/>
              <a:t> so </a:t>
            </a:r>
            <a:r>
              <a:rPr lang="en-US" sz="3000" dirty="0" err="1"/>
              <a:t>sánh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tất</a:t>
            </a:r>
            <a:r>
              <a:rPr lang="en-US" sz="3000" dirty="0"/>
              <a:t> </a:t>
            </a:r>
            <a:r>
              <a:rPr lang="en-US" sz="3000" dirty="0" err="1"/>
              <a:t>cả</a:t>
            </a:r>
            <a:r>
              <a:rPr lang="en-US" sz="3000" dirty="0"/>
              <a:t> </a:t>
            </a:r>
            <a:r>
              <a:rPr lang="en-US" sz="3000" dirty="0" err="1"/>
              <a:t>các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trực</a:t>
            </a:r>
            <a:r>
              <a:rPr lang="en-US" sz="3000" dirty="0"/>
              <a:t> </a:t>
            </a:r>
            <a:r>
              <a:rPr lang="en-US" sz="3000" dirty="0" err="1"/>
              <a:t>tiếp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gián</a:t>
            </a:r>
            <a:r>
              <a:rPr lang="en-US" sz="3000" dirty="0"/>
              <a:t> </a:t>
            </a:r>
            <a:r>
              <a:rPr lang="en-US" sz="3000" dirty="0" err="1"/>
              <a:t>tiếp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</a:t>
            </a:r>
            <a:r>
              <a:rPr lang="en-US" sz="3000" dirty="0" err="1"/>
              <a:t>lợi</a:t>
            </a:r>
            <a:r>
              <a:rPr lang="en-US" sz="3000" dirty="0"/>
              <a:t> </a:t>
            </a:r>
            <a:r>
              <a:rPr lang="en-US" sz="3000" dirty="0" err="1"/>
              <a:t>nhuận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từng</a:t>
            </a:r>
            <a:r>
              <a:rPr lang="en-US" sz="3000" dirty="0"/>
              <a:t> </a:t>
            </a:r>
            <a:r>
              <a:rPr lang="en-US" sz="3000" dirty="0" err="1"/>
              <a:t>dự</a:t>
            </a:r>
            <a:r>
              <a:rPr lang="en-US" sz="3000" dirty="0"/>
              <a:t> </a:t>
            </a:r>
            <a:r>
              <a:rPr lang="en-US" sz="3000" dirty="0" err="1"/>
              <a:t>án</a:t>
            </a:r>
            <a:r>
              <a:rPr lang="en-US" sz="30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6ABEEA-C6D3-4C6D-8178-0697585FFE5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43157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ĐIỀU KHIỂN CHI PHÍ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b="1" dirty="0"/>
              <a:t>Theo </a:t>
            </a:r>
            <a:r>
              <a:rPr lang="en-US" b="1" dirty="0" err="1"/>
              <a:t>dõi</a:t>
            </a:r>
            <a:r>
              <a:rPr lang="en-US" b="1" dirty="0"/>
              <a:t> </a:t>
            </a:r>
            <a:r>
              <a:rPr lang="en-US" b="1" dirty="0" err="1"/>
              <a:t>kinh</a:t>
            </a:r>
            <a:r>
              <a:rPr lang="en-US" b="1" dirty="0"/>
              <a:t> </a:t>
            </a:r>
            <a:r>
              <a:rPr lang="en-US" b="1" dirty="0" err="1"/>
              <a:t>phí</a:t>
            </a:r>
            <a:r>
              <a:rPr lang="en-US" b="1" dirty="0"/>
              <a:t> qua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endParaRPr lang="en-US" b="1" dirty="0"/>
          </a:p>
          <a:p>
            <a:pPr marL="514350" indent="-514350">
              <a:buAutoNum type="alphaLcParenR"/>
            </a:pPr>
            <a:endParaRPr lang="en-US" b="1" dirty="0"/>
          </a:p>
          <a:p>
            <a:pPr marL="514350" indent="-514350">
              <a:buAutoNum type="alphaLcParenR"/>
            </a:pPr>
            <a:endParaRPr lang="en-US" b="1" dirty="0"/>
          </a:p>
          <a:p>
            <a:pPr marL="514350" indent="-514350">
              <a:buAutoNum type="alphaLcParenR"/>
            </a:pPr>
            <a:endParaRPr lang="en-US" b="1" dirty="0"/>
          </a:p>
          <a:p>
            <a:pPr>
              <a:buFontTx/>
              <a:buChar char="-"/>
            </a:pPr>
            <a:r>
              <a:rPr lang="en-US" sz="2200" i="1" dirty="0"/>
              <a:t>CV </a:t>
            </a:r>
            <a:r>
              <a:rPr lang="en-US" sz="2200" dirty="0"/>
              <a:t>(</a:t>
            </a:r>
            <a:r>
              <a:rPr lang="en-US" sz="2200" dirty="0" err="1"/>
              <a:t>Biến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)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chênh</a:t>
            </a:r>
            <a:r>
              <a:rPr lang="en-US" sz="2200" dirty="0"/>
              <a:t> </a:t>
            </a:r>
            <a:r>
              <a:rPr lang="en-US" sz="2200" dirty="0" err="1"/>
              <a:t>lệch</a:t>
            </a:r>
            <a:r>
              <a:rPr lang="en-US" sz="2200" dirty="0"/>
              <a:t> </a:t>
            </a:r>
            <a:r>
              <a:rPr lang="en-US" sz="2200" dirty="0" err="1"/>
              <a:t>giữa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toán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hoạt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dirty="0" err="1"/>
              <a:t>hoạt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đó</a:t>
            </a:r>
            <a:r>
              <a:rPr lang="en-US" sz="2200" b="1" dirty="0"/>
              <a:t> </a:t>
            </a:r>
          </a:p>
          <a:p>
            <a:pPr>
              <a:buFontTx/>
              <a:buChar char="-"/>
            </a:pPr>
            <a:r>
              <a:rPr lang="en-US" sz="2200" dirty="0"/>
              <a:t>BCWP: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toán</a:t>
            </a:r>
            <a:r>
              <a:rPr lang="en-US" sz="2200" dirty="0"/>
              <a:t>; ACWP: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đã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endParaRPr lang="en-US" sz="2200" dirty="0"/>
          </a:p>
          <a:p>
            <a:pPr>
              <a:buFont typeface="Wingdings"/>
              <a:buChar char="è"/>
            </a:pPr>
            <a:r>
              <a:rPr lang="en-US" sz="2200" dirty="0"/>
              <a:t>CV = BCWP – ACWP. </a:t>
            </a:r>
            <a:r>
              <a:rPr lang="en-US" sz="2200" dirty="0" err="1"/>
              <a:t>Nếu</a:t>
            </a:r>
            <a:r>
              <a:rPr lang="en-US" sz="2200" dirty="0"/>
              <a:t> </a:t>
            </a: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quả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Biến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(CV)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dương</a:t>
            </a:r>
            <a:r>
              <a:rPr lang="en-US" sz="2200" dirty="0"/>
              <a:t> (+),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chưa</a:t>
            </a:r>
            <a:r>
              <a:rPr lang="en-US" sz="2200" dirty="0"/>
              <a:t> </a:t>
            </a:r>
            <a:r>
              <a:rPr lang="en-US" sz="2200" dirty="0" err="1"/>
              <a:t>sử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r>
              <a:rPr lang="en-US" sz="2200" dirty="0"/>
              <a:t> </a:t>
            </a:r>
            <a:r>
              <a:rPr lang="en-US" sz="2200" dirty="0" err="1"/>
              <a:t>hết</a:t>
            </a:r>
            <a:r>
              <a:rPr lang="en-US" sz="2200" dirty="0"/>
              <a:t> </a:t>
            </a:r>
            <a:r>
              <a:rPr lang="en-US" sz="2200" dirty="0" err="1"/>
              <a:t>kinh</a:t>
            </a:r>
            <a:r>
              <a:rPr lang="en-US" sz="2200" dirty="0"/>
              <a:t> </a:t>
            </a:r>
            <a:r>
              <a:rPr lang="en-US" sz="2200" dirty="0" err="1"/>
              <a:t>phí</a:t>
            </a:r>
            <a:r>
              <a:rPr lang="en-US" sz="2200" dirty="0"/>
              <a:t>; </a:t>
            </a:r>
            <a:r>
              <a:rPr lang="en-US" sz="2200" dirty="0" err="1"/>
              <a:t>ngược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 </a:t>
            </a:r>
            <a:r>
              <a:rPr lang="en-US" sz="2200" dirty="0" err="1"/>
              <a:t>nếu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âm</a:t>
            </a:r>
            <a:r>
              <a:rPr lang="en-US" sz="2200" dirty="0"/>
              <a:t> (-),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đã</a:t>
            </a:r>
            <a:r>
              <a:rPr lang="en-US" sz="2200" dirty="0"/>
              <a:t> </a:t>
            </a:r>
            <a:r>
              <a:rPr lang="en-US" sz="2200" dirty="0" err="1"/>
              <a:t>sử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r>
              <a:rPr lang="en-US" sz="2200" dirty="0"/>
              <a:t> </a:t>
            </a:r>
            <a:r>
              <a:rPr lang="en-US" sz="2200" dirty="0" err="1"/>
              <a:t>vượt</a:t>
            </a:r>
            <a:r>
              <a:rPr lang="en-US" sz="2200" dirty="0"/>
              <a:t> </a:t>
            </a:r>
            <a:r>
              <a:rPr lang="en-US" sz="2200" dirty="0" err="1"/>
              <a:t>quá</a:t>
            </a:r>
            <a:r>
              <a:rPr lang="en-US" sz="2200" dirty="0"/>
              <a:t> </a:t>
            </a:r>
            <a:r>
              <a:rPr lang="en-US" sz="2200" dirty="0" err="1"/>
              <a:t>kinh</a:t>
            </a:r>
            <a:r>
              <a:rPr lang="en-US" sz="2200" dirty="0"/>
              <a:t>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toán</a:t>
            </a:r>
            <a:r>
              <a:rPr lang="en-US" sz="2200" dirty="0"/>
              <a:t>. </a:t>
            </a:r>
          </a:p>
          <a:p>
            <a:pPr>
              <a:buFont typeface="Wingdings"/>
              <a:buChar char="è"/>
            </a:pPr>
            <a:r>
              <a:rPr lang="en-US" sz="2200" dirty="0"/>
              <a:t>CPI = BCWP/ACWP. </a:t>
            </a:r>
            <a:r>
              <a:rPr lang="en-US" sz="2200" dirty="0" err="1"/>
              <a:t>Nếu</a:t>
            </a:r>
            <a:r>
              <a:rPr lang="en-US" sz="2200" dirty="0"/>
              <a:t>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trị</a:t>
            </a:r>
            <a:r>
              <a:rPr lang="en-US" sz="2200" dirty="0"/>
              <a:t> CPI </a:t>
            </a:r>
            <a:r>
              <a:rPr lang="en-US" sz="2200" dirty="0" err="1"/>
              <a:t>lớn</a:t>
            </a:r>
            <a:r>
              <a:rPr lang="en-US" sz="2200" dirty="0"/>
              <a:t> </a:t>
            </a:r>
            <a:r>
              <a:rPr lang="en-US" sz="2200" dirty="0" err="1"/>
              <a:t>hơn</a:t>
            </a:r>
            <a:r>
              <a:rPr lang="en-US" sz="2200" dirty="0"/>
              <a:t> 1, </a:t>
            </a: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đó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chưa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sử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r>
              <a:rPr lang="en-US" sz="2200" dirty="0"/>
              <a:t> </a:t>
            </a:r>
            <a:r>
              <a:rPr lang="en-US" sz="2200" dirty="0" err="1"/>
              <a:t>triệt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. </a:t>
            </a:r>
            <a:r>
              <a:rPr lang="en-US" sz="2200" dirty="0" err="1"/>
              <a:t>Ngược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, </a:t>
            </a:r>
            <a:r>
              <a:rPr lang="en-US" sz="2200" dirty="0" err="1"/>
              <a:t>nếu</a:t>
            </a:r>
            <a:r>
              <a:rPr lang="en-US" sz="2200" dirty="0"/>
              <a:t>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trị</a:t>
            </a:r>
            <a:r>
              <a:rPr lang="en-US" sz="2200" dirty="0"/>
              <a:t> CPI </a:t>
            </a:r>
            <a:r>
              <a:rPr lang="en-US" sz="2200" dirty="0" err="1"/>
              <a:t>nhỏ</a:t>
            </a:r>
            <a:r>
              <a:rPr lang="en-US" sz="2200" dirty="0"/>
              <a:t> </a:t>
            </a:r>
            <a:r>
              <a:rPr lang="en-US" sz="2200" dirty="0" err="1"/>
              <a:t>hơn</a:t>
            </a:r>
            <a:r>
              <a:rPr lang="en-US" sz="2200" dirty="0"/>
              <a:t> 1,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r>
              <a:rPr lang="en-US" sz="2200" dirty="0"/>
              <a:t> </a:t>
            </a:r>
            <a:r>
              <a:rPr lang="en-US" sz="2200" dirty="0" err="1"/>
              <a:t>vượt</a:t>
            </a:r>
            <a:r>
              <a:rPr lang="en-US" sz="2200" dirty="0"/>
              <a:t> </a:t>
            </a:r>
            <a:r>
              <a:rPr lang="en-US" sz="2200" dirty="0" err="1"/>
              <a:t>quá</a:t>
            </a:r>
            <a:r>
              <a:rPr lang="en-US" sz="2200" dirty="0"/>
              <a:t> chi </a:t>
            </a:r>
            <a:r>
              <a:rPr lang="en-US" sz="2200" dirty="0" err="1"/>
              <a:t>phí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toán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6ABEEA-C6D3-4C6D-8178-0697585FFE5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1905000"/>
            <a:ext cx="76295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824069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8216AA8-B150-4F20-83F0-99DF0A7F69DD}" type="slidenum">
              <a:rPr lang="en-US" sz="1400" smtClean="0"/>
              <a:pPr eaLnBrk="1" hangingPunct="1"/>
              <a:t>17</a:t>
            </a:fld>
            <a:endParaRPr lang="en-US" sz="140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r>
              <a:rPr lang="en-US" sz="2800" dirty="0"/>
              <a:t>4. ĐIỀU KHIỂN CHI PHÍ DỰ ÁN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b) </a:t>
            </a:r>
            <a:r>
              <a:rPr lang="en-US" sz="2400" b="1" dirty="0" err="1"/>
              <a:t>Tiến</a:t>
            </a:r>
            <a:r>
              <a:rPr lang="en-US" sz="2400" b="1" dirty="0"/>
              <a:t> </a:t>
            </a:r>
            <a:r>
              <a:rPr lang="en-US" sz="2400" b="1" dirty="0" err="1"/>
              <a:t>hành</a:t>
            </a:r>
            <a:r>
              <a:rPr lang="en-US" sz="2400" b="1" dirty="0"/>
              <a:t> </a:t>
            </a:r>
            <a:r>
              <a:rPr lang="en-US" sz="2400" b="1" dirty="0" err="1"/>
              <a:t>cập</a:t>
            </a:r>
            <a:r>
              <a:rPr lang="en-US" sz="2400" b="1" dirty="0"/>
              <a:t> </a:t>
            </a:r>
            <a:r>
              <a:rPr lang="en-US" sz="2400" b="1" dirty="0" err="1"/>
              <a:t>nhật</a:t>
            </a:r>
            <a:r>
              <a:rPr lang="en-US" sz="2400" b="1" dirty="0"/>
              <a:t> </a:t>
            </a:r>
            <a:r>
              <a:rPr lang="en-US" sz="2400" b="1" dirty="0" err="1"/>
              <a:t>kinh</a:t>
            </a:r>
            <a:r>
              <a:rPr lang="en-US" sz="2400" b="1" dirty="0"/>
              <a:t> </a:t>
            </a:r>
            <a:r>
              <a:rPr lang="en-US" sz="2400" b="1" dirty="0" err="1"/>
              <a:t>phí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 </a:t>
            </a:r>
            <a:r>
              <a:rPr lang="en-US" sz="2400" dirty="0" err="1"/>
              <a:t>hành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,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1.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(BCWS) </a:t>
            </a:r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(ACWP) </a:t>
            </a:r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(CV)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triệt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phí</a:t>
            </a:r>
            <a:r>
              <a:rPr lang="en-US" sz="2400" dirty="0"/>
              <a:t> (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mang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dương</a:t>
            </a:r>
            <a:r>
              <a:rPr lang="en-US" sz="2400" dirty="0"/>
              <a:t> +)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phí</a:t>
            </a:r>
            <a:r>
              <a:rPr lang="en-US" sz="2400" dirty="0"/>
              <a:t> (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mang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 -). </a:t>
            </a:r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suất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(CPI)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triệt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(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1), hay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(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nhỏ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1). </a:t>
            </a:r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nên</a:t>
            </a:r>
            <a:r>
              <a:rPr lang="en-US" sz="2400" dirty="0"/>
              <a:t> </a:t>
            </a:r>
            <a:r>
              <a:rPr lang="en-US" sz="2400" dirty="0" err="1"/>
              <a:t>lấn</a:t>
            </a:r>
            <a:r>
              <a:rPr lang="en-US" sz="2400" dirty="0"/>
              <a:t> sang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phòng</a:t>
            </a:r>
            <a:r>
              <a:rPr lang="en-US" sz="2400" dirty="0"/>
              <a:t>/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dựa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hoạch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rủi</a:t>
            </a:r>
            <a:r>
              <a:rPr lang="en-US" sz="2400" dirty="0"/>
              <a:t> </a:t>
            </a:r>
            <a:r>
              <a:rPr lang="en-US" sz="2400" dirty="0" err="1"/>
              <a:t>ro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đưa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AutoNum type="alphaLcParenR"/>
            </a:pPr>
            <a:endParaRPr lang="en-US" sz="2400" b="1" dirty="0"/>
          </a:p>
          <a:p>
            <a:pPr marL="514350" indent="-514350">
              <a:buAutoNum type="alphaLcParenR"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685800" y="2743200"/>
            <a:ext cx="7924800" cy="838200"/>
          </a:xfrm>
        </p:spPr>
        <p:txBody>
          <a:bodyPr/>
          <a:lstStyle/>
          <a:p>
            <a:r>
              <a:rPr lang="en-US"/>
              <a:t>THE END</a:t>
            </a: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FECCE21-4E1E-4AEA-92BF-C8166551454B}" type="slidenum">
              <a:rPr lang="en-US" sz="1400" smtClean="0"/>
              <a:pPr eaLnBrk="1" hangingPunct="1"/>
              <a:t>18</a:t>
            </a:fld>
            <a:endParaRPr lang="en-US" sz="14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044956329334B859883770E5F8B1A" ma:contentTypeVersion="3" ma:contentTypeDescription="Create a new document." ma:contentTypeScope="" ma:versionID="d4693b35dbcd13ebd1c5620d69ea1f1a">
  <xsd:schema xmlns:xsd="http://www.w3.org/2001/XMLSchema" xmlns:xs="http://www.w3.org/2001/XMLSchema" xmlns:p="http://schemas.microsoft.com/office/2006/metadata/properties" xmlns:ns2="2b122139-ef2b-4bf4-a1d7-39c03562fb03" targetNamespace="http://schemas.microsoft.com/office/2006/metadata/properties" ma:root="true" ma:fieldsID="3b8350155ddf9dd6245d8440520ed191" ns2:_="">
    <xsd:import namespace="2b122139-ef2b-4bf4-a1d7-39c03562fb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22139-ef2b-4bf4-a1d7-39c03562fb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BEC5D9-372F-4F81-887E-36B60D1D9363}"/>
</file>

<file path=customXml/itemProps2.xml><?xml version="1.0" encoding="utf-8"?>
<ds:datastoreItem xmlns:ds="http://schemas.openxmlformats.org/officeDocument/2006/customXml" ds:itemID="{3B3DACCA-C83F-4A21-87E1-4C3DD6551B93}"/>
</file>

<file path=customXml/itemProps3.xml><?xml version="1.0" encoding="utf-8"?>
<ds:datastoreItem xmlns:ds="http://schemas.openxmlformats.org/officeDocument/2006/customXml" ds:itemID="{E635D85E-B056-4793-BB20-2081141E0CA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6784</TotalTime>
  <Words>1644</Words>
  <Application>Microsoft Office PowerPoint</Application>
  <PresentationFormat>On-screen Show (4:3)</PresentationFormat>
  <Paragraphs>132</Paragraphs>
  <Slides>18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Courier New</vt:lpstr>
      <vt:lpstr>Tahoma</vt:lpstr>
      <vt:lpstr>Times New Roman</vt:lpstr>
      <vt:lpstr>Wingdings</vt:lpstr>
      <vt:lpstr>Blends</vt:lpstr>
      <vt:lpstr>Clip</vt:lpstr>
      <vt:lpstr>BÀI GIẢNG   QUẢN TRỊ DỰ ÁN  CÔNG NGHỆ THÔNG TIN</vt:lpstr>
      <vt:lpstr>Chương 5  QUẢN LÝ CHI PHÍ </vt:lpstr>
      <vt:lpstr>1. TẦM QUAN TRỌNG </vt:lpstr>
      <vt:lpstr>2. ƯỚC LƯỢNG CHI PHÍ DỰ ÁN</vt:lpstr>
      <vt:lpstr>2. ƯỚC LƯỢNG CHI PHÍ DỰ ÁN</vt:lpstr>
      <vt:lpstr>2. ƯỚC LƯỢNG CHI PHÍ DỰ ÁN</vt:lpstr>
      <vt:lpstr>2. ƯỚC LƯỢNG CHI PHÍ DỰ ÁN</vt:lpstr>
      <vt:lpstr>2. ƯỚC LƯỢNG CHI PHÍ DỰ ÁN</vt:lpstr>
      <vt:lpstr>2. ƯỚC LƯỢNG CHI PHÍ DỰ ÁN</vt:lpstr>
      <vt:lpstr>Giới thiệu</vt:lpstr>
      <vt:lpstr>Kỹ thuật ước lượng</vt:lpstr>
      <vt:lpstr>Kỹ thuật ước lượng</vt:lpstr>
      <vt:lpstr>Ví dụ</vt:lpstr>
      <vt:lpstr>Ước lượng việc lập trình</vt:lpstr>
      <vt:lpstr>3. XÁC ĐỊNH NGÂN SÁCH DỰ ÁN</vt:lpstr>
      <vt:lpstr>4. ĐIỀU KHIỂN CHI PHÍ DỰ ÁN</vt:lpstr>
      <vt:lpstr>4. ĐIỀU KHIỂN CHI PHÍ DỰ ÁN</vt:lpstr>
      <vt:lpstr>THE END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Hoa Le</cp:lastModifiedBy>
  <cp:revision>526</cp:revision>
  <cp:lastPrinted>2000-06-01T21:00:25Z</cp:lastPrinted>
  <dcterms:created xsi:type="dcterms:W3CDTF">1999-12-01T22:01:55Z</dcterms:created>
  <dcterms:modified xsi:type="dcterms:W3CDTF">2019-10-18T03:30:30Z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0x010100917044956329334B859883770E5F8B1A</vt:lpwstr>
  </property>
</Properties>
</file>