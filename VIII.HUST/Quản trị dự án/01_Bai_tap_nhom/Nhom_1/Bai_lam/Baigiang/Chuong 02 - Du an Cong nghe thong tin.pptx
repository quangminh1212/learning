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ppt/embeddings/oleObject1.bin" ContentType="application/vnd.openxmlformats-officedocument.oleObject"/>
  <Override PartName="/ppt/embeddings/oleObject2.bin" ContentType="application/vnd.openxmlformats-officedocument.oleObject"/>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6858000" cx="9144000"/>
  <p:notesSz cx="7010400" cy="9296400"/>
  <p:embeddedFontLst>
    <p:embeddedFont>
      <p:font typeface="Tahoma"/>
      <p:regular r:id="rId63"/>
      <p:bold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8">
          <p15:clr>
            <a:srgbClr val="000000"/>
          </p15:clr>
        </p15:guide>
        <p15:guide id="2" pos="2208">
          <p15:clr>
            <a:srgbClr val="000000"/>
          </p15:clr>
        </p15:guide>
      </p15:notesGuideLst>
    </p:ext>
    <p:ext uri="GoogleSlidesCustomDataVersion2">
      <go:slidesCustomData xmlns:go="http://customooxmlschemas.google.com/" r:id="rId65" roundtripDataSignature="AMtx7mhkTiqWvvvMnLMIYngBgKUBi21e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42" Type="http://schemas.openxmlformats.org/officeDocument/2006/relationships/slide" Target="slides/slide37.xml"/><Relationship Id="rId47" Type="http://schemas.openxmlformats.org/officeDocument/2006/relationships/slide" Target="slides/slide42.xml"/><Relationship Id="rId34" Type="http://schemas.openxmlformats.org/officeDocument/2006/relationships/slide" Target="slides/slide29.xml"/><Relationship Id="rId63" Type="http://schemas.openxmlformats.org/officeDocument/2006/relationships/font" Target="fonts/Tahoma-regular.fntdata"/><Relationship Id="rId21" Type="http://schemas.openxmlformats.org/officeDocument/2006/relationships/slide" Target="slides/slide16.xml"/><Relationship Id="rId50" Type="http://schemas.openxmlformats.org/officeDocument/2006/relationships/slide" Target="slides/slide45.xml"/><Relationship Id="rId55" Type="http://schemas.openxmlformats.org/officeDocument/2006/relationships/slide" Target="slides/slide50.xml"/><Relationship Id="rId68" Type="http://schemas.openxmlformats.org/officeDocument/2006/relationships/customXml" Target="../customXml/item3.xml"/><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24" Type="http://schemas.openxmlformats.org/officeDocument/2006/relationships/slide" Target="slides/slide19.xml"/><Relationship Id="rId53" Type="http://schemas.openxmlformats.org/officeDocument/2006/relationships/slide" Target="slides/slide48.xml"/><Relationship Id="rId11" Type="http://schemas.openxmlformats.org/officeDocument/2006/relationships/slide" Target="slides/slide6.xml"/><Relationship Id="rId58" Type="http://schemas.openxmlformats.org/officeDocument/2006/relationships/slide" Target="slides/slide53.xml"/><Relationship Id="rId66" Type="http://schemas.openxmlformats.org/officeDocument/2006/relationships/customXml" Target="../customXml/item1.xml"/><Relationship Id="rId5" Type="http://schemas.openxmlformats.org/officeDocument/2006/relationships/notesMaster" Target="notesMasters/notesMaster1.xml"/><Relationship Id="rId61" Type="http://schemas.openxmlformats.org/officeDocument/2006/relationships/slide" Target="slides/slide56.xml"/><Relationship Id="rId19" Type="http://schemas.openxmlformats.org/officeDocument/2006/relationships/slide" Target="slides/slide14.xml"/><Relationship Id="rId43" Type="http://schemas.openxmlformats.org/officeDocument/2006/relationships/slide" Target="slides/slide38.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64" Type="http://schemas.openxmlformats.org/officeDocument/2006/relationships/font" Target="fonts/Tahoma-bold.fntdata"/><Relationship Id="rId22" Type="http://schemas.openxmlformats.org/officeDocument/2006/relationships/slide" Target="slides/slide17.xml"/><Relationship Id="rId27" Type="http://schemas.openxmlformats.org/officeDocument/2006/relationships/slide" Target="slides/slide22.xml"/><Relationship Id="rId56" Type="http://schemas.openxmlformats.org/officeDocument/2006/relationships/slide" Target="slides/slide51.xml"/><Relationship Id="rId14" Type="http://schemas.openxmlformats.org/officeDocument/2006/relationships/slide" Target="slides/slide9.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25" Type="http://schemas.openxmlformats.org/officeDocument/2006/relationships/slide" Target="slides/slide20.xml"/><Relationship Id="rId12" Type="http://schemas.openxmlformats.org/officeDocument/2006/relationships/slide" Target="slides/slide7.xml"/><Relationship Id="rId59" Type="http://schemas.openxmlformats.org/officeDocument/2006/relationships/slide" Target="slides/slide54.xml"/><Relationship Id="rId17" Type="http://schemas.openxmlformats.org/officeDocument/2006/relationships/slide" Target="slides/slide12.xml"/><Relationship Id="rId67" Type="http://schemas.openxmlformats.org/officeDocument/2006/relationships/customXml" Target="../customXml/item2.xml"/><Relationship Id="rId41" Type="http://schemas.openxmlformats.org/officeDocument/2006/relationships/slide" Target="slides/slide36.xml"/><Relationship Id="rId62" Type="http://schemas.openxmlformats.org/officeDocument/2006/relationships/slide" Target="slides/slide57.xml"/><Relationship Id="rId20" Type="http://schemas.openxmlformats.org/officeDocument/2006/relationships/slide" Target="slides/slide15.xml"/><Relationship Id="rId54" Type="http://schemas.openxmlformats.org/officeDocument/2006/relationships/slide" Target="slides/slide49.xml"/><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57" Type="http://schemas.openxmlformats.org/officeDocument/2006/relationships/slide" Target="slides/slide52.xml"/><Relationship Id="rId15" Type="http://schemas.openxmlformats.org/officeDocument/2006/relationships/slide" Target="slides/slide10.xml"/><Relationship Id="rId44" Type="http://schemas.openxmlformats.org/officeDocument/2006/relationships/slide" Target="slides/slide39.xml"/><Relationship Id="rId31" Type="http://schemas.openxmlformats.org/officeDocument/2006/relationships/slide" Target="slides/slide26.xml"/><Relationship Id="rId65" Type="http://customschemas.google.com/relationships/presentationmetadata" Target="metadata"/><Relationship Id="rId60" Type="http://schemas.openxmlformats.org/officeDocument/2006/relationships/slide" Target="slides/slide55.xml"/><Relationship Id="rId52" Type="http://schemas.openxmlformats.org/officeDocument/2006/relationships/slide" Target="slides/slide47.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39" Type="http://schemas.openxmlformats.org/officeDocument/2006/relationships/slide" Target="slides/slide34.xml"/><Relationship Id="rId13" Type="http://schemas.openxmlformats.org/officeDocument/2006/relationships/slide" Target="slides/slide8.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5138"/>
          </a:xfrm>
          <a:prstGeom prst="rect">
            <a:avLst/>
          </a:prstGeom>
          <a:noFill/>
          <a:ln>
            <a:noFill/>
          </a:ln>
        </p:spPr>
        <p:txBody>
          <a:bodyPr anchorCtr="0" anchor="t"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971925" y="0"/>
            <a:ext cx="3038475" cy="465138"/>
          </a:xfrm>
          <a:prstGeom prst="rect">
            <a:avLst/>
          </a:prstGeom>
          <a:noFill/>
          <a:ln>
            <a:noFill/>
          </a:ln>
        </p:spPr>
        <p:txBody>
          <a:bodyPr anchorCtr="0" anchor="t" bIns="46575" lIns="93150" spcFirstLastPara="1" rIns="93150" wrap="square" tIns="46575">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1263"/>
            <a:ext cx="3038475" cy="465137"/>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7" name="Google Shape;107;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15" name="Google Shape;115;p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38" name="Google Shape;138;p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47" name="Google Shape;147;p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56" name="Google Shape;156;p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65" name="Google Shape;165;p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74" name="Google Shape;174;p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83" name="Google Shape;183;p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92" name="Google Shape;192;p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01" name="Google Shape;201;p1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10" name="Google Shape;210;p1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19" name="Google Shape;219;p1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27" name="Google Shape;227;p1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35" name="Google Shape;235;p1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43" name="Google Shape;243;p1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0" name="Google Shape;250;p1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6: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58" name="Google Shape;258;p1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7: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66" name="Google Shape;266;p1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8: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74" name="Google Shape;274;p1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9: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82" name="Google Shape;282;p2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0: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90" name="Google Shape;290;p2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98" name="Google Shape;298;p2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6" name="Google Shape;306;p2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23: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14" name="Google Shape;314;p2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22" name="Google Shape;322;p2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5: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30" name="Google Shape;330;p2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6: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37" name="Google Shape;337;p2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7: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45" name="Google Shape;345;p2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52" name="Google Shape;352;p2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0: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59" name="Google Shape;359;p3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30: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67" name="Google Shape;367;p3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3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75" name="Google Shape;375;p3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83" name="Google Shape;383;p3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33: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91" name="Google Shape;391;p3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3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5: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99" name="Google Shape;399;p3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5: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07" name="Google Shape;407;p3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36: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7: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15" name="Google Shape;415;p3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37: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8: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23" name="Google Shape;423;p3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38: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9: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31" name="Google Shape;431;p3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 name="Google Shape;432;p39: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0: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39" name="Google Shape;439;p4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40: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47" name="Google Shape;447;p4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4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55" name="Google Shape;455;p4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4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3: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63" name="Google Shape;463;p4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43: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71" name="Google Shape;471;p4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4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5: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79" name="Google Shape;479;p4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45: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6: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87" name="Google Shape;487;p4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46: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7: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5" name="Google Shape;495;p4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47: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8: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03" name="Google Shape;503;p4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48: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9: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11" name="Google Shape;511;p4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49: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50: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19" name="Google Shape;519;p5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50: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27" name="Google Shape;527;p5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5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35" name="Google Shape;535;p5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5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3: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43" name="Google Shape;543;p5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53: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51" name="Google Shape;551;p5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5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5: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59" name="Google Shape;559;p5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55: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6: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7" name="Google Shape;567;p5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56: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5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575" name="Google Shape;575;p5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2.vml"/><Relationship Id="rId3" Type="http://schemas.openxmlformats.org/officeDocument/2006/relationships/oleObject" Target="../embeddings/oleObject2.bin"/><Relationship Id="rId4" Type="http://schemas.openxmlformats.org/officeDocument/2006/relationships/oleObject" Target="../embeddings/oleObject2.bin"/><Relationship Id="rId5"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59"/>
          <p:cNvGrpSpPr/>
          <p:nvPr/>
        </p:nvGrpSpPr>
        <p:grpSpPr>
          <a:xfrm>
            <a:off x="0" y="2438400"/>
            <a:ext cx="9009063" cy="1052513"/>
            <a:chOff x="0" y="1536"/>
            <a:chExt cx="5675" cy="663"/>
          </a:xfrm>
        </p:grpSpPr>
        <p:grpSp>
          <p:nvGrpSpPr>
            <p:cNvPr id="18" name="Google Shape;18;p59"/>
            <p:cNvGrpSpPr/>
            <p:nvPr/>
          </p:nvGrpSpPr>
          <p:grpSpPr>
            <a:xfrm>
              <a:off x="185" y="1604"/>
              <a:ext cx="449" cy="299"/>
              <a:chOff x="720" y="336"/>
              <a:chExt cx="624" cy="432"/>
            </a:xfrm>
          </p:grpSpPr>
          <p:sp>
            <p:nvSpPr>
              <p:cNvPr id="19" name="Google Shape;19;p59"/>
              <p:cNvSpPr/>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0" name="Google Shape;20;p59"/>
              <p:cNvSpPr/>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grpSp>
          <p:nvGrpSpPr>
            <p:cNvPr id="21" name="Google Shape;21;p59"/>
            <p:cNvGrpSpPr/>
            <p:nvPr/>
          </p:nvGrpSpPr>
          <p:grpSpPr>
            <a:xfrm>
              <a:off x="263" y="1870"/>
              <a:ext cx="466" cy="299"/>
              <a:chOff x="912" y="2640"/>
              <a:chExt cx="672" cy="432"/>
            </a:xfrm>
          </p:grpSpPr>
          <p:sp>
            <p:nvSpPr>
              <p:cNvPr id="22" name="Google Shape;22;p59"/>
              <p:cNvSpPr/>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3" name="Google Shape;23;p59"/>
              <p:cNvSpPr/>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4" name="Google Shape;24;p59"/>
            <p:cNvSpPr/>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5" name="Google Shape;25;p59"/>
            <p:cNvSpPr/>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6" name="Google Shape;26;p59"/>
            <p:cNvSpPr/>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7" name="Google Shape;27;p59"/>
          <p:cNvSpPr/>
          <p:nvPr/>
        </p:nvSpPr>
        <p:spPr>
          <a:xfrm>
            <a:off x="8694738" y="6553200"/>
            <a:ext cx="449262"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1400" u="none" cap="none" strike="noStrike">
                <a:solidFill>
                  <a:schemeClr val="lt2"/>
                </a:solidFill>
                <a:latin typeface="Tahoma"/>
                <a:ea typeface="Tahoma"/>
                <a:cs typeface="Tahoma"/>
                <a:sym typeface="Tahoma"/>
              </a:rPr>
              <a:t>‹#›</a:t>
            </a:fld>
            <a:endParaRPr b="0" i="0" sz="1400" u="none" cap="none" strike="noStrike">
              <a:solidFill>
                <a:schemeClr val="lt2"/>
              </a:solidFill>
              <a:latin typeface="Tahoma"/>
              <a:ea typeface="Tahoma"/>
              <a:cs typeface="Tahoma"/>
              <a:sym typeface="Tahoma"/>
            </a:endParaRPr>
          </a:p>
        </p:txBody>
      </p:sp>
      <p:sp>
        <p:nvSpPr>
          <p:cNvPr id="28" name="Google Shape;28;p59"/>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5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80000"/>
              </a:lnSpc>
              <a:spcBef>
                <a:spcPts val="560"/>
              </a:spcBef>
              <a:spcAft>
                <a:spcPts val="0"/>
              </a:spcAft>
              <a:buSzPts val="1680"/>
              <a:buFont typeface="Noto Sans Symbols"/>
              <a:buNone/>
              <a:defRPr/>
            </a:lvl1pPr>
            <a:lvl2pPr lvl="1" algn="l">
              <a:lnSpc>
                <a:spcPct val="80000"/>
              </a:lnSpc>
              <a:spcBef>
                <a:spcPts val="360"/>
              </a:spcBef>
              <a:spcAft>
                <a:spcPts val="0"/>
              </a:spcAft>
              <a:buSzPts val="990"/>
              <a:buChar char="■"/>
              <a:defRPr/>
            </a:lvl2pPr>
            <a:lvl3pPr lvl="2" algn="l">
              <a:lnSpc>
                <a:spcPct val="80000"/>
              </a:lnSpc>
              <a:spcBef>
                <a:spcPts val="360"/>
              </a:spcBef>
              <a:spcAft>
                <a:spcPts val="0"/>
              </a:spcAft>
              <a:buSzPts val="900"/>
              <a:buChar char="■"/>
              <a:defRPr/>
            </a:lvl3pPr>
            <a:lvl4pPr lvl="3" algn="l">
              <a:lnSpc>
                <a:spcPct val="80000"/>
              </a:lnSpc>
              <a:spcBef>
                <a:spcPts val="360"/>
              </a:spcBef>
              <a:spcAft>
                <a:spcPts val="0"/>
              </a:spcAft>
              <a:buSzPts val="990"/>
              <a:buChar char="■"/>
              <a:defRPr/>
            </a:lvl4pPr>
            <a:lvl5pPr lvl="4" algn="l">
              <a:lnSpc>
                <a:spcPct val="80000"/>
              </a:lnSpc>
              <a:spcBef>
                <a:spcPts val="360"/>
              </a:spcBef>
              <a:spcAft>
                <a:spcPts val="0"/>
              </a:spcAft>
              <a:buSzPts val="900"/>
              <a:buChar char="■"/>
              <a:defRPr/>
            </a:lvl5pPr>
            <a:lvl6pPr lvl="5" algn="l">
              <a:lnSpc>
                <a:spcPct val="80000"/>
              </a:lnSpc>
              <a:spcBef>
                <a:spcPts val="360"/>
              </a:spcBef>
              <a:spcAft>
                <a:spcPts val="0"/>
              </a:spcAft>
              <a:buSzPts val="900"/>
              <a:buChar char="■"/>
              <a:defRPr/>
            </a:lvl6pPr>
            <a:lvl7pPr lvl="6" algn="l">
              <a:lnSpc>
                <a:spcPct val="80000"/>
              </a:lnSpc>
              <a:spcBef>
                <a:spcPts val="360"/>
              </a:spcBef>
              <a:spcAft>
                <a:spcPts val="0"/>
              </a:spcAft>
              <a:buSzPts val="900"/>
              <a:buChar char="■"/>
              <a:defRPr/>
            </a:lvl7pPr>
            <a:lvl8pPr lvl="7" algn="l">
              <a:lnSpc>
                <a:spcPct val="80000"/>
              </a:lnSpc>
              <a:spcBef>
                <a:spcPts val="360"/>
              </a:spcBef>
              <a:spcAft>
                <a:spcPts val="0"/>
              </a:spcAft>
              <a:buSzPts val="900"/>
              <a:buChar char="■"/>
              <a:defRPr/>
            </a:lvl8pPr>
            <a:lvl9pPr lvl="8" algn="l">
              <a:lnSpc>
                <a:spcPct val="80000"/>
              </a:lnSpc>
              <a:spcBef>
                <a:spcPts val="360"/>
              </a:spcBef>
              <a:spcAft>
                <a:spcPts val="0"/>
              </a:spcAft>
              <a:buSzPts val="900"/>
              <a:buChar char="■"/>
              <a:defRPr/>
            </a:lvl9pPr>
          </a:lstStyle>
          <a:p/>
        </p:txBody>
      </p:sp>
      <p:sp>
        <p:nvSpPr>
          <p:cNvPr id="30" name="Google Shape;30;p59"/>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9"/>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9"/>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2"/>
                </a:solidFill>
                <a:latin typeface="Tahoma"/>
                <a:ea typeface="Tahoma"/>
                <a:cs typeface="Tahoma"/>
                <a:sym typeface="Tahoma"/>
              </a:defRPr>
            </a:lvl1pPr>
            <a:lvl2pPr indent="0" lvl="1" marL="0" marR="0" algn="r">
              <a:spcBef>
                <a:spcPts val="0"/>
              </a:spcBef>
              <a:spcAft>
                <a:spcPts val="0"/>
              </a:spcAft>
              <a:buNone/>
              <a:defRPr b="0" i="0" sz="1400" u="none" cap="none" strike="noStrike">
                <a:solidFill>
                  <a:schemeClr val="lt2"/>
                </a:solidFill>
                <a:latin typeface="Tahoma"/>
                <a:ea typeface="Tahoma"/>
                <a:cs typeface="Tahoma"/>
                <a:sym typeface="Tahoma"/>
              </a:defRPr>
            </a:lvl2pPr>
            <a:lvl3pPr indent="0" lvl="2" marL="0" marR="0" algn="r">
              <a:spcBef>
                <a:spcPts val="0"/>
              </a:spcBef>
              <a:spcAft>
                <a:spcPts val="0"/>
              </a:spcAft>
              <a:buNone/>
              <a:defRPr b="0" i="0" sz="1400" u="none" cap="none" strike="noStrike">
                <a:solidFill>
                  <a:schemeClr val="lt2"/>
                </a:solidFill>
                <a:latin typeface="Tahoma"/>
                <a:ea typeface="Tahoma"/>
                <a:cs typeface="Tahoma"/>
                <a:sym typeface="Tahoma"/>
              </a:defRPr>
            </a:lvl3pPr>
            <a:lvl4pPr indent="0" lvl="3" marL="0" marR="0" algn="r">
              <a:spcBef>
                <a:spcPts val="0"/>
              </a:spcBef>
              <a:spcAft>
                <a:spcPts val="0"/>
              </a:spcAft>
              <a:buNone/>
              <a:defRPr b="0" i="0" sz="1400" u="none" cap="none" strike="noStrike">
                <a:solidFill>
                  <a:schemeClr val="lt2"/>
                </a:solidFill>
                <a:latin typeface="Tahoma"/>
                <a:ea typeface="Tahoma"/>
                <a:cs typeface="Tahoma"/>
                <a:sym typeface="Tahoma"/>
              </a:defRPr>
            </a:lvl4pPr>
            <a:lvl5pPr indent="0" lvl="4" marL="0" marR="0" algn="r">
              <a:spcBef>
                <a:spcPts val="0"/>
              </a:spcBef>
              <a:spcAft>
                <a:spcPts val="0"/>
              </a:spcAft>
              <a:buNone/>
              <a:defRPr b="0" i="0" sz="1400" u="none" cap="none" strike="noStrike">
                <a:solidFill>
                  <a:schemeClr val="lt2"/>
                </a:solidFill>
                <a:latin typeface="Tahoma"/>
                <a:ea typeface="Tahoma"/>
                <a:cs typeface="Tahoma"/>
                <a:sym typeface="Tahoma"/>
              </a:defRPr>
            </a:lvl5pPr>
            <a:lvl6pPr indent="0" lvl="5" marL="0" marR="0" algn="r">
              <a:spcBef>
                <a:spcPts val="0"/>
              </a:spcBef>
              <a:spcAft>
                <a:spcPts val="0"/>
              </a:spcAft>
              <a:buNone/>
              <a:defRPr b="0" i="0" sz="1400" u="none" cap="none" strike="noStrike">
                <a:solidFill>
                  <a:schemeClr val="lt2"/>
                </a:solidFill>
                <a:latin typeface="Tahoma"/>
                <a:ea typeface="Tahoma"/>
                <a:cs typeface="Tahoma"/>
                <a:sym typeface="Tahoma"/>
              </a:defRPr>
            </a:lvl6pPr>
            <a:lvl7pPr indent="0" lvl="6" marL="0" marR="0" algn="r">
              <a:spcBef>
                <a:spcPts val="0"/>
              </a:spcBef>
              <a:spcAft>
                <a:spcPts val="0"/>
              </a:spcAft>
              <a:buNone/>
              <a:defRPr b="0" i="0" sz="1400" u="none" cap="none" strike="noStrike">
                <a:solidFill>
                  <a:schemeClr val="lt2"/>
                </a:solidFill>
                <a:latin typeface="Tahoma"/>
                <a:ea typeface="Tahoma"/>
                <a:cs typeface="Tahoma"/>
                <a:sym typeface="Tahoma"/>
              </a:defRPr>
            </a:lvl7pPr>
            <a:lvl8pPr indent="0" lvl="7" marL="0" marR="0" algn="r">
              <a:spcBef>
                <a:spcPts val="0"/>
              </a:spcBef>
              <a:spcAft>
                <a:spcPts val="0"/>
              </a:spcAft>
              <a:buNone/>
              <a:defRPr b="0" i="0" sz="1400" u="none" cap="none" strike="noStrike">
                <a:solidFill>
                  <a:schemeClr val="lt2"/>
                </a:solidFill>
                <a:latin typeface="Tahoma"/>
                <a:ea typeface="Tahoma"/>
                <a:cs typeface="Tahoma"/>
                <a:sym typeface="Tahoma"/>
              </a:defRPr>
            </a:lvl8pPr>
            <a:lvl9pPr indent="0" lvl="8" marL="0" marR="0" algn="r">
              <a:spcBef>
                <a:spcPts val="0"/>
              </a:spcBef>
              <a:spcAft>
                <a:spcPts val="0"/>
              </a:spcAft>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showMasterSp="0" type="txAndTwoObj">
  <p:cSld name="TEXT_AND_TWO_OBJECTS">
    <p:spTree>
      <p:nvGrpSpPr>
        <p:cNvPr id="33" name="Shape 33"/>
        <p:cNvGrpSpPr/>
        <p:nvPr/>
      </p:nvGrpSpPr>
      <p:grpSpPr>
        <a:xfrm>
          <a:off x="0" y="0"/>
          <a:ext cx="0" cy="0"/>
          <a:chOff x="0" y="0"/>
          <a:chExt cx="0" cy="0"/>
        </a:xfrm>
      </p:grpSpPr>
      <p:graphicFrame>
        <p:nvGraphicFramePr>
          <p:cNvPr id="34" name="Google Shape;34;p60"/>
          <p:cNvGraphicFramePr/>
          <p:nvPr/>
        </p:nvGraphicFramePr>
        <p:xfrm>
          <a:off x="381000" y="1143000"/>
          <a:ext cx="8382000" cy="76200"/>
        </p:xfrm>
        <a:graphic>
          <a:graphicData uri="http://schemas.openxmlformats.org/presentationml/2006/ole">
            <mc:AlternateContent>
              <mc:Choice Requires="v">
                <p:oleObj r:id="rId3" imgH="76200" imgW="8382000" progId="" spid="_x0000_s1">
                  <p:embed/>
                </p:oleObj>
              </mc:Choice>
              <mc:Fallback>
                <p:oleObj r:id="rId4" imgH="76200" imgW="8382000" progId="">
                  <p:embed/>
                  <p:pic>
                    <p:nvPicPr>
                      <p:cNvPr id="34" name="Google Shape;34;p60"/>
                      <p:cNvPicPr preferRelativeResize="0"/>
                      <p:nvPr/>
                    </p:nvPicPr>
                    <p:blipFill rotWithShape="1">
                      <a:blip r:embed="rId5">
                        <a:alphaModFix/>
                      </a:blip>
                      <a:srcRect b="0" l="0" r="0" t="0"/>
                      <a:stretch/>
                    </p:blipFill>
                    <p:spPr>
                      <a:xfrm>
                        <a:off x="381000" y="1143000"/>
                        <a:ext cx="8382000" cy="76200"/>
                      </a:xfrm>
                      <a:prstGeom prst="rect">
                        <a:avLst/>
                      </a:prstGeom>
                      <a:noFill/>
                      <a:ln>
                        <a:noFill/>
                      </a:ln>
                    </p:spPr>
                  </p:pic>
                </p:oleObj>
              </mc:Fallback>
            </mc:AlternateContent>
          </a:graphicData>
        </a:graphic>
      </p:graphicFrame>
      <p:sp>
        <p:nvSpPr>
          <p:cNvPr id="35" name="Google Shape;35;p60"/>
          <p:cNvSpPr txBox="1"/>
          <p:nvPr>
            <p:ph type="title"/>
          </p:nvPr>
        </p:nvSpPr>
        <p:spPr>
          <a:xfrm>
            <a:off x="762000" y="762000"/>
            <a:ext cx="7924800" cy="838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60"/>
          <p:cNvSpPr txBox="1"/>
          <p:nvPr>
            <p:ph idx="1" type="body"/>
          </p:nvPr>
        </p:nvSpPr>
        <p:spPr>
          <a:xfrm>
            <a:off x="838200" y="1905000"/>
            <a:ext cx="3770313" cy="4181475"/>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7" name="Google Shape;37;p60"/>
          <p:cNvSpPr txBox="1"/>
          <p:nvPr>
            <p:ph idx="2" type="body"/>
          </p:nvPr>
        </p:nvSpPr>
        <p:spPr>
          <a:xfrm>
            <a:off x="4760913" y="1905000"/>
            <a:ext cx="3770312" cy="2014538"/>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8" name="Google Shape;38;p60"/>
          <p:cNvSpPr txBox="1"/>
          <p:nvPr>
            <p:ph idx="3" type="body"/>
          </p:nvPr>
        </p:nvSpPr>
        <p:spPr>
          <a:xfrm>
            <a:off x="4760913" y="4071938"/>
            <a:ext cx="3770312" cy="2014537"/>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9" name="Google Shape;39;p6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6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6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45" name="Google Shape;45;p61"/>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1"/>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6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62"/>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2"/>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6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6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00"/>
              </a:spcBef>
              <a:spcAft>
                <a:spcPts val="0"/>
              </a:spcAft>
              <a:buSzPts val="1200"/>
              <a:buNone/>
              <a:defRPr sz="2000"/>
            </a:lvl1pPr>
            <a:lvl2pPr indent="-228600" lvl="1" marL="914400" algn="l">
              <a:lnSpc>
                <a:spcPct val="80000"/>
              </a:lnSpc>
              <a:spcBef>
                <a:spcPts val="360"/>
              </a:spcBef>
              <a:spcAft>
                <a:spcPts val="0"/>
              </a:spcAft>
              <a:buSzPts val="990"/>
              <a:buNone/>
              <a:defRPr sz="1800"/>
            </a:lvl2pPr>
            <a:lvl3pPr indent="-228600" lvl="2" marL="1371600" algn="l">
              <a:lnSpc>
                <a:spcPct val="80000"/>
              </a:lnSpc>
              <a:spcBef>
                <a:spcPts val="320"/>
              </a:spcBef>
              <a:spcAft>
                <a:spcPts val="0"/>
              </a:spcAft>
              <a:buSzPts val="800"/>
              <a:buNone/>
              <a:defRPr sz="1600"/>
            </a:lvl3pPr>
            <a:lvl4pPr indent="-228600" lvl="3" marL="1828800" algn="l">
              <a:lnSpc>
                <a:spcPct val="80000"/>
              </a:lnSpc>
              <a:spcBef>
                <a:spcPts val="280"/>
              </a:spcBef>
              <a:spcAft>
                <a:spcPts val="0"/>
              </a:spcAft>
              <a:buSzPts val="770"/>
              <a:buNone/>
              <a:defRPr sz="1400"/>
            </a:lvl4pPr>
            <a:lvl5pPr indent="-228600" lvl="4" marL="2286000" algn="l">
              <a:lnSpc>
                <a:spcPct val="80000"/>
              </a:lnSpc>
              <a:spcBef>
                <a:spcPts val="280"/>
              </a:spcBef>
              <a:spcAft>
                <a:spcPts val="0"/>
              </a:spcAft>
              <a:buSzPts val="700"/>
              <a:buNone/>
              <a:defRPr sz="1400"/>
            </a:lvl5pPr>
            <a:lvl6pPr indent="-228600" lvl="5" marL="2743200" algn="l">
              <a:lnSpc>
                <a:spcPct val="80000"/>
              </a:lnSpc>
              <a:spcBef>
                <a:spcPts val="280"/>
              </a:spcBef>
              <a:spcAft>
                <a:spcPts val="0"/>
              </a:spcAft>
              <a:buSzPts val="700"/>
              <a:buNone/>
              <a:defRPr sz="1400"/>
            </a:lvl6pPr>
            <a:lvl7pPr indent="-228600" lvl="6" marL="3200400" algn="l">
              <a:lnSpc>
                <a:spcPct val="80000"/>
              </a:lnSpc>
              <a:spcBef>
                <a:spcPts val="280"/>
              </a:spcBef>
              <a:spcAft>
                <a:spcPts val="0"/>
              </a:spcAft>
              <a:buSzPts val="700"/>
              <a:buNone/>
              <a:defRPr sz="1400"/>
            </a:lvl7pPr>
            <a:lvl8pPr indent="-228600" lvl="7" marL="3657600" algn="l">
              <a:lnSpc>
                <a:spcPct val="80000"/>
              </a:lnSpc>
              <a:spcBef>
                <a:spcPts val="280"/>
              </a:spcBef>
              <a:spcAft>
                <a:spcPts val="0"/>
              </a:spcAft>
              <a:buSzPts val="700"/>
              <a:buNone/>
              <a:defRPr sz="1400"/>
            </a:lvl8pPr>
            <a:lvl9pPr indent="-228600" lvl="8" marL="4114800" algn="l">
              <a:lnSpc>
                <a:spcPct val="80000"/>
              </a:lnSpc>
              <a:spcBef>
                <a:spcPts val="280"/>
              </a:spcBef>
              <a:spcAft>
                <a:spcPts val="0"/>
              </a:spcAft>
              <a:buSzPts val="700"/>
              <a:buNone/>
              <a:defRPr sz="1400"/>
            </a:lvl9pPr>
          </a:lstStyle>
          <a:p/>
        </p:txBody>
      </p:sp>
      <p:sp>
        <p:nvSpPr>
          <p:cNvPr id="56" name="Google Shape;56;p63"/>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3"/>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6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64"/>
          <p:cNvSpPr txBox="1"/>
          <p:nvPr>
            <p:ph idx="1" type="body"/>
          </p:nvPr>
        </p:nvSpPr>
        <p:spPr>
          <a:xfrm>
            <a:off x="3810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62" name="Google Shape;62;p64"/>
          <p:cNvSpPr txBox="1"/>
          <p:nvPr>
            <p:ph idx="2" type="body"/>
          </p:nvPr>
        </p:nvSpPr>
        <p:spPr>
          <a:xfrm>
            <a:off x="46863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63" name="Google Shape;63;p64"/>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4"/>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65"/>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6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69" name="Google Shape;69;p6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70" name="Google Shape;70;p6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71" name="Google Shape;71;p6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72" name="Google Shape;72;p65"/>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5"/>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66"/>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6"/>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6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6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lnSpc>
                <a:spcPct val="80000"/>
              </a:lnSpc>
              <a:spcBef>
                <a:spcPts val="640"/>
              </a:spcBef>
              <a:spcAft>
                <a:spcPts val="0"/>
              </a:spcAft>
              <a:buSzPts val="1920"/>
              <a:buChar char="■"/>
              <a:defRPr sz="3200"/>
            </a:lvl1pPr>
            <a:lvl2pPr indent="-326390" lvl="1" marL="914400" algn="l">
              <a:lnSpc>
                <a:spcPct val="80000"/>
              </a:lnSpc>
              <a:spcBef>
                <a:spcPts val="560"/>
              </a:spcBef>
              <a:spcAft>
                <a:spcPts val="0"/>
              </a:spcAft>
              <a:buSzPts val="1540"/>
              <a:buChar char="■"/>
              <a:defRPr sz="2800"/>
            </a:lvl2pPr>
            <a:lvl3pPr indent="-304800" lvl="2" marL="1371600" algn="l">
              <a:lnSpc>
                <a:spcPct val="80000"/>
              </a:lnSpc>
              <a:spcBef>
                <a:spcPts val="480"/>
              </a:spcBef>
              <a:spcAft>
                <a:spcPts val="0"/>
              </a:spcAft>
              <a:buSzPts val="1200"/>
              <a:buChar char="■"/>
              <a:defRPr sz="2400"/>
            </a:lvl3pPr>
            <a:lvl4pPr indent="-298450" lvl="3" marL="1828800" algn="l">
              <a:lnSpc>
                <a:spcPct val="80000"/>
              </a:lnSpc>
              <a:spcBef>
                <a:spcPts val="400"/>
              </a:spcBef>
              <a:spcAft>
                <a:spcPts val="0"/>
              </a:spcAft>
              <a:buSzPts val="1100"/>
              <a:buChar char="■"/>
              <a:defRPr sz="2000"/>
            </a:lvl4pPr>
            <a:lvl5pPr indent="-292100" lvl="4" marL="2286000" algn="l">
              <a:lnSpc>
                <a:spcPct val="80000"/>
              </a:lnSpc>
              <a:spcBef>
                <a:spcPts val="400"/>
              </a:spcBef>
              <a:spcAft>
                <a:spcPts val="0"/>
              </a:spcAft>
              <a:buSzPts val="1000"/>
              <a:buChar char="■"/>
              <a:defRPr sz="2000"/>
            </a:lvl5pPr>
            <a:lvl6pPr indent="-292100" lvl="5" marL="2743200" algn="l">
              <a:lnSpc>
                <a:spcPct val="80000"/>
              </a:lnSpc>
              <a:spcBef>
                <a:spcPts val="400"/>
              </a:spcBef>
              <a:spcAft>
                <a:spcPts val="0"/>
              </a:spcAft>
              <a:buSzPts val="1000"/>
              <a:buChar char="■"/>
              <a:defRPr sz="2000"/>
            </a:lvl6pPr>
            <a:lvl7pPr indent="-292100" lvl="6" marL="3200400" algn="l">
              <a:lnSpc>
                <a:spcPct val="80000"/>
              </a:lnSpc>
              <a:spcBef>
                <a:spcPts val="400"/>
              </a:spcBef>
              <a:spcAft>
                <a:spcPts val="0"/>
              </a:spcAft>
              <a:buSzPts val="1000"/>
              <a:buChar char="■"/>
              <a:defRPr sz="2000"/>
            </a:lvl7pPr>
            <a:lvl8pPr indent="-292100" lvl="7" marL="3657600" algn="l">
              <a:lnSpc>
                <a:spcPct val="80000"/>
              </a:lnSpc>
              <a:spcBef>
                <a:spcPts val="400"/>
              </a:spcBef>
              <a:spcAft>
                <a:spcPts val="0"/>
              </a:spcAft>
              <a:buSzPts val="1000"/>
              <a:buChar char="■"/>
              <a:defRPr sz="2000"/>
            </a:lvl8pPr>
            <a:lvl9pPr indent="-292100" lvl="8" marL="4114800" algn="l">
              <a:lnSpc>
                <a:spcPct val="80000"/>
              </a:lnSpc>
              <a:spcBef>
                <a:spcPts val="400"/>
              </a:spcBef>
              <a:spcAft>
                <a:spcPts val="0"/>
              </a:spcAft>
              <a:buSzPts val="1000"/>
              <a:buChar char="■"/>
              <a:defRPr sz="2000"/>
            </a:lvl9pPr>
          </a:lstStyle>
          <a:p/>
        </p:txBody>
      </p:sp>
      <p:sp>
        <p:nvSpPr>
          <p:cNvPr id="82" name="Google Shape;82;p6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83" name="Google Shape;83;p67"/>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7"/>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6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68"/>
          <p:cNvSpPr/>
          <p:nvPr>
            <p:ph idx="2" type="pic"/>
          </p:nvPr>
        </p:nvSpPr>
        <p:spPr>
          <a:xfrm>
            <a:off x="1792288" y="612775"/>
            <a:ext cx="5486400" cy="4114800"/>
          </a:xfrm>
          <a:prstGeom prst="rect">
            <a:avLst/>
          </a:prstGeom>
          <a:noFill/>
          <a:ln>
            <a:noFill/>
          </a:ln>
        </p:spPr>
      </p:sp>
      <p:sp>
        <p:nvSpPr>
          <p:cNvPr id="89" name="Google Shape;89;p6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90" name="Google Shape;90;p6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3" name="Shape 93"/>
        <p:cNvGrpSpPr/>
        <p:nvPr/>
      </p:nvGrpSpPr>
      <p:grpSpPr>
        <a:xfrm>
          <a:off x="0" y="0"/>
          <a:ext cx="0" cy="0"/>
          <a:chOff x="0" y="0"/>
          <a:chExt cx="0" cy="0"/>
        </a:xfrm>
      </p:grpSpPr>
      <p:sp>
        <p:nvSpPr>
          <p:cNvPr id="94" name="Google Shape;94;p6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69"/>
          <p:cNvSpPr txBox="1"/>
          <p:nvPr>
            <p:ph idx="1" type="body"/>
          </p:nvPr>
        </p:nvSpPr>
        <p:spPr>
          <a:xfrm rot="5400000">
            <a:off x="2057400" y="-228600"/>
            <a:ext cx="5105400" cy="84582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96" name="Google Shape;96;p69"/>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69"/>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70"/>
          <p:cNvSpPr txBox="1"/>
          <p:nvPr>
            <p:ph type="title"/>
          </p:nvPr>
        </p:nvSpPr>
        <p:spPr>
          <a:xfrm rot="5400000">
            <a:off x="4619625" y="2333625"/>
            <a:ext cx="6324600" cy="21145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70"/>
          <p:cNvSpPr txBox="1"/>
          <p:nvPr>
            <p:ph idx="1" type="body"/>
          </p:nvPr>
        </p:nvSpPr>
        <p:spPr>
          <a:xfrm rot="5400000">
            <a:off x="314325" y="295275"/>
            <a:ext cx="6324600" cy="619125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102" name="Google Shape;102;p7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7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7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oleObject" Target="../embeddings/oleObject1.bin"/><Relationship Id="rId2" Type="http://schemas.openxmlformats.org/officeDocument/2006/relationships/oleObject" Target="../embeddings/oleObject1.bin"/><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vmlDrawing" Target="../drawings/vmlDrawing1.vml"/><Relationship Id="rId16"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9pPr>
          </a:lstStyle>
          <a:p/>
        </p:txBody>
      </p:sp>
      <p:sp>
        <p:nvSpPr>
          <p:cNvPr id="11" name="Google Shape;11;p5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0000"/>
              </a:lnSpc>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lnSpc>
                <a:spcPct val="80000"/>
              </a:lnSpc>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304800" lvl="2" marL="1371600" marR="0" rtl="0" algn="l">
              <a:lnSpc>
                <a:spcPct val="8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8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2" name="Google Shape;12;p5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3" name="Google Shape;13;p5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4" name="Google Shape;14;p5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marR="0" rt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marR="0" rt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marR="0" rt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marR="0" rt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marR="0" rt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marR="0" rt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marR="0" rt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marR="0" rt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graphicFrame>
        <p:nvGraphicFramePr>
          <p:cNvPr id="15" name="Google Shape;15;p58"/>
          <p:cNvGraphicFramePr/>
          <p:nvPr/>
        </p:nvGraphicFramePr>
        <p:xfrm>
          <a:off x="381000" y="1143000"/>
          <a:ext cx="8382000" cy="76200"/>
        </p:xfrm>
        <a:graphic>
          <a:graphicData uri="http://schemas.openxmlformats.org/presentationml/2006/ole">
            <mc:AlternateContent>
              <mc:Choice Requires="v">
                <p:oleObj r:id="rId1" imgH="76200" imgW="8382000" progId="" spid="_x0000_s1">
                  <p:embed/>
                </p:oleObj>
              </mc:Choice>
              <mc:Fallback>
                <p:oleObj r:id="rId2" imgH="76200" imgW="8382000" progId="">
                  <p:embed/>
                  <p:pic>
                    <p:nvPicPr>
                      <p:cNvPr id="15" name="Google Shape;15;p58"/>
                      <p:cNvPicPr preferRelativeResize="0"/>
                      <p:nvPr/>
                    </p:nvPicPr>
                    <p:blipFill rotWithShape="1">
                      <a:blip r:embed="rId3">
                        <a:alphaModFix/>
                      </a:blip>
                      <a:srcRect b="0" l="0" r="0" t="0"/>
                      <a:stretch/>
                    </p:blipFill>
                    <p:spPr>
                      <a:xfrm>
                        <a:off x="381000" y="1143000"/>
                        <a:ext cx="8382000" cy="76200"/>
                      </a:xfrm>
                      <a:prstGeom prst="rect">
                        <a:avLst/>
                      </a:prstGeom>
                      <a:noFill/>
                      <a:ln>
                        <a:noFill/>
                      </a:ln>
                    </p:spPr>
                  </p:pic>
                </p:oleObj>
              </mc:Fallback>
            </mc:AlternateContent>
          </a:graphicData>
        </a:graphic>
      </p:graphicFrame>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p:zoom dir="out"/>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elearning-graphic[1]" id="110" name="Google Shape;110;p1"/>
          <p:cNvPicPr preferRelativeResize="0"/>
          <p:nvPr/>
        </p:nvPicPr>
        <p:blipFill rotWithShape="1">
          <a:blip r:embed="rId3">
            <a:alphaModFix/>
          </a:blip>
          <a:srcRect b="0" l="0" r="0" t="0"/>
          <a:stretch/>
        </p:blipFill>
        <p:spPr>
          <a:xfrm>
            <a:off x="838200" y="3581400"/>
            <a:ext cx="2819400" cy="2778125"/>
          </a:xfrm>
          <a:prstGeom prst="rect">
            <a:avLst/>
          </a:prstGeom>
          <a:noFill/>
          <a:ln>
            <a:noFill/>
          </a:ln>
        </p:spPr>
      </p:pic>
      <p:sp>
        <p:nvSpPr>
          <p:cNvPr id="111" name="Google Shape;111;p1"/>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solidFill>
                  <a:srgbClr val="000099"/>
                </a:solidFill>
                <a:latin typeface="Times New Roman"/>
                <a:ea typeface="Times New Roman"/>
                <a:cs typeface="Times New Roman"/>
                <a:sym typeface="Times New Roman"/>
              </a:rPr>
              <a:t>BÀI GIẢNG</a:t>
            </a:r>
            <a:r>
              <a:rPr b="1" lang="en-US" sz="3200">
                <a:solidFill>
                  <a:srgbClr val="000099"/>
                </a:solidFill>
                <a:latin typeface="Times New Roman"/>
                <a:ea typeface="Times New Roman"/>
                <a:cs typeface="Times New Roman"/>
                <a:sym typeface="Times New Roman"/>
              </a:rPr>
              <a:t> </a:t>
            </a:r>
            <a:br>
              <a:rPr b="1" lang="en-US" sz="3200">
                <a:solidFill>
                  <a:srgbClr val="000099"/>
                </a:solidFill>
                <a:latin typeface="Times New Roman"/>
                <a:ea typeface="Times New Roman"/>
                <a:cs typeface="Times New Roman"/>
                <a:sym typeface="Times New Roman"/>
              </a:rPr>
            </a:br>
            <a:br>
              <a:rPr b="1" lang="en-US" sz="3200">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QUẢN TRỊ DỰ ÁN </a:t>
            </a:r>
            <a:br>
              <a:rPr b="1" lang="en-US">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CÔNG NGHỆ THÔNG TIN</a:t>
            </a:r>
            <a:endParaRPr/>
          </a:p>
        </p:txBody>
      </p:sp>
      <p:sp>
        <p:nvSpPr>
          <p:cNvPr id="112" name="Google Shape;112;p1"/>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t/>
            </a:r>
            <a:endParaRPr b="0" i="0" sz="1400" u="none" cap="none" strike="noStrike">
              <a:solidFill>
                <a:schemeClr val="lt2"/>
              </a:solidFill>
              <a:latin typeface="Tahoma"/>
              <a:ea typeface="Tahoma"/>
              <a:cs typeface="Tahoma"/>
              <a:sym typeface="Tahoma"/>
            </a:endParaRPr>
          </a:p>
        </p:txBody>
      </p:sp>
    </p:spTree>
  </p:cSld>
  <p:clrMapOvr>
    <a:masterClrMapping/>
  </p:clrMapOvr>
  <p:transition>
    <p:zoom dir="o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ph type="ctrTitle"/>
          </p:nvPr>
        </p:nvSpPr>
        <p:spPr>
          <a:xfrm>
            <a:off x="381000" y="609600"/>
            <a:ext cx="8229600" cy="1219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a:latin typeface="Arial"/>
                <a:ea typeface="Arial"/>
                <a:cs typeface="Arial"/>
                <a:sym typeface="Arial"/>
              </a:rPr>
              <a:t>Chương 2 </a:t>
            </a:r>
            <a:br>
              <a:rPr b="1" lang="en-US">
                <a:latin typeface="Arial"/>
                <a:ea typeface="Arial"/>
                <a:cs typeface="Arial"/>
                <a:sym typeface="Arial"/>
              </a:rPr>
            </a:br>
            <a:r>
              <a:rPr b="1" lang="en-US">
                <a:latin typeface="Arial"/>
                <a:ea typeface="Arial"/>
                <a:cs typeface="Arial"/>
                <a:sym typeface="Arial"/>
              </a:rPr>
              <a:t>DỰ ÁN CÔNG NGHỆ THÔNG TIN</a:t>
            </a:r>
            <a:endParaRPr/>
          </a:p>
        </p:txBody>
      </p:sp>
      <p:grpSp>
        <p:nvGrpSpPr>
          <p:cNvPr id="119" name="Google Shape;119;p2"/>
          <p:cNvGrpSpPr/>
          <p:nvPr/>
        </p:nvGrpSpPr>
        <p:grpSpPr>
          <a:xfrm>
            <a:off x="462251" y="3356825"/>
            <a:ext cx="4901912" cy="546838"/>
            <a:chOff x="291" y="2115"/>
            <a:chExt cx="3088" cy="344"/>
          </a:xfrm>
        </p:grpSpPr>
        <p:cxnSp>
          <p:nvCxnSpPr>
            <p:cNvPr id="120" name="Google Shape;120;p2"/>
            <p:cNvCxnSpPr/>
            <p:nvPr/>
          </p:nvCxnSpPr>
          <p:spPr>
            <a:xfrm>
              <a:off x="474" y="2434"/>
              <a:ext cx="2166" cy="0"/>
            </a:xfrm>
            <a:prstGeom prst="straightConnector1">
              <a:avLst/>
            </a:prstGeom>
            <a:noFill/>
            <a:ln cap="flat" cmpd="sng" w="25400">
              <a:solidFill>
                <a:srgbClr val="969696"/>
              </a:solidFill>
              <a:prstDash val="dot"/>
              <a:round/>
              <a:headEnd len="med" w="med" type="none"/>
              <a:tailEnd len="med" w="med" type="oval"/>
            </a:ln>
          </p:spPr>
        </p:cxnSp>
        <p:sp>
          <p:nvSpPr>
            <p:cNvPr id="121" name="Google Shape;121;p2"/>
            <p:cNvSpPr/>
            <p:nvPr/>
          </p:nvSpPr>
          <p:spPr>
            <a:xfrm rot="3419336">
              <a:off x="336" y="2160"/>
              <a:ext cx="236" cy="235"/>
            </a:xfrm>
            <a:prstGeom prst="rect">
              <a:avLst/>
            </a:prstGeom>
            <a:gradFill>
              <a:gsLst>
                <a:gs pos="0">
                  <a:srgbClr val="99CC00"/>
                </a:gs>
                <a:gs pos="100000">
                  <a:srgbClr val="475E00"/>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2" name="Google Shape;122;p2"/>
            <p:cNvSpPr txBox="1"/>
            <p:nvPr/>
          </p:nvSpPr>
          <p:spPr>
            <a:xfrm>
              <a:off x="672" y="2160"/>
              <a:ext cx="270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Tahoma"/>
                  <a:ea typeface="Tahoma"/>
                  <a:cs typeface="Tahoma"/>
                  <a:sym typeface="Tahoma"/>
                </a:rPr>
                <a:t>Các đặc điểm của dự án CNTT</a:t>
              </a:r>
              <a:endParaRPr b="0" sz="2400" u="none">
                <a:solidFill>
                  <a:srgbClr val="000000"/>
                </a:solidFill>
                <a:latin typeface="Arial"/>
                <a:ea typeface="Arial"/>
                <a:cs typeface="Arial"/>
                <a:sym typeface="Arial"/>
              </a:endParaRPr>
            </a:p>
          </p:txBody>
        </p:sp>
        <p:sp>
          <p:nvSpPr>
            <p:cNvPr id="123" name="Google Shape;123;p2"/>
            <p:cNvSpPr txBox="1"/>
            <p:nvPr/>
          </p:nvSpPr>
          <p:spPr>
            <a:xfrm>
              <a:off x="341" y="2171"/>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1</a:t>
              </a:r>
              <a:endParaRPr/>
            </a:p>
          </p:txBody>
        </p:sp>
      </p:grpSp>
      <p:grpSp>
        <p:nvGrpSpPr>
          <p:cNvPr id="124" name="Google Shape;124;p2"/>
          <p:cNvGrpSpPr/>
          <p:nvPr/>
        </p:nvGrpSpPr>
        <p:grpSpPr>
          <a:xfrm>
            <a:off x="462251" y="4066437"/>
            <a:ext cx="3730337" cy="546838"/>
            <a:chOff x="291" y="2562"/>
            <a:chExt cx="2350" cy="344"/>
          </a:xfrm>
        </p:grpSpPr>
        <p:cxnSp>
          <p:nvCxnSpPr>
            <p:cNvPr id="125" name="Google Shape;125;p2"/>
            <p:cNvCxnSpPr/>
            <p:nvPr/>
          </p:nvCxnSpPr>
          <p:spPr>
            <a:xfrm>
              <a:off x="474" y="2881"/>
              <a:ext cx="2167" cy="0"/>
            </a:xfrm>
            <a:prstGeom prst="straightConnector1">
              <a:avLst/>
            </a:prstGeom>
            <a:noFill/>
            <a:ln cap="flat" cmpd="sng" w="25400">
              <a:solidFill>
                <a:srgbClr val="969696"/>
              </a:solidFill>
              <a:prstDash val="dot"/>
              <a:round/>
              <a:headEnd len="med" w="med" type="none"/>
              <a:tailEnd len="med" w="med" type="oval"/>
            </a:ln>
          </p:spPr>
        </p:cxnSp>
        <p:sp>
          <p:nvSpPr>
            <p:cNvPr id="126" name="Google Shape;126;p2"/>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7" name="Google Shape;127;p2"/>
            <p:cNvSpPr txBox="1"/>
            <p:nvPr/>
          </p:nvSpPr>
          <p:spPr>
            <a:xfrm>
              <a:off x="624" y="2592"/>
              <a:ext cx="185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Tahoma"/>
                  <a:ea typeface="Tahoma"/>
                  <a:cs typeface="Tahoma"/>
                  <a:sym typeface="Tahoma"/>
                </a:rPr>
                <a:t> Vòng đời của dự án</a:t>
              </a:r>
              <a:endParaRPr b="0" sz="2400" u="none">
                <a:solidFill>
                  <a:srgbClr val="000000"/>
                </a:solidFill>
                <a:latin typeface="Arial"/>
                <a:ea typeface="Arial"/>
                <a:cs typeface="Arial"/>
                <a:sym typeface="Arial"/>
              </a:endParaRPr>
            </a:p>
          </p:txBody>
        </p:sp>
        <p:sp>
          <p:nvSpPr>
            <p:cNvPr id="128" name="Google Shape;128;p2"/>
            <p:cNvSpPr txBox="1"/>
            <p:nvPr/>
          </p:nvSpPr>
          <p:spPr>
            <a:xfrm>
              <a:off x="341" y="2618"/>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2</a:t>
              </a:r>
              <a:endParaRPr/>
            </a:p>
          </p:txBody>
        </p:sp>
      </p:grpSp>
      <p:grpSp>
        <p:nvGrpSpPr>
          <p:cNvPr id="129" name="Google Shape;129;p2"/>
          <p:cNvGrpSpPr/>
          <p:nvPr/>
        </p:nvGrpSpPr>
        <p:grpSpPr>
          <a:xfrm>
            <a:off x="462252" y="4728425"/>
            <a:ext cx="4979698" cy="546838"/>
            <a:chOff x="291" y="2994"/>
            <a:chExt cx="3137" cy="344"/>
          </a:xfrm>
        </p:grpSpPr>
        <p:cxnSp>
          <p:nvCxnSpPr>
            <p:cNvPr id="130" name="Google Shape;130;p2"/>
            <p:cNvCxnSpPr/>
            <p:nvPr/>
          </p:nvCxnSpPr>
          <p:spPr>
            <a:xfrm>
              <a:off x="474" y="3312"/>
              <a:ext cx="2166" cy="1"/>
            </a:xfrm>
            <a:prstGeom prst="straightConnector1">
              <a:avLst/>
            </a:prstGeom>
            <a:noFill/>
            <a:ln cap="flat" cmpd="sng" w="25400">
              <a:solidFill>
                <a:srgbClr val="969696"/>
              </a:solidFill>
              <a:prstDash val="dot"/>
              <a:round/>
              <a:headEnd len="med" w="med" type="none"/>
              <a:tailEnd len="med" w="med" type="oval"/>
            </a:ln>
          </p:spPr>
        </p:cxnSp>
        <p:sp>
          <p:nvSpPr>
            <p:cNvPr id="131" name="Google Shape;131;p2"/>
            <p:cNvSpPr/>
            <p:nvPr/>
          </p:nvSpPr>
          <p:spPr>
            <a:xfrm rot="3419336">
              <a:off x="336" y="3039"/>
              <a:ext cx="236" cy="235"/>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32" name="Google Shape;132;p2"/>
            <p:cNvSpPr txBox="1"/>
            <p:nvPr/>
          </p:nvSpPr>
          <p:spPr>
            <a:xfrm>
              <a:off x="720" y="3039"/>
              <a:ext cx="270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Tahoma"/>
                  <a:ea typeface="Tahoma"/>
                  <a:cs typeface="Tahoma"/>
                  <a:sym typeface="Tahoma"/>
                </a:rPr>
                <a:t>Các giai đoạn của dự án CNTT</a:t>
              </a:r>
              <a:endParaRPr b="0" sz="2400" u="none">
                <a:solidFill>
                  <a:schemeClr val="dk1"/>
                </a:solidFill>
                <a:latin typeface="Arial"/>
                <a:ea typeface="Arial"/>
                <a:cs typeface="Arial"/>
                <a:sym typeface="Arial"/>
              </a:endParaRPr>
            </a:p>
          </p:txBody>
        </p:sp>
        <p:sp>
          <p:nvSpPr>
            <p:cNvPr id="133" name="Google Shape;133;p2"/>
            <p:cNvSpPr txBox="1"/>
            <p:nvPr/>
          </p:nvSpPr>
          <p:spPr>
            <a:xfrm>
              <a:off x="341" y="3050"/>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3</a:t>
              </a:r>
              <a:endParaRPr/>
            </a:p>
          </p:txBody>
        </p:sp>
      </p:grpSp>
      <p:sp>
        <p:nvSpPr>
          <p:cNvPr id="134" name="Google Shape;134;p2"/>
          <p:cNvSpPr/>
          <p:nvPr/>
        </p:nvSpPr>
        <p:spPr>
          <a:xfrm>
            <a:off x="1752600" y="2514600"/>
            <a:ext cx="2286000" cy="685800"/>
          </a:xfrm>
          <a:prstGeom prst="ellipse">
            <a:avLst/>
          </a:prstGeom>
          <a:solidFill>
            <a:srgbClr val="FFCC00"/>
          </a:solidFill>
          <a:ln cap="flat" cmpd="sng" w="9525">
            <a:solidFill>
              <a:srgbClr val="FFFFFF"/>
            </a:solidFill>
            <a:prstDash val="solid"/>
            <a:round/>
            <a:headEnd len="sm" w="sm" type="none"/>
            <a:tailEnd len="sm" w="sm" type="none"/>
          </a:ln>
          <a:effectLst>
            <a:outerShdw rotWithShape="0" algn="ctr" dir="2700000" dist="35921">
              <a:schemeClr val="lt2">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2B5481"/>
                </a:solidFill>
                <a:latin typeface="Tahoma"/>
                <a:ea typeface="Tahoma"/>
                <a:cs typeface="Tahoma"/>
                <a:sym typeface="Tahoma"/>
              </a:rPr>
              <a:t>Nội dung</a:t>
            </a:r>
            <a:endParaRPr/>
          </a:p>
        </p:txBody>
      </p:sp>
      <p:sp>
        <p:nvSpPr>
          <p:cNvPr id="135" name="Google Shape;135;p2"/>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lt2"/>
                </a:solidFill>
                <a:latin typeface="Tahoma"/>
                <a:ea typeface="Tahoma"/>
                <a:cs typeface="Tahoma"/>
                <a:sym typeface="Tahoma"/>
              </a:rPr>
              <a:t>‹#›</a:t>
            </a:fld>
            <a:endParaRPr b="0" i="0" sz="1400" u="none" cap="none" strike="noStrike">
              <a:solidFill>
                <a:schemeClr val="lt2"/>
              </a:solidFill>
              <a:latin typeface="Tahoma"/>
              <a:ea typeface="Tahoma"/>
              <a:cs typeface="Tahoma"/>
              <a:sym typeface="Tahoma"/>
            </a:endParaRPr>
          </a:p>
        </p:txBody>
      </p:sp>
    </p:spTree>
  </p:cSld>
  <p:clrMapOvr>
    <a:masterClrMapping/>
  </p:clrMapOvr>
  <p:transition>
    <p:zoom dir="o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1. DỰ ÁN CNTT</a:t>
            </a:r>
            <a:endParaRPr/>
          </a:p>
        </p:txBody>
      </p:sp>
      <p:sp>
        <p:nvSpPr>
          <p:cNvPr id="141" name="Google Shape;141;p3"/>
          <p:cNvSpPr txBox="1"/>
          <p:nvPr>
            <p:ph idx="1" type="body"/>
          </p:nvPr>
        </p:nvSpPr>
        <p:spPr>
          <a:xfrm>
            <a:off x="381000" y="2057400"/>
            <a:ext cx="8153400" cy="38862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440"/>
              <a:buChar char="■"/>
            </a:pPr>
            <a:r>
              <a:rPr lang="en-US" sz="2400">
                <a:latin typeface="Arial"/>
                <a:ea typeface="Arial"/>
                <a:cs typeface="Arial"/>
                <a:sym typeface="Arial"/>
              </a:rPr>
              <a:t>CNTT = Phần cứng + Phần mềm, sự tích hợp phần cứng, phần mềm và con người</a:t>
            </a:r>
            <a:endParaRPr/>
          </a:p>
          <a:p>
            <a:pPr indent="-342900" lvl="0" marL="342900" rtl="0" algn="l">
              <a:lnSpc>
                <a:spcPct val="150000"/>
              </a:lnSpc>
              <a:spcBef>
                <a:spcPts val="0"/>
              </a:spcBef>
              <a:spcAft>
                <a:spcPts val="0"/>
              </a:spcAft>
              <a:buSzPts val="1440"/>
              <a:buChar char="■"/>
            </a:pPr>
            <a:r>
              <a:rPr lang="en-US" sz="2400">
                <a:latin typeface="Arial"/>
                <a:ea typeface="Arial"/>
                <a:cs typeface="Arial"/>
                <a:sym typeface="Arial"/>
              </a:rPr>
              <a:t>Dự án CNTT = dự án liên quan đến phần cứng, phần mềm, và mạng.</a:t>
            </a:r>
            <a:endParaRPr/>
          </a:p>
          <a:p>
            <a:pPr indent="-342900" lvl="0" marL="342900" rtl="0" algn="l">
              <a:lnSpc>
                <a:spcPct val="150000"/>
              </a:lnSpc>
              <a:spcBef>
                <a:spcPts val="0"/>
              </a:spcBef>
              <a:spcAft>
                <a:spcPts val="0"/>
              </a:spcAft>
              <a:buSzPts val="1440"/>
              <a:buChar char="■"/>
            </a:pPr>
            <a:r>
              <a:rPr b="1" lang="en-US" sz="2400">
                <a:latin typeface="Arial"/>
                <a:ea typeface="Arial"/>
                <a:cs typeface="Arial"/>
                <a:sym typeface="Arial"/>
              </a:rPr>
              <a:t>Ví dụ</a:t>
            </a:r>
            <a:r>
              <a:rPr lang="en-US" sz="2400">
                <a:latin typeface="Arial"/>
                <a:ea typeface="Arial"/>
                <a:cs typeface="Arial"/>
                <a:sym typeface="Arial"/>
              </a:rPr>
              <a:t>: Dự án xây dựng hệ thống tính cước và chăm sóc khách hàng tại các Bưu điện Tỉnh/Thành, phục vụ hoạt động sản xuất kinh doanh. </a:t>
            </a:r>
            <a:endParaRPr sz="2400">
              <a:latin typeface="Arial"/>
              <a:ea typeface="Arial"/>
              <a:cs typeface="Arial"/>
              <a:sym typeface="Arial"/>
            </a:endParaRPr>
          </a:p>
        </p:txBody>
      </p:sp>
      <p:pic>
        <p:nvPicPr>
          <p:cNvPr descr="j0283618" id="142" name="Google Shape;142;p3"/>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43" name="Google Shape;143;p3"/>
          <p:cNvSpPr/>
          <p:nvPr/>
        </p:nvSpPr>
        <p:spPr>
          <a:xfrm>
            <a:off x="685800" y="1371600"/>
            <a:ext cx="4038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D3E026"/>
                </a:solidFill>
                <a:latin typeface="Tahoma"/>
                <a:ea typeface="Tahoma"/>
                <a:cs typeface="Tahoma"/>
                <a:sym typeface="Tahoma"/>
              </a:rPr>
              <a:t>Dự án CNTT</a:t>
            </a:r>
            <a:endParaRPr/>
          </a:p>
        </p:txBody>
      </p:sp>
      <p:sp>
        <p:nvSpPr>
          <p:cNvPr id="144" name="Google Shape;144;p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50" name="Google Shape;150;p4"/>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Là khung làm việc dùng để mô tả các giai đoạn trong quá trình phát triển và duy trì hệ thống. </a:t>
            </a:r>
            <a:endParaRPr/>
          </a:p>
          <a:p>
            <a:pPr indent="-285750" lvl="1" marL="742950" rtl="0" algn="l">
              <a:lnSpc>
                <a:spcPct val="150000"/>
              </a:lnSpc>
              <a:spcBef>
                <a:spcPts val="480"/>
              </a:spcBef>
              <a:spcAft>
                <a:spcPts val="0"/>
              </a:spcAft>
              <a:buSzPts val="1320"/>
              <a:buChar char="■"/>
            </a:pPr>
            <a:r>
              <a:rPr lang="en-US"/>
              <a:t>SDLC cơ bản là nhóm các giai đoạn của dự án. </a:t>
            </a:r>
            <a:endParaRPr/>
          </a:p>
          <a:p>
            <a:pPr indent="-285750" lvl="1" marL="742950" rtl="0" algn="l">
              <a:lnSpc>
                <a:spcPct val="150000"/>
              </a:lnSpc>
              <a:spcBef>
                <a:spcPts val="480"/>
              </a:spcBef>
              <a:spcAft>
                <a:spcPts val="0"/>
              </a:spcAft>
              <a:buSzPts val="1320"/>
              <a:buChar char="■"/>
            </a:pPr>
            <a:r>
              <a:rPr lang="en-US"/>
              <a:t>Các giai đoạn của dự án thay đổi tùy theo dự án, tổ chức hoặc lãnh vực kinh doanh, thường được chia thành 4 giai đoạn.</a:t>
            </a:r>
            <a:endParaRPr>
              <a:latin typeface="Arial"/>
              <a:ea typeface="Arial"/>
              <a:cs typeface="Arial"/>
              <a:sym typeface="Arial"/>
            </a:endParaRPr>
          </a:p>
        </p:txBody>
      </p:sp>
      <p:pic>
        <p:nvPicPr>
          <p:cNvPr descr="j0283618" id="151" name="Google Shape;151;p4"/>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52" name="Google Shape;152;p4"/>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Systems Development Life Cycle - SDLC</a:t>
            </a:r>
            <a:endParaRPr b="1" sz="2400">
              <a:solidFill>
                <a:srgbClr val="CCFF33"/>
              </a:solidFill>
              <a:latin typeface="Tahoma"/>
              <a:ea typeface="Tahoma"/>
              <a:cs typeface="Tahoma"/>
              <a:sym typeface="Tahoma"/>
            </a:endParaRPr>
          </a:p>
        </p:txBody>
      </p:sp>
      <p:sp>
        <p:nvSpPr>
          <p:cNvPr id="153" name="Google Shape;153;p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59" name="Google Shape;159;p5"/>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Xác định bức tranh toàn cảnh: mục tiêu, kết quả của dự án, phương pháp thực hiện. </a:t>
            </a:r>
            <a:endParaRPr/>
          </a:p>
          <a:p>
            <a:pPr indent="-285750" lvl="1" marL="742950" rtl="0" algn="l">
              <a:lnSpc>
                <a:spcPct val="150000"/>
              </a:lnSpc>
              <a:spcBef>
                <a:spcPts val="480"/>
              </a:spcBef>
              <a:spcAft>
                <a:spcPts val="0"/>
              </a:spcAft>
              <a:buSzPts val="1320"/>
              <a:buChar char="■"/>
            </a:pPr>
            <a:r>
              <a:rPr lang="en-US"/>
              <a:t>Các công việc cần làm: Khảo sát, tập hợp số liệu, xác định yêu cầu, đánh giá rủi ro, dự tính nguồn lực, …  </a:t>
            </a:r>
            <a:endParaRPr/>
          </a:p>
          <a:p>
            <a:pPr indent="-285750" lvl="1" marL="742950" rtl="0" algn="l">
              <a:lnSpc>
                <a:spcPct val="150000"/>
              </a:lnSpc>
              <a:spcBef>
                <a:spcPts val="480"/>
              </a:spcBef>
              <a:spcAft>
                <a:spcPts val="0"/>
              </a:spcAft>
              <a:buSzPts val="1320"/>
              <a:buChar char="■"/>
            </a:pPr>
            <a:r>
              <a:rPr lang="en-US"/>
              <a:t>Quyết định lựa chọn dự án dựa trên: mục đích, nhu cầu, các mục tiêu lâu dài của tổ chức, doanh nghiệp. </a:t>
            </a:r>
            <a:endParaRPr>
              <a:latin typeface="Arial"/>
              <a:ea typeface="Arial"/>
              <a:cs typeface="Arial"/>
              <a:sym typeface="Arial"/>
            </a:endParaRPr>
          </a:p>
        </p:txBody>
      </p:sp>
      <p:pic>
        <p:nvPicPr>
          <p:cNvPr descr="j0283618" id="160" name="Google Shape;160;p5"/>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61" name="Google Shape;161;p5"/>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Giai đoạn xây dựng ý tưởng</a:t>
            </a:r>
            <a:endParaRPr b="1" sz="2400">
              <a:solidFill>
                <a:srgbClr val="CCFF33"/>
              </a:solidFill>
              <a:latin typeface="Tahoma"/>
              <a:ea typeface="Tahoma"/>
              <a:cs typeface="Tahoma"/>
              <a:sym typeface="Tahoma"/>
            </a:endParaRPr>
          </a:p>
        </p:txBody>
      </p:sp>
      <p:sp>
        <p:nvSpPr>
          <p:cNvPr id="162" name="Google Shape;162;p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6"/>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68" name="Google Shape;168;p6"/>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Các nội dung được xét đến là: Mục đích yêu cầu của dự án, tính khả thi, lợi nhuận tiềm năng, mức độ chi phí, mực độ rủi ro và ước lượng các nguồn lực cần thiết. </a:t>
            </a:r>
            <a:endParaRPr/>
          </a:p>
          <a:p>
            <a:pPr indent="-285750" lvl="1" marL="742950" rtl="0" algn="l">
              <a:lnSpc>
                <a:spcPct val="150000"/>
              </a:lnSpc>
              <a:spcBef>
                <a:spcPts val="480"/>
              </a:spcBef>
              <a:spcAft>
                <a:spcPts val="0"/>
              </a:spcAft>
              <a:buSzPts val="1320"/>
              <a:buChar char="■"/>
            </a:pPr>
            <a:r>
              <a:rPr lang="en-US"/>
              <a:t>Phác thảo những kết quả và phương pháp thực hiện trong điều kiện hạn chế về nguồn lực. </a:t>
            </a:r>
            <a:endParaRPr>
              <a:latin typeface="Arial"/>
              <a:ea typeface="Arial"/>
              <a:cs typeface="Arial"/>
              <a:sym typeface="Arial"/>
            </a:endParaRPr>
          </a:p>
        </p:txBody>
      </p:sp>
      <p:pic>
        <p:nvPicPr>
          <p:cNvPr descr="j0283618" id="169" name="Google Shape;169;p6"/>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70" name="Google Shape;170;p6"/>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xây dựng ý tưởng</a:t>
            </a:r>
            <a:endParaRPr b="1" sz="2400">
              <a:solidFill>
                <a:srgbClr val="CCFF33"/>
              </a:solidFill>
              <a:latin typeface="Tahoma"/>
              <a:ea typeface="Tahoma"/>
              <a:cs typeface="Tahoma"/>
              <a:sym typeface="Tahoma"/>
            </a:endParaRPr>
          </a:p>
        </p:txBody>
      </p:sp>
      <p:sp>
        <p:nvSpPr>
          <p:cNvPr id="171" name="Google Shape;171;p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77" name="Google Shape;177;p7"/>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Xem dự án cần được thực hiện như thế nào, </a:t>
            </a:r>
            <a:endParaRPr/>
          </a:p>
          <a:p>
            <a:pPr indent="-285750" lvl="1" marL="742950" rtl="0" algn="l">
              <a:lnSpc>
                <a:spcPct val="150000"/>
              </a:lnSpc>
              <a:spcBef>
                <a:spcPts val="480"/>
              </a:spcBef>
              <a:spcAft>
                <a:spcPts val="0"/>
              </a:spcAft>
              <a:buSzPts val="1320"/>
              <a:buChar char="■"/>
            </a:pPr>
            <a:r>
              <a:rPr lang="en-US"/>
              <a:t>Nội dung chủ yếu: công tác thiết kế và lập kế hoạch. </a:t>
            </a:r>
            <a:endParaRPr/>
          </a:p>
          <a:p>
            <a:pPr indent="-285750" lvl="1" marL="742950" rtl="0" algn="l">
              <a:lnSpc>
                <a:spcPct val="150000"/>
              </a:lnSpc>
              <a:spcBef>
                <a:spcPts val="480"/>
              </a:spcBef>
              <a:spcAft>
                <a:spcPts val="0"/>
              </a:spcAft>
              <a:buSzPts val="1320"/>
              <a:buChar char="■"/>
            </a:pPr>
            <a:r>
              <a:rPr lang="en-US"/>
              <a:t>Đây là giai đoạn chứa đựng những công việc phức tạp nhất của dự án. </a:t>
            </a:r>
            <a:endParaRPr/>
          </a:p>
          <a:p>
            <a:pPr indent="-285750" lvl="1" marL="742950" rtl="0" algn="l">
              <a:lnSpc>
                <a:spcPct val="150000"/>
              </a:lnSpc>
              <a:spcBef>
                <a:spcPts val="480"/>
              </a:spcBef>
              <a:spcAft>
                <a:spcPts val="0"/>
              </a:spcAft>
              <a:buSzPts val="1320"/>
              <a:buChar char="■"/>
            </a:pPr>
            <a:r>
              <a:rPr lang="en-US"/>
              <a:t>Nội dung chủ yếu bao gồm:</a:t>
            </a:r>
            <a:endParaRPr/>
          </a:p>
          <a:p>
            <a:pPr indent="-228600" lvl="2" marL="1143000" rtl="0" algn="l">
              <a:lnSpc>
                <a:spcPct val="150000"/>
              </a:lnSpc>
              <a:spcBef>
                <a:spcPts val="480"/>
              </a:spcBef>
              <a:spcAft>
                <a:spcPts val="0"/>
              </a:spcAft>
              <a:buSzPts val="1200"/>
              <a:buChar char="■"/>
            </a:pPr>
            <a:r>
              <a:rPr lang="en-US"/>
              <a:t>Thành lập nhóm dự án, xác định cấu trúc tổ chức. </a:t>
            </a:r>
            <a:endParaRPr/>
          </a:p>
          <a:p>
            <a:pPr indent="-228600" lvl="2" marL="1143000" rtl="0" algn="l">
              <a:lnSpc>
                <a:spcPct val="150000"/>
              </a:lnSpc>
              <a:spcBef>
                <a:spcPts val="480"/>
              </a:spcBef>
              <a:spcAft>
                <a:spcPts val="0"/>
              </a:spcAft>
              <a:buSzPts val="1200"/>
              <a:buChar char="■"/>
            </a:pPr>
            <a:r>
              <a:rPr lang="en-US"/>
              <a:t>Lập kế hoạch tổng thể </a:t>
            </a:r>
            <a:endParaRPr/>
          </a:p>
          <a:p>
            <a:pPr indent="-152400" lvl="2" marL="1143000" rtl="0" algn="l">
              <a:lnSpc>
                <a:spcPct val="150000"/>
              </a:lnSpc>
              <a:spcBef>
                <a:spcPts val="480"/>
              </a:spcBef>
              <a:spcAft>
                <a:spcPts val="0"/>
              </a:spcAft>
              <a:buSzPts val="1200"/>
              <a:buNone/>
            </a:pPr>
            <a:r>
              <a:t/>
            </a:r>
            <a:endParaRPr>
              <a:latin typeface="Arial"/>
              <a:ea typeface="Arial"/>
              <a:cs typeface="Arial"/>
              <a:sym typeface="Arial"/>
            </a:endParaRPr>
          </a:p>
        </p:txBody>
      </p:sp>
      <p:pic>
        <p:nvPicPr>
          <p:cNvPr descr="j0283618" id="178" name="Google Shape;178;p7"/>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79" name="Google Shape;179;p7"/>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phát triển</a:t>
            </a:r>
            <a:endParaRPr b="1" sz="2400">
              <a:solidFill>
                <a:srgbClr val="CCFF33"/>
              </a:solidFill>
              <a:latin typeface="Tahoma"/>
              <a:ea typeface="Tahoma"/>
              <a:cs typeface="Tahoma"/>
              <a:sym typeface="Tahoma"/>
            </a:endParaRPr>
          </a:p>
        </p:txBody>
      </p:sp>
      <p:sp>
        <p:nvSpPr>
          <p:cNvPr id="180" name="Google Shape;180;p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8"/>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86" name="Google Shape;186;p8"/>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Nội dung chủ yếu bao gồm:</a:t>
            </a:r>
            <a:endParaRPr/>
          </a:p>
          <a:p>
            <a:pPr indent="-228600" lvl="2" marL="1143000" rtl="0" algn="l">
              <a:lnSpc>
                <a:spcPct val="150000"/>
              </a:lnSpc>
              <a:spcBef>
                <a:spcPts val="480"/>
              </a:spcBef>
              <a:spcAft>
                <a:spcPts val="0"/>
              </a:spcAft>
              <a:buSzPts val="1200"/>
              <a:buChar char="■"/>
            </a:pPr>
            <a:r>
              <a:rPr lang="en-US"/>
              <a:t>Phân tích, lập bảng chi tiết công việc – WBS </a:t>
            </a:r>
            <a:endParaRPr/>
          </a:p>
          <a:p>
            <a:pPr indent="-228600" lvl="2" marL="1143000" rtl="0" algn="l">
              <a:lnSpc>
                <a:spcPct val="150000"/>
              </a:lnSpc>
              <a:spcBef>
                <a:spcPts val="480"/>
              </a:spcBef>
              <a:spcAft>
                <a:spcPts val="0"/>
              </a:spcAft>
              <a:buSzPts val="1200"/>
              <a:buChar char="■"/>
            </a:pPr>
            <a:r>
              <a:rPr lang="en-US"/>
              <a:t>Lập kế hoạch tiến độ thời gian.</a:t>
            </a:r>
            <a:endParaRPr/>
          </a:p>
          <a:p>
            <a:pPr indent="-228600" lvl="2" marL="1143000" rtl="0" algn="l">
              <a:lnSpc>
                <a:spcPct val="150000"/>
              </a:lnSpc>
              <a:spcBef>
                <a:spcPts val="480"/>
              </a:spcBef>
              <a:spcAft>
                <a:spcPts val="0"/>
              </a:spcAft>
              <a:buSzPts val="1200"/>
              <a:buChar char="■"/>
            </a:pPr>
            <a:r>
              <a:rPr lang="en-US"/>
              <a:t>Lập kế hoạch ngân sách </a:t>
            </a:r>
            <a:endParaRPr/>
          </a:p>
          <a:p>
            <a:pPr indent="-228600" lvl="2" marL="1143000" rtl="0" algn="l">
              <a:lnSpc>
                <a:spcPct val="150000"/>
              </a:lnSpc>
              <a:spcBef>
                <a:spcPts val="480"/>
              </a:spcBef>
              <a:spcAft>
                <a:spcPts val="0"/>
              </a:spcAft>
              <a:buSzPts val="1200"/>
              <a:buChar char="■"/>
            </a:pPr>
            <a:r>
              <a:rPr lang="en-US"/>
              <a:t>Lập kế hoạch nguồn lực cần thiết </a:t>
            </a:r>
            <a:endParaRPr/>
          </a:p>
          <a:p>
            <a:pPr indent="-228600" lvl="2" marL="1143000" rtl="0" algn="l">
              <a:lnSpc>
                <a:spcPct val="150000"/>
              </a:lnSpc>
              <a:spcBef>
                <a:spcPts val="480"/>
              </a:spcBef>
              <a:spcAft>
                <a:spcPts val="0"/>
              </a:spcAft>
              <a:buSzPts val="1200"/>
              <a:buChar char="■"/>
            </a:pPr>
            <a:r>
              <a:rPr lang="en-US"/>
              <a:t>Lập kế hoạch chi phí.</a:t>
            </a:r>
            <a:endParaRPr/>
          </a:p>
          <a:p>
            <a:pPr indent="-228600" lvl="2" marL="1143000" rtl="0" algn="l">
              <a:lnSpc>
                <a:spcPct val="150000"/>
              </a:lnSpc>
              <a:spcBef>
                <a:spcPts val="480"/>
              </a:spcBef>
              <a:spcAft>
                <a:spcPts val="0"/>
              </a:spcAft>
              <a:buSzPts val="1200"/>
              <a:buChar char="■"/>
            </a:pPr>
            <a:r>
              <a:rPr lang="en-US"/>
              <a:t>Xin phê chuẩn thực hiện tiếp</a:t>
            </a:r>
            <a:endParaRPr>
              <a:latin typeface="Arial"/>
              <a:ea typeface="Arial"/>
              <a:cs typeface="Arial"/>
              <a:sym typeface="Arial"/>
            </a:endParaRPr>
          </a:p>
        </p:txBody>
      </p:sp>
      <p:pic>
        <p:nvPicPr>
          <p:cNvPr descr="j0283618" id="187" name="Google Shape;187;p8"/>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88" name="Google Shape;188;p8"/>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phát triển</a:t>
            </a:r>
            <a:endParaRPr b="1" sz="2400">
              <a:solidFill>
                <a:srgbClr val="CCFF33"/>
              </a:solidFill>
              <a:latin typeface="Tahoma"/>
              <a:ea typeface="Tahoma"/>
              <a:cs typeface="Tahoma"/>
              <a:sym typeface="Tahoma"/>
            </a:endParaRPr>
          </a:p>
        </p:txBody>
      </p:sp>
      <p:sp>
        <p:nvSpPr>
          <p:cNvPr id="189" name="Google Shape;189;p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195" name="Google Shape;195;p9"/>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Giai đoạn quản lý tổ chức triển khai các nguồn lực cần thiết như: phòng ốc, hệ thống, lựa chọn công cụ, mua sắm trang thiết bị, lắp đặt … </a:t>
            </a:r>
            <a:endParaRPr/>
          </a:p>
          <a:p>
            <a:pPr indent="-285750" lvl="1" marL="742950" rtl="0" algn="l">
              <a:lnSpc>
                <a:spcPct val="150000"/>
              </a:lnSpc>
              <a:spcBef>
                <a:spcPts val="480"/>
              </a:spcBef>
              <a:spcAft>
                <a:spcPts val="0"/>
              </a:spcAft>
              <a:buSzPts val="1320"/>
              <a:buChar char="■"/>
            </a:pPr>
            <a:r>
              <a:rPr lang="en-US"/>
              <a:t>Những vấn đề cần xem xét trong giai đoạn này là những yêu cầu kỹ thuật cụ thể nhằm so sánh, đánh giá lựa chọn công cụ thiết bị, kỹ thuật lắp ráp, mua thiết bị chính, phát triển hệ thống. </a:t>
            </a:r>
            <a:endParaRPr>
              <a:latin typeface="Arial"/>
              <a:ea typeface="Arial"/>
              <a:cs typeface="Arial"/>
              <a:sym typeface="Arial"/>
            </a:endParaRPr>
          </a:p>
        </p:txBody>
      </p:sp>
      <p:pic>
        <p:nvPicPr>
          <p:cNvPr descr="j0283618" id="196" name="Google Shape;196;p9"/>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97" name="Google Shape;197;p9"/>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thực hiện</a:t>
            </a:r>
            <a:endParaRPr b="1" sz="2400">
              <a:solidFill>
                <a:srgbClr val="CCFF33"/>
              </a:solidFill>
              <a:latin typeface="Tahoma"/>
              <a:ea typeface="Tahoma"/>
              <a:cs typeface="Tahoma"/>
              <a:sym typeface="Tahoma"/>
            </a:endParaRPr>
          </a:p>
        </p:txBody>
      </p:sp>
      <p:sp>
        <p:nvSpPr>
          <p:cNvPr id="198" name="Google Shape;198;p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204" name="Google Shape;204;p10"/>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t>Cần thực hiện những công việc còn lại như: hoàn thành sản phẩm, bàn giao hệ thống, công trình và những tài liệu liên quan; </a:t>
            </a:r>
            <a:endParaRPr/>
          </a:p>
          <a:p>
            <a:pPr indent="-285750" lvl="1" marL="742950" rtl="0" algn="l">
              <a:lnSpc>
                <a:spcPct val="150000"/>
              </a:lnSpc>
              <a:spcBef>
                <a:spcPts val="480"/>
              </a:spcBef>
              <a:spcAft>
                <a:spcPts val="0"/>
              </a:spcAft>
              <a:buSzPts val="1320"/>
              <a:buChar char="■"/>
            </a:pPr>
            <a:r>
              <a:rPr lang="en-US"/>
              <a:t>Đánh giá dự án, giải phóng các nguồn lực. </a:t>
            </a:r>
            <a:endParaRPr/>
          </a:p>
          <a:p>
            <a:pPr indent="-285750" lvl="1" marL="742950" rtl="0" algn="l">
              <a:lnSpc>
                <a:spcPct val="150000"/>
              </a:lnSpc>
              <a:spcBef>
                <a:spcPts val="480"/>
              </a:spcBef>
              <a:spcAft>
                <a:spcPts val="0"/>
              </a:spcAft>
              <a:buSzPts val="1320"/>
              <a:buChar char="■"/>
            </a:pPr>
            <a:r>
              <a:rPr lang="en-US"/>
              <a:t>Sau đây là một số các việc cụ thể:</a:t>
            </a:r>
            <a:endParaRPr>
              <a:latin typeface="Arial"/>
              <a:ea typeface="Arial"/>
              <a:cs typeface="Arial"/>
              <a:sym typeface="Arial"/>
            </a:endParaRPr>
          </a:p>
        </p:txBody>
      </p:sp>
      <p:pic>
        <p:nvPicPr>
          <p:cNvPr descr="j0283618" id="205" name="Google Shape;205;p10"/>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206" name="Google Shape;206;p10"/>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kết thúc</a:t>
            </a:r>
            <a:endParaRPr b="1" sz="2400">
              <a:solidFill>
                <a:srgbClr val="CCFF33"/>
              </a:solidFill>
              <a:latin typeface="Tahoma"/>
              <a:ea typeface="Tahoma"/>
              <a:cs typeface="Tahoma"/>
              <a:sym typeface="Tahoma"/>
            </a:endParaRPr>
          </a:p>
        </p:txBody>
      </p:sp>
      <p:sp>
        <p:nvSpPr>
          <p:cNvPr id="207" name="Google Shape;207;p1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2. VÒNG ĐỜI CỦA DỰ ÁN</a:t>
            </a:r>
            <a:endParaRPr/>
          </a:p>
        </p:txBody>
      </p:sp>
      <p:sp>
        <p:nvSpPr>
          <p:cNvPr id="213" name="Google Shape;213;p11"/>
          <p:cNvSpPr txBox="1"/>
          <p:nvPr>
            <p:ph idx="1" type="body"/>
          </p:nvPr>
        </p:nvSpPr>
        <p:spPr>
          <a:xfrm>
            <a:off x="381000" y="2057400"/>
            <a:ext cx="8153400" cy="4800600"/>
          </a:xfrm>
          <a:prstGeom prst="rect">
            <a:avLst/>
          </a:prstGeom>
          <a:noFill/>
          <a:ln>
            <a:noFill/>
          </a:ln>
        </p:spPr>
        <p:txBody>
          <a:bodyPr anchorCtr="0" anchor="t" bIns="45700" lIns="91425" spcFirstLastPara="1" rIns="91425" wrap="square" tIns="45700">
            <a:noAutofit/>
          </a:bodyPr>
          <a:lstStyle/>
          <a:p>
            <a:pPr indent="-285750" lvl="1" marL="742950" rtl="0" algn="l">
              <a:lnSpc>
                <a:spcPct val="80000"/>
              </a:lnSpc>
              <a:spcBef>
                <a:spcPts val="0"/>
              </a:spcBef>
              <a:spcAft>
                <a:spcPts val="0"/>
              </a:spcAft>
              <a:buSzPts val="1320"/>
              <a:buChar char="■"/>
            </a:pPr>
            <a:r>
              <a:rPr lang="en-US"/>
              <a:t>Hoàn chỉnh và lập kế hoạch lưu trữ hồ sơ liên quan đến dự án </a:t>
            </a:r>
            <a:endParaRPr sz="2000"/>
          </a:p>
          <a:p>
            <a:pPr indent="-285750" lvl="1" marL="742950" rtl="0" algn="l">
              <a:lnSpc>
                <a:spcPct val="80000"/>
              </a:lnSpc>
              <a:spcBef>
                <a:spcPts val="480"/>
              </a:spcBef>
              <a:spcAft>
                <a:spcPts val="0"/>
              </a:spcAft>
              <a:buSzPts val="1320"/>
              <a:buChar char="■"/>
            </a:pPr>
            <a:r>
              <a:rPr lang="en-US"/>
              <a:t>Kiểm tra lại sổ sách kế toán, tiến hành bàn giao và báo cáo </a:t>
            </a:r>
            <a:endParaRPr sz="2000"/>
          </a:p>
          <a:p>
            <a:pPr indent="-285750" lvl="1" marL="742950" rtl="0" algn="l">
              <a:lnSpc>
                <a:spcPct val="80000"/>
              </a:lnSpc>
              <a:spcBef>
                <a:spcPts val="480"/>
              </a:spcBef>
              <a:spcAft>
                <a:spcPts val="0"/>
              </a:spcAft>
              <a:buSzPts val="1320"/>
              <a:buChar char="■"/>
            </a:pPr>
            <a:r>
              <a:rPr lang="en-US"/>
              <a:t>Thanh quyết toán </a:t>
            </a:r>
            <a:endParaRPr sz="2000"/>
          </a:p>
          <a:p>
            <a:pPr indent="-285750" lvl="1" marL="742950" rtl="0" algn="l">
              <a:lnSpc>
                <a:spcPct val="80000"/>
              </a:lnSpc>
              <a:spcBef>
                <a:spcPts val="480"/>
              </a:spcBef>
              <a:spcAft>
                <a:spcPts val="0"/>
              </a:spcAft>
              <a:buSzPts val="1320"/>
              <a:buChar char="■"/>
            </a:pPr>
            <a:r>
              <a:rPr lang="en-US"/>
              <a:t>Đối với phát triển, xây dựng hệ thống cần chuẩn bị và bàn giao sổ tay hướng dẫn lắp đặt, quản trị và sử dụng </a:t>
            </a:r>
            <a:endParaRPr sz="2000"/>
          </a:p>
          <a:p>
            <a:pPr indent="-285750" lvl="1" marL="742950" rtl="0" algn="l">
              <a:lnSpc>
                <a:spcPct val="80000"/>
              </a:lnSpc>
              <a:spcBef>
                <a:spcPts val="480"/>
              </a:spcBef>
              <a:spcAft>
                <a:spcPts val="0"/>
              </a:spcAft>
              <a:buSzPts val="1320"/>
              <a:buChar char="■"/>
            </a:pPr>
            <a:r>
              <a:rPr lang="en-US"/>
              <a:t>Bàn giao dự án, lấy chữ ký của khách hàng về việc hoàn thành </a:t>
            </a:r>
            <a:endParaRPr sz="2000"/>
          </a:p>
          <a:p>
            <a:pPr indent="-285750" lvl="1" marL="742950" rtl="0" algn="l">
              <a:lnSpc>
                <a:spcPct val="80000"/>
              </a:lnSpc>
              <a:spcBef>
                <a:spcPts val="480"/>
              </a:spcBef>
              <a:spcAft>
                <a:spcPts val="0"/>
              </a:spcAft>
              <a:buSzPts val="1320"/>
              <a:buChar char="■"/>
            </a:pPr>
            <a:r>
              <a:rPr lang="en-US"/>
              <a:t>Bố trí lao động, giải quyết công ăn việc làm cho những người từng tham gia dự án </a:t>
            </a:r>
            <a:endParaRPr sz="2000"/>
          </a:p>
          <a:p>
            <a:pPr indent="-285750" lvl="1" marL="742950" rtl="0" algn="l">
              <a:lnSpc>
                <a:spcPct val="80000"/>
              </a:lnSpc>
              <a:spcBef>
                <a:spcPts val="480"/>
              </a:spcBef>
              <a:spcAft>
                <a:spcPts val="0"/>
              </a:spcAft>
              <a:buSzPts val="1320"/>
              <a:buChar char="■"/>
            </a:pPr>
            <a:r>
              <a:rPr lang="en-US"/>
              <a:t>Giải phóng và bố trí lại thiết bị</a:t>
            </a:r>
            <a:endParaRPr>
              <a:latin typeface="Arial"/>
              <a:ea typeface="Arial"/>
              <a:cs typeface="Arial"/>
              <a:sym typeface="Arial"/>
            </a:endParaRPr>
          </a:p>
        </p:txBody>
      </p:sp>
      <p:pic>
        <p:nvPicPr>
          <p:cNvPr descr="j0283618" id="214" name="Google Shape;214;p11"/>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215" name="Google Shape;215;p11"/>
          <p:cNvSpPr/>
          <p:nvPr/>
        </p:nvSpPr>
        <p:spPr>
          <a:xfrm>
            <a:off x="685800" y="1371600"/>
            <a:ext cx="6324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CCFF33"/>
                </a:solidFill>
                <a:latin typeface="Tahoma"/>
                <a:ea typeface="Tahoma"/>
                <a:cs typeface="Tahoma"/>
                <a:sym typeface="Tahoma"/>
              </a:rPr>
              <a:t>Giai đoạn kết thúc</a:t>
            </a:r>
            <a:endParaRPr b="1" sz="2400">
              <a:solidFill>
                <a:srgbClr val="CCFF33"/>
              </a:solidFill>
              <a:latin typeface="Tahoma"/>
              <a:ea typeface="Tahoma"/>
              <a:cs typeface="Tahoma"/>
              <a:sym typeface="Tahoma"/>
            </a:endParaRPr>
          </a:p>
        </p:txBody>
      </p:sp>
      <p:sp>
        <p:nvSpPr>
          <p:cNvPr id="216" name="Google Shape;216;p1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pic>
        <p:nvPicPr>
          <p:cNvPr descr="j0283618" id="222" name="Google Shape;222;p12"/>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223" name="Google Shape;223;p1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24" name="Google Shape;224;p12"/>
          <p:cNvSpPr txBox="1"/>
          <p:nvPr>
            <p:ph idx="1" type="body"/>
          </p:nvPr>
        </p:nvSpPr>
        <p:spPr>
          <a:xfrm>
            <a:off x="0" y="1371600"/>
            <a:ext cx="9144000" cy="4562475"/>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Thông thường một dự án CNTT từ khi bắt đầu cho đến khi kết thúc trải qua 6 giai đoạn:</a:t>
            </a:r>
            <a:endParaRPr/>
          </a:p>
          <a:p>
            <a:pPr indent="-285750" lvl="1" marL="742950" rtl="0" algn="l">
              <a:lnSpc>
                <a:spcPct val="150000"/>
              </a:lnSpc>
              <a:spcBef>
                <a:spcPts val="0"/>
              </a:spcBef>
              <a:spcAft>
                <a:spcPts val="0"/>
              </a:spcAft>
              <a:buSzPts val="1320"/>
              <a:buChar char="■"/>
            </a:pPr>
            <a:r>
              <a:rPr lang="en-US"/>
              <a:t>Xác định mục tiêu (Scope)</a:t>
            </a:r>
            <a:endParaRPr/>
          </a:p>
          <a:p>
            <a:pPr indent="-285750" lvl="1" marL="742950" rtl="0" algn="l">
              <a:lnSpc>
                <a:spcPct val="150000"/>
              </a:lnSpc>
              <a:spcBef>
                <a:spcPts val="0"/>
              </a:spcBef>
              <a:spcAft>
                <a:spcPts val="0"/>
              </a:spcAft>
              <a:buSzPts val="1320"/>
              <a:buChar char="■"/>
            </a:pPr>
            <a:r>
              <a:rPr lang="en-US"/>
              <a:t>Phân tích (Analysis)</a:t>
            </a:r>
            <a:endParaRPr/>
          </a:p>
          <a:p>
            <a:pPr indent="-285750" lvl="1" marL="742950" rtl="0" algn="l">
              <a:lnSpc>
                <a:spcPct val="150000"/>
              </a:lnSpc>
              <a:spcBef>
                <a:spcPts val="0"/>
              </a:spcBef>
              <a:spcAft>
                <a:spcPts val="0"/>
              </a:spcAft>
              <a:buSzPts val="1320"/>
              <a:buChar char="■"/>
            </a:pPr>
            <a:r>
              <a:rPr lang="en-US"/>
              <a:t>Thiết kế (Design)</a:t>
            </a:r>
            <a:endParaRPr/>
          </a:p>
          <a:p>
            <a:pPr indent="-285750" lvl="1" marL="742950" rtl="0" algn="l">
              <a:lnSpc>
                <a:spcPct val="150000"/>
              </a:lnSpc>
              <a:spcBef>
                <a:spcPts val="0"/>
              </a:spcBef>
              <a:spcAft>
                <a:spcPts val="0"/>
              </a:spcAft>
              <a:buSzPts val="1320"/>
              <a:buChar char="■"/>
            </a:pPr>
            <a:r>
              <a:rPr lang="en-US"/>
              <a:t>Phát triển hệ thống (Development)</a:t>
            </a:r>
            <a:endParaRPr/>
          </a:p>
          <a:p>
            <a:pPr indent="-285750" lvl="1" marL="742950" rtl="0" algn="l">
              <a:lnSpc>
                <a:spcPct val="150000"/>
              </a:lnSpc>
              <a:spcBef>
                <a:spcPts val="0"/>
              </a:spcBef>
              <a:spcAft>
                <a:spcPts val="0"/>
              </a:spcAft>
              <a:buSzPts val="1320"/>
              <a:buChar char="■"/>
            </a:pPr>
            <a:r>
              <a:rPr lang="en-US"/>
              <a:t>Kiểm thử (Unit, integration, system and acceptance testing)</a:t>
            </a:r>
            <a:endParaRPr/>
          </a:p>
          <a:p>
            <a:pPr indent="-285750" lvl="1" marL="742950" rtl="0" algn="l">
              <a:lnSpc>
                <a:spcPct val="150000"/>
              </a:lnSpc>
              <a:spcBef>
                <a:spcPts val="0"/>
              </a:spcBef>
              <a:spcAft>
                <a:spcPts val="0"/>
              </a:spcAft>
              <a:buSzPts val="1320"/>
              <a:buChar char="■"/>
            </a:pPr>
            <a:r>
              <a:rPr lang="en-US"/>
              <a:t>Triển khai (Deployment)</a:t>
            </a:r>
            <a:endParaRPr/>
          </a:p>
          <a:p>
            <a:pPr indent="-251459" lvl="0" marL="342900" rtl="0" algn="l">
              <a:lnSpc>
                <a:spcPct val="150000"/>
              </a:lnSpc>
              <a:spcBef>
                <a:spcPts val="480"/>
              </a:spcBef>
              <a:spcAft>
                <a:spcPts val="0"/>
              </a:spcAft>
              <a:buSzPts val="1440"/>
              <a:buNone/>
            </a:pPr>
            <a:r>
              <a:t/>
            </a:r>
            <a:endParaRPr sz="2400"/>
          </a:p>
        </p:txBody>
      </p:sp>
    </p:spTree>
  </p:cSld>
  <p:clrMapOvr>
    <a:masterClrMapping/>
  </p:clrMapOvr>
  <p:transition>
    <p:zoom dir="o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
        <p:nvSpPr>
          <p:cNvPr id="230" name="Google Shape;230;p13"/>
          <p:cNvSpPr/>
          <p:nvPr/>
        </p:nvSpPr>
        <p:spPr>
          <a:xfrm>
            <a:off x="685800" y="1371600"/>
            <a:ext cx="4038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D3E026"/>
                </a:solidFill>
                <a:latin typeface="Tahoma"/>
                <a:ea typeface="Tahoma"/>
                <a:cs typeface="Tahoma"/>
                <a:sym typeface="Tahoma"/>
              </a:rPr>
              <a:t>Xác định mục tiêu</a:t>
            </a:r>
            <a:endParaRPr b="1" sz="2400">
              <a:solidFill>
                <a:srgbClr val="D3E026"/>
              </a:solidFill>
              <a:latin typeface="Tahoma"/>
              <a:ea typeface="Tahoma"/>
              <a:cs typeface="Tahoma"/>
              <a:sym typeface="Tahoma"/>
            </a:endParaRPr>
          </a:p>
        </p:txBody>
      </p:sp>
      <p:sp>
        <p:nvSpPr>
          <p:cNvPr id="231" name="Google Shape;231;p13"/>
          <p:cNvSpPr txBox="1"/>
          <p:nvPr>
            <p:ph idx="1" type="body"/>
          </p:nvPr>
        </p:nvSpPr>
        <p:spPr>
          <a:xfrm>
            <a:off x="228600" y="1981200"/>
            <a:ext cx="8763000" cy="4343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Những vấn đề cần thực hiện:</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Khảo sát thực tế dự án.</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Xác định mục tiêu, và giới hạn phạm vi của dự án.</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Tính khả thi của dự án cũng được đặt ra trong giai đoạn này.</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Phân tích và đánh giá các rủi ro.</a:t>
            </a:r>
            <a:endParaRPr/>
          </a:p>
        </p:txBody>
      </p:sp>
      <p:sp>
        <p:nvSpPr>
          <p:cNvPr id="232" name="Google Shape;232;p1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 calcmode="lin" valueType="num">
                                      <p:cBhvr additive="base">
                                        <p:cTn dur="500"/>
                                        <p:tgtEl>
                                          <p:spTgt spid="2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 calcmode="lin" valueType="num">
                                      <p:cBhvr additive="base">
                                        <p:cTn dur="500"/>
                                        <p:tgtEl>
                                          <p:spTgt spid="2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 calcmode="lin" valueType="num">
                                      <p:cBhvr additive="base">
                                        <p:cTn dur="500"/>
                                        <p:tgtEl>
                                          <p:spTgt spid="2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 calcmode="lin" valueType="num">
                                      <p:cBhvr additive="base">
                                        <p:cTn dur="500"/>
                                        <p:tgtEl>
                                          <p:spTgt spid="2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 calcmode="lin" valueType="num">
                                      <p:cBhvr additive="base">
                                        <p:cTn dur="500"/>
                                        <p:tgtEl>
                                          <p:spTgt spid="2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
        <p:nvSpPr>
          <p:cNvPr id="238" name="Google Shape;238;p14"/>
          <p:cNvSpPr/>
          <p:nvPr/>
        </p:nvSpPr>
        <p:spPr>
          <a:xfrm>
            <a:off x="685800" y="1371600"/>
            <a:ext cx="4038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D3E026"/>
                </a:solidFill>
                <a:latin typeface="Tahoma"/>
                <a:ea typeface="Tahoma"/>
                <a:cs typeface="Tahoma"/>
                <a:sym typeface="Tahoma"/>
              </a:rPr>
              <a:t>Kết quả</a:t>
            </a:r>
            <a:endParaRPr b="1" sz="2400">
              <a:solidFill>
                <a:srgbClr val="D3E026"/>
              </a:solidFill>
              <a:latin typeface="Tahoma"/>
              <a:ea typeface="Tahoma"/>
              <a:cs typeface="Tahoma"/>
              <a:sym typeface="Tahoma"/>
            </a:endParaRPr>
          </a:p>
        </p:txBody>
      </p:sp>
      <p:sp>
        <p:nvSpPr>
          <p:cNvPr id="239" name="Google Shape;239;p14"/>
          <p:cNvSpPr txBox="1"/>
          <p:nvPr>
            <p:ph idx="1" type="body"/>
          </p:nvPr>
        </p:nvSpPr>
        <p:spPr>
          <a:xfrm>
            <a:off x="381000" y="1981200"/>
            <a:ext cx="8610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Thuyết minh đề cương</a:t>
            </a:r>
            <a:endParaRPr/>
          </a:p>
          <a:p>
            <a:pPr indent="-342900" lvl="0" marL="342900" rtl="0" algn="l">
              <a:lnSpc>
                <a:spcPct val="150000"/>
              </a:lnSpc>
              <a:spcBef>
                <a:spcPts val="0"/>
              </a:spcBef>
              <a:spcAft>
                <a:spcPts val="0"/>
              </a:spcAft>
              <a:buSzPts val="1680"/>
              <a:buChar char="■"/>
            </a:pPr>
            <a:r>
              <a:rPr lang="en-US"/>
              <a:t>Nghiên cứu khả thi</a:t>
            </a:r>
            <a:endParaRPr/>
          </a:p>
          <a:p>
            <a:pPr indent="-342900" lvl="0" marL="342900" rtl="0" algn="l">
              <a:lnSpc>
                <a:spcPct val="150000"/>
              </a:lnSpc>
              <a:spcBef>
                <a:spcPts val="0"/>
              </a:spcBef>
              <a:spcAft>
                <a:spcPts val="0"/>
              </a:spcAft>
              <a:buSzPts val="1680"/>
              <a:buChar char="■"/>
            </a:pPr>
            <a:r>
              <a:rPr lang="en-US"/>
              <a:t>Tài liệu mô tả yêu cầu</a:t>
            </a:r>
            <a:endParaRPr/>
          </a:p>
          <a:p>
            <a:pPr indent="-342900" lvl="0" marL="342900" rtl="0" algn="l">
              <a:lnSpc>
                <a:spcPct val="150000"/>
              </a:lnSpc>
              <a:spcBef>
                <a:spcPts val="0"/>
              </a:spcBef>
              <a:spcAft>
                <a:spcPts val="0"/>
              </a:spcAft>
              <a:buSzPts val="1680"/>
              <a:buChar char="■"/>
            </a:pPr>
            <a:r>
              <a:rPr lang="en-US"/>
              <a:t>Danh sách rủi ro</a:t>
            </a:r>
            <a:endParaRPr/>
          </a:p>
          <a:p>
            <a:pPr indent="-342900" lvl="0" marL="342900" rtl="0" algn="l">
              <a:lnSpc>
                <a:spcPct val="150000"/>
              </a:lnSpc>
              <a:spcBef>
                <a:spcPts val="0"/>
              </a:spcBef>
              <a:spcAft>
                <a:spcPts val="0"/>
              </a:spcAft>
              <a:buSzPts val="1680"/>
              <a:buChar char="■"/>
            </a:pPr>
            <a:r>
              <a:rPr lang="en-US"/>
              <a:t>Kế hoạch thực hiện</a:t>
            </a:r>
            <a:endParaRPr/>
          </a:p>
        </p:txBody>
      </p:sp>
      <p:sp>
        <p:nvSpPr>
          <p:cNvPr id="240" name="Google Shape;240;p1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 calcmode="lin" valueType="num">
                                      <p:cBhvr additive="base">
                                        <p:cTn dur="500"/>
                                        <p:tgtEl>
                                          <p:spTgt spid="2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 calcmode="lin" valueType="num">
                                      <p:cBhvr additive="base">
                                        <p:cTn dur="500"/>
                                        <p:tgtEl>
                                          <p:spTgt spid="2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 calcmode="lin" valueType="num">
                                      <p:cBhvr additive="base">
                                        <p:cTn dur="500"/>
                                        <p:tgtEl>
                                          <p:spTgt spid="2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 calcmode="lin" valueType="num">
                                      <p:cBhvr additive="base">
                                        <p:cTn dur="500"/>
                                        <p:tgtEl>
                                          <p:spTgt spid="2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 calcmode="lin" valueType="num">
                                      <p:cBhvr additive="base">
                                        <p:cTn dur="500"/>
                                        <p:tgtEl>
                                          <p:spTgt spid="2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
        <p:nvSpPr>
          <p:cNvPr id="246" name="Google Shape;246;p15"/>
          <p:cNvSpPr txBox="1"/>
          <p:nvPr>
            <p:ph idx="1" type="body"/>
          </p:nvPr>
        </p:nvSpPr>
        <p:spPr>
          <a:xfrm>
            <a:off x="381000" y="1600200"/>
            <a:ext cx="8610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Thuyết minh đề cương: </a:t>
            </a:r>
            <a:endParaRPr/>
          </a:p>
          <a:p>
            <a:pPr indent="-285750" lvl="1" marL="742950" rtl="0" algn="l">
              <a:lnSpc>
                <a:spcPct val="150000"/>
              </a:lnSpc>
              <a:spcBef>
                <a:spcPts val="0"/>
              </a:spcBef>
              <a:spcAft>
                <a:spcPts val="0"/>
              </a:spcAft>
              <a:buSzPts val="1320"/>
              <a:buChar char="■"/>
            </a:pPr>
            <a:r>
              <a:rPr lang="en-US"/>
              <a:t>Tổng quan tình hình nghiên cứu</a:t>
            </a:r>
            <a:endParaRPr/>
          </a:p>
          <a:p>
            <a:pPr indent="-285750" lvl="1" marL="742950" rtl="0" algn="l">
              <a:lnSpc>
                <a:spcPct val="150000"/>
              </a:lnSpc>
              <a:spcBef>
                <a:spcPts val="0"/>
              </a:spcBef>
              <a:spcAft>
                <a:spcPts val="0"/>
              </a:spcAft>
              <a:buSzPts val="1320"/>
              <a:buChar char="■"/>
            </a:pPr>
            <a:r>
              <a:rPr lang="en-US"/>
              <a:t>Tính cần thiết của đề tài</a:t>
            </a:r>
            <a:endParaRPr/>
          </a:p>
          <a:p>
            <a:pPr indent="-285750" lvl="1" marL="742950" rtl="0" algn="l">
              <a:lnSpc>
                <a:spcPct val="150000"/>
              </a:lnSpc>
              <a:spcBef>
                <a:spcPts val="0"/>
              </a:spcBef>
              <a:spcAft>
                <a:spcPts val="0"/>
              </a:spcAft>
              <a:buSzPts val="1320"/>
              <a:buChar char="■"/>
            </a:pPr>
            <a:r>
              <a:rPr lang="en-US"/>
              <a:t>Mục tiêu đề tài, </a:t>
            </a:r>
            <a:endParaRPr/>
          </a:p>
          <a:p>
            <a:pPr indent="-285750" lvl="1" marL="742950" rtl="0" algn="l">
              <a:lnSpc>
                <a:spcPct val="150000"/>
              </a:lnSpc>
              <a:spcBef>
                <a:spcPts val="0"/>
              </a:spcBef>
              <a:spcAft>
                <a:spcPts val="0"/>
              </a:spcAft>
              <a:buSzPts val="1320"/>
              <a:buChar char="■"/>
            </a:pPr>
            <a:r>
              <a:rPr lang="en-US"/>
              <a:t>… </a:t>
            </a:r>
            <a:endParaRPr/>
          </a:p>
        </p:txBody>
      </p:sp>
      <p:sp>
        <p:nvSpPr>
          <p:cNvPr id="247" name="Google Shape;247;p1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anim calcmode="lin" valueType="num">
                                      <p:cBhvr additive="base">
                                        <p:cTn dur="500"/>
                                        <p:tgtEl>
                                          <p:spTgt spid="2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anim calcmode="lin" valueType="num">
                                      <p:cBhvr additive="base">
                                        <p:cTn dur="500"/>
                                        <p:tgtEl>
                                          <p:spTgt spid="2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anim calcmode="lin" valueType="num">
                                      <p:cBhvr additive="base">
                                        <p:cTn dur="500"/>
                                        <p:tgtEl>
                                          <p:spTgt spid="2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anim calcmode="lin" valueType="num">
                                      <p:cBhvr additive="base">
                                        <p:cTn dur="500"/>
                                        <p:tgtEl>
                                          <p:spTgt spid="2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anim calcmode="lin" valueType="num">
                                      <p:cBhvr additive="base">
                                        <p:cTn dur="500"/>
                                        <p:tgtEl>
                                          <p:spTgt spid="2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54" name="Google Shape;254;p1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Tài liệu nghiên cứu khả thi: </a:t>
            </a:r>
            <a:endParaRPr/>
          </a:p>
          <a:p>
            <a:pPr indent="-285750" lvl="1" marL="742950" rtl="0" algn="l">
              <a:lnSpc>
                <a:spcPct val="150000"/>
              </a:lnSpc>
              <a:spcBef>
                <a:spcPts val="0"/>
              </a:spcBef>
              <a:spcAft>
                <a:spcPts val="0"/>
              </a:spcAft>
              <a:buSzPts val="1320"/>
              <a:buChar char="■"/>
            </a:pPr>
            <a:r>
              <a:rPr lang="en-US"/>
              <a:t>Xác định xem dự án có đáng để thực hiện.</a:t>
            </a:r>
            <a:endParaRPr/>
          </a:p>
          <a:p>
            <a:pPr indent="-285750" lvl="1" marL="742950" rtl="0" algn="l">
              <a:lnSpc>
                <a:spcPct val="150000"/>
              </a:lnSpc>
              <a:spcBef>
                <a:spcPts val="0"/>
              </a:spcBef>
              <a:spcAft>
                <a:spcPts val="0"/>
              </a:spcAft>
              <a:buSzPts val="1320"/>
              <a:buChar char="■"/>
            </a:pPr>
            <a:r>
              <a:rPr lang="en-US"/>
              <a:t>Với kỹ thuật chọn lựa có đáp ứng yêu cầu.</a:t>
            </a:r>
            <a:endParaRPr/>
          </a:p>
          <a:p>
            <a:pPr indent="-285750" lvl="1" marL="742950" rtl="0" algn="l">
              <a:lnSpc>
                <a:spcPct val="150000"/>
              </a:lnSpc>
              <a:spcBef>
                <a:spcPts val="0"/>
              </a:spcBef>
              <a:spcAft>
                <a:spcPts val="0"/>
              </a:spcAft>
              <a:buSzPts val="1320"/>
              <a:buChar char="■"/>
            </a:pPr>
            <a:r>
              <a:rPr lang="en-US"/>
              <a:t>Với chi phí có đạt được lợi ích.</a:t>
            </a:r>
            <a:endParaRPr/>
          </a:p>
        </p:txBody>
      </p:sp>
      <p:sp>
        <p:nvSpPr>
          <p:cNvPr id="255" name="Google Shape;255;p16"/>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62" name="Google Shape;262;p1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Bao gồm các nội dung:</a:t>
            </a:r>
            <a:endParaRPr/>
          </a:p>
          <a:p>
            <a:pPr indent="-285750" lvl="1" marL="742950" rtl="0" algn="l">
              <a:lnSpc>
                <a:spcPct val="150000"/>
              </a:lnSpc>
              <a:spcBef>
                <a:spcPts val="0"/>
              </a:spcBef>
              <a:spcAft>
                <a:spcPts val="0"/>
              </a:spcAft>
              <a:buSzPts val="1320"/>
              <a:buChar char="■"/>
            </a:pPr>
            <a:r>
              <a:rPr lang="en-US"/>
              <a:t>Đặt vấn đề</a:t>
            </a:r>
            <a:endParaRPr/>
          </a:p>
          <a:p>
            <a:pPr indent="-285750" lvl="1" marL="742950" rtl="0" algn="l">
              <a:lnSpc>
                <a:spcPct val="150000"/>
              </a:lnSpc>
              <a:spcBef>
                <a:spcPts val="0"/>
              </a:spcBef>
              <a:spcAft>
                <a:spcPts val="0"/>
              </a:spcAft>
              <a:buSzPts val="1320"/>
              <a:buChar char="■"/>
            </a:pPr>
            <a:r>
              <a:rPr lang="en-US"/>
              <a:t>Giải pháp kỹ thuật</a:t>
            </a:r>
            <a:endParaRPr/>
          </a:p>
          <a:p>
            <a:pPr indent="-285750" lvl="1" marL="742950" rtl="0" algn="l">
              <a:lnSpc>
                <a:spcPct val="150000"/>
              </a:lnSpc>
              <a:spcBef>
                <a:spcPts val="0"/>
              </a:spcBef>
              <a:spcAft>
                <a:spcPts val="0"/>
              </a:spcAft>
              <a:buSzPts val="1320"/>
              <a:buChar char="■"/>
            </a:pPr>
            <a:r>
              <a:rPr lang="en-US"/>
              <a:t>Lựa chọn giải pháp tối ưu</a:t>
            </a:r>
            <a:endParaRPr/>
          </a:p>
          <a:p>
            <a:pPr indent="-285750" lvl="1" marL="742950" rtl="0" algn="l">
              <a:lnSpc>
                <a:spcPct val="150000"/>
              </a:lnSpc>
              <a:spcBef>
                <a:spcPts val="0"/>
              </a:spcBef>
              <a:spcAft>
                <a:spcPts val="0"/>
              </a:spcAft>
              <a:buSzPts val="1320"/>
              <a:buChar char="■"/>
            </a:pPr>
            <a:r>
              <a:rPr lang="en-US"/>
              <a:t>Đánh giá tài chính</a:t>
            </a:r>
            <a:endParaRPr/>
          </a:p>
          <a:p>
            <a:pPr indent="-285750" lvl="1" marL="742950" rtl="0" algn="l">
              <a:lnSpc>
                <a:spcPct val="150000"/>
              </a:lnSpc>
              <a:spcBef>
                <a:spcPts val="0"/>
              </a:spcBef>
              <a:spcAft>
                <a:spcPts val="0"/>
              </a:spcAft>
              <a:buSzPts val="1320"/>
              <a:buChar char="■"/>
            </a:pPr>
            <a:r>
              <a:rPr lang="en-US"/>
              <a:t>Khả năng triển khai hệ thống vào thời điểm hiện tại</a:t>
            </a:r>
            <a:endParaRPr/>
          </a:p>
        </p:txBody>
      </p:sp>
      <p:sp>
        <p:nvSpPr>
          <p:cNvPr id="263" name="Google Shape;263;p17"/>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70" name="Google Shape;270;p1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Tài liệu mô tả yêu cầu: </a:t>
            </a:r>
            <a:endParaRPr/>
          </a:p>
          <a:p>
            <a:pPr indent="-285750" lvl="1" marL="742950" rtl="0" algn="l">
              <a:lnSpc>
                <a:spcPct val="150000"/>
              </a:lnSpc>
              <a:spcBef>
                <a:spcPts val="0"/>
              </a:spcBef>
              <a:spcAft>
                <a:spcPts val="0"/>
              </a:spcAft>
              <a:buSzPts val="1320"/>
              <a:buChar char="■"/>
            </a:pPr>
            <a:r>
              <a:rPr lang="en-US"/>
              <a:t>Mục đích: Giúp nhóm thực hiện nắm được đầy đủ các khía cạnh của vấn đề cần giải quyết. </a:t>
            </a:r>
            <a:endParaRPr/>
          </a:p>
          <a:p>
            <a:pPr indent="-285750" lvl="1" marL="742950" rtl="0" algn="l">
              <a:lnSpc>
                <a:spcPct val="150000"/>
              </a:lnSpc>
              <a:spcBef>
                <a:spcPts val="0"/>
              </a:spcBef>
              <a:spcAft>
                <a:spcPts val="0"/>
              </a:spcAft>
              <a:buSzPts val="1320"/>
              <a:buChar char="■"/>
            </a:pPr>
            <a:r>
              <a:rPr lang="en-US"/>
              <a:t>Tài liệu được viết bằng cách diễn đạt lại các yêu cầu của người sử dụng. </a:t>
            </a:r>
            <a:endParaRPr/>
          </a:p>
          <a:p>
            <a:pPr indent="-285750" lvl="1" marL="742950" rtl="0" algn="l">
              <a:lnSpc>
                <a:spcPct val="150000"/>
              </a:lnSpc>
              <a:spcBef>
                <a:spcPts val="0"/>
              </a:spcBef>
              <a:spcAft>
                <a:spcPts val="0"/>
              </a:spcAft>
              <a:buSzPts val="1320"/>
              <a:buChar char="■"/>
            </a:pPr>
            <a:r>
              <a:rPr lang="en-US"/>
              <a:t>Tài liệu được viết bằng ngôn từ nghiệp vụ quen thuộc, không dùng thuật ngữ tin học</a:t>
            </a:r>
            <a:endParaRPr/>
          </a:p>
        </p:txBody>
      </p:sp>
      <p:sp>
        <p:nvSpPr>
          <p:cNvPr id="271" name="Google Shape;271;p18"/>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78" name="Google Shape;278;p19"/>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Nội dung tài liệu mô tả yêu cầu: </a:t>
            </a:r>
            <a:endParaRPr/>
          </a:p>
          <a:p>
            <a:pPr indent="-285750" lvl="1" marL="742950" rtl="0" algn="l">
              <a:lnSpc>
                <a:spcPct val="150000"/>
              </a:lnSpc>
              <a:spcBef>
                <a:spcPts val="0"/>
              </a:spcBef>
              <a:spcAft>
                <a:spcPts val="0"/>
              </a:spcAft>
              <a:buSzPts val="1320"/>
              <a:buChar char="■"/>
            </a:pPr>
            <a:r>
              <a:rPr lang="en-US"/>
              <a:t>Giới thiệu chung</a:t>
            </a:r>
            <a:endParaRPr/>
          </a:p>
          <a:p>
            <a:pPr indent="-285750" lvl="1" marL="742950" rtl="0" algn="l">
              <a:lnSpc>
                <a:spcPct val="150000"/>
              </a:lnSpc>
              <a:spcBef>
                <a:spcPts val="0"/>
              </a:spcBef>
              <a:spcAft>
                <a:spcPts val="0"/>
              </a:spcAft>
              <a:buSzPts val="1320"/>
              <a:buChar char="■"/>
            </a:pPr>
            <a:r>
              <a:rPr lang="en-US"/>
              <a:t>Mục tiêu của dự án</a:t>
            </a:r>
            <a:endParaRPr/>
          </a:p>
          <a:p>
            <a:pPr indent="-285750" lvl="1" marL="742950" rtl="0" algn="l">
              <a:lnSpc>
                <a:spcPct val="150000"/>
              </a:lnSpc>
              <a:spcBef>
                <a:spcPts val="0"/>
              </a:spcBef>
              <a:spcAft>
                <a:spcPts val="0"/>
              </a:spcAft>
              <a:buSzPts val="1320"/>
              <a:buChar char="■"/>
            </a:pPr>
            <a:r>
              <a:rPr lang="en-US"/>
              <a:t>Mô tả các chức năng chính</a:t>
            </a:r>
            <a:endParaRPr/>
          </a:p>
          <a:p>
            <a:pPr indent="-285750" lvl="1" marL="742950" rtl="0" algn="l">
              <a:lnSpc>
                <a:spcPct val="150000"/>
              </a:lnSpc>
              <a:spcBef>
                <a:spcPts val="0"/>
              </a:spcBef>
              <a:spcAft>
                <a:spcPts val="0"/>
              </a:spcAft>
              <a:buSzPts val="1320"/>
              <a:buChar char="■"/>
            </a:pPr>
            <a:r>
              <a:rPr lang="en-US"/>
              <a:t>Dữ liệu cần thiết</a:t>
            </a:r>
            <a:endParaRPr/>
          </a:p>
          <a:p>
            <a:pPr indent="-285750" lvl="1" marL="742950" rtl="0" algn="l">
              <a:lnSpc>
                <a:spcPct val="150000"/>
              </a:lnSpc>
              <a:spcBef>
                <a:spcPts val="0"/>
              </a:spcBef>
              <a:spcAft>
                <a:spcPts val="0"/>
              </a:spcAft>
              <a:buSzPts val="1320"/>
              <a:buChar char="■"/>
            </a:pPr>
            <a:r>
              <a:rPr lang="en-US"/>
              <a:t>Các đầu ra cần có</a:t>
            </a:r>
            <a:endParaRPr/>
          </a:p>
        </p:txBody>
      </p:sp>
      <p:sp>
        <p:nvSpPr>
          <p:cNvPr id="279" name="Google Shape;279;p19"/>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86" name="Google Shape;286;p20"/>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Danh sách rủi ro: </a:t>
            </a:r>
            <a:endParaRPr/>
          </a:p>
          <a:p>
            <a:pPr indent="-285750" lvl="1" marL="742950" rtl="0" algn="l">
              <a:lnSpc>
                <a:spcPct val="150000"/>
              </a:lnSpc>
              <a:spcBef>
                <a:spcPts val="0"/>
              </a:spcBef>
              <a:spcAft>
                <a:spcPts val="0"/>
              </a:spcAft>
              <a:buSzPts val="1320"/>
              <a:buChar char="■"/>
            </a:pPr>
            <a:r>
              <a:rPr lang="en-US"/>
              <a:t>Đây là một vấn đề quan trọng khi xây dựng dự án.</a:t>
            </a:r>
            <a:endParaRPr/>
          </a:p>
          <a:p>
            <a:pPr indent="-285750" lvl="1" marL="742950" rtl="0" algn="l">
              <a:lnSpc>
                <a:spcPct val="150000"/>
              </a:lnSpc>
              <a:spcBef>
                <a:spcPts val="0"/>
              </a:spcBef>
              <a:spcAft>
                <a:spcPts val="0"/>
              </a:spcAft>
              <a:buSzPts val="1320"/>
              <a:buChar char="■"/>
            </a:pPr>
            <a:r>
              <a:rPr lang="en-US"/>
              <a:t>Các rủi ro thường gặp:</a:t>
            </a:r>
            <a:endParaRPr/>
          </a:p>
          <a:p>
            <a:pPr indent="-228600" lvl="2" marL="1143000" rtl="0" algn="l">
              <a:lnSpc>
                <a:spcPct val="150000"/>
              </a:lnSpc>
              <a:spcBef>
                <a:spcPts val="0"/>
              </a:spcBef>
              <a:spcAft>
                <a:spcPts val="0"/>
              </a:spcAft>
              <a:buSzPts val="1200"/>
              <a:buChar char="■"/>
            </a:pPr>
            <a:r>
              <a:rPr lang="en-US"/>
              <a:t>Việc đặt yêu cầu không rõ ràng</a:t>
            </a:r>
            <a:endParaRPr/>
          </a:p>
          <a:p>
            <a:pPr indent="-228600" lvl="2" marL="1143000" rtl="0" algn="l">
              <a:lnSpc>
                <a:spcPct val="150000"/>
              </a:lnSpc>
              <a:spcBef>
                <a:spcPts val="0"/>
              </a:spcBef>
              <a:spcAft>
                <a:spcPts val="0"/>
              </a:spcAft>
              <a:buSzPts val="1200"/>
              <a:buChar char="■"/>
            </a:pPr>
            <a:r>
              <a:rPr lang="en-US"/>
              <a:t>Chậm trễ trong việc phê duyệt dự án</a:t>
            </a:r>
            <a:endParaRPr/>
          </a:p>
          <a:p>
            <a:pPr indent="-228600" lvl="2" marL="1143000" rtl="0" algn="l">
              <a:lnSpc>
                <a:spcPct val="150000"/>
              </a:lnSpc>
              <a:spcBef>
                <a:spcPts val="0"/>
              </a:spcBef>
              <a:spcAft>
                <a:spcPts val="0"/>
              </a:spcAft>
              <a:buSzPts val="1200"/>
              <a:buChar char="■"/>
            </a:pPr>
            <a:r>
              <a:rPr lang="en-US"/>
              <a:t>Kinh phí chưa có để thực hiện</a:t>
            </a:r>
            <a:endParaRPr/>
          </a:p>
          <a:p>
            <a:pPr indent="-228600" lvl="2" marL="1143000" rtl="0" algn="l">
              <a:lnSpc>
                <a:spcPct val="150000"/>
              </a:lnSpc>
              <a:spcBef>
                <a:spcPts val="0"/>
              </a:spcBef>
              <a:spcAft>
                <a:spcPts val="0"/>
              </a:spcAft>
              <a:buSzPts val="1200"/>
              <a:buChar char="■"/>
            </a:pPr>
            <a:r>
              <a:rPr lang="en-US"/>
              <a:t>Sự thay đổi nhân lực thực hiện dự án</a:t>
            </a:r>
            <a:endParaRPr/>
          </a:p>
          <a:p>
            <a:pPr indent="-228600" lvl="2" marL="1143000" rtl="0" algn="l">
              <a:lnSpc>
                <a:spcPct val="150000"/>
              </a:lnSpc>
              <a:spcBef>
                <a:spcPts val="0"/>
              </a:spcBef>
              <a:spcAft>
                <a:spcPts val="0"/>
              </a:spcAft>
              <a:buSzPts val="1200"/>
              <a:buChar char="■"/>
            </a:pPr>
            <a:r>
              <a:rPr lang="en-US"/>
              <a:t>Không có sự phối hợp</a:t>
            </a:r>
            <a:endParaRPr/>
          </a:p>
          <a:p>
            <a:pPr indent="-228600" lvl="2" marL="1143000" rtl="0" algn="l">
              <a:lnSpc>
                <a:spcPct val="150000"/>
              </a:lnSpc>
              <a:spcBef>
                <a:spcPts val="0"/>
              </a:spcBef>
              <a:spcAft>
                <a:spcPts val="0"/>
              </a:spcAft>
              <a:buSzPts val="1200"/>
              <a:buChar char="■"/>
            </a:pPr>
            <a:r>
              <a:rPr lang="en-US"/>
              <a:t>Người dùng không am hiểu vấn đề</a:t>
            </a:r>
            <a:endParaRPr/>
          </a:p>
        </p:txBody>
      </p:sp>
      <p:sp>
        <p:nvSpPr>
          <p:cNvPr id="287" name="Google Shape;287;p20"/>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94" name="Google Shape;294;p2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Một danh sách rủi ro cần xác định thêm: </a:t>
            </a:r>
            <a:endParaRPr/>
          </a:p>
          <a:p>
            <a:pPr indent="-285750" lvl="1" marL="742950" rtl="0" algn="l">
              <a:lnSpc>
                <a:spcPct val="150000"/>
              </a:lnSpc>
              <a:spcBef>
                <a:spcPts val="480"/>
              </a:spcBef>
              <a:spcAft>
                <a:spcPts val="0"/>
              </a:spcAft>
              <a:buSzPts val="1320"/>
              <a:buChar char="■"/>
            </a:pPr>
            <a:r>
              <a:rPr lang="en-US"/>
              <a:t>Xác suất xảy ra</a:t>
            </a:r>
            <a:endParaRPr/>
          </a:p>
          <a:p>
            <a:pPr indent="-285750" lvl="1" marL="742950" rtl="0" algn="l">
              <a:lnSpc>
                <a:spcPct val="150000"/>
              </a:lnSpc>
              <a:spcBef>
                <a:spcPts val="480"/>
              </a:spcBef>
              <a:spcAft>
                <a:spcPts val="0"/>
              </a:spcAft>
              <a:buSzPts val="1320"/>
              <a:buChar char="■"/>
            </a:pPr>
            <a:r>
              <a:rPr lang="en-US"/>
              <a:t>Mức độ ảnh hưởng đến kết quả của dự án</a:t>
            </a:r>
            <a:endParaRPr/>
          </a:p>
          <a:p>
            <a:pPr indent="-285750" lvl="1" marL="742950" rtl="0" algn="l">
              <a:lnSpc>
                <a:spcPct val="150000"/>
              </a:lnSpc>
              <a:spcBef>
                <a:spcPts val="480"/>
              </a:spcBef>
              <a:spcAft>
                <a:spcPts val="0"/>
              </a:spcAft>
              <a:buSzPts val="1320"/>
              <a:buChar char="■"/>
            </a:pPr>
            <a:r>
              <a:rPr lang="en-US"/>
              <a:t>Mức độ quan tâm của người quản lý về sự rũi ro này.</a:t>
            </a:r>
            <a:endParaRPr/>
          </a:p>
        </p:txBody>
      </p:sp>
      <p:sp>
        <p:nvSpPr>
          <p:cNvPr id="295" name="Google Shape;295;p21"/>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02" name="Google Shape;302;p2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Lập kế hoạch: </a:t>
            </a:r>
            <a:endParaRPr/>
          </a:p>
          <a:p>
            <a:pPr indent="-285750" lvl="1" marL="742950" rtl="0" algn="l">
              <a:lnSpc>
                <a:spcPct val="150000"/>
              </a:lnSpc>
              <a:spcBef>
                <a:spcPts val="0"/>
              </a:spcBef>
              <a:spcAft>
                <a:spcPts val="0"/>
              </a:spcAft>
              <a:buSzPts val="1320"/>
              <a:buChar char="■"/>
            </a:pPr>
            <a:r>
              <a:rPr lang="en-US"/>
              <a:t>Là công việc quan trọng và khó khăn.</a:t>
            </a:r>
            <a:endParaRPr/>
          </a:p>
          <a:p>
            <a:pPr indent="-285750" lvl="1" marL="742950" rtl="0" algn="l">
              <a:lnSpc>
                <a:spcPct val="150000"/>
              </a:lnSpc>
              <a:spcBef>
                <a:spcPts val="0"/>
              </a:spcBef>
              <a:spcAft>
                <a:spcPts val="0"/>
              </a:spcAft>
              <a:buSzPts val="1320"/>
              <a:buChar char="■"/>
            </a:pPr>
            <a:r>
              <a:rPr lang="en-US"/>
              <a:t>Sự thành bại của dự án liên quan khá nhiều đến kế hoạch thực hiện.</a:t>
            </a:r>
            <a:endParaRPr/>
          </a:p>
          <a:p>
            <a:pPr indent="-285750" lvl="1" marL="742950" rtl="0" algn="l">
              <a:lnSpc>
                <a:spcPct val="150000"/>
              </a:lnSpc>
              <a:spcBef>
                <a:spcPts val="0"/>
              </a:spcBef>
              <a:spcAft>
                <a:spcPts val="0"/>
              </a:spcAft>
              <a:buSzPts val="1320"/>
              <a:buChar char="■"/>
            </a:pPr>
            <a:r>
              <a:rPr lang="en-US"/>
              <a:t>Kế hoạch phải được xem xét thường xuyên trong quá trình thực hiện dự án.</a:t>
            </a:r>
            <a:endParaRPr/>
          </a:p>
          <a:p>
            <a:pPr indent="-228600" lvl="2" marL="1143000" rtl="0" algn="l">
              <a:lnSpc>
                <a:spcPct val="150000"/>
              </a:lnSpc>
              <a:spcBef>
                <a:spcPts val="0"/>
              </a:spcBef>
              <a:spcAft>
                <a:spcPts val="0"/>
              </a:spcAft>
              <a:buSzPts val="1200"/>
              <a:buChar char="■"/>
            </a:pPr>
            <a:r>
              <a:rPr lang="en-US"/>
              <a:t>Kế hoạch được đưa ra trong giai đoạn đầu</a:t>
            </a:r>
            <a:endParaRPr/>
          </a:p>
          <a:p>
            <a:pPr indent="-228600" lvl="2" marL="1143000" rtl="0" algn="l">
              <a:lnSpc>
                <a:spcPct val="150000"/>
              </a:lnSpc>
              <a:spcBef>
                <a:spcPts val="0"/>
              </a:spcBef>
              <a:spcAft>
                <a:spcPts val="0"/>
              </a:spcAft>
              <a:buSzPts val="1200"/>
              <a:buChar char="■"/>
            </a:pPr>
            <a:r>
              <a:rPr lang="en-US"/>
              <a:t>Và xem xét lại trong giai đoạn phân tích và thiết kế.</a:t>
            </a:r>
            <a:endParaRPr/>
          </a:p>
        </p:txBody>
      </p:sp>
      <p:sp>
        <p:nvSpPr>
          <p:cNvPr id="303" name="Google Shape;303;p22"/>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10" name="Google Shape;310;p2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Các kế hoạch trong giai đoạn này: </a:t>
            </a:r>
            <a:endParaRPr/>
          </a:p>
          <a:p>
            <a:pPr indent="-285750" lvl="1" marL="742950" rtl="0" algn="l">
              <a:lnSpc>
                <a:spcPct val="150000"/>
              </a:lnSpc>
              <a:spcBef>
                <a:spcPts val="0"/>
              </a:spcBef>
              <a:spcAft>
                <a:spcPts val="0"/>
              </a:spcAft>
              <a:buSzPts val="1320"/>
              <a:buChar char="■"/>
            </a:pPr>
            <a:r>
              <a:rPr lang="en-US"/>
              <a:t>Đây là kế hoạch mang tính sơ khởi.</a:t>
            </a:r>
            <a:endParaRPr/>
          </a:p>
          <a:p>
            <a:pPr indent="-285750" lvl="1" marL="742950" rtl="0" algn="l">
              <a:lnSpc>
                <a:spcPct val="150000"/>
              </a:lnSpc>
              <a:spcBef>
                <a:spcPts val="0"/>
              </a:spcBef>
              <a:spcAft>
                <a:spcPts val="0"/>
              </a:spcAft>
              <a:buSzPts val="1320"/>
              <a:buChar char="■"/>
            </a:pPr>
            <a:r>
              <a:rPr lang="en-US"/>
              <a:t>Bao gồm những việc:</a:t>
            </a:r>
            <a:endParaRPr/>
          </a:p>
          <a:p>
            <a:pPr indent="-228600" lvl="2" marL="1143000" rtl="0" algn="l">
              <a:lnSpc>
                <a:spcPct val="150000"/>
              </a:lnSpc>
              <a:spcBef>
                <a:spcPts val="0"/>
              </a:spcBef>
              <a:spcAft>
                <a:spcPts val="0"/>
              </a:spcAft>
              <a:buSzPts val="1200"/>
              <a:buChar char="■"/>
            </a:pPr>
            <a:r>
              <a:rPr lang="en-US"/>
              <a:t>Xác định các bước thực hiện dự án</a:t>
            </a:r>
            <a:endParaRPr/>
          </a:p>
          <a:p>
            <a:pPr indent="-228600" lvl="2" marL="1143000" rtl="0" algn="l">
              <a:lnSpc>
                <a:spcPct val="150000"/>
              </a:lnSpc>
              <a:spcBef>
                <a:spcPts val="0"/>
              </a:spcBef>
              <a:spcAft>
                <a:spcPts val="0"/>
              </a:spcAft>
              <a:buSzPts val="1200"/>
              <a:buChar char="■"/>
            </a:pPr>
            <a:r>
              <a:rPr lang="en-US"/>
              <a:t>Thời gian cho từng bước</a:t>
            </a:r>
            <a:endParaRPr/>
          </a:p>
          <a:p>
            <a:pPr indent="-228600" lvl="2" marL="1143000" rtl="0" algn="l">
              <a:lnSpc>
                <a:spcPct val="150000"/>
              </a:lnSpc>
              <a:spcBef>
                <a:spcPts val="0"/>
              </a:spcBef>
              <a:spcAft>
                <a:spcPts val="0"/>
              </a:spcAft>
              <a:buSzPts val="1200"/>
              <a:buChar char="■"/>
            </a:pPr>
            <a:r>
              <a:rPr lang="en-US"/>
              <a:t>Nguồn nhân lực để thực hiện các bước</a:t>
            </a:r>
            <a:endParaRPr/>
          </a:p>
          <a:p>
            <a:pPr indent="-228600" lvl="2" marL="1143000" rtl="0" algn="l">
              <a:lnSpc>
                <a:spcPct val="150000"/>
              </a:lnSpc>
              <a:spcBef>
                <a:spcPts val="0"/>
              </a:spcBef>
              <a:spcAft>
                <a:spcPts val="0"/>
              </a:spcAft>
              <a:buSzPts val="1200"/>
              <a:buChar char="■"/>
            </a:pPr>
            <a:r>
              <a:rPr lang="en-US"/>
              <a:t>Kinh phí cho từng bước</a:t>
            </a:r>
            <a:endParaRPr/>
          </a:p>
          <a:p>
            <a:pPr indent="-228600" lvl="2" marL="1143000" rtl="0" algn="l">
              <a:lnSpc>
                <a:spcPct val="150000"/>
              </a:lnSpc>
              <a:spcBef>
                <a:spcPts val="0"/>
              </a:spcBef>
              <a:spcAft>
                <a:spcPts val="0"/>
              </a:spcAft>
              <a:buSzPts val="1200"/>
              <a:buChar char="■"/>
            </a:pPr>
            <a:r>
              <a:rPr lang="en-US"/>
              <a:t>Lịch làm việc của các thành viên trong dự án</a:t>
            </a:r>
            <a:endParaRPr/>
          </a:p>
          <a:p>
            <a:pPr indent="-228600" lvl="2" marL="1143000" rtl="0" algn="l">
              <a:lnSpc>
                <a:spcPct val="150000"/>
              </a:lnSpc>
              <a:spcBef>
                <a:spcPts val="0"/>
              </a:spcBef>
              <a:spcAft>
                <a:spcPts val="0"/>
              </a:spcAft>
              <a:buSzPts val="1200"/>
              <a:buChar char="■"/>
            </a:pPr>
            <a:r>
              <a:rPr lang="en-US"/>
              <a:t>Những hoạt động chính của nhóm thực hiện</a:t>
            </a:r>
            <a:endParaRPr/>
          </a:p>
        </p:txBody>
      </p:sp>
      <p:sp>
        <p:nvSpPr>
          <p:cNvPr id="311" name="Google Shape;311;p23"/>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18" name="Google Shape;318;p2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Các bước lập kế hoạch:</a:t>
            </a:r>
            <a:endParaRPr/>
          </a:p>
          <a:p>
            <a:pPr indent="-285750" lvl="1" marL="742950" rtl="0" algn="l">
              <a:lnSpc>
                <a:spcPct val="150000"/>
              </a:lnSpc>
              <a:spcBef>
                <a:spcPts val="0"/>
              </a:spcBef>
              <a:spcAft>
                <a:spcPts val="0"/>
              </a:spcAft>
              <a:buSzPts val="1320"/>
              <a:buChar char="■"/>
            </a:pPr>
            <a:r>
              <a:rPr lang="en-US"/>
              <a:t>Phân chia công việc: </a:t>
            </a:r>
            <a:endParaRPr/>
          </a:p>
          <a:p>
            <a:pPr indent="-228600" lvl="2" marL="1143000" rtl="0" algn="l">
              <a:lnSpc>
                <a:spcPct val="80000"/>
              </a:lnSpc>
              <a:spcBef>
                <a:spcPts val="480"/>
              </a:spcBef>
              <a:spcAft>
                <a:spcPts val="0"/>
              </a:spcAft>
              <a:buSzPts val="1200"/>
              <a:buChar char="■"/>
            </a:pPr>
            <a:r>
              <a:rPr lang="en-US"/>
              <a:t>Mục tiêu chia nhỏ công việc để dễ theo dõi và kiểm tra tiến độ thực hiện.</a:t>
            </a:r>
            <a:endParaRPr/>
          </a:p>
          <a:p>
            <a:pPr indent="-228600" lvl="2" marL="1143000" rtl="0" algn="l">
              <a:lnSpc>
                <a:spcPct val="80000"/>
              </a:lnSpc>
              <a:spcBef>
                <a:spcPts val="480"/>
              </a:spcBef>
              <a:spcAft>
                <a:spcPts val="0"/>
              </a:spcAft>
              <a:buSzPts val="1200"/>
              <a:buChar char="■"/>
            </a:pPr>
            <a:r>
              <a:rPr lang="en-US"/>
              <a:t>Mỗi công việc có thể thực hiện tối đa khoảng 4 tuần.</a:t>
            </a:r>
            <a:endParaRPr/>
          </a:p>
          <a:p>
            <a:pPr indent="-228600" lvl="2" marL="1143000" rtl="0" algn="l">
              <a:lnSpc>
                <a:spcPct val="80000"/>
              </a:lnSpc>
              <a:spcBef>
                <a:spcPts val="480"/>
              </a:spcBef>
              <a:spcAft>
                <a:spcPts val="0"/>
              </a:spcAft>
              <a:buSzPts val="1200"/>
              <a:buChar char="■"/>
            </a:pPr>
            <a:r>
              <a:rPr lang="en-US"/>
              <a:t>Chia nhỏ theo hình thức phân cấp từ trên xuống</a:t>
            </a:r>
            <a:endParaRPr/>
          </a:p>
          <a:p>
            <a:pPr indent="-285750" lvl="1" marL="742950" rtl="0" algn="l">
              <a:lnSpc>
                <a:spcPct val="150000"/>
              </a:lnSpc>
              <a:spcBef>
                <a:spcPts val="0"/>
              </a:spcBef>
              <a:spcAft>
                <a:spcPts val="0"/>
              </a:spcAft>
              <a:buSzPts val="1320"/>
              <a:buChar char="■"/>
            </a:pPr>
            <a:r>
              <a:rPr lang="en-US"/>
              <a:t>Xác định thứ tự công việc</a:t>
            </a:r>
            <a:endParaRPr/>
          </a:p>
          <a:p>
            <a:pPr indent="-285750" lvl="1" marL="742950" rtl="0" algn="l">
              <a:lnSpc>
                <a:spcPct val="150000"/>
              </a:lnSpc>
              <a:spcBef>
                <a:spcPts val="0"/>
              </a:spcBef>
              <a:spcAft>
                <a:spcPts val="0"/>
              </a:spcAft>
              <a:buSzPts val="1320"/>
              <a:buChar char="■"/>
            </a:pPr>
            <a:r>
              <a:rPr lang="en-US"/>
              <a:t>Tính giá thành dự án</a:t>
            </a:r>
            <a:endParaRPr/>
          </a:p>
          <a:p>
            <a:pPr indent="-285750" lvl="1" marL="742950" rtl="0" algn="l">
              <a:lnSpc>
                <a:spcPct val="150000"/>
              </a:lnSpc>
              <a:spcBef>
                <a:spcPts val="0"/>
              </a:spcBef>
              <a:spcAft>
                <a:spcPts val="0"/>
              </a:spcAft>
              <a:buSzPts val="1320"/>
              <a:buChar char="■"/>
            </a:pPr>
            <a:r>
              <a:rPr lang="en-US"/>
              <a:t>Lập lịch kết quả công việc</a:t>
            </a:r>
            <a:endParaRPr/>
          </a:p>
          <a:p>
            <a:pPr indent="-152400" lvl="2" marL="1143000" rtl="0" algn="l">
              <a:lnSpc>
                <a:spcPct val="150000"/>
              </a:lnSpc>
              <a:spcBef>
                <a:spcPts val="0"/>
              </a:spcBef>
              <a:spcAft>
                <a:spcPts val="0"/>
              </a:spcAft>
              <a:buSzPts val="1200"/>
              <a:buNone/>
            </a:pPr>
            <a:r>
              <a:t/>
            </a:r>
            <a:endParaRPr/>
          </a:p>
        </p:txBody>
      </p:sp>
      <p:sp>
        <p:nvSpPr>
          <p:cNvPr id="319" name="Google Shape;319;p24"/>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3. CÁC GIAI ĐOẠN CỦA DỰ ÁN CNTT</a:t>
            </a:r>
            <a:endParaRPr/>
          </a:p>
        </p:txBody>
      </p:sp>
    </p:spTree>
  </p:cSld>
  <p:clrMapOvr>
    <a:masterClrMapping/>
  </p:clrMapOvr>
  <p:transition>
    <p:zoom dir="o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26" name="Google Shape;326;p2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Ví dụ về phân chia công việc</a:t>
            </a:r>
            <a:endParaRPr/>
          </a:p>
        </p:txBody>
      </p:sp>
      <p:sp>
        <p:nvSpPr>
          <p:cNvPr id="327" name="Google Shape;327;p2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Xác định mục tiêu</a:t>
            </a:r>
            <a:endParaRPr/>
          </a:p>
          <a:p>
            <a:pPr indent="-285750" lvl="1" marL="742950" rtl="0" algn="l">
              <a:lnSpc>
                <a:spcPct val="80000"/>
              </a:lnSpc>
              <a:spcBef>
                <a:spcPts val="480"/>
              </a:spcBef>
              <a:spcAft>
                <a:spcPts val="0"/>
              </a:spcAft>
              <a:buSzPts val="1320"/>
              <a:buChar char="■"/>
            </a:pPr>
            <a:r>
              <a:rPr lang="en-US"/>
              <a:t>Thuyết minh đề cương</a:t>
            </a:r>
            <a:endParaRPr/>
          </a:p>
          <a:p>
            <a:pPr indent="-285750" lvl="1" marL="742950" rtl="0" algn="l">
              <a:lnSpc>
                <a:spcPct val="80000"/>
              </a:lnSpc>
              <a:spcBef>
                <a:spcPts val="480"/>
              </a:spcBef>
              <a:spcAft>
                <a:spcPts val="0"/>
              </a:spcAft>
              <a:buSzPts val="1320"/>
              <a:buChar char="■"/>
            </a:pPr>
            <a:r>
              <a:rPr lang="en-US"/>
              <a:t>Nghiên cứu khả thi</a:t>
            </a:r>
            <a:endParaRPr/>
          </a:p>
          <a:p>
            <a:pPr indent="-285750" lvl="1" marL="742950" rtl="0" algn="l">
              <a:lnSpc>
                <a:spcPct val="80000"/>
              </a:lnSpc>
              <a:spcBef>
                <a:spcPts val="480"/>
              </a:spcBef>
              <a:spcAft>
                <a:spcPts val="0"/>
              </a:spcAft>
              <a:buSzPts val="1320"/>
              <a:buChar char="■"/>
            </a:pPr>
            <a:r>
              <a:rPr lang="en-US"/>
              <a:t>Tài liệu mô tả yêu cầu</a:t>
            </a:r>
            <a:endParaRPr/>
          </a:p>
          <a:p>
            <a:pPr indent="-285750" lvl="1" marL="742950" rtl="0" algn="l">
              <a:lnSpc>
                <a:spcPct val="80000"/>
              </a:lnSpc>
              <a:spcBef>
                <a:spcPts val="480"/>
              </a:spcBef>
              <a:spcAft>
                <a:spcPts val="0"/>
              </a:spcAft>
              <a:buSzPts val="1320"/>
              <a:buChar char="■"/>
            </a:pPr>
            <a:r>
              <a:rPr lang="en-US"/>
              <a:t>Danh sách rủi ro</a:t>
            </a:r>
            <a:endParaRPr/>
          </a:p>
          <a:p>
            <a:pPr indent="-285750" lvl="1" marL="742950" rtl="0" algn="l">
              <a:lnSpc>
                <a:spcPct val="80000"/>
              </a:lnSpc>
              <a:spcBef>
                <a:spcPts val="480"/>
              </a:spcBef>
              <a:spcAft>
                <a:spcPts val="0"/>
              </a:spcAft>
              <a:buSzPts val="1320"/>
              <a:buChar char="■"/>
            </a:pPr>
            <a:r>
              <a:rPr lang="en-US"/>
              <a:t>Kế hoạch thực hiện</a:t>
            </a:r>
            <a:endParaRPr/>
          </a:p>
          <a:p>
            <a:pPr indent="-285750" lvl="1" marL="742950" rtl="0" algn="l">
              <a:lnSpc>
                <a:spcPct val="80000"/>
              </a:lnSpc>
              <a:spcBef>
                <a:spcPts val="480"/>
              </a:spcBef>
              <a:spcAft>
                <a:spcPts val="0"/>
              </a:spcAft>
              <a:buSzPts val="1320"/>
              <a:buChar char="■"/>
            </a:pPr>
            <a:r>
              <a:rPr lang="en-US"/>
              <a:t>Đề xuất giải pháp cho người dùng</a:t>
            </a:r>
            <a:endParaRPr/>
          </a:p>
          <a:p>
            <a:pPr indent="-342900" lvl="0" marL="342900" rtl="0" algn="l">
              <a:lnSpc>
                <a:spcPct val="80000"/>
              </a:lnSpc>
              <a:spcBef>
                <a:spcPts val="560"/>
              </a:spcBef>
              <a:spcAft>
                <a:spcPts val="0"/>
              </a:spcAft>
              <a:buSzPts val="1680"/>
              <a:buChar char="■"/>
            </a:pPr>
            <a:r>
              <a:rPr lang="en-US"/>
              <a:t>Phân tích</a:t>
            </a:r>
            <a:endParaRPr/>
          </a:p>
          <a:p>
            <a:pPr indent="-342900" lvl="0" marL="342900" rtl="0" algn="l">
              <a:lnSpc>
                <a:spcPct val="80000"/>
              </a:lnSpc>
              <a:spcBef>
                <a:spcPts val="560"/>
              </a:spcBef>
              <a:spcAft>
                <a:spcPts val="0"/>
              </a:spcAft>
              <a:buSzPts val="1680"/>
              <a:buChar char="■"/>
            </a:pPr>
            <a:r>
              <a:rPr lang="en-US"/>
              <a:t>Thiết kế </a:t>
            </a:r>
            <a:endParaRPr/>
          </a:p>
          <a:p>
            <a:pPr indent="-342900" lvl="0" marL="342900" rtl="0" algn="l">
              <a:lnSpc>
                <a:spcPct val="80000"/>
              </a:lnSpc>
              <a:spcBef>
                <a:spcPts val="560"/>
              </a:spcBef>
              <a:spcAft>
                <a:spcPts val="0"/>
              </a:spcAft>
              <a:buSzPts val="1680"/>
              <a:buChar char="■"/>
            </a:pPr>
            <a:r>
              <a:rPr lang="en-US"/>
              <a:t>Phát triển hệ thống</a:t>
            </a:r>
            <a:endParaRPr/>
          </a:p>
          <a:p>
            <a:pPr indent="-342900" lvl="0" marL="342900" rtl="0" algn="l">
              <a:lnSpc>
                <a:spcPct val="80000"/>
              </a:lnSpc>
              <a:spcBef>
                <a:spcPts val="560"/>
              </a:spcBef>
              <a:spcAft>
                <a:spcPts val="0"/>
              </a:spcAft>
              <a:buSzPts val="1680"/>
              <a:buChar char="■"/>
            </a:pPr>
            <a:r>
              <a:rPr lang="en-US"/>
              <a:t>Kiểm thử</a:t>
            </a:r>
            <a:endParaRPr/>
          </a:p>
          <a:p>
            <a:pPr indent="-342900" lvl="0" marL="342900" rtl="0" algn="l">
              <a:lnSpc>
                <a:spcPct val="80000"/>
              </a:lnSpc>
              <a:spcBef>
                <a:spcPts val="560"/>
              </a:spcBef>
              <a:spcAft>
                <a:spcPts val="0"/>
              </a:spcAft>
              <a:buSzPts val="1680"/>
              <a:buChar char="■"/>
            </a:pPr>
            <a:r>
              <a:rPr lang="en-US"/>
              <a:t>Triển khai</a:t>
            </a:r>
            <a:endParaRPr/>
          </a:p>
        </p:txBody>
      </p:sp>
    </p:spTree>
  </p:cSld>
  <p:clrMapOvr>
    <a:masterClrMapping/>
  </p:clrMapOvr>
  <p:transition>
    <p:zoom dir="o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pic>
        <p:nvPicPr>
          <p:cNvPr id="334" name="Google Shape;334;p26"/>
          <p:cNvPicPr preferRelativeResize="0"/>
          <p:nvPr/>
        </p:nvPicPr>
        <p:blipFill rotWithShape="1">
          <a:blip r:embed="rId3">
            <a:alphaModFix/>
          </a:blip>
          <a:srcRect b="0" l="0" r="0" t="0"/>
          <a:stretch/>
        </p:blipFill>
        <p:spPr>
          <a:xfrm>
            <a:off x="152400" y="428625"/>
            <a:ext cx="8743950" cy="5819775"/>
          </a:xfrm>
          <a:prstGeom prst="rect">
            <a:avLst/>
          </a:prstGeom>
          <a:noFill/>
          <a:ln>
            <a:noFill/>
          </a:ln>
        </p:spPr>
      </p:pic>
    </p:spTree>
  </p:cSld>
  <p:clrMapOvr>
    <a:masterClrMapping/>
  </p:clrMapOvr>
  <p:transition>
    <p:zoom dir="o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41" name="Google Shape;341;p2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Xác định thứ tự công việc</a:t>
            </a:r>
            <a:endParaRPr/>
          </a:p>
        </p:txBody>
      </p:sp>
      <p:sp>
        <p:nvSpPr>
          <p:cNvPr id="342" name="Google Shape;342;p2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Công việc nào làm trước, công việc nào làm sau.</a:t>
            </a:r>
            <a:endParaRPr/>
          </a:p>
          <a:p>
            <a:pPr indent="-285750" lvl="1" marL="742950" rtl="0" algn="l">
              <a:lnSpc>
                <a:spcPct val="150000"/>
              </a:lnSpc>
              <a:spcBef>
                <a:spcPts val="0"/>
              </a:spcBef>
              <a:spcAft>
                <a:spcPts val="0"/>
              </a:spcAft>
              <a:buSzPts val="1320"/>
              <a:buChar char="■"/>
            </a:pPr>
            <a:r>
              <a:rPr lang="en-US"/>
              <a:t>Có thể dùng sơ đồ PERT (dạng network diagram), hoặc đường Gannt (đường tới hạn của dự án – critical path).</a:t>
            </a:r>
            <a:endParaRPr/>
          </a:p>
          <a:p>
            <a:pPr indent="-285750" lvl="1" marL="742950" rtl="0" algn="l">
              <a:lnSpc>
                <a:spcPct val="150000"/>
              </a:lnSpc>
              <a:spcBef>
                <a:spcPts val="0"/>
              </a:spcBef>
              <a:spcAft>
                <a:spcPts val="0"/>
              </a:spcAft>
              <a:buSzPts val="1320"/>
              <a:buChar char="■"/>
            </a:pPr>
            <a:r>
              <a:rPr lang="en-US"/>
              <a:t>Từ đó suy ra thời gian hoàn thành dự án</a:t>
            </a:r>
            <a:endParaRPr/>
          </a:p>
        </p:txBody>
      </p:sp>
    </p:spTree>
  </p:cSld>
  <p:clrMapOvr>
    <a:masterClrMapping/>
  </p:clrMapOvr>
  <p:transition>
    <p:zoom dir="o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Lược đồ PERT</a:t>
            </a:r>
            <a:endParaRPr/>
          </a:p>
        </p:txBody>
      </p:sp>
      <p:sp>
        <p:nvSpPr>
          <p:cNvPr id="348" name="Google Shape;348;p28"/>
          <p:cNvSpPr txBox="1"/>
          <p:nvPr>
            <p:ph idx="1" type="body"/>
          </p:nvPr>
        </p:nvSpPr>
        <p:spPr>
          <a:xfrm>
            <a:off x="457200" y="1295400"/>
            <a:ext cx="8458200" cy="49530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PERT: Kĩ thuật đánh giá và xem xét chương trình (ProgramEvaluation and Review Technique), Hải quân Mĩ phát minh ra năm 1958 khi phát triển tên lửa Polaris . </a:t>
            </a:r>
            <a:endParaRPr/>
          </a:p>
          <a:p>
            <a:pPr indent="-342900" lvl="0" marL="342900" rtl="0" algn="l">
              <a:lnSpc>
                <a:spcPct val="150000"/>
              </a:lnSpc>
              <a:spcBef>
                <a:spcPts val="0"/>
              </a:spcBef>
              <a:spcAft>
                <a:spcPts val="0"/>
              </a:spcAft>
              <a:buSzPts val="1680"/>
              <a:buChar char="■"/>
            </a:pPr>
            <a:r>
              <a:rPr lang="en-US"/>
              <a:t>PERT dùng để mô tả một dãy các hoạt động qua một tập các mũi tên.</a:t>
            </a:r>
            <a:endParaRPr/>
          </a:p>
        </p:txBody>
      </p:sp>
      <p:sp>
        <p:nvSpPr>
          <p:cNvPr id="349" name="Google Shape;349;p2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transition>
    <p:zoom dir="o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PERT</a:t>
            </a:r>
            <a:endParaRPr/>
          </a:p>
        </p:txBody>
      </p:sp>
      <p:sp>
        <p:nvSpPr>
          <p:cNvPr id="355" name="Google Shape;355;p2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pic>
        <p:nvPicPr>
          <p:cNvPr descr="http://quantri.vn/uploads/images/vvvvvvvvvvvvvvvvvvvvvvvvvvv.png" id="356" name="Google Shape;356;p29"/>
          <p:cNvPicPr preferRelativeResize="0"/>
          <p:nvPr/>
        </p:nvPicPr>
        <p:blipFill rotWithShape="1">
          <a:blip r:embed="rId3">
            <a:alphaModFix/>
          </a:blip>
          <a:srcRect b="0" l="0" r="0" t="0"/>
          <a:stretch/>
        </p:blipFill>
        <p:spPr>
          <a:xfrm>
            <a:off x="457200" y="1143000"/>
            <a:ext cx="8305800" cy="5257800"/>
          </a:xfrm>
          <a:prstGeom prst="rect">
            <a:avLst/>
          </a:prstGeom>
          <a:noFill/>
          <a:ln>
            <a:noFill/>
          </a:ln>
        </p:spPr>
      </p:pic>
    </p:spTree>
  </p:cSld>
  <p:clrMapOvr>
    <a:masterClrMapping/>
  </p:clrMapOvr>
  <p:transition>
    <p:zoom dir="o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63" name="Google Shape;363;p30"/>
          <p:cNvSpPr txBox="1"/>
          <p:nvPr>
            <p:ph type="title"/>
          </p:nvPr>
        </p:nvSpPr>
        <p:spPr>
          <a:xfrm>
            <a:off x="0" y="228600"/>
            <a:ext cx="8686800"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3200"/>
              <a:t>Giá thành, hay kinh phí của dự án</a:t>
            </a:r>
            <a:endParaRPr/>
          </a:p>
        </p:txBody>
      </p:sp>
      <p:sp>
        <p:nvSpPr>
          <p:cNvPr id="364" name="Google Shape;364;p30"/>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Bao gồm</a:t>
            </a:r>
            <a:endParaRPr/>
          </a:p>
          <a:p>
            <a:pPr indent="-285750" lvl="1" marL="742950" rtl="0" algn="l">
              <a:lnSpc>
                <a:spcPct val="150000"/>
              </a:lnSpc>
              <a:spcBef>
                <a:spcPts val="0"/>
              </a:spcBef>
              <a:spcAft>
                <a:spcPts val="0"/>
              </a:spcAft>
              <a:buSzPts val="1320"/>
              <a:buChar char="■"/>
            </a:pPr>
            <a:r>
              <a:rPr lang="en-US"/>
              <a:t>Giá cố định (mua các thiết bị)</a:t>
            </a:r>
            <a:endParaRPr/>
          </a:p>
          <a:p>
            <a:pPr indent="-285750" lvl="1" marL="742950" rtl="0" algn="l">
              <a:lnSpc>
                <a:spcPct val="150000"/>
              </a:lnSpc>
              <a:spcBef>
                <a:spcPts val="0"/>
              </a:spcBef>
              <a:spcAft>
                <a:spcPts val="0"/>
              </a:spcAft>
              <a:buSzPts val="1320"/>
              <a:buChar char="■"/>
            </a:pPr>
            <a:r>
              <a:rPr lang="en-US"/>
              <a:t>Giá lưu động:</a:t>
            </a:r>
            <a:endParaRPr/>
          </a:p>
          <a:p>
            <a:pPr indent="-228600" lvl="2" marL="1143000" rtl="0" algn="l">
              <a:lnSpc>
                <a:spcPct val="150000"/>
              </a:lnSpc>
              <a:spcBef>
                <a:spcPts val="0"/>
              </a:spcBef>
              <a:spcAft>
                <a:spcPts val="0"/>
              </a:spcAft>
              <a:buSzPts val="1200"/>
              <a:buChar char="■"/>
            </a:pPr>
            <a:r>
              <a:rPr lang="en-US"/>
              <a:t>Nguyên vật liệu</a:t>
            </a:r>
            <a:endParaRPr/>
          </a:p>
          <a:p>
            <a:pPr indent="-228600" lvl="2" marL="1143000" rtl="0" algn="l">
              <a:lnSpc>
                <a:spcPct val="150000"/>
              </a:lnSpc>
              <a:spcBef>
                <a:spcPts val="0"/>
              </a:spcBef>
              <a:spcAft>
                <a:spcPts val="0"/>
              </a:spcAft>
              <a:buSzPts val="1200"/>
              <a:buChar char="■"/>
            </a:pPr>
            <a:r>
              <a:rPr lang="en-US"/>
              <a:t>Công lao động </a:t>
            </a:r>
            <a:endParaRPr/>
          </a:p>
          <a:p>
            <a:pPr indent="-342900" lvl="0" marL="342900" rtl="0" algn="l">
              <a:lnSpc>
                <a:spcPct val="150000"/>
              </a:lnSpc>
              <a:spcBef>
                <a:spcPts val="0"/>
              </a:spcBef>
              <a:spcAft>
                <a:spcPts val="0"/>
              </a:spcAft>
              <a:buSzPts val="1680"/>
              <a:buChar char="■"/>
            </a:pPr>
            <a:r>
              <a:rPr lang="en-US"/>
              <a:t>Giá công lao động được ước tính cho mỗi công việc nhỏ trong bảng phân chia công việc. </a:t>
            </a:r>
            <a:endParaRPr/>
          </a:p>
          <a:p>
            <a:pPr indent="-285750" lvl="1" marL="742950" rtl="0" algn="l">
              <a:lnSpc>
                <a:spcPct val="150000"/>
              </a:lnSpc>
              <a:spcBef>
                <a:spcPts val="0"/>
              </a:spcBef>
              <a:spcAft>
                <a:spcPts val="0"/>
              </a:spcAft>
              <a:buSzPts val="1320"/>
              <a:buChar char="■"/>
            </a:pPr>
            <a:r>
              <a:rPr lang="en-US"/>
              <a:t>Công việc được tính theo công lao động</a:t>
            </a:r>
            <a:endParaRPr/>
          </a:p>
        </p:txBody>
      </p:sp>
    </p:spTree>
  </p:cSld>
  <p:clrMapOvr>
    <a:masterClrMapping/>
  </p:clrMapOvr>
  <p:transition>
    <p:zoom dir="o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71" name="Google Shape;371;p3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Lập lịch công việc</a:t>
            </a:r>
            <a:endParaRPr/>
          </a:p>
        </p:txBody>
      </p:sp>
      <p:sp>
        <p:nvSpPr>
          <p:cNvPr id="372" name="Google Shape;372;p3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Xác định số ngày cho từng công việc, và lịch trình cụ thể</a:t>
            </a:r>
            <a:endParaRPr/>
          </a:p>
          <a:p>
            <a:pPr indent="-342900" lvl="0" marL="342900" rtl="0" algn="l">
              <a:lnSpc>
                <a:spcPct val="150000"/>
              </a:lnSpc>
              <a:spcBef>
                <a:spcPts val="0"/>
              </a:spcBef>
              <a:spcAft>
                <a:spcPts val="0"/>
              </a:spcAft>
              <a:buSzPts val="1680"/>
              <a:buChar char="■"/>
            </a:pPr>
            <a:r>
              <a:rPr lang="en-US"/>
              <a:t>Từ đó suy ra tổng thời gian của dự án</a:t>
            </a:r>
            <a:endParaRPr/>
          </a:p>
          <a:p>
            <a:pPr indent="-236220" lvl="0" marL="342900" rtl="0" algn="l">
              <a:lnSpc>
                <a:spcPct val="150000"/>
              </a:lnSpc>
              <a:spcBef>
                <a:spcPts val="0"/>
              </a:spcBef>
              <a:spcAft>
                <a:spcPts val="0"/>
              </a:spcAft>
              <a:buSzPts val="1680"/>
              <a:buNone/>
            </a:pPr>
            <a:r>
              <a:t/>
            </a:r>
            <a:endParaRPr/>
          </a:p>
          <a:p>
            <a:pPr indent="-342900" lvl="0" marL="342900" rtl="0" algn="l">
              <a:lnSpc>
                <a:spcPct val="150000"/>
              </a:lnSpc>
              <a:spcBef>
                <a:spcPts val="0"/>
              </a:spcBef>
              <a:spcAft>
                <a:spcPts val="0"/>
              </a:spcAft>
              <a:buSzPts val="1680"/>
              <a:buFont typeface="Noto Sans Symbols"/>
              <a:buNone/>
            </a:pPr>
            <a:r>
              <a:rPr i="1" lang="en-US">
                <a:solidFill>
                  <a:srgbClr val="FF0000"/>
                </a:solidFill>
              </a:rPr>
              <a:t>Dùng phần mềm gì ? </a:t>
            </a:r>
            <a:endParaRPr/>
          </a:p>
        </p:txBody>
      </p:sp>
    </p:spTree>
  </p:cSld>
  <p:clrMapOvr>
    <a:masterClrMapping/>
  </p:clrMapOvr>
  <p:transition>
    <p:zoom dir="o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79" name="Google Shape;379;p3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Giai đoạn phân tích</a:t>
            </a:r>
            <a:endParaRPr/>
          </a:p>
        </p:txBody>
      </p:sp>
      <p:sp>
        <p:nvSpPr>
          <p:cNvPr id="380" name="Google Shape;380;p3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Thường được bắt đầu là giai đoạn phân tích yêu cầu, </a:t>
            </a:r>
            <a:endParaRPr/>
          </a:p>
          <a:p>
            <a:pPr indent="-342900" lvl="0" marL="342900" rtl="0" algn="l">
              <a:lnSpc>
                <a:spcPct val="150000"/>
              </a:lnSpc>
              <a:spcBef>
                <a:spcPts val="0"/>
              </a:spcBef>
              <a:spcAft>
                <a:spcPts val="0"/>
              </a:spcAft>
              <a:buSzPts val="1680"/>
              <a:buChar char="■"/>
            </a:pPr>
            <a:r>
              <a:rPr lang="en-US"/>
              <a:t>Trên cơ sở đó sẽ xác định chính xác hệ thống thông tin sẽ xây dựng, bao gồm: </a:t>
            </a:r>
            <a:endParaRPr/>
          </a:p>
          <a:p>
            <a:pPr indent="-285750" lvl="1" marL="742950" rtl="0" algn="l">
              <a:lnSpc>
                <a:spcPct val="150000"/>
              </a:lnSpc>
              <a:spcBef>
                <a:spcPts val="0"/>
              </a:spcBef>
              <a:spcAft>
                <a:spcPts val="0"/>
              </a:spcAft>
              <a:buSzPts val="1320"/>
              <a:buChar char="■"/>
            </a:pPr>
            <a:r>
              <a:rPr lang="en-US"/>
              <a:t>Hệ thống có các chức năng gì </a:t>
            </a:r>
            <a:endParaRPr/>
          </a:p>
          <a:p>
            <a:pPr indent="-285750" lvl="1" marL="742950" rtl="0" algn="l">
              <a:lnSpc>
                <a:spcPct val="150000"/>
              </a:lnSpc>
              <a:spcBef>
                <a:spcPts val="0"/>
              </a:spcBef>
              <a:spcAft>
                <a:spcPts val="0"/>
              </a:spcAft>
              <a:buSzPts val="1320"/>
              <a:buChar char="■"/>
            </a:pPr>
            <a:r>
              <a:rPr lang="en-US"/>
              <a:t>Thực hiện các chức năng đó như thế nào</a:t>
            </a:r>
            <a:endParaRPr/>
          </a:p>
          <a:p>
            <a:pPr indent="-236220" lvl="0" marL="342900" rtl="0" algn="l">
              <a:lnSpc>
                <a:spcPct val="80000"/>
              </a:lnSpc>
              <a:spcBef>
                <a:spcPts val="560"/>
              </a:spcBef>
              <a:spcAft>
                <a:spcPts val="0"/>
              </a:spcAft>
              <a:buSzPts val="1680"/>
              <a:buNone/>
            </a:pPr>
            <a:r>
              <a:t/>
            </a:r>
            <a:endParaRPr/>
          </a:p>
        </p:txBody>
      </p:sp>
    </p:spTree>
  </p:cSld>
  <p:clrMapOvr>
    <a:masterClrMapping/>
  </p:clrMapOvr>
  <p:transition>
    <p:zoom dir="o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87" name="Google Shape;387;p3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Vấn đề cần thực hiện</a:t>
            </a:r>
            <a:endParaRPr/>
          </a:p>
        </p:txBody>
      </p:sp>
      <p:sp>
        <p:nvSpPr>
          <p:cNvPr id="388" name="Google Shape;388;p3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Xác định các chức năng của hệ thống</a:t>
            </a:r>
            <a:endParaRPr/>
          </a:p>
          <a:p>
            <a:pPr indent="-342900" lvl="0" marL="342900" rtl="0" algn="l">
              <a:lnSpc>
                <a:spcPct val="150000"/>
              </a:lnSpc>
              <a:spcBef>
                <a:spcPts val="0"/>
              </a:spcBef>
              <a:spcAft>
                <a:spcPts val="0"/>
              </a:spcAft>
              <a:buSzPts val="1680"/>
              <a:buChar char="■"/>
            </a:pPr>
            <a:r>
              <a:rPr lang="en-US"/>
              <a:t>Mô tả các giao diện người dùng trên cơ sở yêu cầu đã xác định</a:t>
            </a:r>
            <a:endParaRPr/>
          </a:p>
          <a:p>
            <a:pPr indent="-342900" lvl="0" marL="342900" rtl="0" algn="l">
              <a:lnSpc>
                <a:spcPct val="150000"/>
              </a:lnSpc>
              <a:spcBef>
                <a:spcPts val="0"/>
              </a:spcBef>
              <a:spcAft>
                <a:spcPts val="0"/>
              </a:spcAft>
              <a:buSzPts val="1680"/>
              <a:buChar char="■"/>
            </a:pPr>
            <a:r>
              <a:rPr lang="en-US"/>
              <a:t>Xem xét lại kế hoạch thực hiện</a:t>
            </a:r>
            <a:endParaRPr/>
          </a:p>
          <a:p>
            <a:pPr indent="-342900" lvl="0" marL="342900" rtl="0" algn="l">
              <a:lnSpc>
                <a:spcPct val="150000"/>
              </a:lnSpc>
              <a:spcBef>
                <a:spcPts val="0"/>
              </a:spcBef>
              <a:spcAft>
                <a:spcPts val="0"/>
              </a:spcAft>
              <a:buSzPts val="1680"/>
              <a:buChar char="■"/>
            </a:pPr>
            <a:r>
              <a:rPr lang="en-US"/>
              <a:t>Thiết kế kiến trúc (tổng thể) để biết các chức năng hoạt động như thế nào trên môi trường phát triển và triển khai.</a:t>
            </a:r>
            <a:endParaRPr/>
          </a:p>
        </p:txBody>
      </p:sp>
    </p:spTree>
  </p:cSld>
  <p:clrMapOvr>
    <a:masterClrMapping/>
  </p:clrMapOvr>
  <p:transition>
    <p:zoom dir="o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395" name="Google Shape;395;p3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Kết quả</a:t>
            </a:r>
            <a:endParaRPr/>
          </a:p>
        </p:txBody>
      </p:sp>
      <p:sp>
        <p:nvSpPr>
          <p:cNvPr id="396" name="Google Shape;396;p3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Tài liệu đặc tả chức năng: bao gồm toàn bộ chức năng và giao diện người dùng của hệ thống.</a:t>
            </a:r>
            <a:endParaRPr/>
          </a:p>
          <a:p>
            <a:pPr indent="-342900" lvl="0" marL="342900" rtl="0" algn="l">
              <a:lnSpc>
                <a:spcPct val="150000"/>
              </a:lnSpc>
              <a:spcBef>
                <a:spcPts val="0"/>
              </a:spcBef>
              <a:spcAft>
                <a:spcPts val="0"/>
              </a:spcAft>
              <a:buSzPts val="1680"/>
              <a:buChar char="■"/>
            </a:pPr>
            <a:r>
              <a:rPr lang="en-US"/>
              <a:t>Thiết kế kiến trúc (tổng thể) của hệ thống: Trong phần này sử dụng mô hình khái niệm để minh họa:</a:t>
            </a:r>
            <a:endParaRPr/>
          </a:p>
          <a:p>
            <a:pPr indent="-285750" lvl="1" marL="742950" rtl="0" algn="l">
              <a:lnSpc>
                <a:spcPct val="150000"/>
              </a:lnSpc>
              <a:spcBef>
                <a:spcPts val="0"/>
              </a:spcBef>
              <a:spcAft>
                <a:spcPts val="0"/>
              </a:spcAft>
              <a:buSzPts val="1320"/>
              <a:buChar char="■"/>
            </a:pPr>
            <a:r>
              <a:rPr lang="en-US"/>
              <a:t>Các thành phần của phần cứng</a:t>
            </a:r>
            <a:endParaRPr/>
          </a:p>
          <a:p>
            <a:pPr indent="-285750" lvl="1" marL="742950" rtl="0" algn="l">
              <a:lnSpc>
                <a:spcPct val="150000"/>
              </a:lnSpc>
              <a:spcBef>
                <a:spcPts val="0"/>
              </a:spcBef>
              <a:spcAft>
                <a:spcPts val="0"/>
              </a:spcAft>
              <a:buSzPts val="1320"/>
              <a:buChar char="■"/>
            </a:pPr>
            <a:r>
              <a:rPr lang="en-US"/>
              <a:t>Các thành phần chính của phần mềm</a:t>
            </a:r>
            <a:endParaRPr/>
          </a:p>
        </p:txBody>
      </p:sp>
    </p:spTree>
  </p:cSld>
  <p:clrMapOvr>
    <a:masterClrMapping/>
  </p:clrMapOvr>
  <p:transition>
    <p:zoom dir="o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03" name="Google Shape;403;p3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Tài liệu đặc tả</a:t>
            </a:r>
            <a:endParaRPr/>
          </a:p>
        </p:txBody>
      </p:sp>
      <p:sp>
        <p:nvSpPr>
          <p:cNvPr id="404" name="Google Shape;404;p3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Tài liệu mô tả toàn bộ hoạt động của hệ thống, các giao diện người sử dụng.</a:t>
            </a:r>
            <a:endParaRPr/>
          </a:p>
          <a:p>
            <a:pPr indent="-342900" lvl="0" marL="342900" rtl="0" algn="l">
              <a:lnSpc>
                <a:spcPct val="150000"/>
              </a:lnSpc>
              <a:spcBef>
                <a:spcPts val="0"/>
              </a:spcBef>
              <a:spcAft>
                <a:spcPts val="0"/>
              </a:spcAft>
              <a:buSzPts val="1680"/>
              <a:buChar char="■"/>
            </a:pPr>
            <a:r>
              <a:rPr lang="en-US"/>
              <a:t>Tài liệu bao gồm:</a:t>
            </a:r>
            <a:endParaRPr/>
          </a:p>
          <a:p>
            <a:pPr indent="-285750" lvl="1" marL="742950" rtl="0" algn="l">
              <a:lnSpc>
                <a:spcPct val="150000"/>
              </a:lnSpc>
              <a:spcBef>
                <a:spcPts val="0"/>
              </a:spcBef>
              <a:spcAft>
                <a:spcPts val="0"/>
              </a:spcAft>
              <a:buSzPts val="1320"/>
              <a:buChar char="■"/>
            </a:pPr>
            <a:r>
              <a:rPr lang="en-US"/>
              <a:t>Mô tả chi tiết dữ liệu vào, kết quả xuất ra</a:t>
            </a:r>
            <a:endParaRPr/>
          </a:p>
          <a:p>
            <a:pPr indent="-285750" lvl="1" marL="742950" rtl="0" algn="l">
              <a:lnSpc>
                <a:spcPct val="150000"/>
              </a:lnSpc>
              <a:spcBef>
                <a:spcPts val="0"/>
              </a:spcBef>
              <a:spcAft>
                <a:spcPts val="0"/>
              </a:spcAft>
              <a:buSzPts val="1320"/>
              <a:buChar char="■"/>
            </a:pPr>
            <a:r>
              <a:rPr lang="en-US"/>
              <a:t>Các yêu cầu cần thực hiện</a:t>
            </a:r>
            <a:endParaRPr/>
          </a:p>
          <a:p>
            <a:pPr indent="-285750" lvl="1" marL="742950" rtl="0" algn="l">
              <a:lnSpc>
                <a:spcPct val="150000"/>
              </a:lnSpc>
              <a:spcBef>
                <a:spcPts val="0"/>
              </a:spcBef>
              <a:spcAft>
                <a:spcPts val="0"/>
              </a:spcAft>
              <a:buSzPts val="1320"/>
              <a:buChar char="■"/>
            </a:pPr>
            <a:r>
              <a:rPr lang="en-US"/>
              <a:t>Các thủ tục, quy trình</a:t>
            </a:r>
            <a:endParaRPr/>
          </a:p>
          <a:p>
            <a:pPr indent="-285750" lvl="1" marL="742950" rtl="0" algn="l">
              <a:lnSpc>
                <a:spcPct val="150000"/>
              </a:lnSpc>
              <a:spcBef>
                <a:spcPts val="0"/>
              </a:spcBef>
              <a:spcAft>
                <a:spcPts val="0"/>
              </a:spcAft>
              <a:buSzPts val="1320"/>
              <a:buChar char="■"/>
            </a:pPr>
            <a:r>
              <a:rPr lang="en-US"/>
              <a:t>Mô tả các sản phẩm: phần cứng, phần mềm, tài liệu, bảo trì bảo hành</a:t>
            </a:r>
            <a:endParaRPr/>
          </a:p>
        </p:txBody>
      </p:sp>
    </p:spTree>
  </p:cSld>
  <p:clrMapOvr>
    <a:masterClrMapping/>
  </p:clrMapOvr>
  <p:transition>
    <p:zoom dir="o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11" name="Google Shape;411;p3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12" name="Google Shape;412;p3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Tài liệu giúp:</a:t>
            </a:r>
            <a:endParaRPr/>
          </a:p>
          <a:p>
            <a:pPr indent="-285750" lvl="1" marL="742950" rtl="0" algn="l">
              <a:lnSpc>
                <a:spcPct val="150000"/>
              </a:lnSpc>
              <a:spcBef>
                <a:spcPts val="0"/>
              </a:spcBef>
              <a:spcAft>
                <a:spcPts val="0"/>
              </a:spcAft>
              <a:buSzPts val="1320"/>
              <a:buChar char="■"/>
            </a:pPr>
            <a:r>
              <a:rPr lang="en-US"/>
              <a:t>Hệ thống hóa và ghi nhớ đầy đủ các vấn đề, các yêu cầu đặt ra của hệ thống. Là cơ sở pháp lý để giải quyết và triển khai giai đoạn sau.</a:t>
            </a:r>
            <a:endParaRPr/>
          </a:p>
          <a:p>
            <a:pPr indent="-285750" lvl="1" marL="742950" rtl="0" algn="l">
              <a:lnSpc>
                <a:spcPct val="150000"/>
              </a:lnSpc>
              <a:spcBef>
                <a:spcPts val="0"/>
              </a:spcBef>
              <a:spcAft>
                <a:spcPts val="0"/>
              </a:spcAft>
              <a:buSzPts val="1320"/>
              <a:buChar char="■"/>
            </a:pPr>
            <a:r>
              <a:rPr lang="en-US"/>
              <a:t>Giải quyết những vấn đề phức tạp của hệ thống trước khi thiết kế (kể cả chương trình và dữ liệu), lập trình.</a:t>
            </a:r>
            <a:endParaRPr/>
          </a:p>
          <a:p>
            <a:pPr indent="-285750" lvl="1" marL="742950" rtl="0" algn="l">
              <a:lnSpc>
                <a:spcPct val="150000"/>
              </a:lnSpc>
              <a:spcBef>
                <a:spcPts val="0"/>
              </a:spcBef>
              <a:spcAft>
                <a:spcPts val="0"/>
              </a:spcAft>
              <a:buSzPts val="1320"/>
              <a:buChar char="■"/>
            </a:pPr>
            <a:r>
              <a:rPr lang="en-US"/>
              <a:t>Các nhóm chuyên gia khác nhau có thể thừa kế thực hiện, hoặc hoàn thiện trong giai đoạn tiếp</a:t>
            </a:r>
            <a:endParaRPr/>
          </a:p>
        </p:txBody>
      </p:sp>
    </p:spTree>
  </p:cSld>
  <p:clrMapOvr>
    <a:masterClrMapping/>
  </p:clrMapOvr>
  <p:transition>
    <p:zoom dir="o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19" name="Google Shape;419;p3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20" name="Google Shape;420;p3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Lưu ý:</a:t>
            </a:r>
            <a:endParaRPr/>
          </a:p>
          <a:p>
            <a:pPr indent="-285750" lvl="1" marL="742950" rtl="0" algn="l">
              <a:lnSpc>
                <a:spcPct val="150000"/>
              </a:lnSpc>
              <a:spcBef>
                <a:spcPts val="0"/>
              </a:spcBef>
              <a:spcAft>
                <a:spcPts val="0"/>
              </a:spcAft>
              <a:buSzPts val="1320"/>
              <a:buChar char="■"/>
            </a:pPr>
            <a:r>
              <a:rPr lang="en-US"/>
              <a:t>Đây là tài liệu kỹ thuật, nhưng được viết cho người không có chuyên môn kỹ thuật đọc.</a:t>
            </a:r>
            <a:endParaRPr/>
          </a:p>
          <a:p>
            <a:pPr indent="-285750" lvl="1" marL="742950" rtl="0" algn="l">
              <a:lnSpc>
                <a:spcPct val="150000"/>
              </a:lnSpc>
              <a:spcBef>
                <a:spcPts val="0"/>
              </a:spcBef>
              <a:spcAft>
                <a:spcPts val="0"/>
              </a:spcAft>
              <a:buSzPts val="1320"/>
              <a:buChar char="■"/>
            </a:pPr>
            <a:r>
              <a:rPr lang="en-US"/>
              <a:t>Đây cũng là cơ sở pháp lý để thực hiện các giao kèo giữa người thực hiện dự án với người sử dụng.</a:t>
            </a:r>
            <a:endParaRPr/>
          </a:p>
        </p:txBody>
      </p:sp>
    </p:spTree>
  </p:cSld>
  <p:clrMapOvr>
    <a:masterClrMapping/>
  </p:clrMapOvr>
  <p:transition>
    <p:zoom dir="o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27" name="Google Shape;427;p3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Cấu trúc tài liệu đặc tả</a:t>
            </a:r>
            <a:endParaRPr/>
          </a:p>
        </p:txBody>
      </p:sp>
      <p:sp>
        <p:nvSpPr>
          <p:cNvPr id="428" name="Google Shape;428;p3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80"/>
              <a:buChar char="■"/>
            </a:pPr>
            <a:r>
              <a:rPr lang="en-US"/>
              <a:t>Phiên bản tài liệu</a:t>
            </a:r>
            <a:endParaRPr/>
          </a:p>
          <a:p>
            <a:pPr indent="-342900" lvl="0" marL="342900" rtl="0" algn="l">
              <a:lnSpc>
                <a:spcPct val="90000"/>
              </a:lnSpc>
              <a:spcBef>
                <a:spcPts val="560"/>
              </a:spcBef>
              <a:spcAft>
                <a:spcPts val="0"/>
              </a:spcAft>
              <a:buSzPts val="1680"/>
              <a:buChar char="■"/>
            </a:pPr>
            <a:r>
              <a:rPr lang="en-US"/>
              <a:t>Mục lục</a:t>
            </a:r>
            <a:endParaRPr/>
          </a:p>
          <a:p>
            <a:pPr indent="-342900" lvl="0" marL="342900" rtl="0" algn="l">
              <a:lnSpc>
                <a:spcPct val="90000"/>
              </a:lnSpc>
              <a:spcBef>
                <a:spcPts val="560"/>
              </a:spcBef>
              <a:spcAft>
                <a:spcPts val="0"/>
              </a:spcAft>
              <a:buSzPts val="1680"/>
              <a:buChar char="■"/>
            </a:pPr>
            <a:r>
              <a:rPr lang="en-US"/>
              <a:t>Tổng quan về hệ thống</a:t>
            </a:r>
            <a:endParaRPr/>
          </a:p>
          <a:p>
            <a:pPr indent="-285750" lvl="1" marL="742950" rtl="0" algn="l">
              <a:lnSpc>
                <a:spcPct val="90000"/>
              </a:lnSpc>
              <a:spcBef>
                <a:spcPts val="480"/>
              </a:spcBef>
              <a:spcAft>
                <a:spcPts val="0"/>
              </a:spcAft>
              <a:buSzPts val="1320"/>
              <a:buChar char="■"/>
            </a:pPr>
            <a:r>
              <a:rPr lang="en-US"/>
              <a:t>Mô tả chung về hệ thống</a:t>
            </a:r>
            <a:endParaRPr/>
          </a:p>
          <a:p>
            <a:pPr indent="-285750" lvl="1" marL="742950" rtl="0" algn="l">
              <a:lnSpc>
                <a:spcPct val="90000"/>
              </a:lnSpc>
              <a:spcBef>
                <a:spcPts val="480"/>
              </a:spcBef>
              <a:spcAft>
                <a:spcPts val="0"/>
              </a:spcAft>
              <a:buSzPts val="1320"/>
              <a:buChar char="■"/>
            </a:pPr>
            <a:r>
              <a:rPr lang="en-US"/>
              <a:t>Các chức năng chính, </a:t>
            </a:r>
            <a:endParaRPr/>
          </a:p>
          <a:p>
            <a:pPr indent="-285750" lvl="1" marL="742950" rtl="0" algn="l">
              <a:lnSpc>
                <a:spcPct val="90000"/>
              </a:lnSpc>
              <a:spcBef>
                <a:spcPts val="480"/>
              </a:spcBef>
              <a:spcAft>
                <a:spcPts val="0"/>
              </a:spcAft>
              <a:buSzPts val="1320"/>
              <a:buChar char="■"/>
            </a:pPr>
            <a:r>
              <a:rPr lang="en-US"/>
              <a:t>Quan hệ giữa các chức năng</a:t>
            </a:r>
            <a:endParaRPr/>
          </a:p>
          <a:p>
            <a:pPr indent="-285750" lvl="1" marL="742950" rtl="0" algn="l">
              <a:lnSpc>
                <a:spcPct val="90000"/>
              </a:lnSpc>
              <a:spcBef>
                <a:spcPts val="480"/>
              </a:spcBef>
              <a:spcAft>
                <a:spcPts val="0"/>
              </a:spcAft>
              <a:buSzPts val="1320"/>
              <a:buChar char="■"/>
            </a:pPr>
            <a:r>
              <a:rPr lang="en-US"/>
              <a:t>Giao diện sử dụng</a:t>
            </a:r>
            <a:endParaRPr/>
          </a:p>
          <a:p>
            <a:pPr indent="-342900" lvl="0" marL="342900" rtl="0" algn="l">
              <a:lnSpc>
                <a:spcPct val="90000"/>
              </a:lnSpc>
              <a:spcBef>
                <a:spcPts val="560"/>
              </a:spcBef>
              <a:spcAft>
                <a:spcPts val="0"/>
              </a:spcAft>
              <a:buSzPts val="1680"/>
              <a:buChar char="■"/>
            </a:pPr>
            <a:r>
              <a:rPr lang="en-US"/>
              <a:t>Các mục tiêu chính</a:t>
            </a:r>
            <a:endParaRPr/>
          </a:p>
          <a:p>
            <a:pPr indent="-285750" lvl="1" marL="742950" rtl="0" algn="l">
              <a:lnSpc>
                <a:spcPct val="90000"/>
              </a:lnSpc>
              <a:spcBef>
                <a:spcPts val="480"/>
              </a:spcBef>
              <a:spcAft>
                <a:spcPts val="0"/>
              </a:spcAft>
              <a:buSzPts val="1320"/>
              <a:buChar char="■"/>
            </a:pPr>
            <a:r>
              <a:rPr lang="en-US"/>
              <a:t>Mục tiêu và quan hệ với các chức năng hệ thống</a:t>
            </a:r>
            <a:endParaRPr/>
          </a:p>
        </p:txBody>
      </p:sp>
    </p:spTree>
  </p:cSld>
  <p:clrMapOvr>
    <a:masterClrMapping/>
  </p:clrMapOvr>
  <p:transition>
    <p:zoom dir="o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35" name="Google Shape;435;p3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36" name="Google Shape;436;p39"/>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Các yêu cầu hệ thống, chẳng hạn:</a:t>
            </a:r>
            <a:endParaRPr/>
          </a:p>
          <a:p>
            <a:pPr indent="-285750" lvl="1" marL="742950" rtl="0" algn="l">
              <a:lnSpc>
                <a:spcPct val="150000"/>
              </a:lnSpc>
              <a:spcBef>
                <a:spcPts val="0"/>
              </a:spcBef>
              <a:spcAft>
                <a:spcPts val="0"/>
              </a:spcAft>
              <a:buSzPts val="1320"/>
              <a:buChar char="■"/>
            </a:pPr>
            <a:r>
              <a:rPr lang="en-US"/>
              <a:t>Tương thích với hệ thống cũ</a:t>
            </a:r>
            <a:endParaRPr/>
          </a:p>
          <a:p>
            <a:pPr indent="-285750" lvl="1" marL="742950" rtl="0" algn="l">
              <a:lnSpc>
                <a:spcPct val="150000"/>
              </a:lnSpc>
              <a:spcBef>
                <a:spcPts val="0"/>
              </a:spcBef>
              <a:spcAft>
                <a:spcPts val="0"/>
              </a:spcAft>
              <a:buSzPts val="1320"/>
              <a:buChar char="■"/>
            </a:pPr>
            <a:r>
              <a:rPr lang="en-US"/>
              <a:t>Sự tương tác giữa các thành phần</a:t>
            </a:r>
            <a:endParaRPr/>
          </a:p>
          <a:p>
            <a:pPr indent="-285750" lvl="1" marL="742950" rtl="0" algn="l">
              <a:lnSpc>
                <a:spcPct val="150000"/>
              </a:lnSpc>
              <a:spcBef>
                <a:spcPts val="0"/>
              </a:spcBef>
              <a:spcAft>
                <a:spcPts val="0"/>
              </a:spcAft>
              <a:buSzPts val="1320"/>
              <a:buChar char="■"/>
            </a:pPr>
            <a:r>
              <a:rPr lang="en-US"/>
              <a:t>Độ tin cậy của hệ thống</a:t>
            </a:r>
            <a:endParaRPr/>
          </a:p>
          <a:p>
            <a:pPr indent="-285750" lvl="1" marL="742950" rtl="0" algn="l">
              <a:lnSpc>
                <a:spcPct val="150000"/>
              </a:lnSpc>
              <a:spcBef>
                <a:spcPts val="0"/>
              </a:spcBef>
              <a:spcAft>
                <a:spcPts val="0"/>
              </a:spcAft>
              <a:buSzPts val="1320"/>
              <a:buChar char="■"/>
            </a:pPr>
            <a:r>
              <a:rPr lang="en-US"/>
              <a:t>Độ an toàn, bảo mật hệ thống</a:t>
            </a:r>
            <a:endParaRPr/>
          </a:p>
          <a:p>
            <a:pPr indent="-285750" lvl="1" marL="742950" rtl="0" algn="l">
              <a:lnSpc>
                <a:spcPct val="150000"/>
              </a:lnSpc>
              <a:spcBef>
                <a:spcPts val="0"/>
              </a:spcBef>
              <a:spcAft>
                <a:spcPts val="0"/>
              </a:spcAft>
              <a:buSzPts val="1320"/>
              <a:buChar char="■"/>
            </a:pPr>
            <a:r>
              <a:rPr lang="en-US"/>
              <a:t>Mức độ thân thiện với người dùng</a:t>
            </a:r>
            <a:endParaRPr/>
          </a:p>
          <a:p>
            <a:pPr indent="-285750" lvl="1" marL="742950" rtl="0" algn="l">
              <a:lnSpc>
                <a:spcPct val="150000"/>
              </a:lnSpc>
              <a:spcBef>
                <a:spcPts val="0"/>
              </a:spcBef>
              <a:spcAft>
                <a:spcPts val="0"/>
              </a:spcAft>
              <a:buSzPts val="1320"/>
              <a:buChar char="■"/>
            </a:pPr>
            <a:r>
              <a:rPr lang="en-US"/>
              <a:t>v.v...</a:t>
            </a:r>
            <a:endParaRPr/>
          </a:p>
        </p:txBody>
      </p:sp>
    </p:spTree>
  </p:cSld>
  <p:clrMapOvr>
    <a:masterClrMapping/>
  </p:clrMapOvr>
  <p:transition>
    <p:zoom dir="ou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43" name="Google Shape;443;p40"/>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44" name="Google Shape;444;p40"/>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Các sản phẩm chuyển giao</a:t>
            </a:r>
            <a:endParaRPr/>
          </a:p>
          <a:p>
            <a:pPr indent="-285750" lvl="1" marL="742950" rtl="0" algn="l">
              <a:lnSpc>
                <a:spcPct val="150000"/>
              </a:lnSpc>
              <a:spcBef>
                <a:spcPts val="0"/>
              </a:spcBef>
              <a:spcAft>
                <a:spcPts val="0"/>
              </a:spcAft>
              <a:buSzPts val="1320"/>
              <a:buChar char="■"/>
            </a:pPr>
            <a:r>
              <a:rPr lang="en-US"/>
              <a:t>Liệt kê danh mục các sản phẩm</a:t>
            </a:r>
            <a:endParaRPr/>
          </a:p>
          <a:p>
            <a:pPr indent="-285750" lvl="1" marL="742950" rtl="0" algn="l">
              <a:lnSpc>
                <a:spcPct val="150000"/>
              </a:lnSpc>
              <a:spcBef>
                <a:spcPts val="0"/>
              </a:spcBef>
              <a:spcAft>
                <a:spcPts val="0"/>
              </a:spcAft>
              <a:buSzPts val="1320"/>
              <a:buChar char="■"/>
            </a:pPr>
            <a:r>
              <a:rPr lang="en-US"/>
              <a:t>Mỗi sản phẩm bao gồm những gì</a:t>
            </a:r>
            <a:endParaRPr/>
          </a:p>
          <a:p>
            <a:pPr indent="-285750" lvl="1" marL="742950" rtl="0" algn="l">
              <a:lnSpc>
                <a:spcPct val="150000"/>
              </a:lnSpc>
              <a:spcBef>
                <a:spcPts val="0"/>
              </a:spcBef>
              <a:spcAft>
                <a:spcPts val="0"/>
              </a:spcAft>
              <a:buSzPts val="1320"/>
              <a:buChar char="■"/>
            </a:pPr>
            <a:r>
              <a:rPr lang="en-US"/>
              <a:t>Huấn luyện sử dụng</a:t>
            </a:r>
            <a:endParaRPr/>
          </a:p>
          <a:p>
            <a:pPr indent="-285750" lvl="1" marL="742950" rtl="0" algn="l">
              <a:lnSpc>
                <a:spcPct val="150000"/>
              </a:lnSpc>
              <a:spcBef>
                <a:spcPts val="0"/>
              </a:spcBef>
              <a:spcAft>
                <a:spcPts val="0"/>
              </a:spcAft>
              <a:buSzPts val="1320"/>
              <a:buChar char="■"/>
            </a:pPr>
            <a:r>
              <a:rPr lang="en-US"/>
              <a:t>v.v...</a:t>
            </a:r>
            <a:endParaRPr/>
          </a:p>
          <a:p>
            <a:pPr indent="-342900" lvl="0" marL="342900" rtl="0" algn="l">
              <a:lnSpc>
                <a:spcPct val="150000"/>
              </a:lnSpc>
              <a:spcBef>
                <a:spcPts val="0"/>
              </a:spcBef>
              <a:spcAft>
                <a:spcPts val="0"/>
              </a:spcAft>
              <a:buSzPts val="1680"/>
              <a:buChar char="■"/>
            </a:pPr>
            <a:r>
              <a:rPr lang="en-US"/>
              <a:t>Sự chấp nhận kết quả</a:t>
            </a:r>
            <a:endParaRPr/>
          </a:p>
          <a:p>
            <a:pPr indent="-285750" lvl="1" marL="742950" rtl="0" algn="l">
              <a:lnSpc>
                <a:spcPct val="150000"/>
              </a:lnSpc>
              <a:spcBef>
                <a:spcPts val="0"/>
              </a:spcBef>
              <a:spcAft>
                <a:spcPts val="0"/>
              </a:spcAft>
              <a:buSzPts val="1320"/>
              <a:buChar char="■"/>
            </a:pPr>
            <a:r>
              <a:rPr lang="en-US"/>
              <a:t>Thỏa thuận về việc bàn giao sản phẩm</a:t>
            </a:r>
            <a:endParaRPr/>
          </a:p>
          <a:p>
            <a:pPr indent="-285750" lvl="1" marL="742950" rtl="0" algn="l">
              <a:lnSpc>
                <a:spcPct val="150000"/>
              </a:lnSpc>
              <a:spcBef>
                <a:spcPts val="0"/>
              </a:spcBef>
              <a:spcAft>
                <a:spcPts val="0"/>
              </a:spcAft>
              <a:buSzPts val="1320"/>
              <a:buChar char="■"/>
            </a:pPr>
            <a:r>
              <a:rPr lang="en-US"/>
              <a:t>Cách thức kiểm tra để chấp nhận</a:t>
            </a:r>
            <a:endParaRPr/>
          </a:p>
        </p:txBody>
      </p:sp>
    </p:spTree>
  </p:cSld>
  <p:clrMapOvr>
    <a:masterClrMapping/>
  </p:clrMapOvr>
  <p:transition>
    <p:zoom dir="ou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51" name="Google Shape;451;p4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52" name="Google Shape;452;p41"/>
          <p:cNvSpPr txBox="1"/>
          <p:nvPr>
            <p:ph idx="1" type="body"/>
          </p:nvPr>
        </p:nvSpPr>
        <p:spPr>
          <a:xfrm>
            <a:off x="381000" y="1447800"/>
            <a:ext cx="87630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t>Quản lý sự thay đổi:</a:t>
            </a:r>
            <a:endParaRPr/>
          </a:p>
          <a:p>
            <a:pPr indent="-285750" lvl="1" marL="742950" rtl="0" algn="l">
              <a:lnSpc>
                <a:spcPct val="150000"/>
              </a:lnSpc>
              <a:spcBef>
                <a:spcPts val="0"/>
              </a:spcBef>
              <a:spcAft>
                <a:spcPts val="0"/>
              </a:spcAft>
              <a:buSzPts val="1320"/>
              <a:buChar char="■"/>
            </a:pPr>
            <a:r>
              <a:rPr lang="en-US"/>
              <a:t>Vấn đề cần thực hiện khi có sự thay đổi về dự án thay đổi</a:t>
            </a:r>
            <a:endParaRPr/>
          </a:p>
          <a:p>
            <a:pPr indent="-285750" lvl="1" marL="742950" rtl="0" algn="l">
              <a:lnSpc>
                <a:spcPct val="150000"/>
              </a:lnSpc>
              <a:spcBef>
                <a:spcPts val="0"/>
              </a:spcBef>
              <a:spcAft>
                <a:spcPts val="0"/>
              </a:spcAft>
              <a:buSzPts val="1320"/>
              <a:buChar char="■"/>
            </a:pPr>
            <a:r>
              <a:rPr lang="en-US"/>
              <a:t>Người chịu trách nhiệm để thỏa luận những thay đổi dự án</a:t>
            </a:r>
            <a:endParaRPr/>
          </a:p>
          <a:p>
            <a:pPr indent="-342900" lvl="0" marL="342900" rtl="0" algn="l">
              <a:lnSpc>
                <a:spcPct val="150000"/>
              </a:lnSpc>
              <a:spcBef>
                <a:spcPts val="0"/>
              </a:spcBef>
              <a:spcAft>
                <a:spcPts val="0"/>
              </a:spcAft>
              <a:buSzPts val="1680"/>
              <a:buChar char="■"/>
            </a:pPr>
            <a:r>
              <a:rPr lang="en-US"/>
              <a:t>Thỏa thuận về sự trao đổi</a:t>
            </a:r>
            <a:endParaRPr/>
          </a:p>
          <a:p>
            <a:pPr indent="-285750" lvl="1" marL="742950" rtl="0" algn="l">
              <a:lnSpc>
                <a:spcPct val="150000"/>
              </a:lnSpc>
              <a:spcBef>
                <a:spcPts val="0"/>
              </a:spcBef>
              <a:spcAft>
                <a:spcPts val="0"/>
              </a:spcAft>
              <a:buSzPts val="1320"/>
              <a:buChar char="■"/>
            </a:pPr>
            <a:r>
              <a:rPr lang="en-US"/>
              <a:t>Quy định về sự trao đổi giữa hai phía</a:t>
            </a:r>
            <a:endParaRPr/>
          </a:p>
          <a:p>
            <a:pPr indent="-342900" lvl="0" marL="342900" rtl="0" algn="l">
              <a:lnSpc>
                <a:spcPct val="150000"/>
              </a:lnSpc>
              <a:spcBef>
                <a:spcPts val="0"/>
              </a:spcBef>
              <a:spcAft>
                <a:spcPts val="0"/>
              </a:spcAft>
              <a:buSzPts val="1680"/>
              <a:buChar char="■"/>
            </a:pPr>
            <a:r>
              <a:rPr lang="en-US"/>
              <a:t>Yêu cầu về người sử dụng</a:t>
            </a:r>
            <a:endParaRPr/>
          </a:p>
          <a:p>
            <a:pPr indent="-285750" lvl="1" marL="742950" rtl="0" algn="l">
              <a:lnSpc>
                <a:spcPct val="150000"/>
              </a:lnSpc>
              <a:spcBef>
                <a:spcPts val="0"/>
              </a:spcBef>
              <a:spcAft>
                <a:spcPts val="0"/>
              </a:spcAft>
              <a:buSzPts val="1320"/>
              <a:buChar char="■"/>
            </a:pPr>
            <a:r>
              <a:rPr lang="en-US"/>
              <a:t>Nêu trách nhiệm người sử dụng</a:t>
            </a:r>
            <a:endParaRPr/>
          </a:p>
        </p:txBody>
      </p:sp>
    </p:spTree>
  </p:cSld>
  <p:clrMapOvr>
    <a:masterClrMapping/>
  </p:clrMapOvr>
  <p:transition>
    <p:zoom dir="out"/>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59" name="Google Shape;459;p4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Tài liệu thiết kế kiến trúc</a:t>
            </a:r>
            <a:endParaRPr/>
          </a:p>
        </p:txBody>
      </p:sp>
      <p:sp>
        <p:nvSpPr>
          <p:cNvPr id="460" name="Google Shape;460;p4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Nhằm mô tả hệ thống hoạt động như thế nào.</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Mô tả chung về kiến trúc hệ thống mang tính tổng thể.</a:t>
            </a:r>
            <a:endParaRPr/>
          </a:p>
          <a:p>
            <a:pPr indent="-236220" lvl="0" marL="342900" rtl="0" algn="l">
              <a:lnSpc>
                <a:spcPct val="80000"/>
              </a:lnSpc>
              <a:spcBef>
                <a:spcPts val="560"/>
              </a:spcBef>
              <a:spcAft>
                <a:spcPts val="0"/>
              </a:spcAft>
              <a:buSzPts val="1680"/>
              <a:buNone/>
            </a:pPr>
            <a:r>
              <a:t/>
            </a:r>
            <a:endParaRPr/>
          </a:p>
        </p:txBody>
      </p:sp>
    </p:spTree>
  </p:cSld>
  <p:clrMapOvr>
    <a:masterClrMapping/>
  </p:clrMapOvr>
  <p:transition>
    <p:zoom dir="out"/>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67" name="Google Shape;467;p4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Cấu trúc tài liệu</a:t>
            </a:r>
            <a:endParaRPr/>
          </a:p>
        </p:txBody>
      </p:sp>
      <p:sp>
        <p:nvSpPr>
          <p:cNvPr id="468" name="Google Shape;468;p4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Phần cứng: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Thực chất đây là mô hình phần cứng để triển khai hệ thống.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Hệ thống mạng được kết nối với nhau như thế nào. Chức năng của từng nút trong hệ thống mạng đó.</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Phần mềm:</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Các phần mềm cần có trên máy server và máy client.</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Chức năng của từng phần mềm trong hệ thống</a:t>
            </a:r>
            <a:endParaRPr/>
          </a:p>
        </p:txBody>
      </p:sp>
    </p:spTree>
  </p:cSld>
  <p:clrMapOvr>
    <a:masterClrMapping/>
  </p:clrMapOvr>
  <p:transition>
    <p:zoom dir="out"/>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75" name="Google Shape;475;p4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476" name="Google Shape;476;p4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Mức tổng thể được tiến hành bằng phương pháp thiết kế có cấu trúc.</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Từ trên xuống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Chia hệ thống thành nhiều hệ thống nhỏ hơn.</a:t>
            </a:r>
            <a:endParaRPr/>
          </a:p>
        </p:txBody>
      </p:sp>
    </p:spTree>
  </p:cSld>
  <p:clrMapOvr>
    <a:masterClrMapping/>
  </p:clrMapOvr>
  <p:transition>
    <p:zoom dir="out"/>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83" name="Google Shape;483;p4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Giai đoạn thiết kế</a:t>
            </a:r>
            <a:endParaRPr/>
          </a:p>
        </p:txBody>
      </p:sp>
      <p:sp>
        <p:nvSpPr>
          <p:cNvPr id="484" name="Google Shape;484;p4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Mục tiêu của giai đoạn thiết kế là đưa các kết quả của quá trình phân tích thành những giải pháp kỹ thuật cụ thể, </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Qua đó xác định chính xác cách thức các chức năng làm việc, từ đó bảo đảm hệ thống hoạt động như thế nào</a:t>
            </a:r>
            <a:endParaRPr/>
          </a:p>
        </p:txBody>
      </p:sp>
    </p:spTree>
  </p:cSld>
  <p:clrMapOvr>
    <a:masterClrMapping/>
  </p:clrMapOvr>
  <p:transition>
    <p:zoom dir="out"/>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91" name="Google Shape;491;p4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Quy trình thực hiện</a:t>
            </a:r>
            <a:endParaRPr/>
          </a:p>
        </p:txBody>
      </p:sp>
      <p:sp>
        <p:nvSpPr>
          <p:cNvPr id="492" name="Google Shape;492;p4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Trên cơ sở thiết kế tổng thể của giai đoạn phân tích để xây dựng các bước sau.</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Bước tiếp theo xây dựng các khối phần cứng và các ứng dụng hoạt động trong hệ thống.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Cuối cùng đi vào thiết kế chi tiết, nhằm đưa ra các thành phần cơ bản tạo ra phần cứng, và các chương trình con của các phần mềm ứng dụng.</a:t>
            </a:r>
            <a:endParaRPr/>
          </a:p>
        </p:txBody>
      </p:sp>
    </p:spTree>
  </p:cSld>
  <p:clrMapOvr>
    <a:masterClrMapping/>
  </p:clrMapOvr>
  <p:transition>
    <p:zoom dir="out"/>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499" name="Google Shape;499;p4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Kết quả</a:t>
            </a:r>
            <a:endParaRPr/>
          </a:p>
        </p:txBody>
      </p:sp>
      <p:sp>
        <p:nvSpPr>
          <p:cNvPr id="500" name="Google Shape;500;p4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Tài liệu đặc tả thiết kế: đây là tài liệu mang tính kỹ thuật; sử dụng ngôn từ chặt chẽ và chính xác.</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Trình bày theo dạng top-down, qua đó thể hiện ý đồ thiết kế ở trong những trang đầu tiên.</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Sử dụng ngôn ngữ chuẩn làm mô hình thiết kế; khai thác tối đa các hình vẽ và sơ đồ</a:t>
            </a:r>
            <a:endParaRPr/>
          </a:p>
        </p:txBody>
      </p:sp>
    </p:spTree>
  </p:cSld>
  <p:clrMapOvr>
    <a:masterClrMapping/>
  </p:clrMapOvr>
  <p:transition>
    <p:zoom dir="out"/>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07" name="Google Shape;507;p4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Cấu trúc tài liệu đặc tả thiết kế</a:t>
            </a:r>
            <a:endParaRPr/>
          </a:p>
        </p:txBody>
      </p:sp>
      <p:sp>
        <p:nvSpPr>
          <p:cNvPr id="508" name="Google Shape;508;p4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Tổng quan về hệ thống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Các mục tiêu</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Các sơ đồ thiết kế kiến trúc</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Thiết kế hệ thống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Phần cứng:</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Sơ đồ cấu trúc, máy server, workstation, hệ thống mạng</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Các nhà cung cấp</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Yêu cầu kỹ thuật</a:t>
            </a:r>
            <a:endParaRPr/>
          </a:p>
          <a:p>
            <a:pPr indent="-201930" lvl="1" marL="742950" rtl="0" algn="l">
              <a:lnSpc>
                <a:spcPct val="80000"/>
              </a:lnSpc>
              <a:spcBef>
                <a:spcPts val="480"/>
              </a:spcBef>
              <a:spcAft>
                <a:spcPts val="0"/>
              </a:spcAft>
              <a:buSzPts val="1320"/>
              <a:buNone/>
            </a:pPr>
            <a:r>
              <a:t/>
            </a:r>
            <a:endParaRPr/>
          </a:p>
        </p:txBody>
      </p:sp>
    </p:spTree>
  </p:cSld>
  <p:clrMapOvr>
    <a:masterClrMapping/>
  </p:clrMapOvr>
  <p:transition>
    <p:zoom dir="out"/>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15" name="Google Shape;515;p4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516" name="Google Shape;516;p49"/>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latin typeface="Arial"/>
                <a:ea typeface="Arial"/>
                <a:cs typeface="Arial"/>
                <a:sym typeface="Arial"/>
              </a:rPr>
              <a:t>Phần mềm có sẵn</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Chức năng từng phần mềm</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Loại phần mềm</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Nhà cung cấp</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Thiết kế phần mềm</a:t>
            </a:r>
            <a:endParaRPr/>
          </a:p>
          <a:p>
            <a:pPr indent="-228600" lvl="2" marL="1143000" rtl="0" algn="l">
              <a:lnSpc>
                <a:spcPct val="150000"/>
              </a:lnSpc>
              <a:spcBef>
                <a:spcPts val="0"/>
              </a:spcBef>
              <a:spcAft>
                <a:spcPts val="0"/>
              </a:spcAft>
              <a:buSzPts val="1200"/>
              <a:buChar char="■"/>
            </a:pPr>
            <a:r>
              <a:rPr lang="en-US">
                <a:latin typeface="Arial"/>
                <a:ea typeface="Arial"/>
                <a:cs typeface="Arial"/>
                <a:sym typeface="Arial"/>
              </a:rPr>
              <a:t>Kỹ thuật thiết kế và lập trình</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Thiết kế cơ sở dữ liệu</a:t>
            </a:r>
            <a:endParaRPr/>
          </a:p>
        </p:txBody>
      </p:sp>
    </p:spTree>
  </p:cSld>
  <p:clrMapOvr>
    <a:masterClrMapping/>
  </p:clrMapOvr>
  <p:transition>
    <p:zoom dir="out"/>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23" name="Google Shape;523;p50"/>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Giai đoạn phát triển</a:t>
            </a:r>
            <a:endParaRPr/>
          </a:p>
        </p:txBody>
      </p:sp>
      <p:sp>
        <p:nvSpPr>
          <p:cNvPr id="524" name="Google Shape;524;p50"/>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Còn được gọi là giai đoạn hiện thực hệ thống.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Các đặc tả trong giai đoạn thiết kế sẽ được hiện thực, ráp nối lại để tạo thành các module trong hệ thống.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Đối với phần mềm, ngôn ngữ đặc tả chính là một ngôn ngữ lập trình cụ thể nào đó</a:t>
            </a:r>
            <a:endParaRPr/>
          </a:p>
        </p:txBody>
      </p:sp>
    </p:spTree>
  </p:cSld>
  <p:clrMapOvr>
    <a:masterClrMapping/>
  </p:clrMapOvr>
  <p:transition>
    <p:zoom dir="out"/>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31" name="Google Shape;531;p5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Công việc:</a:t>
            </a:r>
            <a:endParaRPr/>
          </a:p>
        </p:txBody>
      </p:sp>
      <p:sp>
        <p:nvSpPr>
          <p:cNvPr id="532" name="Google Shape;532;p5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Chuẩn bị phần cứng, phần mềm cần cho giai đoạn phát triển và cả giai đoạn triển khai sau này.</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Thiết kế chi tiết từng chương trình</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Lập trình để có các chương trình con</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Tinh chỉnh sản phẩm cho phù hợp</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Kiểm thử trong quá trình phát triển</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Biên soạn tài liệu</a:t>
            </a:r>
            <a:endParaRPr/>
          </a:p>
        </p:txBody>
      </p:sp>
    </p:spTree>
  </p:cSld>
  <p:clrMapOvr>
    <a:masterClrMapping/>
  </p:clrMapOvr>
  <p:transition>
    <p:zoom dir="out"/>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39" name="Google Shape;539;p5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Kết quả:</a:t>
            </a:r>
            <a:endParaRPr/>
          </a:p>
        </p:txBody>
      </p:sp>
      <p:sp>
        <p:nvSpPr>
          <p:cNvPr id="540" name="Google Shape;540;p5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Tài liệu dự toán kinh phí về phần cứng, phần mềm cần cho hệ thống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Tài liệu thiết kế chi tiết từng module, từng chương trình con.</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Mã nguồn chương trình và tài liệu minh họa thiết kế chi tiết chương trình</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Kế hoạch kiểm thử</a:t>
            </a:r>
            <a:endParaRPr/>
          </a:p>
        </p:txBody>
      </p:sp>
    </p:spTree>
  </p:cSld>
  <p:clrMapOvr>
    <a:masterClrMapping/>
  </p:clrMapOvr>
  <p:transition>
    <p:zoom dir="out"/>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47" name="Google Shape;547;p5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Giai đoạn kiểm thử</a:t>
            </a:r>
            <a:endParaRPr/>
          </a:p>
        </p:txBody>
      </p:sp>
      <p:sp>
        <p:nvSpPr>
          <p:cNvPr id="548" name="Google Shape;548;p5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Mục tiêu bảo đảm hệ thống hoạt động đúng yêu cầu đề ra.</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Có các hình thức kiểm thử:</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Kiểm thử từng đơn vị chương trình (unit testing), bảo đảm các chương trình con, các lớp hoạt động đúng.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Kiểm thử tích hợp (integration testing): kiểm tra sự phối hợp cùng nhau của các module, các chương trình con. Chính là sự kết hợp các thành phần để xem chúng hoạt động đúng yêu cầu không</a:t>
            </a:r>
            <a:endParaRPr/>
          </a:p>
        </p:txBody>
      </p:sp>
    </p:spTree>
  </p:cSld>
  <p:clrMapOvr>
    <a:masterClrMapping/>
  </p:clrMapOvr>
  <p:transition>
    <p:zoom dir="out"/>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55" name="Google Shape;555;p5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556" name="Google Shape;556;p5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85750" lvl="1" marL="742950" rtl="0" algn="l">
              <a:lnSpc>
                <a:spcPct val="150000"/>
              </a:lnSpc>
              <a:spcBef>
                <a:spcPts val="0"/>
              </a:spcBef>
              <a:spcAft>
                <a:spcPts val="0"/>
              </a:spcAft>
              <a:buSzPts val="1320"/>
              <a:buChar char="■"/>
            </a:pPr>
            <a:r>
              <a:rPr lang="en-US">
                <a:latin typeface="Arial"/>
                <a:ea typeface="Arial"/>
                <a:cs typeface="Arial"/>
                <a:sym typeface="Arial"/>
              </a:rPr>
              <a:t>Kiểm tra hệ thống (system testing): nhằm để kiểm tra hệ thống hoạt động đúng theo các chức năng mà người sử dụng yêu cầu.</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Kiểm tra tính chấp nhận được (acceptance testing): Tích hợp mọi thứ vào hệ thống để người sử dụng kiểm tra hệ thống có hoạt động đúng theo yêu cầu đặt ra và đã thể hiện trong bản thiết kế. </a:t>
            </a:r>
            <a:endParaRPr/>
          </a:p>
        </p:txBody>
      </p:sp>
    </p:spTree>
  </p:cSld>
  <p:clrMapOvr>
    <a:masterClrMapping/>
  </p:clrMapOvr>
  <p:transition>
    <p:zoom dir="out"/>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63" name="Google Shape;563;p5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Kết quả:</a:t>
            </a:r>
            <a:endParaRPr/>
          </a:p>
        </p:txBody>
      </p:sp>
      <p:sp>
        <p:nvSpPr>
          <p:cNvPr id="564" name="Google Shape;564;p5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Biên bản xác nhận của người sử dụng về các chức năng hệ thống.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Xác nhận các sản phẩm của dự án đáp ứng yêu cầu đặt ra</a:t>
            </a:r>
            <a:endParaRPr/>
          </a:p>
        </p:txBody>
      </p:sp>
    </p:spTree>
  </p:cSld>
  <p:clrMapOvr>
    <a:masterClrMapping/>
  </p:clrMapOvr>
  <p:transition>
    <p:zoom dir="out"/>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571" name="Google Shape;571;p5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3.6 Giai đoạn triển khai</a:t>
            </a:r>
            <a:endParaRPr/>
          </a:p>
        </p:txBody>
      </p:sp>
      <p:sp>
        <p:nvSpPr>
          <p:cNvPr id="572" name="Google Shape;572;p5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680"/>
              <a:buChar char="■"/>
            </a:pPr>
            <a:r>
              <a:rPr lang="en-US">
                <a:latin typeface="Arial"/>
                <a:ea typeface="Arial"/>
                <a:cs typeface="Arial"/>
                <a:sym typeface="Arial"/>
              </a:rPr>
              <a:t>Giai đoạn này nhằm đưa toàn bộ hệ thống vào hoạt động</a:t>
            </a:r>
            <a:endParaRPr/>
          </a:p>
          <a:p>
            <a:pPr indent="-342900" lvl="0" marL="342900" rtl="0" algn="l">
              <a:lnSpc>
                <a:spcPct val="150000"/>
              </a:lnSpc>
              <a:spcBef>
                <a:spcPts val="0"/>
              </a:spcBef>
              <a:spcAft>
                <a:spcPts val="0"/>
              </a:spcAft>
              <a:buSzPts val="1680"/>
              <a:buChar char="■"/>
            </a:pPr>
            <a:r>
              <a:rPr lang="en-US">
                <a:latin typeface="Arial"/>
                <a:ea typeface="Arial"/>
                <a:cs typeface="Arial"/>
                <a:sym typeface="Arial"/>
              </a:rPr>
              <a:t>Những công việc thực hiện:</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Cài đặt hệ thống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Tổ chức huấn luyện</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Hướng dẫn sử dụng, giúp đỡ chuyên viên khai thác hệ thống </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Bảo trì, bảo hành hệ thống</a:t>
            </a:r>
            <a:endParaRPr/>
          </a:p>
          <a:p>
            <a:pPr indent="-285750" lvl="1" marL="742950" rtl="0" algn="l">
              <a:lnSpc>
                <a:spcPct val="150000"/>
              </a:lnSpc>
              <a:spcBef>
                <a:spcPts val="0"/>
              </a:spcBef>
              <a:spcAft>
                <a:spcPts val="0"/>
              </a:spcAft>
              <a:buSzPts val="1320"/>
              <a:buChar char="■"/>
            </a:pPr>
            <a:r>
              <a:rPr lang="en-US">
                <a:latin typeface="Arial"/>
                <a:ea typeface="Arial"/>
                <a:cs typeface="Arial"/>
                <a:sym typeface="Arial"/>
              </a:rPr>
              <a:t>Kiểm toán để hoàn tất dự án</a:t>
            </a:r>
            <a:endParaRPr/>
          </a:p>
        </p:txBody>
      </p:sp>
    </p:spTree>
  </p:cSld>
  <p:clrMapOvr>
    <a:masterClrMapping/>
  </p:clrMapOvr>
  <p:transition>
    <p:zoom dir="out"/>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7"/>
          <p:cNvSpPr txBox="1"/>
          <p:nvPr>
            <p:ph type="title"/>
          </p:nvPr>
        </p:nvSpPr>
        <p:spPr>
          <a:xfrm>
            <a:off x="685800" y="2743200"/>
            <a:ext cx="79248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END</a:t>
            </a:r>
            <a:endParaRPr/>
          </a:p>
        </p:txBody>
      </p:sp>
      <p:sp>
        <p:nvSpPr>
          <p:cNvPr id="578" name="Google Shape;578;p5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79632D-65BE-449D-AE9D-4B97DD57F3BF}"/>
</file>

<file path=customXml/itemProps2.xml><?xml version="1.0" encoding="utf-8"?>
<ds:datastoreItem xmlns:ds="http://schemas.openxmlformats.org/officeDocument/2006/customXml" ds:itemID="{5C527831-BE17-4577-9462-9B135EE3975A}"/>
</file>

<file path=customXml/itemProps3.xml><?xml version="1.0" encoding="utf-8"?>
<ds:datastoreItem xmlns:ds="http://schemas.openxmlformats.org/officeDocument/2006/customXml" ds:itemID="{26711F9A-ECA3-4BB9-80E5-4D6D04A7B5F3}"/>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dcterms:created xsi:type="dcterms:W3CDTF">1999-12-01T22:01:55Z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