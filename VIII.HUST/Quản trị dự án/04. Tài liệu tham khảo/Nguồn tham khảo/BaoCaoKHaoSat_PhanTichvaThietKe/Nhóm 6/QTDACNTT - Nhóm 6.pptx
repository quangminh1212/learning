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69"/>
  </p:notesMasterIdLst>
  <p:handoutMasterIdLst>
    <p:handoutMasterId r:id="rId70"/>
  </p:handoutMasterIdLst>
  <p:sldIdLst>
    <p:sldId id="257" r:id="rId2"/>
    <p:sldId id="311" r:id="rId3"/>
    <p:sldId id="338" r:id="rId4"/>
    <p:sldId id="279" r:id="rId5"/>
    <p:sldId id="266" r:id="rId6"/>
    <p:sldId id="277" r:id="rId7"/>
    <p:sldId id="280" r:id="rId8"/>
    <p:sldId id="281" r:id="rId9"/>
    <p:sldId id="278" r:id="rId10"/>
    <p:sldId id="282" r:id="rId11"/>
    <p:sldId id="283" r:id="rId12"/>
    <p:sldId id="284" r:id="rId13"/>
    <p:sldId id="312" r:id="rId14"/>
    <p:sldId id="285" r:id="rId15"/>
    <p:sldId id="289" r:id="rId16"/>
    <p:sldId id="290" r:id="rId17"/>
    <p:sldId id="291" r:id="rId18"/>
    <p:sldId id="292" r:id="rId19"/>
    <p:sldId id="294" r:id="rId20"/>
    <p:sldId id="293" r:id="rId21"/>
    <p:sldId id="295" r:id="rId22"/>
    <p:sldId id="296" r:id="rId23"/>
    <p:sldId id="297" r:id="rId24"/>
    <p:sldId id="313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36" r:id="rId35"/>
    <p:sldId id="33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14" r:id="rId45"/>
    <p:sldId id="288" r:id="rId46"/>
    <p:sldId id="315" r:id="rId47"/>
    <p:sldId id="286" r:id="rId48"/>
    <p:sldId id="339" r:id="rId49"/>
    <p:sldId id="267" r:id="rId50"/>
    <p:sldId id="318" r:id="rId51"/>
    <p:sldId id="340" r:id="rId52"/>
    <p:sldId id="319" r:id="rId53"/>
    <p:sldId id="320" r:id="rId54"/>
    <p:sldId id="322" r:id="rId55"/>
    <p:sldId id="324" r:id="rId56"/>
    <p:sldId id="323" r:id="rId57"/>
    <p:sldId id="325" r:id="rId58"/>
    <p:sldId id="326" r:id="rId59"/>
    <p:sldId id="327" r:id="rId60"/>
    <p:sldId id="316" r:id="rId61"/>
    <p:sldId id="287" r:id="rId62"/>
    <p:sldId id="307" r:id="rId63"/>
    <p:sldId id="308" r:id="rId64"/>
    <p:sldId id="317" r:id="rId65"/>
    <p:sldId id="309" r:id="rId66"/>
    <p:sldId id="310" r:id="rId67"/>
    <p:sldId id="269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0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83" r:id="rId3"/>
    <p:sldLayoutId id="2147483676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8B546B6A-0047-A715-1BCD-9D0808CD0B5E}"/>
              </a:ext>
            </a:extLst>
          </p:cNvPr>
          <p:cNvSpPr txBox="1">
            <a:spLocks/>
          </p:cNvSpPr>
          <p:nvPr/>
        </p:nvSpPr>
        <p:spPr>
          <a:xfrm>
            <a:off x="413011" y="1619816"/>
            <a:ext cx="7471531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3200" dirty="0">
              <a:latin typeface="Lato"/>
              <a:ea typeface="Lato"/>
              <a:cs typeface="Lato"/>
            </a:endParaRPr>
          </a:p>
          <a:p>
            <a:r>
              <a:rPr lang="en-US" sz="3200" dirty="0">
                <a:latin typeface="Lato"/>
                <a:ea typeface="Lato"/>
                <a:cs typeface="Lato"/>
              </a:rPr>
              <a:t>Quản </a:t>
            </a:r>
            <a:r>
              <a:rPr lang="en-US" sz="3200" dirty="0" err="1">
                <a:latin typeface="Lato"/>
                <a:ea typeface="Lato"/>
                <a:cs typeface="Lato"/>
              </a:rPr>
              <a:t>lý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dự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án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xây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dựng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trang</a:t>
            </a:r>
            <a:r>
              <a:rPr lang="en-US" sz="3200" dirty="0">
                <a:latin typeface="Lato"/>
                <a:ea typeface="Lato"/>
                <a:cs typeface="Lato"/>
              </a:rPr>
              <a:t> web </a:t>
            </a:r>
            <a:r>
              <a:rPr lang="en-US" sz="3200" dirty="0" err="1">
                <a:latin typeface="Lato"/>
                <a:ea typeface="Lato"/>
                <a:cs typeface="Lato"/>
              </a:rPr>
              <a:t>bán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thiết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bị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máy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tính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trực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tuyến</a:t>
            </a:r>
            <a:endParaRPr lang="vi-VN" sz="3200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602FC5C5-5E02-8B72-EC05-624027330791}"/>
              </a:ext>
            </a:extLst>
          </p:cNvPr>
          <p:cNvSpPr txBox="1">
            <a:spLocks/>
          </p:cNvSpPr>
          <p:nvPr/>
        </p:nvSpPr>
        <p:spPr>
          <a:xfrm>
            <a:off x="413012" y="3326494"/>
            <a:ext cx="7342482" cy="42411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400" dirty="0" err="1">
                <a:latin typeface="Lato"/>
                <a:ea typeface="Lato"/>
                <a:cs typeface="Lato"/>
              </a:rPr>
              <a:t>Nhóm</a:t>
            </a:r>
            <a:r>
              <a:rPr lang="en-US" sz="2400" dirty="0">
                <a:latin typeface="Lato"/>
                <a:ea typeface="Lato"/>
                <a:cs typeface="Lato"/>
              </a:rPr>
              <a:t> 6</a:t>
            </a:r>
            <a:endParaRPr lang="vi-VN" sz="24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4" name="Bảng 1">
            <a:extLst>
              <a:ext uri="{FF2B5EF4-FFF2-40B4-BE49-F238E27FC236}">
                <a16:creationId xmlns:a16="http://schemas.microsoft.com/office/drawing/2014/main" id="{6BA4387B-73FF-4F93-4DCF-A8A29AF1F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051593"/>
              </p:ext>
            </p:extLst>
          </p:nvPr>
        </p:nvGraphicFramePr>
        <p:xfrm>
          <a:off x="409238" y="3918878"/>
          <a:ext cx="5834827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898">
                  <a:extLst>
                    <a:ext uri="{9D8B030D-6E8A-4147-A177-3AD203B41FA5}">
                      <a16:colId xmlns:a16="http://schemas.microsoft.com/office/drawing/2014/main" val="177318293"/>
                    </a:ext>
                  </a:extLst>
                </a:gridCol>
                <a:gridCol w="2480329">
                  <a:extLst>
                    <a:ext uri="{9D8B030D-6E8A-4147-A177-3AD203B41FA5}">
                      <a16:colId xmlns:a16="http://schemas.microsoft.com/office/drawing/2014/main" val="1068567470"/>
                    </a:ext>
                  </a:extLst>
                </a:gridCol>
                <a:gridCol w="2935600">
                  <a:extLst>
                    <a:ext uri="{9D8B030D-6E8A-4147-A177-3AD203B41FA5}">
                      <a16:colId xmlns:a16="http://schemas.microsoft.com/office/drawing/2014/main" val="4277579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  <a:latin typeface="Lato"/>
                        </a:rPr>
                        <a:t>1.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Võ Hoàng Dương</a:t>
                      </a:r>
                      <a:endParaRPr lang="vi-VN" sz="1800" dirty="0"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202490039</a:t>
                      </a:r>
                      <a:endParaRPr lang="vi-VN" sz="1800" u="none" strike="noStrike" noProof="0" dirty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59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  <a:latin typeface="Lato"/>
                        </a:rPr>
                        <a:t>2.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Trịnh Tuấn Linh</a:t>
                      </a:r>
                      <a:endParaRPr lang="vi-VN" sz="1800" dirty="0"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202490068</a:t>
                      </a:r>
                      <a:endParaRPr lang="vi-VN" sz="1800" u="none" strike="noStrike" noProof="0" dirty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02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  <a:latin typeface="Lato"/>
                        </a:rPr>
                        <a:t>3.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Trần Đình Hảo</a:t>
                      </a:r>
                      <a:endParaRPr lang="vi-VN" sz="1800" dirty="0"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202490047</a:t>
                      </a:r>
                      <a:endParaRPr lang="vi-VN" sz="1800" u="none" strike="noStrike" noProof="0" dirty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  <a:latin typeface="Lato"/>
                        </a:rPr>
                        <a:t>4.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Trần Đức Khánh</a:t>
                      </a:r>
                      <a:endParaRPr lang="vi-VN" sz="1800" dirty="0"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202490063</a:t>
                      </a:r>
                      <a:endParaRPr lang="vi-VN" sz="1800" u="none" strike="noStrike" noProof="0" dirty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26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  <a:latin typeface="Lato"/>
                        </a:rPr>
                        <a:t>5.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Trịnh Kim Nam</a:t>
                      </a:r>
                      <a:endParaRPr lang="vi-VN" sz="1800" dirty="0"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u="none" strike="noStrike" noProof="0" dirty="0">
                          <a:solidFill>
                            <a:srgbClr val="C00000"/>
                          </a:solidFill>
                          <a:latin typeface="Lato"/>
                        </a:rPr>
                        <a:t>20239237</a:t>
                      </a:r>
                      <a:endParaRPr lang="vi-VN" sz="1800" u="none" strike="noStrike" noProof="0" dirty="0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31222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46566"/>
              </p:ext>
            </p:extLst>
          </p:nvPr>
        </p:nvGraphicFramePr>
        <p:xfrm>
          <a:off x="409238" y="5773078"/>
          <a:ext cx="58348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166">
                  <a:extLst>
                    <a:ext uri="{9D8B030D-6E8A-4147-A177-3AD203B41FA5}">
                      <a16:colId xmlns:a16="http://schemas.microsoft.com/office/drawing/2014/main" val="3113197223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2073488301"/>
                    </a:ext>
                  </a:extLst>
                </a:gridCol>
                <a:gridCol w="1048609">
                  <a:extLst>
                    <a:ext uri="{9D8B030D-6E8A-4147-A177-3AD203B41FA5}">
                      <a16:colId xmlns:a16="http://schemas.microsoft.com/office/drawing/2014/main" val="85952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kern="1200" dirty="0">
                          <a:solidFill>
                            <a:srgbClr val="C00000"/>
                          </a:solidFill>
                          <a:latin typeface="Lato"/>
                          <a:ea typeface="+mn-ea"/>
                          <a:cs typeface="+mn-cs"/>
                        </a:rPr>
                        <a:t>6.    Nguyễn </a:t>
                      </a:r>
                      <a:r>
                        <a:rPr lang="en-US" sz="1800" b="0" u="none" strike="noStrike" kern="1200" dirty="0" err="1">
                          <a:solidFill>
                            <a:srgbClr val="C00000"/>
                          </a:solidFill>
                          <a:latin typeface="Lato"/>
                          <a:ea typeface="+mn-ea"/>
                          <a:cs typeface="+mn-cs"/>
                        </a:rPr>
                        <a:t>Thế</a:t>
                      </a:r>
                      <a:r>
                        <a:rPr lang="en-US" sz="1800" b="0" u="none" strike="noStrike" kern="1200" baseline="0" dirty="0">
                          <a:solidFill>
                            <a:srgbClr val="C00000"/>
                          </a:solidFill>
                          <a:latin typeface="Lato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u="none" strike="noStrike" kern="1200" dirty="0" err="1">
                          <a:solidFill>
                            <a:srgbClr val="C00000"/>
                          </a:solidFill>
                          <a:latin typeface="Lato"/>
                          <a:ea typeface="+mn-ea"/>
                          <a:cs typeface="+mn-cs"/>
                        </a:rPr>
                        <a:t>Dũng</a:t>
                      </a:r>
                      <a:endParaRPr lang="vi-VN" sz="1800" b="0" u="none" strike="noStrike" kern="1200" dirty="0">
                        <a:solidFill>
                          <a:srgbClr val="C00000"/>
                        </a:solidFill>
                        <a:latin typeface="Lat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800" b="0" u="none" strike="noStrike" kern="1200" dirty="0">
                          <a:solidFill>
                            <a:srgbClr val="C00000"/>
                          </a:solidFill>
                          <a:latin typeface="Lato"/>
                          <a:ea typeface="+mn-ea"/>
                          <a:cs typeface="+mn-cs"/>
                        </a:rPr>
                        <a:t>202490036</a:t>
                      </a:r>
                      <a:endParaRPr lang="vi-VN" sz="1800" u="none" strike="noStrike" kern="1200" dirty="0">
                        <a:solidFill>
                          <a:srgbClr val="C00000"/>
                        </a:solidFill>
                        <a:latin typeface="Lat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vi-VN" sz="1800" u="none" strike="noStrike" kern="1200" noProof="0" dirty="0">
                        <a:solidFill>
                          <a:schemeClr val="bg1"/>
                        </a:solidFill>
                        <a:latin typeface="Lat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24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5D73-CC53-4DE8-421C-77B5AE76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FBBAB-0887-2186-52C8-E33C67D5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A47BDF27-AFEE-78FA-C57C-1ED27FB960D3}"/>
              </a:ext>
            </a:extLst>
          </p:cNvPr>
          <p:cNvSpPr txBox="1">
            <a:spLocks/>
          </p:cNvSpPr>
          <p:nvPr/>
        </p:nvSpPr>
        <p:spPr>
          <a:xfrm>
            <a:off x="3536830" y="491702"/>
            <a:ext cx="5193204" cy="797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CẤU TRÚC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1926704-B7CA-C5A5-9D9D-57FAD8D69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6829" y="1446238"/>
            <a:ext cx="5443269" cy="5132832"/>
          </a:xfrm>
        </p:spPr>
        <p:txBody>
          <a:bodyPr/>
          <a:lstStyle/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&amp;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phí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 smtClean="0"/>
              <a:t>phí</a:t>
            </a:r>
            <a:endParaRPr lang="en-US" dirty="0" smtClean="0"/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AutoNum type="romanUcPeriod"/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 smtClean="0"/>
              <a:t>lực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endParaRPr lang="en-US" dirty="0"/>
          </a:p>
          <a:p>
            <a:pPr marL="571500" indent="-571500">
              <a:lnSpc>
                <a:spcPct val="100000"/>
              </a:lnSpc>
              <a:buAutoNum type="romanU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 smtClean="0"/>
              <a:t>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8CA6-FC03-FDAB-4432-380894F9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12116-7DE7-AE56-D6D8-2CF2FFAA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B50A260B-E819-BD0F-D786-613A6FB9ADD2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I. THUYẾT MINH ĐỀ TÀI</a:t>
            </a:r>
          </a:p>
        </p:txBody>
      </p:sp>
    </p:spTree>
    <p:extLst>
      <p:ext uri="{BB962C8B-B14F-4D97-AF65-F5344CB8AC3E}">
        <p14:creationId xmlns:p14="http://schemas.microsoft.com/office/powerpoint/2010/main" val="97745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63C5-1F77-FC2C-7F5F-B7BE701A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39C36B-20A8-3402-7B1E-45E0189F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086D4C-8998-1295-BDF4-A168E2E0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DC9DB-68B6-1143-C890-65C68F05D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 err="1"/>
              <a:t>Tên</a:t>
            </a:r>
            <a:r>
              <a:rPr lang="en-US" sz="2400" b="1" dirty="0"/>
              <a:t> </a:t>
            </a:r>
            <a:r>
              <a:rPr lang="en-US" sz="2400" b="1" dirty="0" err="1"/>
              <a:t>đề</a:t>
            </a:r>
            <a:r>
              <a:rPr lang="en-US" sz="2400" b="1" dirty="0"/>
              <a:t> </a:t>
            </a:r>
            <a:r>
              <a:rPr lang="en-US" sz="2400" b="1" dirty="0" err="1"/>
              <a:t>tài</a:t>
            </a:r>
            <a:r>
              <a:rPr lang="en-US" sz="2400" b="1" dirty="0"/>
              <a:t>: </a:t>
            </a:r>
            <a:r>
              <a:rPr lang="en-US" sz="2400" dirty="0"/>
              <a:t>Quản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web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tuyến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 err="1"/>
              <a:t>Lĩnh</a:t>
            </a:r>
            <a:r>
              <a:rPr lang="en-US" sz="2400" b="1" dirty="0"/>
              <a:t> </a:t>
            </a:r>
            <a:r>
              <a:rPr lang="en-US" sz="2400" b="1" dirty="0" err="1"/>
              <a:t>vực</a:t>
            </a:r>
            <a:r>
              <a:rPr lang="en-US" sz="2400" b="1" dirty="0"/>
              <a:t> </a:t>
            </a:r>
            <a:r>
              <a:rPr lang="en-US" sz="2400" b="1" dirty="0" err="1"/>
              <a:t>nghiên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r>
              <a:rPr lang="en-US" sz="2400" b="1" dirty="0"/>
              <a:t>: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 err="1"/>
              <a:t>Loại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nghiên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,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 err="1"/>
              <a:t>Thời</a:t>
            </a:r>
            <a:r>
              <a:rPr lang="en-US" sz="2400" b="1" dirty="0"/>
              <a:t> </a:t>
            </a:r>
            <a:r>
              <a:rPr lang="en-US" sz="2400" b="1" dirty="0" err="1"/>
              <a:t>gian</a:t>
            </a:r>
            <a:r>
              <a:rPr lang="en-US" sz="2400" b="1" dirty="0"/>
              <a:t>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hiện</a:t>
            </a:r>
            <a:r>
              <a:rPr lang="en-US" sz="2400" b="1" dirty="0"/>
              <a:t>: </a:t>
            </a:r>
            <a:r>
              <a:rPr lang="en-US" sz="2400" dirty="0"/>
              <a:t>06 </a:t>
            </a:r>
            <a:r>
              <a:rPr lang="en-US" sz="2400" dirty="0" err="1"/>
              <a:t>tháng</a:t>
            </a:r>
            <a:r>
              <a:rPr lang="en-US" sz="2400" dirty="0"/>
              <a:t> (01/09/2026 – 31/03/2027)</a:t>
            </a:r>
          </a:p>
          <a:p>
            <a:pPr>
              <a:lnSpc>
                <a:spcPct val="100000"/>
              </a:lnSpc>
            </a:pPr>
            <a:r>
              <a:rPr lang="en-US" sz="2400" b="1" dirty="0" err="1"/>
              <a:t>Đơn</a:t>
            </a:r>
            <a:r>
              <a:rPr lang="en-US" sz="2400" b="1" dirty="0"/>
              <a:t> </a:t>
            </a:r>
            <a:r>
              <a:rPr lang="en-US" sz="2400" b="1" dirty="0" err="1"/>
              <a:t>vị</a:t>
            </a:r>
            <a:r>
              <a:rPr lang="en-US" sz="2400" b="1" dirty="0"/>
              <a:t> </a:t>
            </a:r>
            <a:r>
              <a:rPr lang="en-US" sz="2400" b="1" dirty="0" err="1"/>
              <a:t>chủ</a:t>
            </a:r>
            <a:r>
              <a:rPr lang="en-US" sz="2400" b="1" dirty="0"/>
              <a:t> </a:t>
            </a:r>
            <a:r>
              <a:rPr lang="en-US" sz="2400" b="1" dirty="0" err="1"/>
              <a:t>trì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Khoa / Ban / Bộ môn trực thuộc: Trường CNTT và TT, Đại học Bách khoa Hà Nội	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Bộ môn: Quản trị dự án Công nghệ thông tin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Họ và tên Giáo viên Hướng dẫn: ThS. Lê Thị Hoa</a:t>
            </a:r>
          </a:p>
        </p:txBody>
      </p:sp>
    </p:spTree>
    <p:extLst>
      <p:ext uri="{BB962C8B-B14F-4D97-AF65-F5344CB8AC3E}">
        <p14:creationId xmlns:p14="http://schemas.microsoft.com/office/powerpoint/2010/main" val="351863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Chủ</a:t>
            </a:r>
            <a:r>
              <a:rPr lang="en-US" sz="2400" b="1" dirty="0"/>
              <a:t> </a:t>
            </a:r>
            <a:r>
              <a:rPr lang="en-US" sz="2400" b="1" dirty="0" err="1"/>
              <a:t>nhiệm</a:t>
            </a:r>
            <a:r>
              <a:rPr lang="en-US" sz="2400" b="1" dirty="0"/>
              <a:t> </a:t>
            </a:r>
            <a:r>
              <a:rPr lang="en-US" sz="2400" b="1" dirty="0" err="1"/>
              <a:t>đề</a:t>
            </a:r>
            <a:r>
              <a:rPr lang="en-US" sz="2400" b="1" dirty="0"/>
              <a:t> </a:t>
            </a:r>
            <a:r>
              <a:rPr lang="en-US" sz="2400" b="1" dirty="0" err="1"/>
              <a:t>tài</a:t>
            </a:r>
            <a:r>
              <a:rPr lang="en-US" sz="2400" b="1" dirty="0"/>
              <a:t>: </a:t>
            </a:r>
            <a:r>
              <a:rPr lang="vi-VN" sz="2400" dirty="0"/>
              <a:t>Võ Hoàng Dương</a:t>
            </a:r>
            <a:r>
              <a:rPr lang="en-US" sz="2400" dirty="0"/>
              <a:t> – </a:t>
            </a:r>
            <a:r>
              <a:rPr lang="en-US" sz="2400" dirty="0" err="1"/>
              <a:t>Cử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Những </a:t>
            </a:r>
            <a:r>
              <a:rPr lang="en-US" sz="2400" b="1" dirty="0" err="1"/>
              <a:t>người</a:t>
            </a:r>
            <a:r>
              <a:rPr lang="en-US" sz="2400" b="1" dirty="0"/>
              <a:t> </a:t>
            </a:r>
            <a:r>
              <a:rPr lang="en-US" sz="2400" b="1" dirty="0" err="1"/>
              <a:t>tham</a:t>
            </a:r>
            <a:r>
              <a:rPr lang="en-US" sz="2400" b="1" dirty="0"/>
              <a:t> </a:t>
            </a:r>
            <a:r>
              <a:rPr lang="en-US" sz="2400" b="1" dirty="0" err="1"/>
              <a:t>gia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Võ Hoàng Dương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err="1"/>
              <a:t>Trịnh</a:t>
            </a:r>
            <a:r>
              <a:rPr lang="en-US" dirty="0"/>
              <a:t> </a:t>
            </a:r>
            <a:r>
              <a:rPr lang="en-US" dirty="0" err="1"/>
              <a:t>Tuấn</a:t>
            </a:r>
            <a:r>
              <a:rPr lang="en-US" dirty="0"/>
              <a:t> </a:t>
            </a:r>
            <a:r>
              <a:rPr lang="en-US" dirty="0" err="1"/>
              <a:t>Linh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Trần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Hảo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Trần </a:t>
            </a:r>
            <a:r>
              <a:rPr lang="en-US" dirty="0" err="1"/>
              <a:t>Đức</a:t>
            </a:r>
            <a:r>
              <a:rPr lang="en-US" dirty="0"/>
              <a:t> </a:t>
            </a:r>
            <a:r>
              <a:rPr lang="en-US" dirty="0" err="1"/>
              <a:t>Khánh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Nguyễn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Dũng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Trịnh Kim Nam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6454-19C3-AE5F-820C-00206C90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AB9E9-91DD-A8AE-7140-4F0D2D3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4F96AE-9033-2EF7-4CC2-B6B41351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969E1-FACA-E081-9C41-2873D48B9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Tổng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tình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nghiên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Nhu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→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ở xa.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,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,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95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5E35-4BF3-E198-7E23-9E521232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EA36F-8542-917D-554D-C787631F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19FE0-E647-63AF-E7AE-CEBAFC16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AA570-35A6-6DBD-6B4A-8E1117350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cần</a:t>
            </a:r>
            <a:r>
              <a:rPr lang="en-US" sz="2400" b="1" dirty="0"/>
              <a:t> </a:t>
            </a:r>
            <a:r>
              <a:rPr lang="en-US" sz="2400" b="1" dirty="0" err="1"/>
              <a:t>thiết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Cửa hàng thiết bị máy tính gặp khó khăn trong quản lý bán hàng &amp; khách hàng.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Chủ yếu quản lý thủ công/Excel → dễ sai sót, khó theo dõi, thiếu phân tích.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Hệ thống giúp quản lý sản phẩm, đơn hàng, khách hàng, doanh thu khoa học.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Hỗ trợ nhà quản lý giám sát hoạt động &amp; ra quyết định kịp thời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989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CE58-0132-1781-68EE-DC25862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0BD0C-2360-0D21-3B03-F48A2B94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011573-8DC4-727B-2387-93BDBC4C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F6A45-73EB-8A67-9ECB-555E4793B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Mục</a:t>
            </a:r>
            <a:r>
              <a:rPr lang="en-US" sz="2400" b="1" dirty="0"/>
              <a:t> </a:t>
            </a:r>
            <a:r>
              <a:rPr lang="en-US" sz="2400" b="1" dirty="0" err="1"/>
              <a:t>tiêu</a:t>
            </a:r>
            <a:r>
              <a:rPr lang="en-US" sz="2400" b="1" dirty="0"/>
              <a:t> </a:t>
            </a:r>
            <a:r>
              <a:rPr lang="en-US" sz="2400" b="1" dirty="0" err="1"/>
              <a:t>đề</a:t>
            </a:r>
            <a:r>
              <a:rPr lang="en-US" sz="2400" b="1" dirty="0"/>
              <a:t> </a:t>
            </a:r>
            <a:r>
              <a:rPr lang="en-US" sz="2400" b="1" dirty="0" err="1"/>
              <a:t>tài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Phân tích &amp; thiết kế hệ thống quản lý bán thiết bị máy tính.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Tin học hóa quy trình, thay thế phương pháp thủ công.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thông tin tập trung, chính xác, dễ sử dụng.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Nâng cao hiệu suất, giảm sai sót, tăng chuyên nghiệp &amp; cạnh tranh.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1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C2AB-CE17-598B-05B2-6871455E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BB21A1-0BD6-1E1B-A1E5-DE6E5B45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5AB0BB-6EAA-A811-53D2-6C018635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F80E3-07CA-920D-F97F-1488C116C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vi-VN" sz="2400" b="1" dirty="0"/>
              <a:t>Cách tiếp cận: </a:t>
            </a:r>
            <a:r>
              <a:rPr lang="vi-VN" sz="2400" dirty="0"/>
              <a:t>Kết hợp giữa nghiên cứu website bán hàng trực tiếp và khảo sát nhu cầu người dùng về website.</a:t>
            </a:r>
          </a:p>
          <a:p>
            <a:pPr>
              <a:lnSpc>
                <a:spcPct val="100000"/>
              </a:lnSpc>
            </a:pPr>
            <a:r>
              <a:rPr lang="vi-VN" sz="2400" b="1" dirty="0"/>
              <a:t>Phương pháp nghiên cứu: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Khảo sát nhu cầu của các cửa hàng và khách hàng.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Phân tích, mô tả nghiệp vụ cần có của website.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Thiết kế nghiệp vụ hệ thống.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Thiết kế cơ sở dữ liệu.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Tạo các usecase, trình tự cho nghiệp vụ hệ thống.</a:t>
            </a:r>
          </a:p>
          <a:p>
            <a:pPr>
              <a:lnSpc>
                <a:spcPct val="100000"/>
              </a:lnSpc>
            </a:pPr>
            <a:r>
              <a:rPr lang="vi-VN" sz="2400" b="1" dirty="0"/>
              <a:t>Phạm vi nghiên cứu:</a:t>
            </a:r>
            <a:r>
              <a:rPr lang="vi-VN" sz="2400" dirty="0"/>
              <a:t> Các cửa hàng bán lẻ thiết bị máy tính.</a:t>
            </a:r>
          </a:p>
        </p:txBody>
      </p:sp>
    </p:spTree>
    <p:extLst>
      <p:ext uri="{BB962C8B-B14F-4D97-AF65-F5344CB8AC3E}">
        <p14:creationId xmlns:p14="http://schemas.microsoft.com/office/powerpoint/2010/main" val="418287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6373-2251-974E-3C82-C309FBFE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8A8E6-06EE-A4E2-5088-E2A6EEB4E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28613B-95AD-69C1-7CB7-6D05A15E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638A4-A209-7BD5-9851-218D3166D2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Loại</a:t>
            </a:r>
            <a:r>
              <a:rPr lang="en-US" sz="2400" b="1" dirty="0"/>
              <a:t> </a:t>
            </a: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r>
              <a:rPr lang="en-US" sz="2400" b="1" dirty="0"/>
              <a:t> </a:t>
            </a:r>
            <a:r>
              <a:rPr lang="en-US" sz="2400" b="1" dirty="0" err="1"/>
              <a:t>nghiên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r>
              <a:rPr lang="en-US" sz="2400" b="1" dirty="0"/>
              <a:t>:</a:t>
            </a:r>
            <a:r>
              <a:rPr lang="en-US" sz="2400" dirty="0"/>
              <a:t> Quy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Trang web b</a:t>
            </a:r>
            <a:r>
              <a:rPr lang="en-US" dirty="0"/>
              <a:t>á</a:t>
            </a:r>
            <a:r>
              <a:rPr lang="vi-VN" dirty="0"/>
              <a:t>n thiết bị máy tính trực tuyến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Tài liệu phân tích và thiết kế hệ thống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Tài liệu hướng dẫn người dùng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Báo cáo tổng kết đề tài</a:t>
            </a:r>
          </a:p>
        </p:txBody>
      </p:sp>
    </p:spTree>
    <p:extLst>
      <p:ext uri="{BB962C8B-B14F-4D97-AF65-F5344CB8AC3E}">
        <p14:creationId xmlns:p14="http://schemas.microsoft.com/office/powerpoint/2010/main" val="389920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FF41F-A449-D298-7839-0420DBDC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A0057-4AB1-3DF4-C85E-5205413C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47483-A69B-926E-26AC-EB312ECE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02167-078E-029F-1285-21F0269A0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vi-VN" sz="2400" b="1" dirty="0"/>
              <a:t>Khả năng phát triển &amp; ứng dụng</a:t>
            </a:r>
            <a:r>
              <a:rPr lang="en-US" sz="2400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Triển khai tại các cửa hàng bán lẻ thiết bị máy tính trên nhiều địa phương.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Hỗ trợ bán hàng trực tuyến → mở rộng thị trường, tăng doanh thu.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Nhân viên dễ dàng theo dõi &amp; quản lý đơn hàng.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cửa hàng thống kê doanh thu &amp; lập báo cáo hiệu quả hơn.</a:t>
            </a:r>
          </a:p>
        </p:txBody>
      </p:sp>
    </p:spTree>
    <p:extLst>
      <p:ext uri="{BB962C8B-B14F-4D97-AF65-F5344CB8AC3E}">
        <p14:creationId xmlns:p14="http://schemas.microsoft.com/office/powerpoint/2010/main" val="210570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08F0B-3968-6D19-01FA-7F413AAE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DDA89-FFC1-5DFE-6E02-BC8EF5AA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64E745-4E02-2FA2-C541-703C0293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THUYẾT MINH ĐỀ TÀI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D0269-89E9-B0BC-EB58-90AE51B4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vi-VN" sz="2400" b="1" dirty="0"/>
              <a:t>Kinh phí thực hiện đề tài và nguồn kinh phí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Tổng kinh phí: </a:t>
            </a:r>
            <a:r>
              <a:rPr lang="en-US" dirty="0"/>
              <a:t>1,000</a:t>
            </a:r>
            <a:r>
              <a:rPr lang="vi-VN" dirty="0"/>
              <a:t>,</a:t>
            </a:r>
            <a:r>
              <a:rPr lang="en-US" dirty="0"/>
              <a:t>000</a:t>
            </a:r>
            <a:r>
              <a:rPr lang="vi-VN" dirty="0"/>
              <a:t>,</a:t>
            </a:r>
            <a:r>
              <a:rPr lang="en-US" dirty="0"/>
              <a:t>000</a:t>
            </a:r>
            <a:endParaRPr lang="vi-VN" dirty="0"/>
          </a:p>
          <a:p>
            <a:pPr lvl="1">
              <a:lnSpc>
                <a:spcPct val="100000"/>
              </a:lnSpc>
            </a:pPr>
            <a:r>
              <a:rPr lang="vi-VN" dirty="0"/>
              <a:t>Dự trù kinh phí theo các mục chi:</a:t>
            </a:r>
          </a:p>
          <a:p>
            <a:pPr lvl="2">
              <a:lnSpc>
                <a:spcPct val="100000"/>
              </a:lnSpc>
            </a:pPr>
            <a:r>
              <a:rPr lang="vi-VN" sz="2400" dirty="0"/>
              <a:t>Thuê khoán chuyên môn: </a:t>
            </a:r>
            <a:r>
              <a:rPr lang="en-US" sz="2400" dirty="0"/>
              <a:t>700</a:t>
            </a:r>
            <a:r>
              <a:rPr lang="vi-VN" sz="2400" dirty="0"/>
              <a:t>,</a:t>
            </a:r>
            <a:r>
              <a:rPr lang="en-US" sz="2400" dirty="0"/>
              <a:t>000</a:t>
            </a:r>
            <a:r>
              <a:rPr lang="vi-VN" sz="2400" dirty="0"/>
              <a:t>,</a:t>
            </a:r>
            <a:r>
              <a:rPr lang="en-US" sz="2400" dirty="0"/>
              <a:t>000</a:t>
            </a:r>
            <a:r>
              <a:rPr lang="vi-VN" sz="2400" dirty="0"/>
              <a:t> </a:t>
            </a:r>
          </a:p>
          <a:p>
            <a:pPr lvl="2">
              <a:lnSpc>
                <a:spcPct val="100000"/>
              </a:lnSpc>
            </a:pPr>
            <a:r>
              <a:rPr lang="vi-VN" sz="2400" dirty="0"/>
              <a:t>Nguyên vật liệu, vật tư tiêu hao:</a:t>
            </a:r>
            <a:r>
              <a:rPr lang="en-US" sz="2400" dirty="0"/>
              <a:t> 200</a:t>
            </a:r>
            <a:r>
              <a:rPr lang="vi-VN" sz="2400" dirty="0"/>
              <a:t>,000,000</a:t>
            </a:r>
          </a:p>
          <a:p>
            <a:pPr lvl="2">
              <a:lnSpc>
                <a:spcPct val="100000"/>
              </a:lnSpc>
            </a:pPr>
            <a:r>
              <a:rPr lang="vi-VN" sz="2400" dirty="0"/>
              <a:t>Khác: </a:t>
            </a:r>
            <a:r>
              <a:rPr lang="en-US" sz="2400" dirty="0"/>
              <a:t>10</a:t>
            </a:r>
            <a:r>
              <a:rPr lang="vi-VN" sz="2400" dirty="0"/>
              <a:t>0,000,000</a:t>
            </a:r>
          </a:p>
        </p:txBody>
      </p:sp>
    </p:spTree>
    <p:extLst>
      <p:ext uri="{BB962C8B-B14F-4D97-AF65-F5344CB8AC3E}">
        <p14:creationId xmlns:p14="http://schemas.microsoft.com/office/powerpoint/2010/main" val="143295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092C-BC24-D928-BDFE-C91F3599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E3B2-F9D9-E067-7520-A07C5785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A9A65CBC-6037-7AE2-9E35-19C1CD92A3CB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II. TỔNG QUAN</a:t>
            </a:r>
          </a:p>
          <a:p>
            <a:r>
              <a:rPr lang="en-US" sz="4800" dirty="0"/>
              <a:t>ĐỀ TÀI</a:t>
            </a:r>
          </a:p>
        </p:txBody>
      </p:sp>
    </p:spTree>
    <p:extLst>
      <p:ext uri="{BB962C8B-B14F-4D97-AF65-F5344CB8AC3E}">
        <p14:creationId xmlns:p14="http://schemas.microsoft.com/office/powerpoint/2010/main" val="330589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4C03-D5FC-3AEA-5B04-145B1B0F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8D913A-2DC2-8E18-7FCC-54B0410B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B6C5D3-A2F6-A0EB-4040-7766631D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9FDC76A-165D-4CC0-0724-51EB6A949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2.1. </a:t>
            </a:r>
            <a:r>
              <a:rPr lang="vi-VN" sz="2400" b="1" dirty="0"/>
              <a:t>Chức năng chính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dirty="0"/>
              <a:t>Khách hàng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vi-VN" dirty="0"/>
              <a:t>Tìm kiếm sản phẩm theo mã, tên, hãng, cấu hình, giá, tồn kho.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Xem chi tiết sản phẩm.</a:t>
            </a:r>
          </a:p>
        </p:txBody>
      </p:sp>
    </p:spTree>
    <p:extLst>
      <p:ext uri="{BB962C8B-B14F-4D97-AF65-F5344CB8AC3E}">
        <p14:creationId xmlns:p14="http://schemas.microsoft.com/office/powerpoint/2010/main" val="356515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949F-2A04-6B25-CEBF-7B8070B2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745A6-E40E-6799-E27D-1099BFFF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A9C6D8-FD79-3E9E-784B-F818BFED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6A4CAAC-9BBD-C600-42B2-D86F7B74D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2.1. </a:t>
            </a:r>
            <a:r>
              <a:rPr lang="vi-VN" sz="2400" b="1" dirty="0"/>
              <a:t>Chức năng chính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dirty="0"/>
              <a:t>Nhân viên bán hàng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vi-VN" dirty="0"/>
              <a:t>Đăng nhập / Đăng xuất hệ thống.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Tìm kiếm &amp; xem sản phẩm.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khách hàng (thêm, sửa, xoá, tra cứu).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đơn hàng (tạo, cập nhật trạng thái, tra cứu).</a:t>
            </a:r>
            <a:endParaRPr lang="en-US" dirty="0"/>
          </a:p>
          <a:p>
            <a:pPr lvl="2">
              <a:lnSpc>
                <a:spcPct val="100000"/>
              </a:lnSpc>
            </a:pPr>
            <a:r>
              <a:rPr lang="vi-VN" sz="2400" i="1" dirty="0"/>
              <a:t>Lưu ý: đơn hàng không thể bị xoá.</a:t>
            </a:r>
          </a:p>
        </p:txBody>
      </p:sp>
    </p:spTree>
    <p:extLst>
      <p:ext uri="{BB962C8B-B14F-4D97-AF65-F5344CB8AC3E}">
        <p14:creationId xmlns:p14="http://schemas.microsoft.com/office/powerpoint/2010/main" val="50566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721E-C096-D5AA-AF82-4D5D03CC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9B1B55-5F30-CA7F-111C-2CE3B7BC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051489-E823-D601-9B19-2A973997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5302DA8-969D-58AF-0E65-EDB0C8A3B6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2.1. </a:t>
            </a:r>
            <a:r>
              <a:rPr lang="vi-VN" sz="2400" b="1" dirty="0"/>
              <a:t>Chức năng chính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dirty="0"/>
              <a:t>Quản lý cửa hàng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vi-VN" dirty="0"/>
              <a:t>Có đầy đủ chức năng của nhân viên.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sản phẩm (thêm, sửa, xoá).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Báo cáo &amp; thống kê (doanh thu, lợi nhuận, tồn kho; lọc theo ngày/tháng/năm; xuất Excel/PDF).</a:t>
            </a:r>
            <a:endParaRPr lang="vi-VN" i="1" dirty="0"/>
          </a:p>
        </p:txBody>
      </p:sp>
    </p:spTree>
    <p:extLst>
      <p:ext uri="{BB962C8B-B14F-4D97-AF65-F5344CB8AC3E}">
        <p14:creationId xmlns:p14="http://schemas.microsoft.com/office/powerpoint/2010/main" val="30186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D7E0-43A2-D72B-B848-AB33F639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FF0CA-4712-F929-3719-B9A99E4E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5D3847-1EE6-463F-F693-1E12D878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E3DB7F-1A89-CA45-CF87-20D1BDD2F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2.2.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cần</a:t>
            </a:r>
            <a:r>
              <a:rPr lang="en-US" sz="2400" b="1" dirty="0"/>
              <a:t> </a:t>
            </a:r>
            <a:r>
              <a:rPr lang="en-US" sz="2400" b="1" dirty="0" err="1"/>
              <a:t>thiết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dirty="0"/>
              <a:t>Sản phẩm (thiết bị máy tính): Tên, hãng, cấu hình, giá bán, tồn kho, hình ảnh, mô tả.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vi-VN" sz="2400" dirty="0"/>
              <a:t>Khách hàng: Họ tên,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thoại</a:t>
            </a:r>
            <a:r>
              <a:rPr lang="vi-VN" sz="2400" dirty="0"/>
              <a:t>, email, địa chỉ, nhóm khách hàng, ghi chú.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vi-VN" sz="2400" dirty="0"/>
              <a:t>Đơn hàng: Sản phẩm, thông tin giao hàng, thanh toán, trạng thái đơn &amp; giao hàng.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vi-VN" sz="2400" dirty="0"/>
              <a:t>Nhân viên: Email, mật khẩu đăng nhập.</a:t>
            </a:r>
            <a:endParaRPr lang="vi-VN" i="1" dirty="0"/>
          </a:p>
        </p:txBody>
      </p:sp>
    </p:spTree>
    <p:extLst>
      <p:ext uri="{BB962C8B-B14F-4D97-AF65-F5344CB8AC3E}">
        <p14:creationId xmlns:p14="http://schemas.microsoft.com/office/powerpoint/2010/main" val="62080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DA6D-938D-1640-58C9-D58C5C55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93112A-1CB7-F127-DA3E-92F0B6E3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12BDAE-2FC8-EC6B-88F3-E1AFE1A1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946A7B-80B3-BD07-AE27-75679079EC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: Trang </a:t>
            </a:r>
            <a:r>
              <a:rPr lang="en-US" sz="2400" dirty="0" err="1"/>
              <a:t>chủ</a:t>
            </a:r>
            <a:r>
              <a:rPr lang="en-US" sz="2400" dirty="0"/>
              <a:t>,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: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: Quản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kê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0676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898F-68D6-9897-85AE-E45D2B45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4024A-0A86-6F1A-9D3E-AC0CF7C4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5DFA79-A3D7-94D3-8595-56FCA86A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E2A1FD1-D01F-B82F-4808-1DF3D5D7D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0" y="1661080"/>
            <a:ext cx="8364080" cy="41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4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7975-6AF4-4C38-7866-C67BE46DC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E7369A-1063-7B37-EE63-824DD2D1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4FDE17-CC48-CD4B-3C09-A8E8F716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E149D8-1598-BC0C-149F-8BCB35081E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64" y="1700784"/>
            <a:ext cx="797987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7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D1AB2-6005-042A-81E5-D61F25DE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0C20A-DD65-402F-B7E5-372609FE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BAC5D-F9DF-80C9-5AD7-AD701666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5A26A28-FDF7-684D-05D3-35B4F3FA9F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53159"/>
            <a:ext cx="88392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9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F769-7CC8-CFC3-2E0B-E3080F2F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8E0A0D-23B4-8D99-D3E7-C35AF5D1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D178BC-728F-707E-B1D4-E08EF325D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3AA66B1-BDF0-6EEF-1B2D-070D198CD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48" y="1870077"/>
            <a:ext cx="8324504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8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51C6-4601-9338-E46E-AD7D5311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5426D2-7EE1-8F7A-0C89-86EC5F4F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769960-2322-C99B-07AD-9B222250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KHẢO SÁT ĐỀ TÀI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CCC6E9E-4366-A2E9-5646-F92664D367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2.3.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endParaRPr lang="en-US" sz="2400" b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97" y="1981771"/>
            <a:ext cx="791960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8B21-1D0E-1606-6ABA-8DF1E536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51505-C49F-AE2C-BC3E-8C91DC2F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F7C9919-A395-1442-594B-2651778EC25E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III. PHÂN TÍCH &amp;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129974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14762-648F-FCFC-72A8-9EDC4299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118FC4-8DE0-EB6C-8000-720CBC9D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942772-2290-B571-2DFD-74E79234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94CE0CF-906E-4F83-B4E6-D6AB383634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3.1. </a:t>
            </a:r>
            <a:r>
              <a:rPr lang="en-US" sz="2400" b="1" dirty="0" err="1"/>
              <a:t>Phân</a:t>
            </a:r>
            <a:r>
              <a:rPr lang="en-US" sz="2400" b="1" dirty="0"/>
              <a:t> </a:t>
            </a:r>
            <a:r>
              <a:rPr lang="en-US" sz="2400" b="1" dirty="0" err="1"/>
              <a:t>tích</a:t>
            </a:r>
            <a:r>
              <a:rPr lang="en-US" sz="2400" b="1" dirty="0"/>
              <a:t>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bộ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Tình</a:t>
            </a:r>
            <a:r>
              <a:rPr lang="en-US" sz="2400" b="1" i="1" dirty="0"/>
              <a:t> </a:t>
            </a:r>
            <a:r>
              <a:rPr lang="en-US" sz="2400" b="1" i="1" dirty="0" err="1"/>
              <a:t>hình</a:t>
            </a:r>
            <a:r>
              <a:rPr lang="en-US" sz="2400" b="1" i="1" dirty="0"/>
              <a:t> </a:t>
            </a:r>
            <a:r>
              <a:rPr lang="en-US" sz="2400" b="1" i="1" dirty="0" err="1"/>
              <a:t>thực</a:t>
            </a:r>
            <a:r>
              <a:rPr lang="en-US" sz="2400" b="1" i="1" dirty="0"/>
              <a:t> </a:t>
            </a:r>
            <a:r>
              <a:rPr lang="en-US" sz="2400" b="1" i="1" dirty="0" err="1"/>
              <a:t>tế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Nhu cầu sử dụng thiết bị máy tính tăng mạnh trong học tập, làm việc, giải trí.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Cửa hàng (nhỏ lẻ → siêu thị) gặp khó khăn trong quản lý bán hàng &amp; khách hàng.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Hiện chủ yếu dùng thủ công/Excel → sai sót, khó theo dõi, thiếu phân tích.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Cần hệ thống bán thiết bị máy tính chuyên nghiệp, hiện đại, thân thiện.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Đề tài: “Xây dựng hệ thống bán hàng thiết bị máy tính”.</a:t>
            </a: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vi-VN" dirty="0"/>
              <a:t>→ Giúp quản lý sản phẩm, đơn hàng, khách hàng, báo cáo doanh thu.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84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39E6-E7DC-BA75-1639-B98207E3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073A76-BC3E-0054-63B5-740DFEC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A50AFD-8C29-791C-73C7-7F1CDD7B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B8FF0-B1C1-9252-8579-F2F0E361C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3.1. </a:t>
            </a:r>
            <a:r>
              <a:rPr lang="en-US" sz="2400" b="1" dirty="0" err="1"/>
              <a:t>Phân</a:t>
            </a:r>
            <a:r>
              <a:rPr lang="en-US" sz="2400" b="1" dirty="0"/>
              <a:t> </a:t>
            </a:r>
            <a:r>
              <a:rPr lang="en-US" sz="2400" b="1" dirty="0" err="1"/>
              <a:t>tích</a:t>
            </a:r>
            <a:r>
              <a:rPr lang="en-US" sz="2400" b="1" dirty="0"/>
              <a:t>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bộ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Mục</a:t>
            </a:r>
            <a:r>
              <a:rPr lang="en-US" sz="2400" b="1" i="1" dirty="0"/>
              <a:t> </a:t>
            </a:r>
            <a:r>
              <a:rPr lang="en-US" sz="2400" b="1" i="1" dirty="0" err="1"/>
              <a:t>đích</a:t>
            </a:r>
            <a:r>
              <a:rPr lang="en-US" sz="2400" b="1" i="1" dirty="0"/>
              <a:t> </a:t>
            </a:r>
            <a:r>
              <a:rPr lang="en-US" sz="2400" b="1" i="1" dirty="0" err="1"/>
              <a:t>đề</a:t>
            </a:r>
            <a:r>
              <a:rPr lang="en-US" sz="2400" b="1" i="1" dirty="0"/>
              <a:t> </a:t>
            </a:r>
            <a:r>
              <a:rPr lang="en-US" sz="2400" b="1" i="1" dirty="0" err="1"/>
              <a:t>tài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Phân tích &amp; thiết kế hệ thống quản lý bán thiết bị máy tính.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Tin học hóa quy trình, thay thế thủ công.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sản phẩm, đơn hàng, khách hàng, doanh thu khoa học.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Hỗ trợ nhà quản lý theo dõi &amp; ra quyết định kịp thời.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Nâng cao hiệu suất, giảm sai sót, tăng chuyên nghiệp &amp; cạnh tranh.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30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E7EF-E981-C1FF-7F1D-D3FF312D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02E77-F7CB-3787-2ED1-9C3FB767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627202-4EF1-8CF8-742E-80A1DFBD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D0D068A-4274-C03F-DB29-7DCF29E8E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3.1. </a:t>
            </a:r>
            <a:r>
              <a:rPr lang="en-US" sz="2400" b="1" dirty="0" err="1"/>
              <a:t>Phân</a:t>
            </a:r>
            <a:r>
              <a:rPr lang="en-US" sz="2400" b="1" dirty="0"/>
              <a:t> </a:t>
            </a:r>
            <a:r>
              <a:rPr lang="en-US" sz="2400" b="1" dirty="0" err="1"/>
              <a:t>tích</a:t>
            </a:r>
            <a:r>
              <a:rPr lang="en-US" sz="2400" b="1" dirty="0"/>
              <a:t>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bộ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Phạm vi </a:t>
            </a:r>
            <a:r>
              <a:rPr lang="en-US" sz="2400" b="1" i="1" dirty="0" err="1"/>
              <a:t>đề</a:t>
            </a:r>
            <a:r>
              <a:rPr lang="en-US" sz="2400" b="1" i="1" dirty="0"/>
              <a:t> </a:t>
            </a:r>
            <a:r>
              <a:rPr lang="en-US" sz="2400" b="1" i="1" dirty="0" err="1"/>
              <a:t>tài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Nhân viên bán hàng: đăng nhập, quản lý đơn hàng &amp; khách hàng.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cửa hàng: quản lý đơn hàng, khách hàng, sản phẩm, báo cáo doanh thu.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Khách hàng: tìm kiếm &amp; xem thông tin sản phẩm.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DDA4-874F-E61E-4FDA-B2E2F62B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E65D30-7F83-273B-5941-2041F5DE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797F2E-AFF6-D664-FB9F-8CD66D6B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5E178-06AD-0FC6-9C36-C9EA3C3444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3.2.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tả</a:t>
            </a:r>
            <a:r>
              <a:rPr lang="en-US" sz="2400" b="1" dirty="0"/>
              <a:t> </a:t>
            </a:r>
            <a:r>
              <a:rPr lang="en-US" sz="2400" b="1" dirty="0" err="1"/>
              <a:t>nghiệp</a:t>
            </a:r>
            <a:r>
              <a:rPr lang="en-US" sz="2400" b="1" dirty="0"/>
              <a:t> </a:t>
            </a:r>
            <a:r>
              <a:rPr lang="en-US" sz="2400" b="1" dirty="0" err="1"/>
              <a:t>vụ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Tổng quan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Hỗ trợ quản lý bán hàng thiết bị máy tính hiệu quả, chuyên nghiệp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Ba nhóm người dùng: Khách hàng – Nhân viên – Quản lý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Tin học hóa quy trình, phân quyền rõ ràng, giao diện dễ dùng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23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70CF-C685-E08B-35CC-75237705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332422-30F1-B8BB-BA87-A85148C2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256DDC-0266-BF6A-BC51-98BBF11F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22A3C3F-1984-258E-AEDB-11A80E16C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3.2.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tả</a:t>
            </a:r>
            <a:r>
              <a:rPr lang="en-US" sz="2400" b="1" dirty="0"/>
              <a:t> </a:t>
            </a:r>
            <a:r>
              <a:rPr lang="en-US" sz="2400" b="1" dirty="0" err="1"/>
              <a:t>nghiệp</a:t>
            </a:r>
            <a:r>
              <a:rPr lang="en-US" sz="2400" b="1" dirty="0"/>
              <a:t> </a:t>
            </a:r>
            <a:r>
              <a:rPr lang="en-US" sz="2400" b="1" dirty="0" err="1"/>
              <a:t>vụ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Chức năng chính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Khách hàng</a:t>
            </a:r>
            <a:r>
              <a:rPr lang="en-US" dirty="0"/>
              <a:t>: </a:t>
            </a:r>
            <a:r>
              <a:rPr lang="vi-VN" dirty="0"/>
              <a:t>Tìm kiếm, xem chi tiết sản phẩm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Nhân viên bán hàng</a:t>
            </a:r>
            <a:r>
              <a:rPr lang="en-US" dirty="0"/>
              <a:t>: </a:t>
            </a:r>
            <a:r>
              <a:rPr lang="vi-VN" dirty="0"/>
              <a:t>Đăng nhập/đăng xuất</a:t>
            </a:r>
            <a:r>
              <a:rPr lang="en-US" dirty="0"/>
              <a:t>, </a:t>
            </a:r>
            <a:r>
              <a:rPr lang="vi-VN" dirty="0"/>
              <a:t>Quản lý khách hàng</a:t>
            </a:r>
            <a:r>
              <a:rPr lang="en-US" dirty="0"/>
              <a:t>, </a:t>
            </a:r>
            <a:r>
              <a:rPr lang="vi-VN" dirty="0"/>
              <a:t>Quản lý đơn hàng (tạo, cập nhật, theo dõi)</a:t>
            </a:r>
            <a:r>
              <a:rPr lang="en-US" dirty="0"/>
              <a:t>, </a:t>
            </a:r>
            <a:r>
              <a:rPr lang="vi-VN" dirty="0"/>
              <a:t>Xem thông tin sản phẩm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cửa hàng</a:t>
            </a:r>
            <a:r>
              <a:rPr lang="en-US" dirty="0"/>
              <a:t>: </a:t>
            </a:r>
            <a:r>
              <a:rPr lang="vi-VN" dirty="0"/>
              <a:t>Quản lý sản phẩm (thêm, sửa, xoá, tồn kho)</a:t>
            </a:r>
            <a:r>
              <a:rPr lang="en-US" dirty="0"/>
              <a:t>, </a:t>
            </a:r>
            <a:r>
              <a:rPr lang="vi-VN" dirty="0"/>
              <a:t>Báo cáo – thống kê (doanh thu, lợi nhuận, hiệu suất NV)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6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7F7F-C6A6-FCF7-9447-DDC41C1D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720DC-E2AD-830D-EB5F-754E0E17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F5F6B-ABB7-6607-5BE7-C42F1AEA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8A5B06-00FC-D1B0-4D28-63055C39BA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3.2.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tả</a:t>
            </a:r>
            <a:r>
              <a:rPr lang="en-US" sz="2400" b="1" dirty="0"/>
              <a:t> </a:t>
            </a:r>
            <a:r>
              <a:rPr lang="en-US" sz="2400" b="1" dirty="0" err="1"/>
              <a:t>nghiệp</a:t>
            </a:r>
            <a:r>
              <a:rPr lang="en-US" sz="2400" b="1" dirty="0"/>
              <a:t> </a:t>
            </a:r>
            <a:r>
              <a:rPr lang="en-US" sz="2400" b="1" dirty="0" err="1"/>
              <a:t>vụ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Quy </a:t>
            </a:r>
            <a:r>
              <a:rPr lang="en-US" sz="2400" b="1" i="1" dirty="0" err="1"/>
              <a:t>trình</a:t>
            </a:r>
            <a:r>
              <a:rPr lang="en-US" sz="2400" b="1" i="1" dirty="0"/>
              <a:t> </a:t>
            </a:r>
            <a:r>
              <a:rPr lang="en-US" sz="2400" b="1" i="1" dirty="0" err="1"/>
              <a:t>nghiệp</a:t>
            </a:r>
            <a:r>
              <a:rPr lang="en-US" sz="2400" b="1" i="1" dirty="0"/>
              <a:t> </a:t>
            </a:r>
            <a:r>
              <a:rPr lang="en-US" sz="2400" b="1" i="1" dirty="0" err="1"/>
              <a:t>vụ</a:t>
            </a:r>
            <a:r>
              <a:rPr lang="en-US" sz="2400" b="1" i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Đăng nhập → truy cập hệ thống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sản phẩm → thêm, sửa, xoá, tra cứu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đơn hàng → tạo, xác nhận, giao hàng, hoàn tất/huỷ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khách hàng → thêm, sửa, xoá, tra cứu, xem lịch sử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Báo cáo &amp; thống kê → doanh thu, tồn kho, hiệu suất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Đăng xuất → kết thúc phiên làm việc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5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BC38-686D-E4AF-44A2-D1DF3223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32B6A-7CF7-9315-AF8C-C109D431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0599B4-0A8B-4880-DB23-865824E1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038E74-5B08-C219-C2E6-AAAE82D75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3.3. </a:t>
            </a:r>
            <a:r>
              <a:rPr lang="en-US" sz="2400" b="1" dirty="0" err="1"/>
              <a:t>Biểu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hoạt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endParaRPr lang="en-US" sz="2400" b="1" dirty="0"/>
          </a:p>
        </p:txBody>
      </p:sp>
      <p:pic>
        <p:nvPicPr>
          <p:cNvPr id="1026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27EDA842-1FB1-9ACA-699C-171F500AC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52" y="1486949"/>
            <a:ext cx="7397496" cy="493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1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A90D-ACF8-0A89-422A-574E32BE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9B07F-390B-9DDC-F234-DB93C85C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31C075-A6C2-56D9-9D0B-1F8761FA6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0A6750-5BE1-CFC8-A2CB-770892C3CE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3.3. </a:t>
            </a:r>
            <a:r>
              <a:rPr lang="en-US" sz="2400" b="1" dirty="0" err="1"/>
              <a:t>Biểu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hoạt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endParaRPr lang="en-US" sz="2400" b="1" dirty="0"/>
          </a:p>
        </p:txBody>
      </p:sp>
      <p:pic>
        <p:nvPicPr>
          <p:cNvPr id="2050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07DD9734-AB14-684D-2139-E3511F9B1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693" y="1432842"/>
            <a:ext cx="6196614" cy="491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41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E499-2067-46F6-A847-DE363205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9171F-7CAC-8142-437D-8F1CF611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EDCBF4-C900-04F2-4D4F-ACE30D54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784CC50-7E34-477E-0311-118A6B7A6A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3.4.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hóa</a:t>
            </a:r>
            <a:r>
              <a:rPr lang="en-US" sz="2400" b="1" dirty="0"/>
              <a:t> </a:t>
            </a:r>
            <a:r>
              <a:rPr lang="en-US" sz="2400" b="1" dirty="0" err="1"/>
              <a:t>nhu</a:t>
            </a:r>
            <a:r>
              <a:rPr lang="en-US" sz="2400" b="1" dirty="0"/>
              <a:t> </a:t>
            </a:r>
            <a:r>
              <a:rPr lang="en-US" sz="2400" b="1" dirty="0" err="1"/>
              <a:t>cầu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Sơ</a:t>
            </a:r>
            <a:r>
              <a:rPr lang="en-US" sz="2400" b="1" i="1" dirty="0"/>
              <a:t> </a:t>
            </a:r>
            <a:r>
              <a:rPr lang="en-US" sz="2400" b="1" i="1" dirty="0" err="1"/>
              <a:t>đồ</a:t>
            </a:r>
            <a:r>
              <a:rPr lang="en-US" sz="2400" b="1" i="1" dirty="0"/>
              <a:t> use case </a:t>
            </a:r>
            <a:r>
              <a:rPr lang="en-US" sz="2400" b="1" i="1" dirty="0" err="1"/>
              <a:t>tổng</a:t>
            </a:r>
            <a:r>
              <a:rPr lang="en-US" sz="2400" b="1" i="1" dirty="0"/>
              <a:t> </a:t>
            </a:r>
            <a:r>
              <a:rPr lang="en-US" sz="2400" b="1" i="1" dirty="0" err="1"/>
              <a:t>quát</a:t>
            </a:r>
            <a:endParaRPr lang="en-US" sz="2400" b="1" i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F4A39C-C00C-6AA0-EB0E-52118EDB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01" y="1966405"/>
            <a:ext cx="7368798" cy="438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3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C2B1-B226-DF2F-EA51-425FB6AD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D6D444-28C3-597F-5624-423B4F51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BAEA8C-0411-963A-A3C5-597E62A7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CB1C45B-5031-22D5-A315-89C1540281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3.4.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hóa</a:t>
            </a:r>
            <a:r>
              <a:rPr lang="en-US" sz="2400" b="1" dirty="0"/>
              <a:t> </a:t>
            </a:r>
            <a:r>
              <a:rPr lang="en-US" sz="2400" b="1" dirty="0" err="1"/>
              <a:t>nhu</a:t>
            </a:r>
            <a:r>
              <a:rPr lang="en-US" sz="2400" b="1" dirty="0"/>
              <a:t> </a:t>
            </a:r>
            <a:r>
              <a:rPr lang="en-US" sz="2400" b="1" dirty="0" err="1"/>
              <a:t>cầu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Sơ</a:t>
            </a:r>
            <a:r>
              <a:rPr lang="en-US" sz="2400" b="1" i="1" dirty="0"/>
              <a:t> </a:t>
            </a:r>
            <a:r>
              <a:rPr lang="en-US" sz="2400" b="1" i="1" dirty="0" err="1"/>
              <a:t>đồ</a:t>
            </a:r>
            <a:r>
              <a:rPr lang="en-US" sz="2400" b="1" i="1" dirty="0"/>
              <a:t> use case </a:t>
            </a:r>
            <a:r>
              <a:rPr lang="en-US" sz="2400" b="1" i="1" dirty="0" err="1"/>
              <a:t>phân</a:t>
            </a:r>
            <a:r>
              <a:rPr lang="en-US" sz="2400" b="1" i="1" dirty="0"/>
              <a:t> </a:t>
            </a:r>
            <a:r>
              <a:rPr lang="en-US" sz="2400" b="1" i="1" dirty="0" err="1"/>
              <a:t>rã</a:t>
            </a:r>
            <a:endParaRPr lang="en-US" sz="2400" b="1" i="1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A879F53-BFAE-EF7C-5138-31DDEC8AE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509623"/>
            <a:ext cx="4441258" cy="482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37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AE608-5924-A248-CEA4-84C5D360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3E9217-D310-5F89-12F2-8B252223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203E8A-EAB3-E9BF-1486-154C1DE9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0DE2B61-75BB-F3ED-771C-DD4CD413D9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3.4.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r>
              <a:rPr lang="en-US" sz="2400" b="1" dirty="0"/>
              <a:t> </a:t>
            </a:r>
            <a:r>
              <a:rPr lang="en-US" sz="2400" b="1" dirty="0" err="1"/>
              <a:t>hóa</a:t>
            </a:r>
            <a:r>
              <a:rPr lang="en-US" sz="2400" b="1" dirty="0"/>
              <a:t> </a:t>
            </a:r>
            <a:r>
              <a:rPr lang="en-US" sz="2400" b="1" dirty="0" err="1"/>
              <a:t>nhu</a:t>
            </a:r>
            <a:r>
              <a:rPr lang="en-US" sz="2400" b="1" dirty="0"/>
              <a:t> </a:t>
            </a:r>
            <a:r>
              <a:rPr lang="en-US" sz="2400" b="1" dirty="0" err="1"/>
              <a:t>cầu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Sơ</a:t>
            </a:r>
            <a:r>
              <a:rPr lang="en-US" sz="2400" b="1" i="1" dirty="0"/>
              <a:t> </a:t>
            </a:r>
            <a:r>
              <a:rPr lang="en-US" sz="2400" b="1" i="1" dirty="0" err="1"/>
              <a:t>đồ</a:t>
            </a:r>
            <a:r>
              <a:rPr lang="en-US" sz="2400" b="1" i="1" dirty="0"/>
              <a:t> use case </a:t>
            </a:r>
            <a:r>
              <a:rPr lang="en-US" sz="2400" b="1" i="1" dirty="0" err="1"/>
              <a:t>phân</a:t>
            </a:r>
            <a:r>
              <a:rPr lang="en-US" sz="2400" b="1" i="1" dirty="0"/>
              <a:t> </a:t>
            </a:r>
            <a:r>
              <a:rPr lang="en-US" sz="2400" b="1" i="1" dirty="0" err="1"/>
              <a:t>rã</a:t>
            </a:r>
            <a:endParaRPr lang="en-US" sz="2400" b="1" i="1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4C1A640-B409-5927-8BBE-3316F0C4C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290" y="1466490"/>
            <a:ext cx="3979633" cy="496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3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B80D-5277-494B-E61F-DBD81263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8157A-C969-D76B-06D7-08F64F2F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13C52-F81A-A23D-B775-4E87CFC6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FCCBB0E-668E-2564-ACB0-F19879FCB3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3.5.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lớp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endParaRPr lang="en-US" sz="2400" b="1" i="1" dirty="0"/>
          </a:p>
        </p:txBody>
      </p:sp>
      <p:pic>
        <p:nvPicPr>
          <p:cNvPr id="7170" name="Picture 2" descr="A diagram with text and words&#10;&#10;AI-generated content may be incorrect.">
            <a:extLst>
              <a:ext uri="{FF2B5EF4-FFF2-40B4-BE49-F238E27FC236}">
                <a16:creationId xmlns:a16="http://schemas.microsoft.com/office/drawing/2014/main" id="{9BF6C1AF-191A-7C59-2336-263A6683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005" y="1746697"/>
            <a:ext cx="5645989" cy="458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0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FADE-1747-D3EA-3C8E-05814725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C86DF6-624C-4962-1AA3-58DB9A60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20F65-CE6C-5E6A-E3FE-C8E06029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E8A537-F53F-0CFF-7E8F-64193CE84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3.5.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lớp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Nhân</a:t>
            </a:r>
            <a:r>
              <a:rPr lang="en-US" sz="2400" b="1" i="1" dirty="0"/>
              <a:t> </a:t>
            </a:r>
            <a:r>
              <a:rPr lang="en-US" sz="2400" b="1" i="1" dirty="0" err="1"/>
              <a:t>viên</a:t>
            </a:r>
            <a:r>
              <a:rPr lang="en-US" sz="2400" b="1" i="1" dirty="0"/>
              <a:t> </a:t>
            </a:r>
            <a:r>
              <a:rPr lang="en-US" sz="2400" b="1" i="1" dirty="0" err="1"/>
              <a:t>bán</a:t>
            </a:r>
            <a:r>
              <a:rPr lang="en-US" sz="2400" b="1" i="1" dirty="0"/>
              <a:t> </a:t>
            </a:r>
            <a:r>
              <a:rPr lang="en-US" sz="2400" b="1" i="1" dirty="0" err="1"/>
              <a:t>hàng</a:t>
            </a:r>
            <a:endParaRPr lang="en-US" sz="2400" b="1" i="1" dirty="0"/>
          </a:p>
        </p:txBody>
      </p:sp>
      <p:pic>
        <p:nvPicPr>
          <p:cNvPr id="8194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7FF0A39-C441-A20E-88FE-7120D8C1B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22957"/>
            <a:ext cx="59436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90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EF18-C753-FE9E-DA32-F94676E6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0FE0F-009B-751D-2194-8463870B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BD94E1-677B-D327-2F35-EDD81B44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455F8F7-27DA-4D2A-C72E-205D50DFD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3.5.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lớp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Khách</a:t>
            </a:r>
            <a:r>
              <a:rPr lang="en-US" sz="2400" b="1" i="1" dirty="0"/>
              <a:t> </a:t>
            </a:r>
            <a:r>
              <a:rPr lang="en-US" sz="2400" b="1" i="1" dirty="0" err="1"/>
              <a:t>hàng</a:t>
            </a:r>
            <a:endParaRPr lang="en-US" sz="2400" b="1" i="1" dirty="0"/>
          </a:p>
        </p:txBody>
      </p:sp>
      <p:pic>
        <p:nvPicPr>
          <p:cNvPr id="9218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BA2F056-D6B1-B324-C987-AE98B6807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80761"/>
            <a:ext cx="59436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90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841E-2B03-50E8-67CC-A8C719FE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A4CBC8-A5C4-F3D1-3799-5CE4E2D2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850E4-4F3D-4BD4-1AF7-6B07D1D5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A900D1-F857-7ACC-1C6E-3CDD35B816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3.6.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trình</a:t>
            </a:r>
            <a:r>
              <a:rPr lang="en-US" sz="2400" b="1" dirty="0"/>
              <a:t> </a:t>
            </a:r>
            <a:r>
              <a:rPr lang="en-US" sz="2400" b="1" dirty="0" err="1"/>
              <a:t>tự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r>
              <a:rPr lang="en-US" sz="2400" b="1" i="1" dirty="0"/>
              <a:t> </a:t>
            </a:r>
            <a:r>
              <a:rPr lang="en-US" sz="2400" b="1" i="1" dirty="0" err="1"/>
              <a:t>khách</a:t>
            </a:r>
            <a:r>
              <a:rPr lang="en-US" sz="2400" b="1" i="1" dirty="0"/>
              <a:t> </a:t>
            </a:r>
            <a:r>
              <a:rPr lang="en-US" sz="2400" b="1" i="1" dirty="0" err="1"/>
              <a:t>hàng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C7AFF-9623-1597-72E4-9309D712E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620" y="854892"/>
            <a:ext cx="5030180" cy="539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8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63B1-4B0A-D5C7-1B45-6D9D4C99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1D191D-6750-B3CF-005F-E3D2F1FE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F15C3-1D38-65A2-76CF-DB450692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2ED6487-DEC8-3C38-E48B-2556937C3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3.6.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trình</a:t>
            </a:r>
            <a:r>
              <a:rPr lang="en-US" sz="2400" b="1" dirty="0"/>
              <a:t> </a:t>
            </a:r>
            <a:r>
              <a:rPr lang="en-US" sz="2400" b="1" dirty="0" err="1"/>
              <a:t>tự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r>
              <a:rPr lang="en-US" sz="2400" b="1" i="1" dirty="0"/>
              <a:t> </a:t>
            </a:r>
            <a:r>
              <a:rPr lang="en-US" sz="2400" b="1" i="1" dirty="0" err="1"/>
              <a:t>đơn</a:t>
            </a:r>
            <a:r>
              <a:rPr lang="en-US" sz="2400" b="1" i="1" dirty="0"/>
              <a:t> </a:t>
            </a:r>
            <a:r>
              <a:rPr lang="en-US" sz="2400" b="1" i="1" dirty="0" err="1"/>
              <a:t>hàng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28EF-DFC9-944C-2EF7-A4FF4E9F8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933" y="853000"/>
            <a:ext cx="4811202" cy="55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3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7D07-16D9-031F-BAA8-0A93609F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74D8F-5C65-E642-FECE-659CFC17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B82B02-3C32-6E45-70E2-BBBA2F47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C5345D-CD46-BA32-7964-0DB5EBE8E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3.6.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trình</a:t>
            </a:r>
            <a:r>
              <a:rPr lang="en-US" sz="2400" b="1" dirty="0"/>
              <a:t> </a:t>
            </a:r>
            <a:r>
              <a:rPr lang="en-US" sz="2400" b="1" dirty="0" err="1"/>
              <a:t>tự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r>
              <a:rPr lang="en-US" sz="2400" b="1" i="1" dirty="0"/>
              <a:t> </a:t>
            </a:r>
            <a:r>
              <a:rPr lang="en-US" sz="2400" b="1" i="1" dirty="0" err="1"/>
              <a:t>sản</a:t>
            </a:r>
            <a:r>
              <a:rPr lang="en-US" sz="2400" b="1" i="1" dirty="0"/>
              <a:t> </a:t>
            </a:r>
            <a:r>
              <a:rPr lang="en-US" sz="2400" b="1" i="1" dirty="0" err="1"/>
              <a:t>phẩm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42C05-F9E4-692A-5F98-07313E87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444" y="865805"/>
            <a:ext cx="4541623" cy="55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5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E15F-7B3E-E709-F4AC-30099772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DDFEE-113F-7CDD-DA6A-C3F77FD4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17030-A1F0-3066-6AB3-EB6CB478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40E1443-7886-0512-1B33-8C143A9ACF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3.6.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trình</a:t>
            </a:r>
            <a:r>
              <a:rPr lang="en-US" sz="2400" b="1" dirty="0"/>
              <a:t> </a:t>
            </a:r>
            <a:r>
              <a:rPr lang="en-US" sz="2400" b="1" dirty="0" err="1"/>
              <a:t>tự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Báo </a:t>
            </a:r>
            <a:r>
              <a:rPr lang="en-US" sz="2400" b="1" i="1" dirty="0" err="1"/>
              <a:t>cáo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F5D36-F4B3-C1A1-3678-62473A7C2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1119"/>
            <a:ext cx="9144000" cy="317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2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A0DA-62B3-942A-D7DB-3EC84171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869B6-6704-AE04-3C31-B231202E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2D52C4-FD0D-9B3B-1D8B-2BA35A88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PHÂN TÍCH &amp; THIẾT KẾ HỆ THỐNG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A19DE6-B675-FD9C-262E-39A155CE3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3.6. </a:t>
            </a:r>
            <a:r>
              <a:rPr lang="en-US" sz="2400" b="1" dirty="0" err="1"/>
              <a:t>Sơ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trình</a:t>
            </a:r>
            <a:r>
              <a:rPr lang="en-US" sz="2400" b="1" dirty="0"/>
              <a:t> </a:t>
            </a:r>
            <a:r>
              <a:rPr lang="en-US" sz="2400" b="1" dirty="0" err="1"/>
              <a:t>tự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Đăng</a:t>
            </a:r>
            <a:r>
              <a:rPr lang="en-US" sz="2400" b="1" i="1" dirty="0"/>
              <a:t> </a:t>
            </a:r>
            <a:r>
              <a:rPr lang="en-US" sz="2400" b="1" i="1" dirty="0" err="1"/>
              <a:t>nhập</a:t>
            </a:r>
            <a:r>
              <a:rPr lang="en-US" sz="2400" b="1" i="1" dirty="0"/>
              <a:t>/</a:t>
            </a:r>
            <a:r>
              <a:rPr lang="en-US" sz="2400" b="1" i="1" dirty="0" err="1"/>
              <a:t>Đăng</a:t>
            </a:r>
            <a:r>
              <a:rPr lang="en-US" sz="2400" b="1" i="1" dirty="0"/>
              <a:t> </a:t>
            </a:r>
            <a:r>
              <a:rPr lang="en-US" sz="2400" b="1" i="1" dirty="0" err="1"/>
              <a:t>xuất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7F439-098B-2139-EAA7-B4E5DC2B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40" y="875773"/>
            <a:ext cx="5000993" cy="551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A920-8098-88C2-F3A5-90B54C52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C0523-5809-2CA2-83D6-E32871E5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B15D5E6-1024-496D-A813-59F368FBB7C4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IV. DỰ TOÁN KINH PHÍ</a:t>
            </a:r>
          </a:p>
        </p:txBody>
      </p:sp>
    </p:spTree>
    <p:extLst>
      <p:ext uri="{BB962C8B-B14F-4D97-AF65-F5344CB8AC3E}">
        <p14:creationId xmlns:p14="http://schemas.microsoft.com/office/powerpoint/2010/main" val="44063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FD50-CDD5-7B12-30B2-464104CC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FCBF3-7130-AB2C-CE73-E44A0673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49ACD6-5250-3D3B-6B0A-00743B3C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DỰ TOÁN KINH PHÍ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87" y="1314450"/>
            <a:ext cx="73628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3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A636-EAD3-7210-6658-7F916C9D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BCEED-7B19-27E5-1C41-2CFC2668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004A08F0-03A7-82D3-5837-5DE9D3701143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V. QUẢN LÝ THỜI GIAN, KINH PHÍ</a:t>
            </a:r>
          </a:p>
        </p:txBody>
      </p:sp>
    </p:spTree>
    <p:extLst>
      <p:ext uri="{BB962C8B-B14F-4D97-AF65-F5344CB8AC3E}">
        <p14:creationId xmlns:p14="http://schemas.microsoft.com/office/powerpoint/2010/main" val="391361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F835-64F8-630F-284E-B98DE0DC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B1B5E-B674-AF45-CFDF-D593C774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E1187B-0F12-3BB7-1001-8FCE462F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QUẢN LÝ THỜI GIAN, KINH PHÍ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86C52-C825-F3B9-E88E-275902CC44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vi-V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9" y="1292839"/>
            <a:ext cx="8322022" cy="451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3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F835-64F8-630F-284E-B98DE0DC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B1B5E-B674-AF45-CFDF-D593C774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E1187B-0F12-3BB7-1001-8FCE462F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QUẢN LÝ THỜI GIAN, KINH PHÍ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86C52-C825-F3B9-E88E-275902CC44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vi-V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413227"/>
            <a:ext cx="8502204" cy="445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8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A680D58A-542F-88A7-1661-05523E1BEC6E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smtClean="0"/>
              <a:t>VI. </a:t>
            </a:r>
            <a:r>
              <a:rPr lang="en-US" sz="4800" dirty="0"/>
              <a:t>QUẢN LÝ NGUỒN LỰC</a:t>
            </a:r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66F3-43F8-0F9E-C71A-AEF79F1E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D74FE-CB1E-D950-F95E-360E625B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731A6B-44A1-C5C8-9832-2350F141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BAF06-2840-5426-9D6F-E9D9D0F770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Mục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tiêu</a:t>
            </a:r>
            <a:r>
              <a:rPr lang="en-US" sz="2400" b="1" i="1" dirty="0" smtClean="0"/>
              <a:t>, </a:t>
            </a:r>
            <a:r>
              <a:rPr lang="en-US" sz="2400" b="1" i="1" dirty="0" err="1" smtClean="0"/>
              <a:t>vai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trò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các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thành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viên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Kỹ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năng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và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công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cụ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Truyền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thông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nội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bộ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Kế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hoạch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đào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tạo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Quản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lý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xung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đột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Quản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lý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rủi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ro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nguồn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lực</a:t>
            </a:r>
            <a:endParaRPr lang="en-US" sz="2400" b="1" i="1" dirty="0" smtClean="0"/>
          </a:p>
          <a:p>
            <a:pPr>
              <a:lnSpc>
                <a:spcPct val="100000"/>
              </a:lnSpc>
            </a:pPr>
            <a:r>
              <a:rPr lang="en-US" sz="2400" b="1" i="1" dirty="0" err="1" smtClean="0"/>
              <a:t>Chính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sách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khích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lệ</a:t>
            </a:r>
            <a:endParaRPr lang="en-US" sz="2400" b="1" i="1" dirty="0"/>
          </a:p>
          <a:p>
            <a:pPr>
              <a:lnSpc>
                <a:spcPct val="100000"/>
              </a:lnSpc>
            </a:pPr>
            <a:endParaRPr lang="en-US" sz="2400" b="1" i="1" dirty="0" smtClean="0"/>
          </a:p>
          <a:p>
            <a:pPr>
              <a:lnSpc>
                <a:spcPct val="100000"/>
              </a:lnSpc>
            </a:pPr>
            <a:endParaRPr lang="en-US" sz="24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14767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66F3-43F8-0F9E-C71A-AEF79F1E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D74FE-CB1E-D950-F95E-360E625B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731A6B-44A1-C5C8-9832-2350F141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BAF06-2840-5426-9D6F-E9D9D0F770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Mục tiêu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Phân bổ nhân sự hợp lý, tránh chồng chéo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Tận dụng kỹ năng từng thành viên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Giảm rủi ro, đảm bảo tiến độ &amp; chất lượng</a:t>
            </a:r>
          </a:p>
        </p:txBody>
      </p:sp>
    </p:spTree>
    <p:extLst>
      <p:ext uri="{BB962C8B-B14F-4D97-AF65-F5344CB8AC3E}">
        <p14:creationId xmlns:p14="http://schemas.microsoft.com/office/powerpoint/2010/main" val="252616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5DB9-6EBC-36FE-6D29-3C7425B8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703212-5D94-F8AB-85E4-5B92F330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EA2812-DDC3-123F-1CD8-AFD6BDEF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572A4-FA69-E655-8C7B-91E72B08B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200" b="1" i="1" dirty="0"/>
              <a:t>Thành viên &amp; vai trò</a:t>
            </a:r>
            <a:endParaRPr lang="en-US" sz="2200" b="1" i="1" dirty="0"/>
          </a:p>
          <a:p>
            <a:pPr lvl="1">
              <a:lnSpc>
                <a:spcPct val="100000"/>
              </a:lnSpc>
            </a:pPr>
            <a:r>
              <a:rPr lang="vi-VN" sz="2200" dirty="0"/>
              <a:t>Võ Hoàng Dương – Chủ nhiệm: quản lý dự án, phân công, báo cáo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/>
              <a:t>Trần </a:t>
            </a:r>
            <a:r>
              <a:rPr lang="en-US" sz="2200" dirty="0" err="1"/>
              <a:t>Đình</a:t>
            </a:r>
            <a:r>
              <a:rPr lang="en-US" sz="2200" dirty="0"/>
              <a:t> </a:t>
            </a:r>
            <a:r>
              <a:rPr lang="en-US" sz="2200" dirty="0" err="1"/>
              <a:t>Hảo</a:t>
            </a:r>
            <a:r>
              <a:rPr lang="vi-VN" sz="2200" dirty="0"/>
              <a:t> – Thành viên chính: phân tích yêu cầu, đặc tả nghiệp </a:t>
            </a:r>
            <a:r>
              <a:rPr lang="vi-VN" sz="2200" dirty="0" smtClean="0"/>
              <a:t>vụ</a:t>
            </a:r>
            <a:r>
              <a:rPr lang="en-US" sz="2200" dirty="0" smtClean="0"/>
              <a:t>, </a:t>
            </a:r>
            <a:r>
              <a:rPr lang="vi-VN" sz="2200" dirty="0"/>
              <a:t>hướng dẫn sử </a:t>
            </a:r>
            <a:r>
              <a:rPr lang="vi-VN" sz="2200" dirty="0" smtClean="0"/>
              <a:t>dụng</a:t>
            </a:r>
            <a:r>
              <a:rPr lang="en-US" sz="2200" dirty="0" smtClean="0"/>
              <a:t>, </a:t>
            </a:r>
            <a:r>
              <a:rPr lang="en-US" sz="2200" dirty="0" err="1" smtClean="0"/>
              <a:t>hỗ</a:t>
            </a:r>
            <a:r>
              <a:rPr lang="en-US" sz="2200" dirty="0" smtClean="0"/>
              <a:t> </a:t>
            </a:r>
            <a:r>
              <a:rPr lang="en-US" sz="2200" dirty="0" err="1" smtClean="0"/>
              <a:t>trợ</a:t>
            </a:r>
            <a:r>
              <a:rPr lang="en-US" sz="2200" dirty="0" smtClean="0"/>
              <a:t> </a:t>
            </a:r>
            <a:r>
              <a:rPr lang="en-US" sz="2200" dirty="0" err="1" smtClean="0"/>
              <a:t>kiểm</a:t>
            </a:r>
            <a:r>
              <a:rPr lang="en-US" sz="2200" dirty="0" smtClean="0"/>
              <a:t> </a:t>
            </a:r>
            <a:r>
              <a:rPr lang="en-US" sz="2200" dirty="0" err="1" smtClean="0"/>
              <a:t>lỗi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 err="1"/>
              <a:t>Trịnh</a:t>
            </a:r>
            <a:r>
              <a:rPr lang="en-US" sz="2200" dirty="0"/>
              <a:t> Kim </a:t>
            </a:r>
            <a:r>
              <a:rPr lang="vi-VN" sz="2200" dirty="0"/>
              <a:t>Nam – Kỹ thuật viên: </a:t>
            </a:r>
            <a:r>
              <a:rPr lang="en-US" sz="2200" dirty="0" err="1"/>
              <a:t>Đặc</a:t>
            </a:r>
            <a:r>
              <a:rPr lang="en-US" sz="2200" dirty="0"/>
              <a:t> </a:t>
            </a:r>
            <a:r>
              <a:rPr lang="en-US" sz="2200" dirty="0" err="1"/>
              <a:t>tả</a:t>
            </a:r>
            <a:r>
              <a:rPr lang="en-US" sz="2200" dirty="0"/>
              <a:t> </a:t>
            </a:r>
            <a:r>
              <a:rPr lang="en-US" sz="2200" dirty="0" err="1"/>
              <a:t>nhiệm</a:t>
            </a:r>
            <a:r>
              <a:rPr lang="en-US" sz="2200" dirty="0"/>
              <a:t> </a:t>
            </a:r>
            <a:r>
              <a:rPr lang="en-US" sz="2200" dirty="0" err="1" smtClean="0"/>
              <a:t>vụ</a:t>
            </a:r>
            <a:r>
              <a:rPr lang="en-US" sz="2200" dirty="0" smtClean="0"/>
              <a:t>, </a:t>
            </a:r>
            <a:r>
              <a:rPr lang="en-US" sz="2200" dirty="0" err="1" smtClean="0"/>
              <a:t>xây</a:t>
            </a:r>
            <a:r>
              <a:rPr lang="en-US" sz="2200" dirty="0" smtClean="0"/>
              <a:t> </a:t>
            </a:r>
            <a:r>
              <a:rPr lang="en-US" sz="2200" dirty="0" err="1" smtClean="0"/>
              <a:t>dựng</a:t>
            </a:r>
            <a:r>
              <a:rPr lang="en-US" sz="2200" dirty="0" smtClean="0"/>
              <a:t> module </a:t>
            </a:r>
            <a:r>
              <a:rPr lang="en-US" sz="2200" dirty="0" err="1" smtClean="0"/>
              <a:t>hạ</a:t>
            </a:r>
            <a:r>
              <a:rPr lang="en-US" sz="2200" dirty="0" smtClean="0"/>
              <a:t> </a:t>
            </a:r>
            <a:r>
              <a:rPr lang="en-US" sz="2200" dirty="0" err="1" smtClean="0"/>
              <a:t>tầng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 err="1"/>
              <a:t>Trịnh</a:t>
            </a:r>
            <a:r>
              <a:rPr lang="en-US" sz="2200" dirty="0"/>
              <a:t> </a:t>
            </a:r>
            <a:r>
              <a:rPr lang="en-US" sz="2200" dirty="0" err="1"/>
              <a:t>Tuấn</a:t>
            </a:r>
            <a:r>
              <a:rPr lang="en-US" sz="2200" dirty="0"/>
              <a:t> </a:t>
            </a:r>
            <a:r>
              <a:rPr lang="en-US" sz="2200" dirty="0" err="1"/>
              <a:t>Linh</a:t>
            </a:r>
            <a:r>
              <a:rPr lang="vi-VN" sz="2200" dirty="0"/>
              <a:t> – Thành viên: lập trình front-end &amp; back-end, bảo mật, thanh toán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/>
              <a:t>Trần </a:t>
            </a:r>
            <a:r>
              <a:rPr lang="en-US" sz="2200" dirty="0" err="1"/>
              <a:t>Đức</a:t>
            </a:r>
            <a:r>
              <a:rPr lang="en-US" sz="2200" dirty="0"/>
              <a:t> </a:t>
            </a:r>
            <a:r>
              <a:rPr lang="en-US" sz="2200" dirty="0" err="1"/>
              <a:t>Khánh</a:t>
            </a:r>
            <a:r>
              <a:rPr lang="vi-VN" sz="2200" dirty="0"/>
              <a:t> – Kỹ thuật </a:t>
            </a:r>
            <a:r>
              <a:rPr lang="vi-VN" sz="2200" dirty="0" smtClean="0"/>
              <a:t>viên:</a:t>
            </a:r>
            <a:r>
              <a:rPr lang="en-US" sz="2200" dirty="0"/>
              <a:t> </a:t>
            </a:r>
            <a:r>
              <a:rPr lang="en-US" sz="2200" dirty="0" err="1" smtClean="0"/>
              <a:t>hỗ</a:t>
            </a:r>
            <a:r>
              <a:rPr lang="en-US" sz="2200" dirty="0" smtClean="0"/>
              <a:t> </a:t>
            </a:r>
            <a:r>
              <a:rPr lang="en-US" sz="2200" dirty="0" err="1" smtClean="0"/>
              <a:t>trợ</a:t>
            </a:r>
            <a:r>
              <a:rPr lang="en-US" sz="2200" dirty="0" smtClean="0"/>
              <a:t> </a:t>
            </a:r>
            <a:r>
              <a:rPr lang="en-US" sz="2200" dirty="0" err="1" smtClean="0"/>
              <a:t>đặc</a:t>
            </a:r>
            <a:r>
              <a:rPr lang="en-US" sz="2200" dirty="0" smtClean="0"/>
              <a:t> </a:t>
            </a:r>
            <a:r>
              <a:rPr lang="en-US" sz="2200" dirty="0" err="1" smtClean="0"/>
              <a:t>tả</a:t>
            </a:r>
            <a:r>
              <a:rPr lang="en-US" sz="2200" dirty="0" smtClean="0"/>
              <a:t> </a:t>
            </a:r>
            <a:r>
              <a:rPr lang="en-US" sz="2200" dirty="0" err="1" smtClean="0"/>
              <a:t>nghiệp</a:t>
            </a:r>
            <a:r>
              <a:rPr lang="en-US" sz="2200" dirty="0" smtClean="0"/>
              <a:t> </a:t>
            </a:r>
            <a:r>
              <a:rPr lang="en-US" sz="2200" dirty="0" err="1" smtClean="0"/>
              <a:t>vụ</a:t>
            </a:r>
            <a:r>
              <a:rPr lang="en-US" sz="2200" dirty="0" smtClean="0"/>
              <a:t>, </a:t>
            </a:r>
            <a:r>
              <a:rPr lang="en-US" sz="2200" dirty="0" err="1" smtClean="0"/>
              <a:t>kiểm</a:t>
            </a:r>
            <a:r>
              <a:rPr lang="en-US" sz="2200" dirty="0" smtClean="0"/>
              <a:t> </a:t>
            </a:r>
            <a:r>
              <a:rPr lang="en-US" sz="2200" dirty="0" err="1" smtClean="0"/>
              <a:t>thử</a:t>
            </a:r>
            <a:r>
              <a:rPr lang="en-US" sz="2200" dirty="0" smtClean="0"/>
              <a:t>, </a:t>
            </a:r>
            <a:r>
              <a:rPr lang="en-US" sz="2200" dirty="0" err="1" smtClean="0"/>
              <a:t>dữ</a:t>
            </a:r>
            <a:r>
              <a:rPr lang="en-US" sz="2200" dirty="0" smtClean="0"/>
              <a:t> </a:t>
            </a:r>
            <a:r>
              <a:rPr lang="en-US" sz="2200" dirty="0" err="1" smtClean="0"/>
              <a:t>liệu</a:t>
            </a:r>
            <a:r>
              <a:rPr lang="en-US" sz="2200" dirty="0" smtClean="0"/>
              <a:t> </a:t>
            </a:r>
            <a:r>
              <a:rPr lang="en-US" sz="2200" dirty="0" err="1" smtClean="0"/>
              <a:t>thử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/>
              <a:t>Nguyễn </a:t>
            </a:r>
            <a:r>
              <a:rPr lang="en-US" sz="2200" dirty="0" err="1"/>
              <a:t>Thế</a:t>
            </a:r>
            <a:r>
              <a:rPr lang="en-US" sz="2200" dirty="0"/>
              <a:t> </a:t>
            </a:r>
            <a:r>
              <a:rPr lang="en-US" sz="2200" dirty="0" err="1"/>
              <a:t>Dũng</a:t>
            </a:r>
            <a:r>
              <a:rPr lang="en-US" sz="2200" dirty="0"/>
              <a:t> - </a:t>
            </a:r>
            <a:r>
              <a:rPr lang="vi-VN" sz="2200" dirty="0"/>
              <a:t>Kỹ thuật viên: kiểm thử, dữ liệu </a:t>
            </a:r>
            <a:r>
              <a:rPr lang="vi-VN" sz="2200" dirty="0" smtClean="0"/>
              <a:t>thử</a:t>
            </a:r>
            <a:r>
              <a:rPr lang="en-US" sz="2200" dirty="0" smtClean="0"/>
              <a:t>, </a:t>
            </a:r>
            <a:r>
              <a:rPr lang="en-US" sz="2200" dirty="0" err="1" smtClean="0"/>
              <a:t>xây</a:t>
            </a:r>
            <a:r>
              <a:rPr lang="en-US" sz="2200" dirty="0" smtClean="0"/>
              <a:t> </a:t>
            </a:r>
            <a:r>
              <a:rPr lang="en-US" sz="2200" dirty="0" err="1" smtClean="0"/>
              <a:t>dựng</a:t>
            </a:r>
            <a:r>
              <a:rPr lang="en-US" sz="2200" dirty="0" smtClean="0"/>
              <a:t> CSDL</a:t>
            </a:r>
            <a:endParaRPr lang="en-US" sz="2200" dirty="0"/>
          </a:p>
          <a:p>
            <a:pPr lvl="1">
              <a:lnSpc>
                <a:spcPct val="100000"/>
              </a:lnSpc>
            </a:pPr>
            <a:endParaRPr lang="en-US" sz="2200" dirty="0"/>
          </a:p>
          <a:p>
            <a:pPr lvl="1">
              <a:lnSpc>
                <a:spcPct val="100000"/>
              </a:lnSpc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0151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2625-4C19-6165-5282-AA2329B4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B8FF1E-5EBA-7492-0D8E-2E7A82A8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A5EA2-E648-4E93-1849-AC71CFE2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E8E5D-CB20-C200-4720-EB36A64ED8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Ma </a:t>
            </a:r>
            <a:r>
              <a:rPr lang="en-US" sz="2400" b="1" i="1" dirty="0" err="1"/>
              <a:t>trận</a:t>
            </a:r>
            <a:r>
              <a:rPr lang="en-US" sz="2400" b="1" i="1" dirty="0"/>
              <a:t> RACI</a:t>
            </a:r>
          </a:p>
          <a:p>
            <a:pPr marL="0" indent="0">
              <a:lnSpc>
                <a:spcPct val="100000"/>
              </a:lnSpc>
              <a:buNone/>
            </a:pPr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CFF28F-274B-D07D-3B4B-F88E9FB9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40302"/>
              </p:ext>
            </p:extLst>
          </p:nvPr>
        </p:nvGraphicFramePr>
        <p:xfrm>
          <a:off x="767751" y="1966827"/>
          <a:ext cx="7852547" cy="4389510"/>
        </p:xfrm>
        <a:graphic>
          <a:graphicData uri="http://schemas.openxmlformats.org/drawingml/2006/table">
            <a:tbl>
              <a:tblPr/>
              <a:tblGrid>
                <a:gridCol w="2311089">
                  <a:extLst>
                    <a:ext uri="{9D8B030D-6E8A-4147-A177-3AD203B41FA5}">
                      <a16:colId xmlns:a16="http://schemas.microsoft.com/office/drawing/2014/main" val="2222673855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1686547038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827265563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906426859"/>
                    </a:ext>
                  </a:extLst>
                </a:gridCol>
                <a:gridCol w="684245">
                  <a:extLst>
                    <a:ext uri="{9D8B030D-6E8A-4147-A177-3AD203B41FA5}">
                      <a16:colId xmlns:a16="http://schemas.microsoft.com/office/drawing/2014/main" val="2908235153"/>
                    </a:ext>
                  </a:extLst>
                </a:gridCol>
                <a:gridCol w="884568">
                  <a:extLst>
                    <a:ext uri="{9D8B030D-6E8A-4147-A177-3AD203B41FA5}">
                      <a16:colId xmlns:a16="http://schemas.microsoft.com/office/drawing/2014/main" val="4044687365"/>
                    </a:ext>
                  </a:extLst>
                </a:gridCol>
                <a:gridCol w="647772">
                  <a:extLst>
                    <a:ext uri="{9D8B030D-6E8A-4147-A177-3AD203B41FA5}">
                      <a16:colId xmlns:a16="http://schemas.microsoft.com/office/drawing/2014/main" val="2367820310"/>
                    </a:ext>
                  </a:extLst>
                </a:gridCol>
              </a:tblGrid>
              <a:tr h="282282">
                <a:tc gridSpan="7"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 = Responsible, A = Accountable, C = Consulted, I = Informed</a:t>
                      </a:r>
                    </a:p>
                  </a:txBody>
                  <a:tcPr marL="0" marR="0" marT="9157" marB="9157" anchor="ctr">
                    <a:lnL w="6350" cap="flat" cmpd="sng" algn="ctr">
                      <a:solidFill>
                        <a:srgbClr val="E03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3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300" dirty="0">
                        <a:effectLst/>
                      </a:endParaRPr>
                    </a:p>
                  </a:txBody>
                  <a:tcPr marL="13735" marR="13735" marT="9157" marB="9157" anchor="b">
                    <a:lnL w="6350" cap="flat" cmpd="sng" algn="ctr">
                      <a:solidFill>
                        <a:srgbClr val="603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3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300" dirty="0">
                        <a:effectLst/>
                      </a:endParaRPr>
                    </a:p>
                  </a:txBody>
                  <a:tcPr marL="13735" marR="13735" marT="9157" marB="9157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300" dirty="0">
                        <a:effectLst/>
                      </a:endParaRPr>
                    </a:p>
                  </a:txBody>
                  <a:tcPr marL="13735" marR="13735" marT="9157" marB="9157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300" dirty="0">
                        <a:effectLst/>
                      </a:endParaRPr>
                    </a:p>
                  </a:txBody>
                  <a:tcPr marL="13735" marR="13735" marT="9157" marB="9157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300" dirty="0">
                        <a:effectLst/>
                      </a:endParaRPr>
                    </a:p>
                  </a:txBody>
                  <a:tcPr marL="13735" marR="13735" marT="9157" marB="9157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731825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540106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Công</a:t>
                      </a:r>
                      <a:r>
                        <a:rPr lang="en-US" sz="18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việc</a:t>
                      </a:r>
                      <a:endParaRPr lang="en-US" sz="18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Duong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Linh</a:t>
                      </a:r>
                      <a:endParaRPr lang="en-US" sz="18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Hảo</a:t>
                      </a:r>
                      <a:endParaRPr lang="en-US" sz="18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Khánh</a:t>
                      </a:r>
                      <a:endParaRPr lang="en-US" sz="18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Dũng</a:t>
                      </a:r>
                      <a:endParaRPr lang="en-US" sz="18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682539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Lập kế hoạch dự án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85995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Đặc tả nghiệp vụ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462025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Thiết kế CSDL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 smtClean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  <a:endParaRPr lang="en-US" sz="18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 smtClean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042454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Thiết</a:t>
                      </a: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kế</a:t>
                      </a: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giao</a:t>
                      </a: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diện</a:t>
                      </a:r>
                      <a:endParaRPr lang="en-US" sz="18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319168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Phát triển Front-end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714431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Phát triển Back-end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042126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Tích hợp hệ thống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82560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thử phần mềm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757087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Triển khai website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8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994504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Bảo trì hệ thống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477865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Quản lý rủi ro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8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377609"/>
                  </a:ext>
                </a:extLst>
              </a:tr>
              <a:tr h="2822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Báo cáo tiến độ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b="0" dirty="0" smtClean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</a:t>
                      </a:r>
                      <a:endParaRPr lang="en-US" sz="18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3735" marR="13735" marT="9157" marB="9157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5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75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5F58-DC64-A56D-EB7F-BBA71235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713A55-BB8D-B6A6-3479-18033701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A4B159-B9C9-F1C0-D92D-B2290911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A816-3B91-7CBE-7502-7050774C49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Kỹ năng &amp; công cụ cần thiết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Quản lý dự án (Jira, Trello, MS Project).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ReactJS, TailwindCSS, Figma.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Node.js, Express, MySQL, Git.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Selenium, Postman, JMeter.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Docker, Nginx, AWS/Heroku, CI/CD.</a:t>
            </a:r>
          </a:p>
        </p:txBody>
      </p:sp>
    </p:spTree>
    <p:extLst>
      <p:ext uri="{BB962C8B-B14F-4D97-AF65-F5344CB8AC3E}">
        <p14:creationId xmlns:p14="http://schemas.microsoft.com/office/powerpoint/2010/main" val="410439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2F82-C1D2-99CE-5E94-0AAEF835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7EF4D-5161-FC22-3775-34578F1B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BA123-9BCD-F823-A7E1-E13C3783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E1E52-2301-CE89-4385-A221A724F5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Truyền</a:t>
            </a:r>
            <a:r>
              <a:rPr lang="en-US" sz="2400" b="1" i="1" dirty="0"/>
              <a:t> </a:t>
            </a:r>
            <a:r>
              <a:rPr lang="en-US" sz="2400" b="1" i="1" dirty="0" err="1"/>
              <a:t>thông</a:t>
            </a:r>
            <a:r>
              <a:rPr lang="en-US" sz="2400" b="1" i="1" dirty="0"/>
              <a:t> </a:t>
            </a:r>
            <a:r>
              <a:rPr lang="en-US" sz="2400" b="1" i="1" dirty="0" err="1"/>
              <a:t>nội</a:t>
            </a:r>
            <a:r>
              <a:rPr lang="en-US" sz="2400" b="1" i="1" dirty="0"/>
              <a:t> </a:t>
            </a:r>
            <a:r>
              <a:rPr lang="en-US" sz="2400" b="1" i="1" dirty="0" err="1"/>
              <a:t>bộ</a:t>
            </a:r>
            <a:endParaRPr lang="vi-VN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Họp nhanh hàng ngày (15 phút).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Họp tuần (1 giờ) – cập nhật tiến độ, xử lý rủi ro.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Công cụ: Slack/Discord (giao tiếp), Google Drive (tài liệu), Email (thông báo chính thức).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Báo cáo: PM gửi 2 tuần/lần cho nhà tài trợ.</a:t>
            </a:r>
          </a:p>
        </p:txBody>
      </p:sp>
    </p:spTree>
    <p:extLst>
      <p:ext uri="{BB962C8B-B14F-4D97-AF65-F5344CB8AC3E}">
        <p14:creationId xmlns:p14="http://schemas.microsoft.com/office/powerpoint/2010/main" val="302454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11682-E58C-7300-C257-E83F9B38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486A6-E0D0-36CE-ADF3-A0232287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E217B7-7E49-B6AA-ECC9-A89BD1E9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1E5E9-8FD3-3B19-37B8-D4C917E1C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Kế hoạch đào tạo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Workshop nâng cao UI/UX.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Đào tạo test automation (Selenium).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Cập nhật CI/CD pipeline.</a:t>
            </a:r>
          </a:p>
        </p:txBody>
      </p:sp>
    </p:spTree>
    <p:extLst>
      <p:ext uri="{BB962C8B-B14F-4D97-AF65-F5344CB8AC3E}">
        <p14:creationId xmlns:p14="http://schemas.microsoft.com/office/powerpoint/2010/main" val="263604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69D33-AD11-0899-28A3-01E482E5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804EE-7ABD-94CA-6A58-6F1A932F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6058FB-3852-7EF3-FF52-56F6CAAB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DADE6-B5DE-370C-8925-451D2ACAA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r>
              <a:rPr lang="en-US" sz="2400" b="1" i="1" dirty="0"/>
              <a:t> </a:t>
            </a:r>
            <a:r>
              <a:rPr lang="en-US" sz="2400" b="1" i="1" dirty="0" err="1"/>
              <a:t>xung</a:t>
            </a:r>
            <a:r>
              <a:rPr lang="en-US" sz="2400" b="1" i="1" dirty="0"/>
              <a:t> </a:t>
            </a:r>
            <a:r>
              <a:rPr lang="en-US" sz="2400" b="1" i="1" dirty="0" err="1"/>
              <a:t>đột</a:t>
            </a:r>
            <a:endParaRPr lang="vi-VN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PM sắp xếp lại công việc nếu trùng lịch.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Mâu thuẫn trong nhóm được giải quyết bằng họp trực tiếp.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Escalation lên nhà tài trợ nếu không giải quyết được.</a:t>
            </a:r>
          </a:p>
        </p:txBody>
      </p:sp>
    </p:spTree>
    <p:extLst>
      <p:ext uri="{BB962C8B-B14F-4D97-AF65-F5344CB8AC3E}">
        <p14:creationId xmlns:p14="http://schemas.microsoft.com/office/powerpoint/2010/main" val="424054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B82A-89EE-689F-F693-8552FAD1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424942-EB70-B1BE-5338-A82E77C4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27E479-14BF-B1DC-2C67-8014DB4C9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dirty="0"/>
              <a:t>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795B0-6AE1-67E7-E34F-09C7891F18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/>
              <a:t>Quản </a:t>
            </a:r>
            <a:r>
              <a:rPr lang="en-US" sz="2400" b="1" i="1" dirty="0" err="1"/>
              <a:t>lý</a:t>
            </a:r>
            <a:r>
              <a:rPr lang="en-US" sz="2400" b="1" i="1" dirty="0"/>
              <a:t> </a:t>
            </a:r>
            <a:r>
              <a:rPr lang="en-US" sz="2400" b="1" i="1" dirty="0" err="1"/>
              <a:t>rủi</a:t>
            </a:r>
            <a:r>
              <a:rPr lang="en-US" sz="2400" b="1" i="1" dirty="0"/>
              <a:t> </a:t>
            </a:r>
            <a:r>
              <a:rPr lang="en-US" sz="2400" b="1" i="1" dirty="0" err="1"/>
              <a:t>ro</a:t>
            </a:r>
            <a:r>
              <a:rPr lang="en-US" sz="2400" b="1" i="1" dirty="0"/>
              <a:t> </a:t>
            </a:r>
            <a:r>
              <a:rPr lang="en-US" sz="2400" b="1" i="1" dirty="0" err="1"/>
              <a:t>nguồn</a:t>
            </a:r>
            <a:r>
              <a:rPr lang="en-US" sz="2400" b="1" i="1" dirty="0"/>
              <a:t> </a:t>
            </a:r>
            <a:r>
              <a:rPr lang="en-US" sz="2400" b="1" i="1" dirty="0" err="1"/>
              <a:t>lực</a:t>
            </a:r>
            <a:endParaRPr lang="en-US" sz="2400" b="1" i="1" dirty="0"/>
          </a:p>
          <a:p>
            <a:pPr marL="0" indent="0">
              <a:lnSpc>
                <a:spcPct val="100000"/>
              </a:lnSpc>
              <a:buNone/>
            </a:pPr>
            <a:endParaRPr lang="vi-V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45F2F1-90B0-7BAA-94D7-14F9C9041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2222"/>
              </p:ext>
            </p:extLst>
          </p:nvPr>
        </p:nvGraphicFramePr>
        <p:xfrm>
          <a:off x="540589" y="2454808"/>
          <a:ext cx="7990935" cy="302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3645">
                  <a:extLst>
                    <a:ext uri="{9D8B030D-6E8A-4147-A177-3AD203B41FA5}">
                      <a16:colId xmlns:a16="http://schemas.microsoft.com/office/drawing/2014/main" val="2852457387"/>
                    </a:ext>
                  </a:extLst>
                </a:gridCol>
                <a:gridCol w="2663645">
                  <a:extLst>
                    <a:ext uri="{9D8B030D-6E8A-4147-A177-3AD203B41FA5}">
                      <a16:colId xmlns:a16="http://schemas.microsoft.com/office/drawing/2014/main" val="811113758"/>
                    </a:ext>
                  </a:extLst>
                </a:gridCol>
                <a:gridCol w="2663645">
                  <a:extLst>
                    <a:ext uri="{9D8B030D-6E8A-4147-A177-3AD203B41FA5}">
                      <a16:colId xmlns:a16="http://schemas.microsoft.com/office/drawing/2014/main" val="777942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Rủi</a:t>
                      </a:r>
                      <a:r>
                        <a:rPr lang="en-US" sz="24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ro</a:t>
                      </a:r>
                      <a:endParaRPr lang="en-US" sz="24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 sz="2400" b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Ảnh hưởng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Biện</a:t>
                      </a:r>
                      <a:r>
                        <a:rPr lang="en-US" sz="2400" b="1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pháp</a:t>
                      </a:r>
                      <a:endParaRPr lang="en-US" sz="2400" b="1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34930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Thành viên nghỉ đột xuất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Chậm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tiến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</a:t>
                      </a:r>
                      <a:endParaRPr lang="en-US" sz="24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Có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dự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phòng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chia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sẻ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code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trên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Git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205468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Thiếu kỹ năng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 sz="24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Chất lượng giảm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Training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nhanh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kèm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khi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thực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hiện</a:t>
                      </a:r>
                      <a:endParaRPr lang="en-US" sz="24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236014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Quá tải công việc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Giảm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năng</a:t>
                      </a:r>
                      <a:r>
                        <a:rPr lang="en-US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2400" b="0" dirty="0" err="1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suất</a:t>
                      </a:r>
                      <a:endParaRPr lang="en-US" sz="2400" b="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vi-VN" sz="2400" b="0" dirty="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Điều phối lại khối lượng, ưu tiên backlog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208535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7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2A56-492F-5882-51DA-688A16A0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D32651-6F5B-7154-A6F0-0C91608E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D9B2F0-BDBF-1A94-4AE1-A8BE6059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VIII. QUẢN LÝ NGUỒN LỰC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4BD23-2FE2-F76A-A2FA-A044B53A0C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quản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nguồn</a:t>
            </a:r>
            <a:r>
              <a:rPr lang="en-US" sz="2400" b="1" dirty="0"/>
              <a:t> </a:t>
            </a:r>
            <a:r>
              <a:rPr lang="en-US" sz="2400" b="1" dirty="0" err="1"/>
              <a:t>lực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i="1" dirty="0" err="1"/>
              <a:t>Chính</a:t>
            </a:r>
            <a:r>
              <a:rPr lang="en-US" sz="2400" b="1" i="1" dirty="0"/>
              <a:t> </a:t>
            </a:r>
            <a:r>
              <a:rPr lang="en-US" sz="2400" b="1" i="1" dirty="0" err="1"/>
              <a:t>sách</a:t>
            </a:r>
            <a:r>
              <a:rPr lang="en-US" sz="2400" b="1" i="1" dirty="0"/>
              <a:t> </a:t>
            </a:r>
            <a:r>
              <a:rPr lang="en-US" sz="2400" b="1" i="1" dirty="0" err="1"/>
              <a:t>khích</a:t>
            </a:r>
            <a:r>
              <a:rPr lang="en-US" sz="2400" b="1" i="1" dirty="0"/>
              <a:t> </a:t>
            </a:r>
            <a:r>
              <a:rPr lang="en-US" sz="2400" b="1" i="1" dirty="0" err="1"/>
              <a:t>lệ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Thưởng khi đạt milestone.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Ghi nhận đóng góp nổi bật trong họp tuần.</a:t>
            </a:r>
          </a:p>
          <a:p>
            <a:pPr lvl="1">
              <a:lnSpc>
                <a:spcPct val="100000"/>
              </a:lnSpc>
            </a:pPr>
            <a:r>
              <a:rPr lang="vi-VN" dirty="0"/>
              <a:t>Khuyến khích môi trường cởi mở, chia sẻ ý tưởng.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3422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CF1D-0143-4874-30A9-09550B79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F9C56-6010-B5B6-5558-BE7822A3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5EEC13DA-9F91-29AD-9E07-6E43D58AF92D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smtClean="0"/>
              <a:t>VII. </a:t>
            </a:r>
            <a:r>
              <a:rPr lang="en-US" sz="4800" dirty="0"/>
              <a:t>QUẢN LÝ CHẤT LƯỢNG</a:t>
            </a:r>
          </a:p>
        </p:txBody>
      </p:sp>
    </p:spTree>
    <p:extLst>
      <p:ext uri="{BB962C8B-B14F-4D97-AF65-F5344CB8AC3E}">
        <p14:creationId xmlns:p14="http://schemas.microsoft.com/office/powerpoint/2010/main" val="6554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258D-A72A-969C-522A-BC93744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32D71-68E5-F379-0358-5AF3F168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43BCC-A4DE-F917-DE96-82C7DF0E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VII. </a:t>
            </a:r>
            <a:r>
              <a:rPr lang="en-US" dirty="0"/>
              <a:t>QUẢN LÝ CHẤT LƯỢNG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44666-3DCB-4ED5-E89D-618010D72A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kiểm</a:t>
            </a:r>
            <a:r>
              <a:rPr lang="en-US" sz="2400" b="1" dirty="0"/>
              <a:t> </a:t>
            </a:r>
            <a:r>
              <a:rPr lang="en-US" sz="2400" b="1" dirty="0" err="1"/>
              <a:t>soát</a:t>
            </a:r>
            <a:r>
              <a:rPr lang="en-US" sz="2400" b="1" dirty="0"/>
              <a:t> </a:t>
            </a:r>
            <a:r>
              <a:rPr lang="en-US" sz="2400" b="1" dirty="0" err="1"/>
              <a:t>chất</a:t>
            </a:r>
            <a:r>
              <a:rPr lang="en-US" sz="2400" b="1" dirty="0"/>
              <a:t> </a:t>
            </a:r>
            <a:r>
              <a:rPr lang="en-US" sz="2400" b="1" dirty="0" err="1"/>
              <a:t>lượng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Mục tiêu chất lượng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Đảm bảo nghiệp vụ &amp; kỹ thuật theo yêu cầu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Hiệu năng ≤ 2s, uptime ≥ 99.5%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Bảo mật &amp; an toàn dữ liệu khách hàng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UX/UI dễ dùng, hài lòng ≥ 9/10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thay đổi nhanh, ≤ 3 ngày</a:t>
            </a:r>
          </a:p>
        </p:txBody>
      </p:sp>
    </p:spTree>
    <p:extLst>
      <p:ext uri="{BB962C8B-B14F-4D97-AF65-F5344CB8AC3E}">
        <p14:creationId xmlns:p14="http://schemas.microsoft.com/office/powerpoint/2010/main" val="338932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BFED-EA64-4854-96D2-8E21E1CE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ED807-F84B-B3AF-F04C-FA85B05A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66B558-3ECA-B66D-A5EC-4A79F6C9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VII. </a:t>
            </a:r>
            <a:r>
              <a:rPr lang="en-US" dirty="0"/>
              <a:t>QUẢN LÝ CHẤT LƯỢNG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99181-6766-CAE1-099B-CE814D26AF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kiểm</a:t>
            </a:r>
            <a:r>
              <a:rPr lang="en-US" sz="2400" b="1" dirty="0"/>
              <a:t> </a:t>
            </a:r>
            <a:r>
              <a:rPr lang="en-US" sz="2400" b="1" dirty="0" err="1"/>
              <a:t>soát</a:t>
            </a:r>
            <a:r>
              <a:rPr lang="en-US" sz="2400" b="1" dirty="0"/>
              <a:t> </a:t>
            </a:r>
            <a:r>
              <a:rPr lang="en-US" sz="2400" b="1" dirty="0" err="1"/>
              <a:t>chất</a:t>
            </a:r>
            <a:r>
              <a:rPr lang="en-US" sz="2400" b="1" dirty="0"/>
              <a:t> </a:t>
            </a:r>
            <a:r>
              <a:rPr lang="en-US" sz="2400" b="1" dirty="0" err="1"/>
              <a:t>lượng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Biện pháp &amp; kiểm soát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Xác nhận yêu cầu qua tài liệu &amp; biên bản ký duyệt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Review thiết kế, code review, kiểm thử tự động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Performance test (JMeter), bảo mật (audit, firewall, encryption)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User testing, A/B testing, feedback người dùng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Báo cáo KPI định kỳ: Response time, Uptime, Lỗi nghiêm trọng, Code coverage, MTTR, Customer feedback</a:t>
            </a:r>
          </a:p>
        </p:txBody>
      </p:sp>
    </p:spTree>
    <p:extLst>
      <p:ext uri="{BB962C8B-B14F-4D97-AF65-F5344CB8AC3E}">
        <p14:creationId xmlns:p14="http://schemas.microsoft.com/office/powerpoint/2010/main" val="326600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4FC5-A800-191A-A015-A1E07B6D0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F042B-2A62-1E2A-E58E-0B638D78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DC5C8-3DE4-CF0E-BC98-CC0CF87B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VII. </a:t>
            </a:r>
            <a:r>
              <a:rPr lang="en-US" dirty="0"/>
              <a:t>QUẢN LÝ CHẤT LƯỢNG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AFEB1-C068-5D31-DC08-05728CC76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kiểm</a:t>
            </a:r>
            <a:r>
              <a:rPr lang="en-US" sz="2400" b="1" dirty="0"/>
              <a:t> </a:t>
            </a:r>
            <a:r>
              <a:rPr lang="en-US" sz="2400" b="1" dirty="0" err="1"/>
              <a:t>soát</a:t>
            </a:r>
            <a:r>
              <a:rPr lang="en-US" sz="2400" b="1" dirty="0"/>
              <a:t> </a:t>
            </a:r>
            <a:r>
              <a:rPr lang="en-US" sz="2400" b="1" dirty="0" err="1"/>
              <a:t>chất</a:t>
            </a:r>
            <a:r>
              <a:rPr lang="en-US" sz="2400" b="1" dirty="0"/>
              <a:t> </a:t>
            </a:r>
            <a:r>
              <a:rPr lang="en-US" sz="2400" b="1" dirty="0" err="1"/>
              <a:t>lượng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Quy trình theo giai đoạn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Khảo sát &amp; phân tích: Thu thập yêu cầu, ERD, Use Case, tài liệu được duyệt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Thiết kế &amp; phát triển: Kiến trúc, DB, UI mockup, code review, unit test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Kiểm thử toàn diện: Integration, System, UAT, PerformanceT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riển khai &amp; bảo trì: Cài đặt, nghiệm thu, hỗ trợ 24/7, sao lưu định kỳ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Quản lý thay đổi &amp; cải tiến liên tục: Báo cáo KPI, audit bảo mật, đào tạo nhân sự</a:t>
            </a:r>
          </a:p>
        </p:txBody>
      </p:sp>
    </p:spTree>
    <p:extLst>
      <p:ext uri="{BB962C8B-B14F-4D97-AF65-F5344CB8AC3E}">
        <p14:creationId xmlns:p14="http://schemas.microsoft.com/office/powerpoint/2010/main" val="428758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3786-9368-9E7F-070C-8087AA04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42478-4365-E506-B8C3-8243A77A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E140ABB6-3148-97A0-F843-B7C55463F1E2}"/>
              </a:ext>
            </a:extLst>
          </p:cNvPr>
          <p:cNvSpPr txBox="1">
            <a:spLocks/>
          </p:cNvSpPr>
          <p:nvPr/>
        </p:nvSpPr>
        <p:spPr>
          <a:xfrm>
            <a:off x="3683480" y="2717322"/>
            <a:ext cx="5193204" cy="14233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smtClean="0"/>
              <a:t>VIII. </a:t>
            </a:r>
            <a:r>
              <a:rPr lang="en-US" sz="4800" dirty="0"/>
              <a:t>QUẢN LÝ RỦI RO</a:t>
            </a:r>
          </a:p>
        </p:txBody>
      </p:sp>
    </p:spTree>
    <p:extLst>
      <p:ext uri="{BB962C8B-B14F-4D97-AF65-F5344CB8AC3E}">
        <p14:creationId xmlns:p14="http://schemas.microsoft.com/office/powerpoint/2010/main" val="33252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C27D-4474-01D6-39E3-3221EE56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86FC6C-15DC-4A31-127E-D8B8AF67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5D928F-757B-2844-F542-8A75B5DA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VIII. </a:t>
            </a:r>
            <a:r>
              <a:rPr lang="en-US" dirty="0"/>
              <a:t>QUẢN LÝ RỦI 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D5FA3-D9B0-B569-E938-4AF079F535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dự</a:t>
            </a:r>
            <a:r>
              <a:rPr lang="en-US" sz="2400" b="1" dirty="0"/>
              <a:t> </a:t>
            </a:r>
            <a:r>
              <a:rPr lang="en-US" sz="2400" b="1" dirty="0" err="1"/>
              <a:t>phòng</a:t>
            </a:r>
            <a:r>
              <a:rPr lang="en-US" sz="2400" b="1" dirty="0"/>
              <a:t> </a:t>
            </a:r>
            <a:r>
              <a:rPr lang="en-US" sz="2400" b="1" dirty="0" err="1"/>
              <a:t>rủi</a:t>
            </a:r>
            <a:r>
              <a:rPr lang="en-US" sz="2400" b="1" dirty="0"/>
              <a:t> </a:t>
            </a:r>
            <a:r>
              <a:rPr lang="en-US" sz="2400" b="1" dirty="0" err="1"/>
              <a:t>ro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Quy trình quản lý rủi ro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Nhận diện → Đánh giá (1–5) → Ưu tiên xử lý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Phòng ngừa: Bảo mật, kiểm thử định kỳ, quy trình kiểm soát chặt chẽ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Khắc phục: Cập nhật phần mềm, khôi phục dữ liệu, ngân sách dự phòng 10–15%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Phân công: PM, Dev Lead, QA Lead, DevOps, Ban lãnh đạo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Giám sát &amp; báo cáo: Họp định kỳ, báo cáo sự cố, cập nhật kế hoạch</a:t>
            </a:r>
          </a:p>
        </p:txBody>
      </p:sp>
    </p:spTree>
    <p:extLst>
      <p:ext uri="{BB962C8B-B14F-4D97-AF65-F5344CB8AC3E}">
        <p14:creationId xmlns:p14="http://schemas.microsoft.com/office/powerpoint/2010/main" val="144162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16B3-D896-D356-D7BA-85C99C65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46D6B-E842-DFAB-CB8F-739721E8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4FE2FF-974F-CCDA-6D8D-2020DFE6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VIII. </a:t>
            </a:r>
            <a:r>
              <a:rPr lang="en-US" dirty="0"/>
              <a:t>QUẢN LÝ RỦI 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054D4-E374-1541-DB55-64127640F1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hoạch</a:t>
            </a:r>
            <a:r>
              <a:rPr lang="en-US" sz="2400" b="1" dirty="0"/>
              <a:t> </a:t>
            </a:r>
            <a:r>
              <a:rPr lang="en-US" sz="2400" b="1" dirty="0" err="1"/>
              <a:t>dự</a:t>
            </a:r>
            <a:r>
              <a:rPr lang="en-US" sz="2400" b="1" dirty="0"/>
              <a:t> </a:t>
            </a:r>
            <a:r>
              <a:rPr lang="en-US" sz="2400" b="1" dirty="0" err="1"/>
              <a:t>phòng</a:t>
            </a:r>
            <a:r>
              <a:rPr lang="en-US" sz="2400" b="1" dirty="0"/>
              <a:t> </a:t>
            </a:r>
            <a:r>
              <a:rPr lang="en-US" sz="2400" b="1" dirty="0" err="1"/>
              <a:t>rủi</a:t>
            </a:r>
            <a:r>
              <a:rPr lang="en-US" sz="2400" b="1" dirty="0"/>
              <a:t> </a:t>
            </a:r>
            <a:r>
              <a:rPr lang="en-US" sz="2400" b="1" dirty="0" err="1"/>
              <a:t>ro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vi-VN" sz="2400" b="1" i="1" dirty="0"/>
              <a:t>Rủi ro điển hình &amp; biện pháp</a:t>
            </a:r>
            <a:endParaRPr lang="en-US" sz="2400" b="1" i="1" dirty="0"/>
          </a:p>
          <a:p>
            <a:pPr lvl="1">
              <a:lnSpc>
                <a:spcPct val="100000"/>
              </a:lnSpc>
            </a:pPr>
            <a:r>
              <a:rPr lang="vi-VN" dirty="0"/>
              <a:t>Sai lệch yêu cầu, thay đổi nghiệp vụ giữa chừng → quản lý thay đổi chặt chẽ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Hiệu năng kém, lỗi tích hợp, kiến trúc không phù hợp → kiểm thử hiệu năng, review kiến trúc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Rủi ro bảo mật &amp; an ninh mạng → firewall, mã hóa, audit định kỳ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Chi phí vượt ngân sách, chậm thanh toán → dự phòng ngân sách, kiểm soát tài chính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vi-VN" dirty="0"/>
              <a:t>Thiếu phối hợp nội bộ → họp giao ban, dùng công cụ quản lý dự án</a:t>
            </a:r>
          </a:p>
        </p:txBody>
      </p:sp>
    </p:spTree>
    <p:extLst>
      <p:ext uri="{BB962C8B-B14F-4D97-AF65-F5344CB8AC3E}">
        <p14:creationId xmlns:p14="http://schemas.microsoft.com/office/powerpoint/2010/main" val="161732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Props1.xml><?xml version="1.0" encoding="utf-8"?>
<ds:datastoreItem xmlns:ds="http://schemas.openxmlformats.org/officeDocument/2006/customXml" ds:itemID="{CE3570F5-DCAB-436A-9A7C-6273E27CE77D}"/>
</file>

<file path=customXml/itemProps2.xml><?xml version="1.0" encoding="utf-8"?>
<ds:datastoreItem xmlns:ds="http://schemas.openxmlformats.org/officeDocument/2006/customXml" ds:itemID="{4F5DBE7A-C6BF-4564-B181-654021C39D4B}"/>
</file>

<file path=customXml/itemProps3.xml><?xml version="1.0" encoding="utf-8"?>
<ds:datastoreItem xmlns:ds="http://schemas.openxmlformats.org/officeDocument/2006/customXml" ds:itemID="{5AAC4BC8-5E94-4E99-8634-FD86F2E7398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1565</TotalTime>
  <Words>3164</Words>
  <Application>Microsoft Office PowerPoint</Application>
  <PresentationFormat>On-screen Show (4:3)</PresentationFormat>
  <Paragraphs>477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I. THUYẾT MINH ĐỀ TÀI</vt:lpstr>
      <vt:lpstr>I. THUYẾT MINH ĐỀ TÀI</vt:lpstr>
      <vt:lpstr>I. THUYẾT MINH ĐỀ TÀI</vt:lpstr>
      <vt:lpstr>I. THUYẾT MINH ĐỀ TÀI</vt:lpstr>
      <vt:lpstr>I. THUYẾT MINH ĐỀ TÀI</vt:lpstr>
      <vt:lpstr>I. THUYẾT MINH ĐỀ TÀI</vt:lpstr>
      <vt:lpstr>I. THUYẾT MINH ĐỀ TÀI</vt:lpstr>
      <vt:lpstr>I. THUYẾT MINH ĐỀ TÀI</vt:lpstr>
      <vt:lpstr>I. THUYẾT MINH ĐỀ TÀI</vt:lpstr>
      <vt:lpstr>PowerPoint Presentation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II. KHẢO SÁT ĐỀ TÀI</vt:lpstr>
      <vt:lpstr>PowerPoint Presentation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III. PHÂN TÍCH &amp; THIẾT KẾ HỆ THỐNG</vt:lpstr>
      <vt:lpstr>PowerPoint Presentation</vt:lpstr>
      <vt:lpstr>IV. DỰ TOÁN KINH PHÍ</vt:lpstr>
      <vt:lpstr>PowerPoint Presentation</vt:lpstr>
      <vt:lpstr>V. QUẢN LÝ THỜI GIAN, KINH PHÍ</vt:lpstr>
      <vt:lpstr>V. QUẢN LÝ THỜI GIAN, KINH PHÍ</vt:lpstr>
      <vt:lpstr>PowerPoint Presentation</vt:lpstr>
      <vt:lpstr>VI. QUẢN LÝ NGUỒN LỰC</vt:lpstr>
      <vt:lpstr>VI. QUẢN LÝ NGUỒN LỰC</vt:lpstr>
      <vt:lpstr>VI. QUẢN LÝ NGUỒN LỰC</vt:lpstr>
      <vt:lpstr>VI. QUẢN LÝ NGUỒN LỰC</vt:lpstr>
      <vt:lpstr>VI. QUẢN LÝ NGUỒN LỰC</vt:lpstr>
      <vt:lpstr>VI. QUẢN LÝ NGUỒN LỰC</vt:lpstr>
      <vt:lpstr>VI. QUẢN LÝ NGUỒN LỰC</vt:lpstr>
      <vt:lpstr>VI. QUẢN LÝ NGUỒN LỰC</vt:lpstr>
      <vt:lpstr>VI. QUẢN LÝ NGUỒN LỰC</vt:lpstr>
      <vt:lpstr>VIII. QUẢN LÝ NGUỒN LỰC</vt:lpstr>
      <vt:lpstr>PowerPoint Presentation</vt:lpstr>
      <vt:lpstr>VII. QUẢN LÝ CHẤT LƯỢNG</vt:lpstr>
      <vt:lpstr>VII. QUẢN LÝ CHẤT LƯỢNG</vt:lpstr>
      <vt:lpstr>VII. QUẢN LÝ CHẤT LƯỢNG</vt:lpstr>
      <vt:lpstr>PowerPoint Presentation</vt:lpstr>
      <vt:lpstr>VIII. QUẢN LÝ RỦI RO</vt:lpstr>
      <vt:lpstr>VIII. QUẢN LÝ RỦI RO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NEO</cp:lastModifiedBy>
  <cp:revision>45</cp:revision>
  <dcterms:created xsi:type="dcterms:W3CDTF">2021-05-28T04:32:29Z</dcterms:created>
  <dcterms:modified xsi:type="dcterms:W3CDTF">2026-09-18T17:32:38Z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</Properties>
</file>