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12.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74" r:id="rId3"/>
    <p:sldId id="257" r:id="rId4"/>
    <p:sldId id="259" r:id="rId5"/>
    <p:sldId id="263" r:id="rId6"/>
    <p:sldId id="275" r:id="rId7"/>
    <p:sldId id="276" r:id="rId8"/>
    <p:sldId id="264" r:id="rId9"/>
    <p:sldId id="277" r:id="rId10"/>
    <p:sldId id="278" r:id="rId11"/>
    <p:sldId id="301" r:id="rId12"/>
    <p:sldId id="279" r:id="rId13"/>
    <p:sldId id="280" r:id="rId14"/>
    <p:sldId id="267" r:id="rId15"/>
    <p:sldId id="282" r:id="rId16"/>
    <p:sldId id="283"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99" r:id="rId31"/>
    <p:sldId id="300" r:id="rId32"/>
    <p:sldId id="298"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72" y="7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4353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giới thiệu tên dự án, nhóm thực hiện, bối cảnh môn học và trọng tâm quản trị dự án CNTT.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47FC2-A75C-950C-7E89-348273A7EF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E260AA-1FC2-4C75-AF85-91BEE9A361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7B026E-E94F-5A12-67C9-AC461077B211}"/>
              </a:ext>
            </a:extLst>
          </p:cNvPr>
          <p:cNvSpPr>
            <a:spLocks noGrp="1"/>
          </p:cNvSpPr>
          <p:nvPr>
            <p:ph type="body" idx="1"/>
          </p:nvPr>
        </p:nvSpPr>
        <p:spPr/>
        <p:txBody>
          <a:bodyPr/>
          <a:lstStyle/>
          <a:p>
            <a:r>
              <a:rPr lang="en-US" dirty="0"/>
              <a:t>Slide này giúp giảng viên thấy nhóm bám sát đúng checklist: tên dự án, mục tiêu, chức năng, khả thi, nhân lực, thời gian, kinh phí, kết quả và kết luận.</a:t>
            </a:r>
          </a:p>
        </p:txBody>
      </p:sp>
      <p:sp>
        <p:nvSpPr>
          <p:cNvPr id="4" name="Slide Number Placeholder 3">
            <a:extLst>
              <a:ext uri="{FF2B5EF4-FFF2-40B4-BE49-F238E27FC236}">
                <a16:creationId xmlns:a16="http://schemas.microsoft.com/office/drawing/2014/main" id="{DB5DC817-18F8-FECF-08E2-0ADB0AD8F235}"/>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856755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giúp giảng viên thấy nhóm bám sát đúng checklist: tên dự án, mục tiêu, chức năng, khả thi, nhân lực, thời gian, kinh phí, kết quả và kết luận.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như một đường dây: Scope chốt nền tảng, Analysis chốt yêu cầu, Design chốt bản thiết kế, Development xây, Testing chứng minh, Deployment nghiệm thu.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04098-8005-F71A-3C2E-570A6CB176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50489-D1AB-B81C-F448-BB91C3214B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E75B86-1699-A04E-E8FA-4F184358A786}"/>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2DAA5752-05BF-5BEF-7A28-B92B29931A1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195766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5CB78-7907-6E49-DD47-DAF06906F9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B9D29B-9CD9-B568-1CE5-1B956A0AF2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7FF87-C427-482B-6F19-6484F3744B23}"/>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631149EE-2DD5-E03D-899A-5AD8065EA842}"/>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098998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nhóm không lập lịch bằng cảm tính mà dùng PERT và có buffer 10%.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EA458-509F-989E-EDCC-9EBD147BFB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671AB-09DE-E72B-A2C6-74683CE06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DDD7BB-5C1A-189E-8A06-C6323E1E59CF}"/>
              </a:ext>
            </a:extLst>
          </p:cNvPr>
          <p:cNvSpPr>
            <a:spLocks noGrp="1"/>
          </p:cNvSpPr>
          <p:nvPr>
            <p:ph type="body" idx="1"/>
          </p:nvPr>
        </p:nvSpPr>
        <p:spPr/>
        <p:txBody>
          <a:bodyPr/>
          <a:lstStyle/>
          <a:p>
            <a:r>
              <a:rPr lang="en-US" dirty="0"/>
              <a:t>Nhấn mạnh nhóm không lập lịch bằng cảm tính mà dùng PERT và có buffer 10%.</a:t>
            </a:r>
          </a:p>
        </p:txBody>
      </p:sp>
      <p:sp>
        <p:nvSpPr>
          <p:cNvPr id="4" name="Slide Number Placeholder 3">
            <a:extLst>
              <a:ext uri="{FF2B5EF4-FFF2-40B4-BE49-F238E27FC236}">
                <a16:creationId xmlns:a16="http://schemas.microsoft.com/office/drawing/2014/main" id="{4FCB900E-D304-95EA-5101-129ECEAD375A}"/>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485910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34EE0-0A55-ADA2-F84F-6A8E71F85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D8045-B080-2182-2610-3FAFFE3C80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ABAE16-21C1-E7C3-56C7-4A96D82F778C}"/>
              </a:ext>
            </a:extLst>
          </p:cNvPr>
          <p:cNvSpPr>
            <a:spLocks noGrp="1"/>
          </p:cNvSpPr>
          <p:nvPr>
            <p:ph type="body" idx="1"/>
          </p:nvPr>
        </p:nvSpPr>
        <p:spPr/>
        <p:txBody>
          <a:bodyPr/>
          <a:lstStyle/>
          <a:p>
            <a:r>
              <a:rPr lang="en-US" dirty="0"/>
              <a:t>Nhấn mạnh nhóm không lập lịch bằng cảm tính mà dùng PERT và có buffer 10%.</a:t>
            </a:r>
          </a:p>
        </p:txBody>
      </p:sp>
      <p:sp>
        <p:nvSpPr>
          <p:cNvPr id="4" name="Slide Number Placeholder 3">
            <a:extLst>
              <a:ext uri="{FF2B5EF4-FFF2-40B4-BE49-F238E27FC236}">
                <a16:creationId xmlns:a16="http://schemas.microsoft.com/office/drawing/2014/main" id="{A74578FB-F194-A3CD-B52F-F627DA5C1FD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5229787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828AE-A0B5-F8F2-61CF-2740B4275C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5BCAE-1BD1-7C70-6446-3FD782798A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79C849-D9F3-6B8A-CED2-604805F20752}"/>
              </a:ext>
            </a:extLst>
          </p:cNvPr>
          <p:cNvSpPr>
            <a:spLocks noGrp="1"/>
          </p:cNvSpPr>
          <p:nvPr>
            <p:ph type="body" idx="1"/>
          </p:nvPr>
        </p:nvSpPr>
        <p:spPr/>
        <p:txBody>
          <a:bodyPr/>
          <a:lstStyle/>
          <a:p>
            <a:r>
              <a:rPr lang="en-US" dirty="0"/>
              <a:t>Nhấn mạnh nhóm không lập lịch bằng cảm tính mà dùng PERT và có buffer 10%.</a:t>
            </a:r>
          </a:p>
        </p:txBody>
      </p:sp>
      <p:sp>
        <p:nvSpPr>
          <p:cNvPr id="4" name="Slide Number Placeholder 3">
            <a:extLst>
              <a:ext uri="{FF2B5EF4-FFF2-40B4-BE49-F238E27FC236}">
                <a16:creationId xmlns:a16="http://schemas.microsoft.com/office/drawing/2014/main" id="{CDE5CE73-A622-C924-B39B-43EE045F29C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1965243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DE1DB-1163-6CF0-D666-5205F09595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044AB6-2E30-F32A-9ED1-30AC3FF672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817BF6-3775-1CA2-E4F9-8025D851E9CC}"/>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2DD0E539-0938-FA55-A37B-EBE268728531}"/>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566015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83A9C-6736-A080-E0C3-D631E651FA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6924D-391C-A5F8-651C-F0096D4E77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D5478-00F9-46A6-30B0-2429EB5DDC9E}"/>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6749278F-56F6-8325-CECF-082583351DF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476917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Đức Anh trình bày ngân sách: 250M nhân công, 300M thiết bị/hạ tầng, 400M chi khác, 50M dự phòng.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FBCE1-A2EC-21F1-FF5A-A33E429D1D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080854-0561-4D79-722E-EE5F9CDEB1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F6765A-9403-533E-2DDB-4E2C92168576}"/>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1FD91990-09EE-4658-DAB7-DAAF2DB81B8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4120987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DC93-7584-D4C3-5D2B-3FCDF6FA4D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6F679-BA66-A1E5-66E0-C67682003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30B469-F4CF-2238-81D8-0625104DEFF2}"/>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DFCD8926-22B4-D5F2-190C-F91DD8B1F85F}"/>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942370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2AB59-B7A4-43BB-DE3B-91130061CB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79900-59F1-6538-DB61-FD7662A8BC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D3DE88-D3A5-0F8B-9AEF-3C9E1B4FA857}"/>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4152FE34-10BE-E383-2B2F-A5DA3EAE6802}"/>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6392926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47CFA-A451-0832-D954-715233CC2E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F1BE6-EA5D-2439-3A51-B6D6D86DDE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1B6C1D-4038-44F4-2278-0B1573E7CFFC}"/>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B2DD56BE-B432-B93C-DD36-C2EFFB7BEDB7}"/>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2058606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53524-8E51-BF28-470C-3F9AFC307E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6CA9C-79A9-DF7B-D27B-73F200F7B7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629B9B-1F5A-961B-DD37-76609BFE522F}"/>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A51D3CCB-A3AE-6F25-C9F1-04909B7FB093}"/>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919461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0FA9D-8BFB-4B4D-EEC0-C0252B2DD0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B08FC0-DEAE-164F-E4B2-C0E6B11B19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ADE0BA-F2F1-E8CE-E3BC-467FBAB9A7AB}"/>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78B83972-D35E-107A-5513-501F69E049D7}"/>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8320484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D9859-DC0B-6036-BF4E-E913FE401B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2644DD-E0E6-8771-6209-C91DF709B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26BECC-15E0-BC04-ABC1-2F564CEF7D23}"/>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829F2B61-1A66-4759-BD26-D2AF98247776}"/>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7978163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B08E3-5EF0-1297-4545-26C815CCC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437EE-390D-13C3-90E5-9F328DD49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51217F-597C-A7CB-F15A-9A135355A382}"/>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7CCC1EAC-428E-DB8E-138B-ADCC908774AA}"/>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997601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BA358-ACC7-8955-1E9D-70ECB9740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AE6F11-E9AD-D2CC-ABDB-BDFF2D506E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B7E390-5991-9E7F-2B12-4F86CC23A6A4}"/>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B13C3C63-B11D-A4E3-CA96-6E35C799DC42}"/>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1061603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88131-6677-FD32-F09E-F730F3FB28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37797C-3BEE-D7AB-BDAC-0697789FEC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0FB571-F35D-5F27-C401-1D8EB75D9F21}"/>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4C0208A2-D877-2574-5E3B-233297DBAB31}"/>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3277621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A48F4-4D27-8C04-1EA8-8C43D00C6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7DF97-E394-210D-0040-6C517DEED1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2C74A6-FA99-05FF-2C7C-846AEB9A7877}"/>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8DE7AE73-0C39-B397-1D5A-AA36D69B1F75}"/>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7797072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6B02E-BD58-1F36-B311-B2FCC4C161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C6335A-F4E4-6F76-6955-128461FC1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D9F775-CBE4-6DA2-8AE1-DEF682E05F8F}"/>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CE975FF4-DC2F-EA2A-F4CB-35B4C08FFC9E}"/>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796341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A32D2-7D32-2C77-8758-946C1E2262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CB926-F2BA-095C-4048-FB34C5B7D3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06367F-C0E6-2008-FDF1-D63066976B5C}"/>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7CFFE25C-47A2-9309-45D6-1144F1BD36AC}"/>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5171165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D5777-E0A2-3629-F929-EDDDAA7724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91435E-B953-136F-DAFC-558A98295D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800C82-474F-15A9-93B0-1AE7A0401DDD}"/>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A45D3FB2-CB08-3667-EF26-F7A3859C0C3C}"/>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2554280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2DC59-310F-8D14-A79A-097DB644F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1ECA7D-849E-1CA3-92B6-D453D8F61E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9B3AA7-1A0A-3CFD-0CDF-3C5777AEBE61}"/>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BA4BBAEB-30E4-DB6C-2AAF-480EA5348637}"/>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9668918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4B8AB-26E5-629D-C7D6-15F544A6F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95D754-050D-BBFD-85AD-31F21B4E98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C41577-63E7-F856-9145-7EC9FB97780C}"/>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72CFB183-8AC6-C18F-9445-97DA72D28F55}"/>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4590166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C8A25-8329-1628-D00C-242FD57577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AF114E-61F8-1E1A-82DA-02DB8E6ADB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CC1A9B-E11B-AE61-CD7D-D31C53CC8031}"/>
              </a:ext>
            </a:extLst>
          </p:cNvPr>
          <p:cNvSpPr>
            <a:spLocks noGrp="1"/>
          </p:cNvSpPr>
          <p:nvPr>
            <p:ph type="body" idx="1"/>
          </p:nvPr>
        </p:nvSpPr>
        <p:spPr/>
        <p:txBody>
          <a:bodyPr/>
          <a:lstStyle/>
          <a:p>
            <a:r>
              <a:rPr lang="en-US" dirty="0"/>
              <a:t>Nói rõ phạm vi demo để tránh bị hỏi về triển khai phần cứng thực địa và phê duyệt của ban quản lý.</a:t>
            </a:r>
          </a:p>
        </p:txBody>
      </p:sp>
      <p:sp>
        <p:nvSpPr>
          <p:cNvPr id="4" name="Slide Number Placeholder 3">
            <a:extLst>
              <a:ext uri="{FF2B5EF4-FFF2-40B4-BE49-F238E27FC236}">
                <a16:creationId xmlns:a16="http://schemas.microsoft.com/office/drawing/2014/main" id="{75EB45DF-AA0F-698D-B167-670AE2C9C0EC}"/>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6557269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9EC53-EC2C-9C60-A06E-B0F937DBEA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6D592C-95A3-8053-EC05-D9E50BF2B9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40DF9D-6B91-3068-535F-677DCE0F45AB}"/>
              </a:ext>
            </a:extLst>
          </p:cNvPr>
          <p:cNvSpPr>
            <a:spLocks noGrp="1"/>
          </p:cNvSpPr>
          <p:nvPr>
            <p:ph type="body" idx="1"/>
          </p:nvPr>
        </p:nvSpPr>
        <p:spPr/>
        <p:txBody>
          <a:bodyPr/>
          <a:lstStyle/>
          <a:p>
            <a:r>
              <a:rPr lang="en-US" dirty="0"/>
              <a:t>Kết thúc bằng đường dây quản trị và sẵn sàng hỏi đáp theo từng vai trò thành viên.</a:t>
            </a:r>
          </a:p>
        </p:txBody>
      </p:sp>
      <p:sp>
        <p:nvSpPr>
          <p:cNvPr id="4" name="Slide Number Placeholder 3">
            <a:extLst>
              <a:ext uri="{FF2B5EF4-FFF2-40B4-BE49-F238E27FC236}">
                <a16:creationId xmlns:a16="http://schemas.microsoft.com/office/drawing/2014/main" id="{7C3C3CB5-26CD-8F88-7502-F6EF90DCFB89}"/>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332860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Nền công nghệ đỏ phong cách HUST"/>
          <p:cNvPicPr>
            <a:picLocks noChangeAspect="1"/>
          </p:cNvPicPr>
          <p:nvPr/>
        </p:nvPicPr>
        <p:blipFill>
          <a:blip r:embed="rId3"/>
          <a:stretch>
            <a:fillRect/>
          </a:stretch>
        </p:blipFill>
        <p:spPr>
          <a:xfrm>
            <a:off x="0" y="21501"/>
            <a:ext cx="12191695" cy="6858000"/>
          </a:xfrm>
          <a:prstGeom prst="rect">
            <a:avLst/>
          </a:prstGeom>
        </p:spPr>
      </p:pic>
      <p:sp>
        <p:nvSpPr>
          <p:cNvPr id="3" name="Text 0"/>
          <p:cNvSpPr/>
          <p:nvPr/>
        </p:nvSpPr>
        <p:spPr>
          <a:xfrm>
            <a:off x="2357154" y="207795"/>
            <a:ext cx="4114800" cy="219456"/>
          </a:xfrm>
          <a:prstGeom prst="rect">
            <a:avLst/>
          </a:prstGeom>
          <a:noFill/>
          <a:ln/>
        </p:spPr>
        <p:txBody>
          <a:bodyPr wrap="square" lIns="0" tIns="0" rIns="0" bIns="0" rtlCol="0" anchor="ctr">
            <a:normAutofit/>
          </a:bodyPr>
          <a:lstStyle/>
          <a:p>
            <a:pPr marL="0" indent="0">
              <a:buNone/>
            </a:pPr>
            <a:r>
              <a:rPr lang="en-US" sz="1150" b="1" dirty="0">
                <a:solidFill>
                  <a:srgbClr val="FFE2A6"/>
                </a:solidFill>
                <a:latin typeface="Arial" pitchFamily="34" charset="0"/>
                <a:ea typeface="Arial" pitchFamily="34" charset="-122"/>
                <a:cs typeface="Arial" pitchFamily="34" charset="-120"/>
              </a:rPr>
              <a:t>ĐẠI HỌC BÁCH KHOA HÀ NỘI</a:t>
            </a:r>
            <a:endParaRPr lang="en-US" sz="1150" dirty="0"/>
          </a:p>
        </p:txBody>
      </p:sp>
      <p:sp>
        <p:nvSpPr>
          <p:cNvPr id="4" name="Text 1"/>
          <p:cNvSpPr/>
          <p:nvPr/>
        </p:nvSpPr>
        <p:spPr>
          <a:xfrm>
            <a:off x="658368" y="1378018"/>
            <a:ext cx="2743200" cy="256032"/>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rial" pitchFamily="34" charset="0"/>
                <a:ea typeface="Arial" pitchFamily="34" charset="-122"/>
                <a:cs typeface="Arial" pitchFamily="34" charset="-120"/>
              </a:rPr>
              <a:t>BÁO CÁO MÔN HỌC</a:t>
            </a:r>
            <a:endParaRPr lang="en-US" sz="1600" dirty="0"/>
          </a:p>
        </p:txBody>
      </p:sp>
      <p:sp>
        <p:nvSpPr>
          <p:cNvPr id="5" name="Text 2"/>
          <p:cNvSpPr/>
          <p:nvPr/>
        </p:nvSpPr>
        <p:spPr>
          <a:xfrm>
            <a:off x="621792" y="1806354"/>
            <a:ext cx="4800600" cy="960120"/>
          </a:xfrm>
          <a:prstGeom prst="rect">
            <a:avLst/>
          </a:prstGeom>
          <a:noFill/>
          <a:ln/>
        </p:spPr>
        <p:txBody>
          <a:bodyPr wrap="square" lIns="0" tIns="0" rIns="0" bIns="0" rtlCol="0" anchor="ctr">
            <a:normAutofit/>
          </a:bodyPr>
          <a:lstStyle/>
          <a:p>
            <a:pPr marL="0" indent="0">
              <a:buNone/>
            </a:pPr>
            <a:r>
              <a:rPr lang="en-US" sz="2600" b="1" dirty="0">
                <a:solidFill>
                  <a:srgbClr val="FFFFFF"/>
                </a:solidFill>
                <a:latin typeface="Arial" pitchFamily="34" charset="0"/>
                <a:ea typeface="Arial" pitchFamily="34" charset="-122"/>
                <a:cs typeface="Arial" pitchFamily="34" charset="-120"/>
              </a:rPr>
              <a:t>QUẢN TRỊ DỰ ÁN</a:t>
            </a:r>
            <a:endParaRPr lang="en-US" sz="2600" dirty="0"/>
          </a:p>
          <a:p>
            <a:pPr marL="0" indent="0">
              <a:buNone/>
            </a:pPr>
            <a:r>
              <a:rPr lang="en-US" sz="2600" b="1" dirty="0">
                <a:solidFill>
                  <a:srgbClr val="FFFFFF"/>
                </a:solidFill>
                <a:latin typeface="Arial" pitchFamily="34" charset="0"/>
                <a:ea typeface="Arial" pitchFamily="34" charset="-122"/>
                <a:cs typeface="Arial" pitchFamily="34" charset="-120"/>
              </a:rPr>
              <a:t>CÔNG NGHỆ THÔNG TIN</a:t>
            </a:r>
            <a:endParaRPr lang="en-US" sz="2600" dirty="0"/>
          </a:p>
        </p:txBody>
      </p:sp>
      <p:sp>
        <p:nvSpPr>
          <p:cNvPr id="6" name="Shape 3"/>
          <p:cNvSpPr/>
          <p:nvPr/>
        </p:nvSpPr>
        <p:spPr>
          <a:xfrm>
            <a:off x="658368" y="2790438"/>
            <a:ext cx="1645920" cy="0"/>
          </a:xfrm>
          <a:prstGeom prst="line">
            <a:avLst/>
          </a:prstGeom>
          <a:noFill/>
          <a:ln w="38100">
            <a:solidFill>
              <a:srgbClr val="D6A62C"/>
            </a:solidFill>
            <a:prstDash val="solid"/>
          </a:ln>
        </p:spPr>
        <p:txBody>
          <a:bodyPr/>
          <a:lstStyle/>
          <a:p>
            <a:endParaRPr lang="vi-VN"/>
          </a:p>
        </p:txBody>
      </p:sp>
      <p:sp>
        <p:nvSpPr>
          <p:cNvPr id="7" name="Text 4"/>
          <p:cNvSpPr/>
          <p:nvPr/>
        </p:nvSpPr>
        <p:spPr>
          <a:xfrm>
            <a:off x="621792" y="3176563"/>
            <a:ext cx="5340096" cy="1607707"/>
          </a:xfrm>
          <a:prstGeom prst="rect">
            <a:avLst/>
          </a:prstGeom>
          <a:noFill/>
          <a:ln/>
        </p:spPr>
        <p:txBody>
          <a:bodyPr wrap="square" lIns="0" tIns="0" rIns="0" bIns="0" rtlCol="0" anchor="ctr">
            <a:noAutofit/>
          </a:bodyPr>
          <a:lstStyle/>
          <a:p>
            <a:pPr marL="0" indent="0">
              <a:buNone/>
            </a:pPr>
            <a:r>
              <a:rPr lang="en-US" sz="2400" b="1" dirty="0">
                <a:solidFill>
                  <a:srgbClr val="F4F0E8"/>
                </a:solidFill>
                <a:latin typeface="Arial" pitchFamily="34" charset="0"/>
                <a:ea typeface="Arial" pitchFamily="34" charset="-122"/>
                <a:cs typeface="Arial" pitchFamily="34" charset="-120"/>
              </a:rPr>
              <a:t>Quản lý dự án triển khai </a:t>
            </a:r>
            <a:r>
              <a:rPr lang="en-US" sz="2400" b="1">
                <a:solidFill>
                  <a:srgbClr val="F4F0E8"/>
                </a:solidFill>
                <a:latin typeface="Arial" pitchFamily="34" charset="0"/>
                <a:ea typeface="Arial" pitchFamily="34" charset="-122"/>
                <a:cs typeface="Arial" pitchFamily="34" charset="-120"/>
              </a:rPr>
              <a:t>hệ thống</a:t>
            </a:r>
          </a:p>
          <a:p>
            <a:pPr marL="0" indent="0">
              <a:buNone/>
            </a:pPr>
            <a:r>
              <a:rPr lang="en-US" sz="2400" b="1">
                <a:solidFill>
                  <a:srgbClr val="F4F0E8"/>
                </a:solidFill>
                <a:latin typeface="Arial" pitchFamily="34" charset="0"/>
                <a:ea typeface="Arial" pitchFamily="34" charset="-122"/>
                <a:cs typeface="Arial" pitchFamily="34" charset="-120"/>
              </a:rPr>
              <a:t>tủ </a:t>
            </a:r>
            <a:r>
              <a:rPr lang="en-US" sz="2400" b="1" dirty="0">
                <a:solidFill>
                  <a:srgbClr val="F4F0E8"/>
                </a:solidFill>
                <a:latin typeface="Arial" pitchFamily="34" charset="0"/>
                <a:ea typeface="Arial" pitchFamily="34" charset="-122"/>
                <a:cs typeface="Arial" pitchFamily="34" charset="-120"/>
              </a:rPr>
              <a:t>đồ thông minh Smartbox tại KĐT Vinhomes Ocean Park, Gia Lâm</a:t>
            </a:r>
            <a:endParaRPr lang="en-US" sz="2400" b="1" dirty="0"/>
          </a:p>
        </p:txBody>
      </p:sp>
      <p:sp>
        <p:nvSpPr>
          <p:cNvPr id="8" name="Shape 5"/>
          <p:cNvSpPr/>
          <p:nvPr/>
        </p:nvSpPr>
        <p:spPr>
          <a:xfrm>
            <a:off x="1460093" y="5280633"/>
            <a:ext cx="3383280" cy="420624"/>
          </a:xfrm>
          <a:prstGeom prst="roundRect">
            <a:avLst>
              <a:gd name="adj" fmla="val 17391"/>
            </a:avLst>
          </a:prstGeom>
          <a:solidFill>
            <a:srgbClr val="FFFFFF">
              <a:alpha val="14000"/>
            </a:srgbClr>
          </a:solidFill>
          <a:ln w="12700">
            <a:solidFill>
              <a:srgbClr val="FFFFFF">
                <a:alpha val="0"/>
              </a:srgbClr>
            </a:solidFill>
            <a:prstDash val="solid"/>
          </a:ln>
        </p:spPr>
        <p:txBody>
          <a:bodyPr/>
          <a:lstStyle/>
          <a:p>
            <a:endParaRPr lang="vi-VN"/>
          </a:p>
        </p:txBody>
      </p:sp>
      <p:sp>
        <p:nvSpPr>
          <p:cNvPr id="9" name="Text 6"/>
          <p:cNvSpPr/>
          <p:nvPr/>
        </p:nvSpPr>
        <p:spPr>
          <a:xfrm>
            <a:off x="2079722" y="5390361"/>
            <a:ext cx="3063240" cy="201168"/>
          </a:xfrm>
          <a:prstGeom prst="rect">
            <a:avLst/>
          </a:prstGeom>
          <a:noFill/>
          <a:ln/>
        </p:spPr>
        <p:txBody>
          <a:bodyPr wrap="square" lIns="0" tIns="0" rIns="0" bIns="0" rtlCol="0" anchor="ctr">
            <a:normAutofit/>
          </a:bodyPr>
          <a:lstStyle/>
          <a:p>
            <a:pPr marL="0" indent="0">
              <a:buNone/>
            </a:pPr>
            <a:r>
              <a:rPr lang="en-US" sz="1100" b="1" dirty="0">
                <a:solidFill>
                  <a:srgbClr val="FFFFFF"/>
                </a:solidFill>
                <a:latin typeface="Arial" pitchFamily="34" charset="0"/>
                <a:ea typeface="Arial" pitchFamily="34" charset="-122"/>
                <a:cs typeface="Arial" pitchFamily="34" charset="-120"/>
              </a:rPr>
              <a:t>Nhóm 05 · CNTT2026_N05 · 2026</a:t>
            </a:r>
            <a:endParaRPr lang="en-US" sz="1100" dirty="0"/>
          </a:p>
        </p:txBody>
      </p:sp>
      <p:pic>
        <p:nvPicPr>
          <p:cNvPr id="10" name="Image 1" descr="Tủ Smartbox trong sảnh căn hộ hiện đại"/>
          <p:cNvPicPr>
            <a:picLocks noChangeAspect="1"/>
          </p:cNvPicPr>
          <p:nvPr/>
        </p:nvPicPr>
        <p:blipFill>
          <a:blip r:embed="rId4"/>
          <a:srcRect l="23529" r="23529"/>
          <a:stretch/>
        </p:blipFill>
        <p:spPr>
          <a:xfrm>
            <a:off x="6446520" y="676656"/>
            <a:ext cx="5074920" cy="5394960"/>
          </a:xfrm>
          <a:prstGeom prst="rect">
            <a:avLst/>
          </a:prstGeom>
        </p:spPr>
      </p:pic>
      <p:sp>
        <p:nvSpPr>
          <p:cNvPr id="11" name="Shape 7"/>
          <p:cNvSpPr/>
          <p:nvPr/>
        </p:nvSpPr>
        <p:spPr>
          <a:xfrm>
            <a:off x="6327648" y="566928"/>
            <a:ext cx="5303520" cy="5623560"/>
          </a:xfrm>
          <a:prstGeom prst="roundRect">
            <a:avLst>
              <a:gd name="adj" fmla="val 3103"/>
            </a:avLst>
          </a:prstGeom>
          <a:solidFill>
            <a:srgbClr val="FFFFFF">
              <a:alpha val="0"/>
            </a:srgbClr>
          </a:solidFill>
          <a:ln w="15240">
            <a:solidFill>
              <a:srgbClr val="FFFFFF">
                <a:alpha val="30000"/>
              </a:srgbClr>
            </a:solidFill>
            <a:prstDash val="solid"/>
          </a:ln>
        </p:spPr>
        <p:txBody>
          <a:bodyPr/>
          <a:lstStyle/>
          <a:p>
            <a:endParaRPr lang="vi-VN"/>
          </a:p>
        </p:txBody>
      </p:sp>
      <p:sp>
        <p:nvSpPr>
          <p:cNvPr id="12" name="Text 8"/>
          <p:cNvSpPr/>
          <p:nvPr/>
        </p:nvSpPr>
        <p:spPr>
          <a:xfrm>
            <a:off x="1728787" y="6345936"/>
            <a:ext cx="5303520" cy="201168"/>
          </a:xfrm>
          <a:prstGeom prst="rect">
            <a:avLst/>
          </a:prstGeom>
          <a:noFill/>
          <a:ln/>
        </p:spPr>
        <p:txBody>
          <a:bodyPr wrap="square" lIns="0" tIns="0" rIns="0" bIns="0" rtlCol="0" anchor="ctr">
            <a:normAutofit/>
          </a:bodyPr>
          <a:lstStyle/>
          <a:p>
            <a:pPr marL="0" indent="0">
              <a:buNone/>
            </a:pPr>
            <a:r>
              <a:rPr lang="en-US" sz="980" dirty="0">
                <a:solidFill>
                  <a:srgbClr val="F9E8B5"/>
                </a:solidFill>
                <a:latin typeface="Arial" pitchFamily="34" charset="0"/>
                <a:ea typeface="Arial" pitchFamily="34" charset="-122"/>
                <a:cs typeface="Arial" pitchFamily="34" charset="-120"/>
              </a:rPr>
              <a:t>B2CQ – CNTT – K69(01)  |  GVHD: Th.S. Lê Thị Hoa</a:t>
            </a:r>
            <a:endParaRPr lang="en-US" sz="980" dirty="0"/>
          </a:p>
        </p:txBody>
      </p:sp>
      <p:pic>
        <p:nvPicPr>
          <p:cNvPr id="13" name="Image 3" descr="Ảnh có chứa văn bản, áp phích, Phông chữ, Đồ họa&#10;&#10;Mô tả được tạo tự động">
            <a:extLst>
              <a:ext uri="{FF2B5EF4-FFF2-40B4-BE49-F238E27FC236}">
                <a16:creationId xmlns:a16="http://schemas.microsoft.com/office/drawing/2014/main" id="{7B6405CD-25D0-5C35-B35B-19BBDB626575}"/>
              </a:ext>
            </a:extLst>
          </p:cNvPr>
          <p:cNvPicPr>
            <a:picLocks/>
          </p:cNvPicPr>
          <p:nvPr/>
        </p:nvPicPr>
        <p:blipFill>
          <a:blip r:embed="rId5" cstate="print"/>
          <a:stretch>
            <a:fillRect/>
          </a:stretch>
        </p:blipFill>
        <p:spPr>
          <a:xfrm>
            <a:off x="3146818" y="519193"/>
            <a:ext cx="520385" cy="7708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9D43002E-77DE-486C-737F-1D7E09FA25C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6E4B97C-7CEF-8F56-B14B-05D5DA99B039}"/>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6041E90A-16EA-30A5-3D4A-CC0344C71988}"/>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07583714-D0A8-5832-0292-32626474D0E2}"/>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DE51EC84-3858-A177-A684-555459E3230C}"/>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7" name="Text 5">
            <a:extLst>
              <a:ext uri="{FF2B5EF4-FFF2-40B4-BE49-F238E27FC236}">
                <a16:creationId xmlns:a16="http://schemas.microsoft.com/office/drawing/2014/main" id="{24E89A35-DF2F-2EFC-01EE-280D505A1D39}"/>
              </a:ext>
            </a:extLst>
          </p:cNvPr>
          <p:cNvSpPr/>
          <p:nvPr/>
        </p:nvSpPr>
        <p:spPr>
          <a:xfrm>
            <a:off x="5197259" y="6396770"/>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10" name="Text 8">
            <a:extLst>
              <a:ext uri="{FF2B5EF4-FFF2-40B4-BE49-F238E27FC236}">
                <a16:creationId xmlns:a16="http://schemas.microsoft.com/office/drawing/2014/main" id="{566CDA54-4358-8EA0-2A96-15BC49253D81}"/>
              </a:ext>
            </a:extLst>
          </p:cNvPr>
          <p:cNvSpPr/>
          <p:nvPr/>
        </p:nvSpPr>
        <p:spPr>
          <a:xfrm>
            <a:off x="4180668" y="566928"/>
            <a:ext cx="3845247" cy="566928"/>
          </a:xfrm>
          <a:prstGeom prst="rect">
            <a:avLst/>
          </a:prstGeom>
          <a:noFill/>
          <a:ln/>
        </p:spPr>
        <p:txBody>
          <a:bodyPr wrap="square" lIns="0" tIns="0" rIns="0" bIns="0" rtlCol="0" anchor="ctr">
            <a:normAutofit fontScale="85000" lnSpcReduction="10000"/>
          </a:bodyPr>
          <a:lstStyle/>
          <a:p>
            <a:pPr marL="0" indent="0">
              <a:buNone/>
            </a:pPr>
            <a:r>
              <a:rPr lang="en-US" sz="2700" b="1">
                <a:solidFill>
                  <a:srgbClr val="121D33"/>
                </a:solidFill>
                <a:latin typeface="Arial" pitchFamily="34" charset="0"/>
                <a:cs typeface="Arial" pitchFamily="34" charset="-120"/>
              </a:rPr>
              <a:t>NỘI DUNG THUYẾT TRÌNH</a:t>
            </a:r>
            <a:endParaRPr lang="en-US" sz="2700" dirty="0"/>
          </a:p>
        </p:txBody>
      </p:sp>
      <p:sp>
        <p:nvSpPr>
          <p:cNvPr id="12" name="Shape 10">
            <a:extLst>
              <a:ext uri="{FF2B5EF4-FFF2-40B4-BE49-F238E27FC236}">
                <a16:creationId xmlns:a16="http://schemas.microsoft.com/office/drawing/2014/main" id="{DD2781A1-8390-56D0-F4FA-5E489B75F3EA}"/>
              </a:ext>
            </a:extLst>
          </p:cNvPr>
          <p:cNvSpPr/>
          <p:nvPr/>
        </p:nvSpPr>
        <p:spPr>
          <a:xfrm>
            <a:off x="5044021" y="1237422"/>
            <a:ext cx="1920240" cy="0"/>
          </a:xfrm>
          <a:prstGeom prst="line">
            <a:avLst/>
          </a:prstGeom>
          <a:noFill/>
          <a:ln w="25400">
            <a:solidFill>
              <a:srgbClr val="D6A62C"/>
            </a:solidFill>
            <a:prstDash val="solid"/>
          </a:ln>
        </p:spPr>
        <p:txBody>
          <a:bodyPr/>
          <a:lstStyle/>
          <a:p>
            <a:endParaRPr lang="vi-VN"/>
          </a:p>
        </p:txBody>
      </p:sp>
      <p:sp>
        <p:nvSpPr>
          <p:cNvPr id="13" name="Shape 11">
            <a:extLst>
              <a:ext uri="{FF2B5EF4-FFF2-40B4-BE49-F238E27FC236}">
                <a16:creationId xmlns:a16="http://schemas.microsoft.com/office/drawing/2014/main" id="{77319A3E-EEB6-60DF-9CD2-6222845A0ADD}"/>
              </a:ext>
            </a:extLst>
          </p:cNvPr>
          <p:cNvSpPr/>
          <p:nvPr/>
        </p:nvSpPr>
        <p:spPr>
          <a:xfrm>
            <a:off x="777240" y="1755648"/>
            <a:ext cx="4983480" cy="896112"/>
          </a:xfrm>
          <a:prstGeom prst="roundRect">
            <a:avLst>
              <a:gd name="adj" fmla="val 9184"/>
            </a:avLst>
          </a:prstGeom>
          <a:solidFill>
            <a:srgbClr val="FFFFFF"/>
          </a:solidFill>
          <a:ln w="7620">
            <a:solidFill>
              <a:srgbClr val="E6E0D7"/>
            </a:solidFill>
            <a:prstDash val="solid"/>
          </a:ln>
          <a:effectLst>
            <a:outerShdw blurRad="12700" dist="12700" dir="2700000" algn="bl" rotWithShape="0">
              <a:srgbClr val="000000">
                <a:alpha val="5000"/>
              </a:srgbClr>
            </a:outerShdw>
          </a:effectLst>
        </p:spPr>
        <p:txBody>
          <a:bodyPr/>
          <a:lstStyle/>
          <a:p>
            <a:endParaRPr lang="vi-VN"/>
          </a:p>
        </p:txBody>
      </p:sp>
      <p:sp>
        <p:nvSpPr>
          <p:cNvPr id="14" name="Text 12">
            <a:extLst>
              <a:ext uri="{FF2B5EF4-FFF2-40B4-BE49-F238E27FC236}">
                <a16:creationId xmlns:a16="http://schemas.microsoft.com/office/drawing/2014/main" id="{50963947-B26F-F786-2ADE-5A65DBD0C23D}"/>
              </a:ext>
            </a:extLst>
          </p:cNvPr>
          <p:cNvSpPr/>
          <p:nvPr/>
        </p:nvSpPr>
        <p:spPr>
          <a:xfrm>
            <a:off x="960120" y="1920240"/>
            <a:ext cx="502920" cy="320040"/>
          </a:xfrm>
          <a:prstGeom prst="rect">
            <a:avLst/>
          </a:prstGeom>
          <a:noFill/>
          <a:ln/>
        </p:spPr>
        <p:txBody>
          <a:bodyPr wrap="square" lIns="0" tIns="0" rIns="0" bIns="0" rtlCol="0" anchor="ctr"/>
          <a:lstStyle/>
          <a:p>
            <a:pPr marL="0" indent="0" algn="ctr">
              <a:buNone/>
            </a:pPr>
            <a:r>
              <a:rPr lang="en-US" b="1">
                <a:solidFill>
                  <a:srgbClr val="B00020"/>
                </a:solidFill>
                <a:latin typeface="Arial" pitchFamily="34" charset="0"/>
                <a:cs typeface="Arial" pitchFamily="34" charset="-120"/>
              </a:rPr>
              <a:t>I</a:t>
            </a:r>
            <a:endParaRPr lang="en-US" sz="1800" dirty="0"/>
          </a:p>
        </p:txBody>
      </p:sp>
      <p:sp>
        <p:nvSpPr>
          <p:cNvPr id="15" name="Text 13">
            <a:extLst>
              <a:ext uri="{FF2B5EF4-FFF2-40B4-BE49-F238E27FC236}">
                <a16:creationId xmlns:a16="http://schemas.microsoft.com/office/drawing/2014/main" id="{36A844BF-60B1-10C7-57EB-3E5A4F624AE1}"/>
              </a:ext>
            </a:extLst>
          </p:cNvPr>
          <p:cNvSpPr/>
          <p:nvPr/>
        </p:nvSpPr>
        <p:spPr>
          <a:xfrm>
            <a:off x="1645920" y="1911096"/>
            <a:ext cx="3886200" cy="228600"/>
          </a:xfrm>
          <a:prstGeom prst="rect">
            <a:avLst/>
          </a:prstGeom>
          <a:noFill/>
          <a:ln/>
        </p:spPr>
        <p:txBody>
          <a:bodyPr wrap="square" lIns="0" tIns="0" rIns="0" bIns="0" rtlCol="0" anchor="ctr">
            <a:normAutofit/>
          </a:bodyPr>
          <a:lstStyle/>
          <a:p>
            <a:pPr marL="0" indent="0">
              <a:buNone/>
            </a:pPr>
            <a:r>
              <a:rPr lang="en-US" sz="1400" b="1">
                <a:solidFill>
                  <a:srgbClr val="121D33"/>
                </a:solidFill>
                <a:latin typeface="Arial" pitchFamily="34" charset="0"/>
                <a:ea typeface="Arial" pitchFamily="34" charset="-122"/>
                <a:cs typeface="Arial" pitchFamily="34" charset="-120"/>
              </a:rPr>
              <a:t>Giới thiệu thành viên &amp; nhiệm vụ</a:t>
            </a:r>
            <a:endParaRPr lang="en-US" sz="1400" dirty="0"/>
          </a:p>
        </p:txBody>
      </p:sp>
      <p:sp>
        <p:nvSpPr>
          <p:cNvPr id="16" name="Text 14">
            <a:extLst>
              <a:ext uri="{FF2B5EF4-FFF2-40B4-BE49-F238E27FC236}">
                <a16:creationId xmlns:a16="http://schemas.microsoft.com/office/drawing/2014/main" id="{0DCCB10A-D23D-2D2A-19BC-D1456A6AE460}"/>
              </a:ext>
            </a:extLst>
          </p:cNvPr>
          <p:cNvSpPr/>
          <p:nvPr/>
        </p:nvSpPr>
        <p:spPr>
          <a:xfrm>
            <a:off x="1645920" y="2194560"/>
            <a:ext cx="3931920" cy="228600"/>
          </a:xfrm>
          <a:prstGeom prst="rect">
            <a:avLst/>
          </a:prstGeom>
          <a:noFill/>
          <a:ln/>
        </p:spPr>
        <p:txBody>
          <a:bodyPr wrap="square" lIns="0" tIns="0" rIns="0" bIns="0" rtlCol="0" anchor="ctr">
            <a:normAutofit/>
          </a:bodyPr>
          <a:lstStyle/>
          <a:p>
            <a:pPr marL="0" indent="0">
              <a:buNone/>
            </a:pPr>
            <a:r>
              <a:rPr lang="en-US" sz="970">
                <a:solidFill>
                  <a:srgbClr val="6B7280"/>
                </a:solidFill>
                <a:latin typeface="Arial" pitchFamily="34" charset="0"/>
                <a:ea typeface="Arial" pitchFamily="34" charset="-122"/>
                <a:cs typeface="Arial" pitchFamily="34" charset="-120"/>
              </a:rPr>
              <a:t>Giới thiệu các thành viên trong nhóm và nhiệm vụ được phân công</a:t>
            </a:r>
            <a:endParaRPr lang="en-US" sz="970" dirty="0"/>
          </a:p>
        </p:txBody>
      </p:sp>
      <p:sp>
        <p:nvSpPr>
          <p:cNvPr id="17" name="Shape 15">
            <a:extLst>
              <a:ext uri="{FF2B5EF4-FFF2-40B4-BE49-F238E27FC236}">
                <a16:creationId xmlns:a16="http://schemas.microsoft.com/office/drawing/2014/main" id="{EC5C6F40-221F-620F-E818-6686B043DCB3}"/>
              </a:ext>
            </a:extLst>
          </p:cNvPr>
          <p:cNvSpPr/>
          <p:nvPr/>
        </p:nvSpPr>
        <p:spPr>
          <a:xfrm>
            <a:off x="6126480" y="1755648"/>
            <a:ext cx="4983480" cy="896112"/>
          </a:xfrm>
          <a:prstGeom prst="roundRect">
            <a:avLst>
              <a:gd name="adj" fmla="val 9184"/>
            </a:avLst>
          </a:prstGeom>
          <a:solidFill>
            <a:srgbClr val="FFFFFF"/>
          </a:solidFill>
          <a:ln w="7620">
            <a:solidFill>
              <a:srgbClr val="E6E0D7"/>
            </a:solidFill>
            <a:prstDash val="solid"/>
          </a:ln>
          <a:effectLst>
            <a:outerShdw blurRad="12700" dist="12700" dir="2700000" algn="bl" rotWithShape="0">
              <a:srgbClr val="000000">
                <a:alpha val="5000"/>
              </a:srgbClr>
            </a:outerShdw>
          </a:effectLst>
        </p:spPr>
        <p:txBody>
          <a:bodyPr/>
          <a:lstStyle/>
          <a:p>
            <a:endParaRPr lang="vi-VN"/>
          </a:p>
        </p:txBody>
      </p:sp>
      <p:sp>
        <p:nvSpPr>
          <p:cNvPr id="18" name="Text 16">
            <a:extLst>
              <a:ext uri="{FF2B5EF4-FFF2-40B4-BE49-F238E27FC236}">
                <a16:creationId xmlns:a16="http://schemas.microsoft.com/office/drawing/2014/main" id="{4475AD73-0EDC-E46F-B79A-07651F9712ED}"/>
              </a:ext>
            </a:extLst>
          </p:cNvPr>
          <p:cNvSpPr/>
          <p:nvPr/>
        </p:nvSpPr>
        <p:spPr>
          <a:xfrm>
            <a:off x="6309360" y="1920240"/>
            <a:ext cx="502920" cy="320040"/>
          </a:xfrm>
          <a:prstGeom prst="rect">
            <a:avLst/>
          </a:prstGeom>
          <a:noFill/>
          <a:ln/>
        </p:spPr>
        <p:txBody>
          <a:bodyPr wrap="square" lIns="0" tIns="0" rIns="0" bIns="0" rtlCol="0" anchor="ctr"/>
          <a:lstStyle/>
          <a:p>
            <a:pPr marL="0" indent="0" algn="ctr">
              <a:buNone/>
            </a:pPr>
            <a:r>
              <a:rPr lang="en-US" b="1">
                <a:solidFill>
                  <a:srgbClr val="B00020"/>
                </a:solidFill>
                <a:latin typeface="Arial" pitchFamily="34" charset="0"/>
                <a:cs typeface="Arial" pitchFamily="34" charset="-120"/>
              </a:rPr>
              <a:t>II</a:t>
            </a:r>
            <a:endParaRPr lang="en-US" sz="1800" dirty="0"/>
          </a:p>
        </p:txBody>
      </p:sp>
      <p:sp>
        <p:nvSpPr>
          <p:cNvPr id="19" name="Text 17">
            <a:extLst>
              <a:ext uri="{FF2B5EF4-FFF2-40B4-BE49-F238E27FC236}">
                <a16:creationId xmlns:a16="http://schemas.microsoft.com/office/drawing/2014/main" id="{0AF7F295-D37F-4A6B-C597-2E0D6E184FD5}"/>
              </a:ext>
            </a:extLst>
          </p:cNvPr>
          <p:cNvSpPr/>
          <p:nvPr/>
        </p:nvSpPr>
        <p:spPr>
          <a:xfrm>
            <a:off x="6995160" y="1911096"/>
            <a:ext cx="3886200" cy="228600"/>
          </a:xfrm>
          <a:prstGeom prst="rect">
            <a:avLst/>
          </a:prstGeom>
          <a:noFill/>
          <a:ln/>
        </p:spPr>
        <p:txBody>
          <a:bodyPr wrap="square" lIns="0" tIns="0" rIns="0" bIns="0" rtlCol="0" anchor="ctr">
            <a:normAutofit/>
          </a:bodyPr>
          <a:lstStyle/>
          <a:p>
            <a:r>
              <a:rPr lang="en-US" sz="1400" b="1">
                <a:solidFill>
                  <a:srgbClr val="121D33"/>
                </a:solidFill>
                <a:latin typeface="Arial" pitchFamily="34" charset="0"/>
                <a:cs typeface="Arial" pitchFamily="34" charset="-120"/>
              </a:rPr>
              <a:t>Tổng quan dự án</a:t>
            </a:r>
            <a:endParaRPr lang="en-US" sz="1400" dirty="0"/>
          </a:p>
        </p:txBody>
      </p:sp>
      <p:sp>
        <p:nvSpPr>
          <p:cNvPr id="20" name="Text 18">
            <a:extLst>
              <a:ext uri="{FF2B5EF4-FFF2-40B4-BE49-F238E27FC236}">
                <a16:creationId xmlns:a16="http://schemas.microsoft.com/office/drawing/2014/main" id="{3148B52B-E899-7CF4-1F05-BD28155A9EE8}"/>
              </a:ext>
            </a:extLst>
          </p:cNvPr>
          <p:cNvSpPr/>
          <p:nvPr/>
        </p:nvSpPr>
        <p:spPr>
          <a:xfrm>
            <a:off x="6995160" y="2194560"/>
            <a:ext cx="3931920" cy="228600"/>
          </a:xfrm>
          <a:prstGeom prst="rect">
            <a:avLst/>
          </a:prstGeom>
          <a:noFill/>
          <a:ln/>
        </p:spPr>
        <p:txBody>
          <a:bodyPr wrap="square" lIns="0" tIns="0" rIns="0" bIns="0" rtlCol="0" anchor="ctr">
            <a:normAutofit/>
          </a:bodyPr>
          <a:lstStyle/>
          <a:p>
            <a:pPr marL="0" indent="0">
              <a:buNone/>
            </a:pPr>
            <a:r>
              <a:rPr lang="en-US" sz="970">
                <a:solidFill>
                  <a:srgbClr val="6B7280"/>
                </a:solidFill>
                <a:latin typeface="Arial" pitchFamily="34" charset="0"/>
                <a:cs typeface="Arial" pitchFamily="34" charset="-120"/>
              </a:rPr>
              <a:t>Tên dự án, bối cảnh, mục tiêu, phạm vi, tổ chức, vòng đời, kinh phí</a:t>
            </a:r>
            <a:endParaRPr lang="en-US" sz="970" dirty="0"/>
          </a:p>
        </p:txBody>
      </p:sp>
      <p:sp>
        <p:nvSpPr>
          <p:cNvPr id="21" name="Shape 19">
            <a:extLst>
              <a:ext uri="{FF2B5EF4-FFF2-40B4-BE49-F238E27FC236}">
                <a16:creationId xmlns:a16="http://schemas.microsoft.com/office/drawing/2014/main" id="{991BCDA1-DB1A-1292-8442-77DC933233B8}"/>
              </a:ext>
            </a:extLst>
          </p:cNvPr>
          <p:cNvSpPr/>
          <p:nvPr/>
        </p:nvSpPr>
        <p:spPr>
          <a:xfrm>
            <a:off x="777240" y="2971800"/>
            <a:ext cx="4983480" cy="896112"/>
          </a:xfrm>
          <a:prstGeom prst="roundRect">
            <a:avLst>
              <a:gd name="adj" fmla="val 9184"/>
            </a:avLst>
          </a:prstGeom>
          <a:solidFill>
            <a:srgbClr val="FFFFFF"/>
          </a:solidFill>
          <a:ln w="7620">
            <a:solidFill>
              <a:srgbClr val="E6E0D7"/>
            </a:solidFill>
            <a:prstDash val="solid"/>
          </a:ln>
          <a:effectLst>
            <a:outerShdw blurRad="12700" dist="12700" dir="2700000" algn="bl" rotWithShape="0">
              <a:srgbClr val="000000">
                <a:alpha val="5000"/>
              </a:srgbClr>
            </a:outerShdw>
          </a:effectLst>
        </p:spPr>
        <p:txBody>
          <a:bodyPr/>
          <a:lstStyle/>
          <a:p>
            <a:endParaRPr lang="vi-VN"/>
          </a:p>
        </p:txBody>
      </p:sp>
      <p:sp>
        <p:nvSpPr>
          <p:cNvPr id="22" name="Text 20">
            <a:extLst>
              <a:ext uri="{FF2B5EF4-FFF2-40B4-BE49-F238E27FC236}">
                <a16:creationId xmlns:a16="http://schemas.microsoft.com/office/drawing/2014/main" id="{99DEAE01-5DAE-B678-5C8A-F1CD02E4AB90}"/>
              </a:ext>
            </a:extLst>
          </p:cNvPr>
          <p:cNvSpPr/>
          <p:nvPr/>
        </p:nvSpPr>
        <p:spPr>
          <a:xfrm>
            <a:off x="960120" y="3136392"/>
            <a:ext cx="502920" cy="320040"/>
          </a:xfrm>
          <a:prstGeom prst="rect">
            <a:avLst/>
          </a:prstGeom>
          <a:noFill/>
          <a:ln/>
        </p:spPr>
        <p:txBody>
          <a:bodyPr wrap="square" lIns="0" tIns="0" rIns="0" bIns="0" rtlCol="0" anchor="ctr"/>
          <a:lstStyle/>
          <a:p>
            <a:pPr marL="0" indent="0" algn="ctr">
              <a:buNone/>
            </a:pPr>
            <a:r>
              <a:rPr lang="en-US" b="1">
                <a:solidFill>
                  <a:srgbClr val="B00020"/>
                </a:solidFill>
                <a:latin typeface="Arial" pitchFamily="34" charset="0"/>
                <a:cs typeface="Arial" pitchFamily="34" charset="-120"/>
              </a:rPr>
              <a:t>III</a:t>
            </a:r>
            <a:endParaRPr lang="en-US" sz="1800" dirty="0"/>
          </a:p>
        </p:txBody>
      </p:sp>
      <p:sp>
        <p:nvSpPr>
          <p:cNvPr id="23" name="Text 21">
            <a:extLst>
              <a:ext uri="{FF2B5EF4-FFF2-40B4-BE49-F238E27FC236}">
                <a16:creationId xmlns:a16="http://schemas.microsoft.com/office/drawing/2014/main" id="{20C5AD10-0220-A449-725A-B9326C500649}"/>
              </a:ext>
            </a:extLst>
          </p:cNvPr>
          <p:cNvSpPr/>
          <p:nvPr/>
        </p:nvSpPr>
        <p:spPr>
          <a:xfrm>
            <a:off x="1645920" y="3127248"/>
            <a:ext cx="3886200" cy="228600"/>
          </a:xfrm>
          <a:prstGeom prst="rect">
            <a:avLst/>
          </a:prstGeom>
          <a:noFill/>
          <a:ln/>
        </p:spPr>
        <p:txBody>
          <a:bodyPr wrap="square" lIns="0" tIns="0" rIns="0" bIns="0" rtlCol="0" anchor="ctr">
            <a:normAutofit/>
          </a:bodyPr>
          <a:lstStyle/>
          <a:p>
            <a:pPr marL="0" indent="0">
              <a:buNone/>
            </a:pPr>
            <a:r>
              <a:rPr lang="en-US" sz="1400" b="1" dirty="0">
                <a:solidFill>
                  <a:srgbClr val="121D33"/>
                </a:solidFill>
                <a:latin typeface="Arial" pitchFamily="34" charset="0"/>
                <a:ea typeface="Arial" pitchFamily="34" charset="-122"/>
                <a:cs typeface="Arial" pitchFamily="34" charset="-120"/>
              </a:rPr>
              <a:t>Kế hoạch quản trị</a:t>
            </a:r>
            <a:endParaRPr lang="en-US" sz="1400" dirty="0"/>
          </a:p>
        </p:txBody>
      </p:sp>
      <p:sp>
        <p:nvSpPr>
          <p:cNvPr id="24" name="Text 22">
            <a:extLst>
              <a:ext uri="{FF2B5EF4-FFF2-40B4-BE49-F238E27FC236}">
                <a16:creationId xmlns:a16="http://schemas.microsoft.com/office/drawing/2014/main" id="{D128AD1F-FAB0-8B95-6117-16D818F313E6}"/>
              </a:ext>
            </a:extLst>
          </p:cNvPr>
          <p:cNvSpPr/>
          <p:nvPr/>
        </p:nvSpPr>
        <p:spPr>
          <a:xfrm>
            <a:off x="1645920" y="3410712"/>
            <a:ext cx="3931920" cy="365760"/>
          </a:xfrm>
          <a:prstGeom prst="rect">
            <a:avLst/>
          </a:prstGeom>
          <a:noFill/>
          <a:ln/>
        </p:spPr>
        <p:txBody>
          <a:bodyPr wrap="square" lIns="0" tIns="0" rIns="0" bIns="0" rtlCol="0" anchor="ctr">
            <a:normAutofit/>
          </a:bodyPr>
          <a:lstStyle/>
          <a:p>
            <a:pPr marL="0" indent="0">
              <a:buNone/>
            </a:pPr>
            <a:r>
              <a:rPr lang="en-US" sz="970"/>
              <a:t>Quản lý phạm vi, thời gian, chi phí, chất lượng, nguồn nhân lực, thông tin, rủi ro, hợp đồng</a:t>
            </a:r>
            <a:endParaRPr lang="en-US" sz="970" dirty="0"/>
          </a:p>
        </p:txBody>
      </p:sp>
      <p:sp>
        <p:nvSpPr>
          <p:cNvPr id="25" name="Shape 23">
            <a:extLst>
              <a:ext uri="{FF2B5EF4-FFF2-40B4-BE49-F238E27FC236}">
                <a16:creationId xmlns:a16="http://schemas.microsoft.com/office/drawing/2014/main" id="{E01DD9EE-93C7-32BD-50DD-D1D040351E26}"/>
              </a:ext>
            </a:extLst>
          </p:cNvPr>
          <p:cNvSpPr/>
          <p:nvPr/>
        </p:nvSpPr>
        <p:spPr>
          <a:xfrm>
            <a:off x="6126480" y="2971800"/>
            <a:ext cx="4983480" cy="896112"/>
          </a:xfrm>
          <a:prstGeom prst="roundRect">
            <a:avLst>
              <a:gd name="adj" fmla="val 9184"/>
            </a:avLst>
          </a:prstGeom>
          <a:solidFill>
            <a:srgbClr val="FFFFFF"/>
          </a:solidFill>
          <a:ln w="7620">
            <a:solidFill>
              <a:srgbClr val="E6E0D7"/>
            </a:solidFill>
            <a:prstDash val="solid"/>
          </a:ln>
          <a:effectLst>
            <a:outerShdw blurRad="12700" dist="12700" dir="2700000" algn="bl" rotWithShape="0">
              <a:srgbClr val="000000">
                <a:alpha val="5000"/>
              </a:srgbClr>
            </a:outerShdw>
          </a:effectLst>
        </p:spPr>
        <p:txBody>
          <a:bodyPr/>
          <a:lstStyle/>
          <a:p>
            <a:endParaRPr lang="vi-VN"/>
          </a:p>
        </p:txBody>
      </p:sp>
      <p:sp>
        <p:nvSpPr>
          <p:cNvPr id="26" name="Text 24">
            <a:extLst>
              <a:ext uri="{FF2B5EF4-FFF2-40B4-BE49-F238E27FC236}">
                <a16:creationId xmlns:a16="http://schemas.microsoft.com/office/drawing/2014/main" id="{E0299697-D4F7-4DED-62D7-5376EFDA3D08}"/>
              </a:ext>
            </a:extLst>
          </p:cNvPr>
          <p:cNvSpPr/>
          <p:nvPr/>
        </p:nvSpPr>
        <p:spPr>
          <a:xfrm>
            <a:off x="6309360" y="3136392"/>
            <a:ext cx="502920" cy="320040"/>
          </a:xfrm>
          <a:prstGeom prst="rect">
            <a:avLst/>
          </a:prstGeom>
          <a:noFill/>
          <a:ln/>
        </p:spPr>
        <p:txBody>
          <a:bodyPr wrap="square" lIns="0" tIns="0" rIns="0" bIns="0" rtlCol="0" anchor="ctr"/>
          <a:lstStyle/>
          <a:p>
            <a:pPr marL="0" indent="0" algn="ctr">
              <a:buNone/>
            </a:pPr>
            <a:r>
              <a:rPr lang="en-US" b="1">
                <a:solidFill>
                  <a:srgbClr val="B00020"/>
                </a:solidFill>
                <a:latin typeface="Arial" pitchFamily="34" charset="0"/>
                <a:cs typeface="Arial" pitchFamily="34" charset="-120"/>
              </a:rPr>
              <a:t>IV</a:t>
            </a:r>
            <a:endParaRPr lang="en-US" sz="1800" dirty="0"/>
          </a:p>
        </p:txBody>
      </p:sp>
      <p:sp>
        <p:nvSpPr>
          <p:cNvPr id="27" name="Text 25">
            <a:extLst>
              <a:ext uri="{FF2B5EF4-FFF2-40B4-BE49-F238E27FC236}">
                <a16:creationId xmlns:a16="http://schemas.microsoft.com/office/drawing/2014/main" id="{9AB04D3C-606E-9919-2FA2-13E0A1DCDD1F}"/>
              </a:ext>
            </a:extLst>
          </p:cNvPr>
          <p:cNvSpPr/>
          <p:nvPr/>
        </p:nvSpPr>
        <p:spPr>
          <a:xfrm>
            <a:off x="6995160" y="3127248"/>
            <a:ext cx="3886200" cy="228600"/>
          </a:xfrm>
          <a:prstGeom prst="rect">
            <a:avLst/>
          </a:prstGeom>
          <a:noFill/>
          <a:ln/>
        </p:spPr>
        <p:txBody>
          <a:bodyPr wrap="square" lIns="0" tIns="0" rIns="0" bIns="0" rtlCol="0" anchor="ctr">
            <a:normAutofit/>
          </a:bodyPr>
          <a:lstStyle/>
          <a:p>
            <a:pPr marL="0" indent="0">
              <a:buNone/>
            </a:pPr>
            <a:r>
              <a:rPr lang="en-US" sz="1400" b="1">
                <a:solidFill>
                  <a:srgbClr val="121D33"/>
                </a:solidFill>
                <a:latin typeface="Arial" pitchFamily="34" charset="0"/>
                <a:cs typeface="Arial" pitchFamily="34" charset="-120"/>
              </a:rPr>
              <a:t>Báo cáo khảo sát</a:t>
            </a:r>
            <a:endParaRPr lang="en-US" sz="1400" dirty="0"/>
          </a:p>
        </p:txBody>
      </p:sp>
      <p:sp>
        <p:nvSpPr>
          <p:cNvPr id="28" name="Text 26">
            <a:extLst>
              <a:ext uri="{FF2B5EF4-FFF2-40B4-BE49-F238E27FC236}">
                <a16:creationId xmlns:a16="http://schemas.microsoft.com/office/drawing/2014/main" id="{A6B57CAB-24D7-9B9B-5C4A-180C4F796C1E}"/>
              </a:ext>
            </a:extLst>
          </p:cNvPr>
          <p:cNvSpPr/>
          <p:nvPr/>
        </p:nvSpPr>
        <p:spPr>
          <a:xfrm>
            <a:off x="6995160" y="3410712"/>
            <a:ext cx="3931920" cy="384048"/>
          </a:xfrm>
          <a:prstGeom prst="rect">
            <a:avLst/>
          </a:prstGeom>
          <a:noFill/>
          <a:ln/>
        </p:spPr>
        <p:txBody>
          <a:bodyPr wrap="square" lIns="0" tIns="0" rIns="0" bIns="0" rtlCol="0" anchor="ctr">
            <a:normAutofit/>
          </a:bodyPr>
          <a:lstStyle/>
          <a:p>
            <a:pPr marL="0" indent="0">
              <a:buNone/>
            </a:pPr>
            <a:r>
              <a:rPr lang="en-US" sz="970">
                <a:solidFill>
                  <a:srgbClr val="6B7280"/>
                </a:solidFill>
                <a:latin typeface="Arial" pitchFamily="34" charset="0"/>
                <a:cs typeface="Arial" pitchFamily="34" charset="-120"/>
              </a:rPr>
              <a:t>Kết quả khảo sát hiện trạng, quy trình hiện tại và quy trình đề xuất cho hệ thống Smartbox</a:t>
            </a:r>
            <a:endParaRPr lang="en-US" sz="970" dirty="0"/>
          </a:p>
        </p:txBody>
      </p:sp>
      <p:sp>
        <p:nvSpPr>
          <p:cNvPr id="29" name="Shape 27">
            <a:extLst>
              <a:ext uri="{FF2B5EF4-FFF2-40B4-BE49-F238E27FC236}">
                <a16:creationId xmlns:a16="http://schemas.microsoft.com/office/drawing/2014/main" id="{3521A8BC-1DAB-BB79-91AC-4E7223AFA483}"/>
              </a:ext>
            </a:extLst>
          </p:cNvPr>
          <p:cNvSpPr/>
          <p:nvPr/>
        </p:nvSpPr>
        <p:spPr>
          <a:xfrm>
            <a:off x="777240" y="4187952"/>
            <a:ext cx="4983480" cy="896112"/>
          </a:xfrm>
          <a:prstGeom prst="roundRect">
            <a:avLst>
              <a:gd name="adj" fmla="val 9184"/>
            </a:avLst>
          </a:prstGeom>
          <a:solidFill>
            <a:srgbClr val="FFFFFF"/>
          </a:solidFill>
          <a:ln w="7620">
            <a:solidFill>
              <a:srgbClr val="E6E0D7"/>
            </a:solidFill>
            <a:prstDash val="solid"/>
          </a:ln>
          <a:effectLst>
            <a:outerShdw blurRad="12700" dist="12700" dir="2700000" algn="bl" rotWithShape="0">
              <a:srgbClr val="000000">
                <a:alpha val="5000"/>
              </a:srgbClr>
            </a:outerShdw>
          </a:effectLst>
        </p:spPr>
        <p:txBody>
          <a:bodyPr/>
          <a:lstStyle/>
          <a:p>
            <a:endParaRPr lang="vi-VN"/>
          </a:p>
        </p:txBody>
      </p:sp>
      <p:sp>
        <p:nvSpPr>
          <p:cNvPr id="30" name="Text 28">
            <a:extLst>
              <a:ext uri="{FF2B5EF4-FFF2-40B4-BE49-F238E27FC236}">
                <a16:creationId xmlns:a16="http://schemas.microsoft.com/office/drawing/2014/main" id="{FF1BD3C9-819F-5C2C-3DF4-1FA76A4BD93A}"/>
              </a:ext>
            </a:extLst>
          </p:cNvPr>
          <p:cNvSpPr/>
          <p:nvPr/>
        </p:nvSpPr>
        <p:spPr>
          <a:xfrm>
            <a:off x="960120" y="4352544"/>
            <a:ext cx="502920" cy="320040"/>
          </a:xfrm>
          <a:prstGeom prst="rect">
            <a:avLst/>
          </a:prstGeom>
          <a:noFill/>
          <a:ln/>
        </p:spPr>
        <p:txBody>
          <a:bodyPr wrap="square" lIns="0" tIns="0" rIns="0" bIns="0" rtlCol="0" anchor="ctr"/>
          <a:lstStyle/>
          <a:p>
            <a:pPr marL="0" indent="0" algn="ctr">
              <a:buNone/>
            </a:pPr>
            <a:r>
              <a:rPr lang="en-US" b="1">
                <a:solidFill>
                  <a:srgbClr val="B00020"/>
                </a:solidFill>
                <a:latin typeface="Arial" pitchFamily="34" charset="0"/>
                <a:cs typeface="Arial" pitchFamily="34" charset="-120"/>
              </a:rPr>
              <a:t>V</a:t>
            </a:r>
            <a:endParaRPr lang="en-US" sz="1800" dirty="0"/>
          </a:p>
        </p:txBody>
      </p:sp>
      <p:sp>
        <p:nvSpPr>
          <p:cNvPr id="31" name="Text 29">
            <a:extLst>
              <a:ext uri="{FF2B5EF4-FFF2-40B4-BE49-F238E27FC236}">
                <a16:creationId xmlns:a16="http://schemas.microsoft.com/office/drawing/2014/main" id="{8A0952DD-4A10-4D87-B2CD-46E8B4AF38F1}"/>
              </a:ext>
            </a:extLst>
          </p:cNvPr>
          <p:cNvSpPr/>
          <p:nvPr/>
        </p:nvSpPr>
        <p:spPr>
          <a:xfrm>
            <a:off x="1645920" y="4343400"/>
            <a:ext cx="3886200" cy="228600"/>
          </a:xfrm>
          <a:prstGeom prst="rect">
            <a:avLst/>
          </a:prstGeom>
          <a:noFill/>
          <a:ln/>
        </p:spPr>
        <p:txBody>
          <a:bodyPr wrap="square" lIns="0" tIns="0" rIns="0" bIns="0" rtlCol="0" anchor="ctr">
            <a:normAutofit/>
          </a:bodyPr>
          <a:lstStyle/>
          <a:p>
            <a:pPr marL="0" indent="0">
              <a:buNone/>
            </a:pPr>
            <a:r>
              <a:rPr lang="en-US" sz="1400" b="1">
                <a:solidFill>
                  <a:srgbClr val="121D33"/>
                </a:solidFill>
                <a:latin typeface="Arial" pitchFamily="34" charset="0"/>
                <a:cs typeface="Arial" pitchFamily="34" charset="-120"/>
              </a:rPr>
              <a:t>Phân tích &amp; thiết kế hệ thống</a:t>
            </a:r>
            <a:endParaRPr lang="en-US" sz="1400" dirty="0"/>
          </a:p>
        </p:txBody>
      </p:sp>
      <p:sp>
        <p:nvSpPr>
          <p:cNvPr id="32" name="Text 30">
            <a:extLst>
              <a:ext uri="{FF2B5EF4-FFF2-40B4-BE49-F238E27FC236}">
                <a16:creationId xmlns:a16="http://schemas.microsoft.com/office/drawing/2014/main" id="{08497129-438F-C25E-2BE9-65186281478F}"/>
              </a:ext>
            </a:extLst>
          </p:cNvPr>
          <p:cNvSpPr/>
          <p:nvPr/>
        </p:nvSpPr>
        <p:spPr>
          <a:xfrm>
            <a:off x="1645920" y="4626864"/>
            <a:ext cx="3931920" cy="228600"/>
          </a:xfrm>
          <a:prstGeom prst="rect">
            <a:avLst/>
          </a:prstGeom>
          <a:noFill/>
          <a:ln/>
        </p:spPr>
        <p:txBody>
          <a:bodyPr wrap="square" lIns="0" tIns="0" rIns="0" bIns="0" rtlCol="0" anchor="ctr">
            <a:normAutofit/>
          </a:bodyPr>
          <a:lstStyle/>
          <a:p>
            <a:pPr marL="0" indent="0">
              <a:buNone/>
            </a:pPr>
            <a:r>
              <a:rPr lang="en-US" sz="970">
                <a:solidFill>
                  <a:srgbClr val="6B7280"/>
                </a:solidFill>
                <a:latin typeface="Arial" pitchFamily="34" charset="0"/>
                <a:cs typeface="Arial" pitchFamily="34" charset="-120"/>
              </a:rPr>
              <a:t>Phân tích chức năng, cấu trúc, thiết kế lớp chi tiết và cơ sở dữ liệu</a:t>
            </a:r>
            <a:endParaRPr lang="en-US" sz="970" dirty="0"/>
          </a:p>
        </p:txBody>
      </p:sp>
      <p:sp>
        <p:nvSpPr>
          <p:cNvPr id="33" name="Shape 31">
            <a:extLst>
              <a:ext uri="{FF2B5EF4-FFF2-40B4-BE49-F238E27FC236}">
                <a16:creationId xmlns:a16="http://schemas.microsoft.com/office/drawing/2014/main" id="{357E2188-4E91-49A8-5162-EF38AD708DC3}"/>
              </a:ext>
            </a:extLst>
          </p:cNvPr>
          <p:cNvSpPr/>
          <p:nvPr/>
        </p:nvSpPr>
        <p:spPr>
          <a:xfrm>
            <a:off x="6126480" y="4187952"/>
            <a:ext cx="4983480" cy="896112"/>
          </a:xfrm>
          <a:prstGeom prst="roundRect">
            <a:avLst>
              <a:gd name="adj" fmla="val 9184"/>
            </a:avLst>
          </a:prstGeom>
          <a:solidFill>
            <a:srgbClr val="FFFFFF"/>
          </a:solidFill>
          <a:ln w="7620">
            <a:solidFill>
              <a:srgbClr val="E6E0D7"/>
            </a:solidFill>
            <a:prstDash val="solid"/>
          </a:ln>
          <a:effectLst>
            <a:outerShdw blurRad="12700" dist="12700" dir="2700000" algn="bl" rotWithShape="0">
              <a:srgbClr val="000000">
                <a:alpha val="5000"/>
              </a:srgbClr>
            </a:outerShdw>
          </a:effectLst>
        </p:spPr>
        <p:txBody>
          <a:bodyPr/>
          <a:lstStyle/>
          <a:p>
            <a:endParaRPr lang="vi-VN"/>
          </a:p>
        </p:txBody>
      </p:sp>
      <p:sp>
        <p:nvSpPr>
          <p:cNvPr id="34" name="Text 32">
            <a:extLst>
              <a:ext uri="{FF2B5EF4-FFF2-40B4-BE49-F238E27FC236}">
                <a16:creationId xmlns:a16="http://schemas.microsoft.com/office/drawing/2014/main" id="{1F9ACEE8-DBA0-D8CB-8DA3-44B770BC94A7}"/>
              </a:ext>
            </a:extLst>
          </p:cNvPr>
          <p:cNvSpPr/>
          <p:nvPr/>
        </p:nvSpPr>
        <p:spPr>
          <a:xfrm>
            <a:off x="6309360" y="4352544"/>
            <a:ext cx="502920" cy="320040"/>
          </a:xfrm>
          <a:prstGeom prst="rect">
            <a:avLst/>
          </a:prstGeom>
          <a:noFill/>
          <a:ln/>
        </p:spPr>
        <p:txBody>
          <a:bodyPr wrap="square" lIns="0" tIns="0" rIns="0" bIns="0" rtlCol="0" anchor="ctr"/>
          <a:lstStyle/>
          <a:p>
            <a:pPr marL="0" indent="0" algn="ctr">
              <a:buNone/>
            </a:pPr>
            <a:r>
              <a:rPr lang="en-US" b="1">
                <a:solidFill>
                  <a:srgbClr val="B00020"/>
                </a:solidFill>
                <a:latin typeface="Arial" pitchFamily="34" charset="0"/>
                <a:cs typeface="Arial" pitchFamily="34" charset="-120"/>
              </a:rPr>
              <a:t>VI</a:t>
            </a:r>
            <a:endParaRPr lang="en-US" sz="1800" dirty="0"/>
          </a:p>
        </p:txBody>
      </p:sp>
      <p:sp>
        <p:nvSpPr>
          <p:cNvPr id="35" name="Text 33">
            <a:extLst>
              <a:ext uri="{FF2B5EF4-FFF2-40B4-BE49-F238E27FC236}">
                <a16:creationId xmlns:a16="http://schemas.microsoft.com/office/drawing/2014/main" id="{B2B4CF17-9769-3D76-D96C-B5FF3CFB00AA}"/>
              </a:ext>
            </a:extLst>
          </p:cNvPr>
          <p:cNvSpPr/>
          <p:nvPr/>
        </p:nvSpPr>
        <p:spPr>
          <a:xfrm>
            <a:off x="6995159" y="4343400"/>
            <a:ext cx="4012309" cy="228600"/>
          </a:xfrm>
          <a:prstGeom prst="rect">
            <a:avLst/>
          </a:prstGeom>
          <a:noFill/>
          <a:ln/>
        </p:spPr>
        <p:txBody>
          <a:bodyPr wrap="square" lIns="0" tIns="0" rIns="0" bIns="0" rtlCol="0" anchor="ctr">
            <a:normAutofit/>
          </a:bodyPr>
          <a:lstStyle/>
          <a:p>
            <a:pPr marL="0" indent="0">
              <a:buNone/>
            </a:pPr>
            <a:r>
              <a:rPr lang="en-US" sz="1400" b="1">
                <a:solidFill>
                  <a:srgbClr val="121D33"/>
                </a:solidFill>
                <a:latin typeface="Arial" pitchFamily="34" charset="0"/>
                <a:cs typeface="Arial" pitchFamily="34" charset="-120"/>
              </a:rPr>
              <a:t>Kết quả thực hiện dự án của nhóm &amp; Kết luận</a:t>
            </a:r>
            <a:endParaRPr lang="en-US" sz="1400" dirty="0"/>
          </a:p>
        </p:txBody>
      </p:sp>
      <p:sp>
        <p:nvSpPr>
          <p:cNvPr id="36" name="Text 34">
            <a:extLst>
              <a:ext uri="{FF2B5EF4-FFF2-40B4-BE49-F238E27FC236}">
                <a16:creationId xmlns:a16="http://schemas.microsoft.com/office/drawing/2014/main" id="{CF001D06-765F-FA6C-97F2-129DA43F016C}"/>
              </a:ext>
            </a:extLst>
          </p:cNvPr>
          <p:cNvSpPr/>
          <p:nvPr/>
        </p:nvSpPr>
        <p:spPr>
          <a:xfrm>
            <a:off x="6995160" y="4626864"/>
            <a:ext cx="3931920" cy="228600"/>
          </a:xfrm>
          <a:prstGeom prst="rect">
            <a:avLst/>
          </a:prstGeom>
          <a:noFill/>
          <a:ln/>
        </p:spPr>
        <p:txBody>
          <a:bodyPr wrap="square" lIns="0" tIns="0" rIns="0" bIns="0" rtlCol="0" anchor="ctr">
            <a:normAutofit fontScale="92500"/>
          </a:bodyPr>
          <a:lstStyle/>
          <a:p>
            <a:pPr marL="0" indent="0">
              <a:buNone/>
            </a:pPr>
            <a:r>
              <a:rPr lang="en-US" sz="970">
                <a:solidFill>
                  <a:srgbClr val="6B7280"/>
                </a:solidFill>
                <a:latin typeface="Arial" pitchFamily="34" charset="0"/>
                <a:cs typeface="Arial" pitchFamily="34" charset="-120"/>
              </a:rPr>
              <a:t>Tổng hợp những kết quả nhóm đã thực hiện được trong dự án &amp; Kết luận</a:t>
            </a:r>
            <a:endParaRPr lang="en-US" sz="970" dirty="0"/>
          </a:p>
        </p:txBody>
      </p:sp>
    </p:spTree>
    <p:extLst>
      <p:ext uri="{BB962C8B-B14F-4D97-AF65-F5344CB8AC3E}">
        <p14:creationId xmlns:p14="http://schemas.microsoft.com/office/powerpoint/2010/main" val="4209530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8F5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7" name="Text 5"/>
          <p:cNvSpPr/>
          <p:nvPr/>
        </p:nvSpPr>
        <p:spPr>
          <a:xfrm>
            <a:off x="5416170" y="6456105"/>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10" name="Text 8"/>
          <p:cNvSpPr/>
          <p:nvPr/>
        </p:nvSpPr>
        <p:spPr>
          <a:xfrm>
            <a:off x="640080" y="658368"/>
            <a:ext cx="7411840" cy="402336"/>
          </a:xfrm>
          <a:prstGeom prst="rect">
            <a:avLst/>
          </a:prstGeom>
          <a:noFill/>
          <a:ln/>
        </p:spPr>
        <p:txBody>
          <a:bodyPr wrap="square" lIns="0" tIns="0" rIns="0" bIns="0" rtlCol="0" anchor="ctr">
            <a:normAutofit lnSpcReduction="10000"/>
          </a:bodyPr>
          <a:lstStyle/>
          <a:p>
            <a:r>
              <a:rPr lang="en-US" sz="2700" b="1">
                <a:solidFill>
                  <a:srgbClr val="121D33"/>
                </a:solidFill>
                <a:latin typeface="Arial" pitchFamily="34" charset="0"/>
                <a:ea typeface="Arial" pitchFamily="34" charset="-122"/>
                <a:cs typeface="Arial" pitchFamily="34" charset="-120"/>
              </a:rPr>
              <a:t>I. Giới thiệu thành viên Nhóm 5 &amp; Nhiệm vụ </a:t>
            </a:r>
            <a:endParaRPr lang="en-US" sz="2700" dirty="0"/>
          </a:p>
        </p:txBody>
      </p:sp>
      <p:sp>
        <p:nvSpPr>
          <p:cNvPr id="12" name="Shape 10"/>
          <p:cNvSpPr/>
          <p:nvPr/>
        </p:nvSpPr>
        <p:spPr>
          <a:xfrm>
            <a:off x="658368" y="1213636"/>
            <a:ext cx="5296118" cy="0"/>
          </a:xfrm>
          <a:prstGeom prst="line">
            <a:avLst/>
          </a:prstGeom>
          <a:noFill/>
          <a:ln w="25400">
            <a:solidFill>
              <a:srgbClr val="D6A62C"/>
            </a:solidFill>
            <a:prstDash val="solid"/>
          </a:ln>
        </p:spPr>
        <p:txBody>
          <a:bodyPr/>
          <a:lstStyle/>
          <a:p>
            <a:endParaRPr lang="vi-VN"/>
          </a:p>
        </p:txBody>
      </p:sp>
      <p:sp>
        <p:nvSpPr>
          <p:cNvPr id="18" name="Shape 21">
            <a:extLst>
              <a:ext uri="{FF2B5EF4-FFF2-40B4-BE49-F238E27FC236}">
                <a16:creationId xmlns:a16="http://schemas.microsoft.com/office/drawing/2014/main" id="{139DC1AC-A404-13A0-4DA4-8398C6872B35}"/>
              </a:ext>
            </a:extLst>
          </p:cNvPr>
          <p:cNvSpPr/>
          <p:nvPr/>
        </p:nvSpPr>
        <p:spPr>
          <a:xfrm>
            <a:off x="805543" y="1862861"/>
            <a:ext cx="9697824" cy="947395"/>
          </a:xfrm>
          <a:prstGeom prst="roundRect">
            <a:avLst>
              <a:gd name="adj" fmla="val 9459"/>
            </a:avLst>
          </a:prstGeom>
          <a:solidFill>
            <a:srgbClr val="FFFFFF"/>
          </a:solidFill>
          <a:ln w="12700">
            <a:solidFill>
              <a:srgbClr val="E6E0D7"/>
            </a:solidFill>
            <a:prstDash val="solid"/>
          </a:ln>
          <a:effectLst>
            <a:outerShdw blurRad="12700" dist="12700" dir="2700000" algn="bl" rotWithShape="0">
              <a:srgbClr val="000000">
                <a:alpha val="4000"/>
              </a:srgbClr>
            </a:outerShdw>
          </a:effectLst>
        </p:spPr>
        <p:txBody>
          <a:bodyPr/>
          <a:lstStyle/>
          <a:p>
            <a:endParaRPr lang="vi-VN"/>
          </a:p>
        </p:txBody>
      </p:sp>
      <p:sp>
        <p:nvSpPr>
          <p:cNvPr id="20" name="Text 22">
            <a:extLst>
              <a:ext uri="{FF2B5EF4-FFF2-40B4-BE49-F238E27FC236}">
                <a16:creationId xmlns:a16="http://schemas.microsoft.com/office/drawing/2014/main" id="{AC22CC0C-42C5-EEEE-89F9-F76CE9C066A9}"/>
              </a:ext>
            </a:extLst>
          </p:cNvPr>
          <p:cNvSpPr/>
          <p:nvPr/>
        </p:nvSpPr>
        <p:spPr>
          <a:xfrm>
            <a:off x="1558149" y="2211204"/>
            <a:ext cx="1828800" cy="201168"/>
          </a:xfrm>
          <a:prstGeom prst="rect">
            <a:avLst/>
          </a:prstGeom>
          <a:noFill/>
          <a:ln/>
        </p:spPr>
        <p:txBody>
          <a:bodyPr wrap="square" lIns="0" tIns="0" rIns="0" bIns="0" rtlCol="0" anchor="ctr">
            <a:normAutofit/>
          </a:bodyPr>
          <a:lstStyle/>
          <a:p>
            <a:pPr marL="0" indent="0">
              <a:buNone/>
            </a:pPr>
            <a:r>
              <a:rPr lang="en-US" sz="1120" b="1" dirty="0">
                <a:solidFill>
                  <a:srgbClr val="B00020"/>
                </a:solidFill>
                <a:latin typeface="Arial" pitchFamily="34" charset="0"/>
                <a:ea typeface="Arial" pitchFamily="34" charset="-122"/>
                <a:cs typeface="Arial" pitchFamily="34" charset="-120"/>
              </a:rPr>
              <a:t>Hoàng Đàm Khánh</a:t>
            </a:r>
            <a:endParaRPr lang="en-US" sz="1120" dirty="0"/>
          </a:p>
        </p:txBody>
      </p:sp>
      <p:sp>
        <p:nvSpPr>
          <p:cNvPr id="22" name="Text 23">
            <a:extLst>
              <a:ext uri="{FF2B5EF4-FFF2-40B4-BE49-F238E27FC236}">
                <a16:creationId xmlns:a16="http://schemas.microsoft.com/office/drawing/2014/main" id="{F6E9872C-8D70-B180-1F95-E97281465E61}"/>
              </a:ext>
            </a:extLst>
          </p:cNvPr>
          <p:cNvSpPr/>
          <p:nvPr/>
        </p:nvSpPr>
        <p:spPr>
          <a:xfrm>
            <a:off x="3872438" y="2022984"/>
            <a:ext cx="1543732" cy="644016"/>
          </a:xfrm>
          <a:prstGeom prst="rect">
            <a:avLst/>
          </a:prstGeom>
          <a:noFill/>
          <a:ln/>
        </p:spPr>
        <p:txBody>
          <a:bodyPr wrap="square" lIns="0" tIns="0" rIns="0" bIns="0" rtlCol="0" anchor="ctr">
            <a:normAutofit/>
          </a:bodyPr>
          <a:lstStyle/>
          <a:p>
            <a:r>
              <a:rPr lang="en-US" sz="1050" b="1">
                <a:solidFill>
                  <a:srgbClr val="121D33"/>
                </a:solidFill>
                <a:latin typeface="Arial" pitchFamily="34" charset="0"/>
                <a:ea typeface="Arial" pitchFamily="34" charset="-122"/>
                <a:cs typeface="Arial" pitchFamily="34" charset="-120"/>
              </a:rPr>
              <a:t>Project Manager - </a:t>
            </a:r>
            <a:endParaRPr lang="vi-VN" sz="1050" b="1">
              <a:solidFill>
                <a:srgbClr val="121D33"/>
              </a:solidFill>
              <a:latin typeface="Arial" pitchFamily="34" charset="0"/>
              <a:ea typeface="Arial" pitchFamily="34" charset="-122"/>
              <a:cs typeface="Arial" pitchFamily="34" charset="-120"/>
            </a:endParaRPr>
          </a:p>
          <a:p>
            <a:r>
              <a:rPr lang="vi-VN" sz="1050"/>
              <a:t>điều phối tổng thể</a:t>
            </a:r>
            <a:endParaRPr lang="en-US" sz="1050" dirty="0"/>
          </a:p>
        </p:txBody>
      </p:sp>
      <p:sp>
        <p:nvSpPr>
          <p:cNvPr id="24" name="Text 24">
            <a:extLst>
              <a:ext uri="{FF2B5EF4-FFF2-40B4-BE49-F238E27FC236}">
                <a16:creationId xmlns:a16="http://schemas.microsoft.com/office/drawing/2014/main" id="{30DC8619-6EAD-FCC5-AEF0-491681B2333B}"/>
              </a:ext>
            </a:extLst>
          </p:cNvPr>
          <p:cNvSpPr/>
          <p:nvPr/>
        </p:nvSpPr>
        <p:spPr>
          <a:xfrm>
            <a:off x="5968355" y="1954834"/>
            <a:ext cx="4825662" cy="712166"/>
          </a:xfrm>
          <a:prstGeom prst="rect">
            <a:avLst/>
          </a:prstGeom>
          <a:noFill/>
          <a:ln/>
        </p:spPr>
        <p:txBody>
          <a:bodyPr wrap="square" lIns="0" tIns="0" rIns="0" bIns="0" rtlCol="0" anchor="ctr">
            <a:normAutofit/>
          </a:bodyPr>
          <a:lstStyle/>
          <a:p>
            <a:pPr marL="0" indent="0">
              <a:buNone/>
            </a:pPr>
            <a:r>
              <a:rPr lang="en-US" sz="1200">
                <a:solidFill>
                  <a:srgbClr val="252B33"/>
                </a:solidFill>
                <a:latin typeface="Arial" pitchFamily="34" charset="0"/>
                <a:ea typeface="Arial" pitchFamily="34" charset="-122"/>
                <a:cs typeface="Arial" pitchFamily="34" charset="-120"/>
              </a:rPr>
              <a:t>- Kế hoạch tổng quan và tổ chức quản trị dự án</a:t>
            </a:r>
          </a:p>
          <a:p>
            <a:pPr marL="0" indent="0">
              <a:buNone/>
            </a:pPr>
            <a:r>
              <a:rPr lang="en-US" sz="1200">
                <a:solidFill>
                  <a:srgbClr val="252B33"/>
                </a:solidFill>
                <a:latin typeface="Arial" pitchFamily="34" charset="0"/>
                <a:ea typeface="Arial" pitchFamily="34" charset="-122"/>
                <a:cs typeface="Arial" pitchFamily="34" charset="-120"/>
              </a:rPr>
              <a:t>- Kế hoạch quản lý nguồn nhân lực dự án</a:t>
            </a:r>
            <a:endParaRPr lang="en-US" sz="1200" dirty="0">
              <a:solidFill>
                <a:srgbClr val="252B33"/>
              </a:solidFill>
              <a:latin typeface="Arial" pitchFamily="34" charset="0"/>
              <a:ea typeface="Arial" pitchFamily="34" charset="-122"/>
              <a:cs typeface="Arial" pitchFamily="34" charset="-120"/>
            </a:endParaRPr>
          </a:p>
        </p:txBody>
      </p:sp>
      <p:sp>
        <p:nvSpPr>
          <p:cNvPr id="64" name="Shape 21">
            <a:extLst>
              <a:ext uri="{FF2B5EF4-FFF2-40B4-BE49-F238E27FC236}">
                <a16:creationId xmlns:a16="http://schemas.microsoft.com/office/drawing/2014/main" id="{95EBF8A2-1BAE-62B0-AEDA-00EEF1762507}"/>
              </a:ext>
            </a:extLst>
          </p:cNvPr>
          <p:cNvSpPr/>
          <p:nvPr/>
        </p:nvSpPr>
        <p:spPr>
          <a:xfrm>
            <a:off x="810984" y="2984093"/>
            <a:ext cx="9697824" cy="947395"/>
          </a:xfrm>
          <a:prstGeom prst="roundRect">
            <a:avLst>
              <a:gd name="adj" fmla="val 9459"/>
            </a:avLst>
          </a:prstGeom>
          <a:solidFill>
            <a:srgbClr val="FFFFFF"/>
          </a:solidFill>
          <a:ln w="12700">
            <a:solidFill>
              <a:srgbClr val="E6E0D7"/>
            </a:solidFill>
            <a:prstDash val="solid"/>
          </a:ln>
          <a:effectLst>
            <a:outerShdw blurRad="12700" dist="12700" dir="2700000" algn="bl" rotWithShape="0">
              <a:srgbClr val="000000">
                <a:alpha val="4000"/>
              </a:srgbClr>
            </a:outerShdw>
          </a:effectLst>
        </p:spPr>
        <p:txBody>
          <a:bodyPr/>
          <a:lstStyle/>
          <a:p>
            <a:endParaRPr lang="vi-VN"/>
          </a:p>
        </p:txBody>
      </p:sp>
      <p:sp>
        <p:nvSpPr>
          <p:cNvPr id="68" name="Text 22">
            <a:extLst>
              <a:ext uri="{FF2B5EF4-FFF2-40B4-BE49-F238E27FC236}">
                <a16:creationId xmlns:a16="http://schemas.microsoft.com/office/drawing/2014/main" id="{25184BBF-F048-12B8-C3E7-B960B67A1430}"/>
              </a:ext>
            </a:extLst>
          </p:cNvPr>
          <p:cNvSpPr/>
          <p:nvPr/>
        </p:nvSpPr>
        <p:spPr>
          <a:xfrm>
            <a:off x="1563590" y="3332436"/>
            <a:ext cx="1828800" cy="201168"/>
          </a:xfrm>
          <a:prstGeom prst="rect">
            <a:avLst/>
          </a:prstGeom>
          <a:noFill/>
          <a:ln/>
        </p:spPr>
        <p:txBody>
          <a:bodyPr wrap="square" lIns="0" tIns="0" rIns="0" bIns="0" rtlCol="0" anchor="ctr">
            <a:normAutofit/>
          </a:bodyPr>
          <a:lstStyle/>
          <a:p>
            <a:pPr marL="0" indent="0">
              <a:buNone/>
            </a:pPr>
            <a:r>
              <a:rPr lang="en-US" sz="1120" b="1">
                <a:solidFill>
                  <a:srgbClr val="B00020"/>
                </a:solidFill>
                <a:latin typeface="Arial" pitchFamily="34" charset="0"/>
                <a:ea typeface="Arial" pitchFamily="34" charset="-122"/>
                <a:cs typeface="Arial" pitchFamily="34" charset="-120"/>
              </a:rPr>
              <a:t>Nguyễn Trọng Hiếu</a:t>
            </a:r>
            <a:endParaRPr lang="en-US" sz="1120" dirty="0"/>
          </a:p>
        </p:txBody>
      </p:sp>
      <p:sp>
        <p:nvSpPr>
          <p:cNvPr id="70" name="Text 23">
            <a:extLst>
              <a:ext uri="{FF2B5EF4-FFF2-40B4-BE49-F238E27FC236}">
                <a16:creationId xmlns:a16="http://schemas.microsoft.com/office/drawing/2014/main" id="{F776CFC0-E974-F6FB-8003-35763D2D4D1F}"/>
              </a:ext>
            </a:extLst>
          </p:cNvPr>
          <p:cNvSpPr/>
          <p:nvPr/>
        </p:nvSpPr>
        <p:spPr>
          <a:xfrm>
            <a:off x="3877878" y="3222170"/>
            <a:ext cx="1711935" cy="446315"/>
          </a:xfrm>
          <a:prstGeom prst="rect">
            <a:avLst/>
          </a:prstGeom>
          <a:noFill/>
          <a:ln/>
        </p:spPr>
        <p:txBody>
          <a:bodyPr wrap="square" lIns="0" tIns="0" rIns="0" bIns="0" rtlCol="0" anchor="ctr">
            <a:normAutofit/>
          </a:bodyPr>
          <a:lstStyle/>
          <a:p>
            <a:pPr marL="0" indent="0">
              <a:buNone/>
            </a:pPr>
            <a:r>
              <a:rPr lang="en-US" sz="1050" b="1">
                <a:solidFill>
                  <a:srgbClr val="121D33"/>
                </a:solidFill>
                <a:latin typeface="Arial" pitchFamily="34" charset="0"/>
                <a:ea typeface="Arial" pitchFamily="34" charset="-122"/>
                <a:cs typeface="Arial" pitchFamily="34" charset="-120"/>
              </a:rPr>
              <a:t>Phân tích / Kỹ thuật / </a:t>
            </a:r>
          </a:p>
          <a:p>
            <a:pPr marL="0" indent="0">
              <a:buNone/>
            </a:pPr>
            <a:r>
              <a:rPr lang="en-US" sz="1050" b="1">
                <a:solidFill>
                  <a:srgbClr val="121D33"/>
                </a:solidFill>
                <a:latin typeface="Arial" pitchFamily="34" charset="0"/>
                <a:ea typeface="Arial" pitchFamily="34" charset="-122"/>
                <a:cs typeface="Arial" pitchFamily="34" charset="-120"/>
              </a:rPr>
              <a:t>Chất lượng </a:t>
            </a:r>
            <a:endParaRPr lang="en-US" sz="1050" dirty="0"/>
          </a:p>
        </p:txBody>
      </p:sp>
      <p:sp>
        <p:nvSpPr>
          <p:cNvPr id="72" name="Text 24">
            <a:extLst>
              <a:ext uri="{FF2B5EF4-FFF2-40B4-BE49-F238E27FC236}">
                <a16:creationId xmlns:a16="http://schemas.microsoft.com/office/drawing/2014/main" id="{2533AC26-6813-8813-D9A1-EAFDA754E5E2}"/>
              </a:ext>
            </a:extLst>
          </p:cNvPr>
          <p:cNvSpPr/>
          <p:nvPr/>
        </p:nvSpPr>
        <p:spPr>
          <a:xfrm>
            <a:off x="5973796" y="3076066"/>
            <a:ext cx="4825662" cy="712166"/>
          </a:xfrm>
          <a:prstGeom prst="rect">
            <a:avLst/>
          </a:prstGeom>
          <a:noFill/>
          <a:ln/>
        </p:spPr>
        <p:txBody>
          <a:bodyPr wrap="square" lIns="0" tIns="0" rIns="0" bIns="0" rtlCol="0" anchor="ctr">
            <a:normAutofit/>
          </a:bodyPr>
          <a:lstStyle/>
          <a:p>
            <a:pPr marL="0" indent="0">
              <a:buNone/>
            </a:pPr>
            <a:r>
              <a:rPr lang="vi-VN" sz="1200">
                <a:solidFill>
                  <a:srgbClr val="252B33"/>
                </a:solidFill>
                <a:latin typeface="Arial" pitchFamily="34" charset="0"/>
                <a:ea typeface="Arial" pitchFamily="34" charset="-122"/>
                <a:cs typeface="Arial" pitchFamily="34" charset="-120"/>
              </a:rPr>
              <a:t>- Kế hoạch vòng đời và triển khai dự án CNTT</a:t>
            </a:r>
          </a:p>
          <a:p>
            <a:pPr marL="0" indent="0">
              <a:buNone/>
            </a:pPr>
            <a:r>
              <a:rPr lang="vi-VN" sz="1200">
                <a:solidFill>
                  <a:srgbClr val="252B33"/>
                </a:solidFill>
                <a:latin typeface="Arial" pitchFamily="34" charset="0"/>
                <a:ea typeface="Arial" pitchFamily="34" charset="-122"/>
                <a:cs typeface="Arial" pitchFamily="34" charset="-120"/>
              </a:rPr>
              <a:t>- Kế hoạch quản lý chất lượng dự án</a:t>
            </a:r>
          </a:p>
        </p:txBody>
      </p:sp>
      <p:sp>
        <p:nvSpPr>
          <p:cNvPr id="74" name="Shape 21">
            <a:extLst>
              <a:ext uri="{FF2B5EF4-FFF2-40B4-BE49-F238E27FC236}">
                <a16:creationId xmlns:a16="http://schemas.microsoft.com/office/drawing/2014/main" id="{59CF1834-411F-CBA0-0D93-B0E4EBAC60A6}"/>
              </a:ext>
            </a:extLst>
          </p:cNvPr>
          <p:cNvSpPr/>
          <p:nvPr/>
        </p:nvSpPr>
        <p:spPr>
          <a:xfrm>
            <a:off x="832754" y="4110773"/>
            <a:ext cx="9697824" cy="947395"/>
          </a:xfrm>
          <a:prstGeom prst="roundRect">
            <a:avLst>
              <a:gd name="adj" fmla="val 9459"/>
            </a:avLst>
          </a:prstGeom>
          <a:solidFill>
            <a:srgbClr val="FFFFFF"/>
          </a:solidFill>
          <a:ln w="12700">
            <a:solidFill>
              <a:srgbClr val="E6E0D7"/>
            </a:solidFill>
            <a:prstDash val="solid"/>
          </a:ln>
          <a:effectLst>
            <a:outerShdw blurRad="12700" dist="12700" dir="2700000" algn="bl" rotWithShape="0">
              <a:srgbClr val="000000">
                <a:alpha val="4000"/>
              </a:srgbClr>
            </a:outerShdw>
          </a:effectLst>
        </p:spPr>
        <p:txBody>
          <a:bodyPr/>
          <a:lstStyle/>
          <a:p>
            <a:endParaRPr lang="vi-VN"/>
          </a:p>
        </p:txBody>
      </p:sp>
      <p:sp>
        <p:nvSpPr>
          <p:cNvPr id="76" name="Text 22">
            <a:extLst>
              <a:ext uri="{FF2B5EF4-FFF2-40B4-BE49-F238E27FC236}">
                <a16:creationId xmlns:a16="http://schemas.microsoft.com/office/drawing/2014/main" id="{C68422FB-AFC7-868E-5C58-CEE52D596F93}"/>
              </a:ext>
            </a:extLst>
          </p:cNvPr>
          <p:cNvSpPr/>
          <p:nvPr/>
        </p:nvSpPr>
        <p:spPr>
          <a:xfrm>
            <a:off x="1585360" y="4459116"/>
            <a:ext cx="1828800" cy="201168"/>
          </a:xfrm>
          <a:prstGeom prst="rect">
            <a:avLst/>
          </a:prstGeom>
          <a:noFill/>
          <a:ln/>
        </p:spPr>
        <p:txBody>
          <a:bodyPr wrap="square" lIns="0" tIns="0" rIns="0" bIns="0" rtlCol="0" anchor="ctr">
            <a:normAutofit/>
          </a:bodyPr>
          <a:lstStyle/>
          <a:p>
            <a:pPr marL="0" indent="0">
              <a:buNone/>
            </a:pPr>
            <a:r>
              <a:rPr lang="vi-VN" sz="1120" b="1">
                <a:solidFill>
                  <a:srgbClr val="B00020"/>
                </a:solidFill>
                <a:latin typeface="Arial" pitchFamily="34" charset="0"/>
                <a:ea typeface="Arial" pitchFamily="34" charset="-122"/>
                <a:cs typeface="Arial" pitchFamily="34" charset="-120"/>
              </a:rPr>
              <a:t>Nguyễn Hồng Dương</a:t>
            </a:r>
            <a:endParaRPr lang="en-US" sz="1120" dirty="0"/>
          </a:p>
        </p:txBody>
      </p:sp>
      <p:sp>
        <p:nvSpPr>
          <p:cNvPr id="78" name="Text 23">
            <a:extLst>
              <a:ext uri="{FF2B5EF4-FFF2-40B4-BE49-F238E27FC236}">
                <a16:creationId xmlns:a16="http://schemas.microsoft.com/office/drawing/2014/main" id="{E9EEA570-09AC-1A95-73A6-E3F14B472630}"/>
              </a:ext>
            </a:extLst>
          </p:cNvPr>
          <p:cNvSpPr/>
          <p:nvPr/>
        </p:nvSpPr>
        <p:spPr>
          <a:xfrm>
            <a:off x="3899648" y="4366048"/>
            <a:ext cx="1805267" cy="380453"/>
          </a:xfrm>
          <a:prstGeom prst="rect">
            <a:avLst/>
          </a:prstGeom>
          <a:noFill/>
          <a:ln/>
        </p:spPr>
        <p:txBody>
          <a:bodyPr wrap="square" lIns="0" tIns="0" rIns="0" bIns="0" rtlCol="0" anchor="ctr">
            <a:normAutofit/>
          </a:bodyPr>
          <a:lstStyle/>
          <a:p>
            <a:pPr marL="0" indent="0">
              <a:buNone/>
            </a:pPr>
            <a:r>
              <a:rPr lang="en-US" sz="1050" b="1">
                <a:solidFill>
                  <a:srgbClr val="121D33"/>
                </a:solidFill>
                <a:latin typeface="Arial" pitchFamily="34" charset="0"/>
                <a:ea typeface="Arial" pitchFamily="34" charset="-122"/>
                <a:cs typeface="Arial" pitchFamily="34" charset="-120"/>
              </a:rPr>
              <a:t>Phạm vi / WBS / Tiến độ</a:t>
            </a:r>
            <a:endParaRPr lang="en-US" sz="1050" dirty="0"/>
          </a:p>
        </p:txBody>
      </p:sp>
      <p:sp>
        <p:nvSpPr>
          <p:cNvPr id="80" name="Text 24">
            <a:extLst>
              <a:ext uri="{FF2B5EF4-FFF2-40B4-BE49-F238E27FC236}">
                <a16:creationId xmlns:a16="http://schemas.microsoft.com/office/drawing/2014/main" id="{BDDA6A6C-F811-4055-517F-CEA832980571}"/>
              </a:ext>
            </a:extLst>
          </p:cNvPr>
          <p:cNvSpPr/>
          <p:nvPr/>
        </p:nvSpPr>
        <p:spPr>
          <a:xfrm>
            <a:off x="5995566" y="4202746"/>
            <a:ext cx="4825662" cy="712166"/>
          </a:xfrm>
          <a:prstGeom prst="rect">
            <a:avLst/>
          </a:prstGeom>
          <a:noFill/>
          <a:ln/>
        </p:spPr>
        <p:txBody>
          <a:bodyPr wrap="square" lIns="0" tIns="0" rIns="0" bIns="0" rtlCol="0" anchor="ctr">
            <a:normAutofit/>
          </a:bodyPr>
          <a:lstStyle/>
          <a:p>
            <a:pPr marL="0" indent="0">
              <a:buNone/>
            </a:pPr>
            <a:r>
              <a:rPr lang="en-US" sz="1200">
                <a:solidFill>
                  <a:srgbClr val="252B33"/>
                </a:solidFill>
                <a:latin typeface="Arial" pitchFamily="34" charset="0"/>
                <a:ea typeface="Arial" pitchFamily="34" charset="-122"/>
                <a:cs typeface="Arial" pitchFamily="34" charset="-120"/>
              </a:rPr>
              <a:t>- Kế hoạch quản lý phạm vi dự án</a:t>
            </a:r>
          </a:p>
          <a:p>
            <a:pPr marL="0" indent="0">
              <a:buNone/>
            </a:pPr>
            <a:r>
              <a:rPr lang="en-US" sz="1200">
                <a:solidFill>
                  <a:srgbClr val="252B33"/>
                </a:solidFill>
                <a:latin typeface="Arial" pitchFamily="34" charset="0"/>
                <a:ea typeface="Arial" pitchFamily="34" charset="-122"/>
                <a:cs typeface="Arial" pitchFamily="34" charset="-120"/>
              </a:rPr>
              <a:t>- Kế hoạch quản lý thời gian và PERT</a:t>
            </a:r>
          </a:p>
        </p:txBody>
      </p:sp>
      <p:sp>
        <p:nvSpPr>
          <p:cNvPr id="82" name="Shape 21">
            <a:extLst>
              <a:ext uri="{FF2B5EF4-FFF2-40B4-BE49-F238E27FC236}">
                <a16:creationId xmlns:a16="http://schemas.microsoft.com/office/drawing/2014/main" id="{5C6AEB98-850F-995C-9A5E-99E8C1B959DB}"/>
              </a:ext>
            </a:extLst>
          </p:cNvPr>
          <p:cNvSpPr/>
          <p:nvPr/>
        </p:nvSpPr>
        <p:spPr>
          <a:xfrm>
            <a:off x="832754" y="5248336"/>
            <a:ext cx="9697824" cy="947395"/>
          </a:xfrm>
          <a:prstGeom prst="roundRect">
            <a:avLst>
              <a:gd name="adj" fmla="val 9459"/>
            </a:avLst>
          </a:prstGeom>
          <a:solidFill>
            <a:srgbClr val="FFFFFF"/>
          </a:solidFill>
          <a:ln w="12700">
            <a:solidFill>
              <a:srgbClr val="E6E0D7"/>
            </a:solidFill>
            <a:prstDash val="solid"/>
          </a:ln>
          <a:effectLst>
            <a:outerShdw blurRad="12700" dist="12700" dir="2700000" algn="bl" rotWithShape="0">
              <a:srgbClr val="000000">
                <a:alpha val="4000"/>
              </a:srgbClr>
            </a:outerShdw>
          </a:effectLst>
        </p:spPr>
        <p:txBody>
          <a:bodyPr/>
          <a:lstStyle/>
          <a:p>
            <a:endParaRPr lang="vi-VN"/>
          </a:p>
        </p:txBody>
      </p:sp>
      <p:sp>
        <p:nvSpPr>
          <p:cNvPr id="84" name="Text 22">
            <a:extLst>
              <a:ext uri="{FF2B5EF4-FFF2-40B4-BE49-F238E27FC236}">
                <a16:creationId xmlns:a16="http://schemas.microsoft.com/office/drawing/2014/main" id="{78384F62-EF9B-C970-3A73-96E83097C44D}"/>
              </a:ext>
            </a:extLst>
          </p:cNvPr>
          <p:cNvSpPr/>
          <p:nvPr/>
        </p:nvSpPr>
        <p:spPr>
          <a:xfrm>
            <a:off x="1585360" y="5596679"/>
            <a:ext cx="1828800" cy="201168"/>
          </a:xfrm>
          <a:prstGeom prst="rect">
            <a:avLst/>
          </a:prstGeom>
          <a:noFill/>
          <a:ln/>
        </p:spPr>
        <p:txBody>
          <a:bodyPr wrap="square" lIns="0" tIns="0" rIns="0" bIns="0" rtlCol="0" anchor="ctr">
            <a:normAutofit/>
          </a:bodyPr>
          <a:lstStyle/>
          <a:p>
            <a:pPr marL="0" indent="0">
              <a:buNone/>
            </a:pPr>
            <a:r>
              <a:rPr lang="en-US" sz="1120" b="1">
                <a:solidFill>
                  <a:srgbClr val="B00020"/>
                </a:solidFill>
                <a:latin typeface="Arial" pitchFamily="34" charset="0"/>
                <a:ea typeface="Arial" pitchFamily="34" charset="-122"/>
                <a:cs typeface="Arial" pitchFamily="34" charset="-120"/>
              </a:rPr>
              <a:t>Phạm Đức Anh</a:t>
            </a:r>
            <a:endParaRPr lang="en-US" sz="1120" dirty="0"/>
          </a:p>
        </p:txBody>
      </p:sp>
      <p:sp>
        <p:nvSpPr>
          <p:cNvPr id="86" name="Text 23">
            <a:extLst>
              <a:ext uri="{FF2B5EF4-FFF2-40B4-BE49-F238E27FC236}">
                <a16:creationId xmlns:a16="http://schemas.microsoft.com/office/drawing/2014/main" id="{749A7B10-77D1-19F6-373B-74BA5351432C}"/>
              </a:ext>
            </a:extLst>
          </p:cNvPr>
          <p:cNvSpPr/>
          <p:nvPr/>
        </p:nvSpPr>
        <p:spPr>
          <a:xfrm>
            <a:off x="3877878" y="5478680"/>
            <a:ext cx="1951422" cy="416267"/>
          </a:xfrm>
          <a:prstGeom prst="rect">
            <a:avLst/>
          </a:prstGeom>
          <a:noFill/>
          <a:ln/>
        </p:spPr>
        <p:txBody>
          <a:bodyPr wrap="square" lIns="0" tIns="0" rIns="0" bIns="0" rtlCol="0" anchor="ctr">
            <a:normAutofit/>
          </a:bodyPr>
          <a:lstStyle/>
          <a:p>
            <a:pPr marL="0" indent="0">
              <a:buNone/>
            </a:pPr>
            <a:r>
              <a:rPr lang="it-IT" sz="1050" b="1">
                <a:solidFill>
                  <a:srgbClr val="121D33"/>
                </a:solidFill>
                <a:latin typeface="Arial" pitchFamily="34" charset="0"/>
                <a:ea typeface="Arial" pitchFamily="34" charset="-122"/>
                <a:cs typeface="Arial" pitchFamily="34" charset="-120"/>
              </a:rPr>
              <a:t>Rủi ro / Chi phí / Hạ tầng</a:t>
            </a:r>
            <a:endParaRPr lang="en-US" sz="1050" dirty="0"/>
          </a:p>
        </p:txBody>
      </p:sp>
      <p:sp>
        <p:nvSpPr>
          <p:cNvPr id="88" name="Text 24">
            <a:extLst>
              <a:ext uri="{FF2B5EF4-FFF2-40B4-BE49-F238E27FC236}">
                <a16:creationId xmlns:a16="http://schemas.microsoft.com/office/drawing/2014/main" id="{F87F1F8F-1F20-72E2-A38D-62AAA41414C4}"/>
              </a:ext>
            </a:extLst>
          </p:cNvPr>
          <p:cNvSpPr/>
          <p:nvPr/>
        </p:nvSpPr>
        <p:spPr>
          <a:xfrm>
            <a:off x="5995566" y="5340309"/>
            <a:ext cx="4825662" cy="712166"/>
          </a:xfrm>
          <a:prstGeom prst="rect">
            <a:avLst/>
          </a:prstGeom>
          <a:noFill/>
          <a:ln/>
        </p:spPr>
        <p:txBody>
          <a:bodyPr wrap="square" lIns="0" tIns="0" rIns="0" bIns="0" rtlCol="0" anchor="ctr">
            <a:normAutofit/>
          </a:bodyPr>
          <a:lstStyle/>
          <a:p>
            <a:pPr marL="0" indent="0">
              <a:buNone/>
            </a:pPr>
            <a:r>
              <a:rPr lang="en-US" sz="1200">
                <a:solidFill>
                  <a:srgbClr val="252B33"/>
                </a:solidFill>
                <a:latin typeface="Arial" pitchFamily="34" charset="0"/>
                <a:ea typeface="Arial" pitchFamily="34" charset="-122"/>
                <a:cs typeface="Arial" pitchFamily="34" charset="-120"/>
              </a:rPr>
              <a:t>- Kế hoạch quản lý chi phí dự án</a:t>
            </a:r>
          </a:p>
          <a:p>
            <a:pPr marL="0" indent="0">
              <a:buNone/>
            </a:pPr>
            <a:r>
              <a:rPr lang="en-US" sz="1200">
                <a:solidFill>
                  <a:srgbClr val="252B33"/>
                </a:solidFill>
                <a:latin typeface="Arial" pitchFamily="34" charset="0"/>
                <a:ea typeface="Arial" pitchFamily="34" charset="-122"/>
                <a:cs typeface="Arial" pitchFamily="34" charset="-120"/>
              </a:rPr>
              <a:t>- Kế hoạch quản lý rủi ro dự án</a:t>
            </a:r>
          </a:p>
        </p:txBody>
      </p:sp>
      <p:sp>
        <p:nvSpPr>
          <p:cNvPr id="90" name="Text 22">
            <a:extLst>
              <a:ext uri="{FF2B5EF4-FFF2-40B4-BE49-F238E27FC236}">
                <a16:creationId xmlns:a16="http://schemas.microsoft.com/office/drawing/2014/main" id="{8254F57A-1BEA-5461-37C0-5FD942508852}"/>
              </a:ext>
            </a:extLst>
          </p:cNvPr>
          <p:cNvSpPr/>
          <p:nvPr/>
        </p:nvSpPr>
        <p:spPr>
          <a:xfrm>
            <a:off x="1541818" y="1376056"/>
            <a:ext cx="2001481" cy="334184"/>
          </a:xfrm>
          <a:prstGeom prst="rect">
            <a:avLst/>
          </a:prstGeom>
          <a:noFill/>
          <a:ln/>
        </p:spPr>
        <p:txBody>
          <a:bodyPr wrap="square" lIns="0" tIns="0" rIns="0" bIns="0" rtlCol="0" anchor="ctr">
            <a:normAutofit/>
          </a:bodyPr>
          <a:lstStyle/>
          <a:p>
            <a:pPr marL="0" indent="0">
              <a:buNone/>
            </a:pPr>
            <a:r>
              <a:rPr lang="en-US" sz="1120" b="1">
                <a:solidFill>
                  <a:srgbClr val="B00020"/>
                </a:solidFill>
                <a:latin typeface="Arial" pitchFamily="34" charset="0"/>
                <a:ea typeface="Arial" pitchFamily="34" charset="-122"/>
                <a:cs typeface="Arial" pitchFamily="34" charset="-120"/>
              </a:rPr>
              <a:t>Thành viên</a:t>
            </a:r>
            <a:endParaRPr lang="en-US" sz="1120" dirty="0"/>
          </a:p>
        </p:txBody>
      </p:sp>
      <p:sp>
        <p:nvSpPr>
          <p:cNvPr id="92" name="Text 22">
            <a:extLst>
              <a:ext uri="{FF2B5EF4-FFF2-40B4-BE49-F238E27FC236}">
                <a16:creationId xmlns:a16="http://schemas.microsoft.com/office/drawing/2014/main" id="{2FA01A98-EBF0-1F3C-DF18-B44537E8C9AD}"/>
              </a:ext>
            </a:extLst>
          </p:cNvPr>
          <p:cNvSpPr/>
          <p:nvPr/>
        </p:nvSpPr>
        <p:spPr>
          <a:xfrm>
            <a:off x="3939188" y="1376056"/>
            <a:ext cx="1890111" cy="324386"/>
          </a:xfrm>
          <a:prstGeom prst="rect">
            <a:avLst/>
          </a:prstGeom>
          <a:noFill/>
          <a:ln/>
        </p:spPr>
        <p:txBody>
          <a:bodyPr wrap="square" lIns="0" tIns="0" rIns="0" bIns="0" rtlCol="0" anchor="ctr">
            <a:normAutofit/>
          </a:bodyPr>
          <a:lstStyle/>
          <a:p>
            <a:pPr marL="0" indent="0">
              <a:buNone/>
            </a:pPr>
            <a:r>
              <a:rPr lang="en-US" sz="1120" b="1">
                <a:solidFill>
                  <a:srgbClr val="B00020"/>
                </a:solidFill>
                <a:latin typeface="Arial" pitchFamily="34" charset="0"/>
                <a:ea typeface="Arial" pitchFamily="34" charset="-122"/>
                <a:cs typeface="Arial" pitchFamily="34" charset="-120"/>
              </a:rPr>
              <a:t>Vai trò dự án</a:t>
            </a:r>
            <a:endParaRPr lang="en-US" sz="1120" dirty="0"/>
          </a:p>
        </p:txBody>
      </p:sp>
      <p:sp>
        <p:nvSpPr>
          <p:cNvPr id="94" name="Text 22">
            <a:extLst>
              <a:ext uri="{FF2B5EF4-FFF2-40B4-BE49-F238E27FC236}">
                <a16:creationId xmlns:a16="http://schemas.microsoft.com/office/drawing/2014/main" id="{1AE17CD7-D6C2-0AB2-3B1A-167A613B2B24}"/>
              </a:ext>
            </a:extLst>
          </p:cNvPr>
          <p:cNvSpPr/>
          <p:nvPr/>
        </p:nvSpPr>
        <p:spPr>
          <a:xfrm>
            <a:off x="7406639" y="1299325"/>
            <a:ext cx="2240280" cy="481192"/>
          </a:xfrm>
          <a:prstGeom prst="rect">
            <a:avLst/>
          </a:prstGeom>
          <a:noFill/>
          <a:ln/>
        </p:spPr>
        <p:txBody>
          <a:bodyPr wrap="square" lIns="0" tIns="0" rIns="0" bIns="0" rtlCol="0" anchor="ctr">
            <a:normAutofit/>
          </a:bodyPr>
          <a:lstStyle/>
          <a:p>
            <a:pPr marL="0" indent="0">
              <a:buNone/>
            </a:pPr>
            <a:r>
              <a:rPr lang="en-US" sz="1120" b="1">
                <a:solidFill>
                  <a:srgbClr val="B00020"/>
                </a:solidFill>
                <a:latin typeface="Arial" pitchFamily="34" charset="0"/>
                <a:ea typeface="Arial" pitchFamily="34" charset="-122"/>
                <a:cs typeface="Arial" pitchFamily="34" charset="-120"/>
              </a:rPr>
              <a:t>Kế hoạch quản trị phụ trách</a:t>
            </a:r>
            <a:endParaRPr lang="en-US" sz="11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EF"/>
        </a:solidFill>
        <a:effectLst/>
      </p:bgPr>
    </p:bg>
    <p:spTree>
      <p:nvGrpSpPr>
        <p:cNvPr id="1" name=""/>
        <p:cNvGrpSpPr/>
        <p:nvPr/>
      </p:nvGrpSpPr>
      <p:grpSpPr>
        <a:xfrm>
          <a:off x="0" y="0"/>
          <a:ext cx="0" cy="0"/>
          <a:chOff x="0" y="0"/>
          <a:chExt cx="0" cy="0"/>
        </a:xfrm>
      </p:grpSpPr>
      <p:sp>
        <p:nvSpPr>
          <p:cNvPr id="26" name="Shape 17">
            <a:extLst>
              <a:ext uri="{FF2B5EF4-FFF2-40B4-BE49-F238E27FC236}">
                <a16:creationId xmlns:a16="http://schemas.microsoft.com/office/drawing/2014/main" id="{D1FACAC4-DD30-C7C6-EE95-E95C015C5DF8}"/>
              </a:ext>
            </a:extLst>
          </p:cNvPr>
          <p:cNvSpPr/>
          <p:nvPr/>
        </p:nvSpPr>
        <p:spPr>
          <a:xfrm>
            <a:off x="670561" y="1785646"/>
            <a:ext cx="5522224" cy="662984"/>
          </a:xfrm>
          <a:prstGeom prst="roundRect">
            <a:avLst>
              <a:gd name="adj" fmla="val 8333"/>
            </a:avLst>
          </a:prstGeom>
          <a:solidFill>
            <a:srgbClr val="FFFFFF"/>
          </a:solidFill>
          <a:ln w="12700">
            <a:solidFill>
              <a:srgbClr val="E6E0D7"/>
            </a:solidFill>
            <a:prstDash val="solid"/>
          </a:ln>
          <a:effectLst>
            <a:outerShdw blurRad="12700" dist="12700" dir="2700000" algn="bl" rotWithShape="0">
              <a:srgbClr val="000000">
                <a:alpha val="5000"/>
              </a:srgbClr>
            </a:outerShdw>
          </a:effectLst>
        </p:spPr>
        <p:txBody>
          <a:bodyPr/>
          <a:lstStyle/>
          <a:p>
            <a:endParaRPr lang="vi-VN"/>
          </a:p>
        </p:txBody>
      </p:sp>
      <p:sp>
        <p:nvSpPr>
          <p:cNvPr id="22" name="Shape 17">
            <a:extLst>
              <a:ext uri="{FF2B5EF4-FFF2-40B4-BE49-F238E27FC236}">
                <a16:creationId xmlns:a16="http://schemas.microsoft.com/office/drawing/2014/main" id="{B1BB4EE3-A3CA-97A7-6984-4B3F3004AEE0}"/>
              </a:ext>
            </a:extLst>
          </p:cNvPr>
          <p:cNvSpPr/>
          <p:nvPr/>
        </p:nvSpPr>
        <p:spPr>
          <a:xfrm>
            <a:off x="640080" y="3065778"/>
            <a:ext cx="5394960" cy="1430022"/>
          </a:xfrm>
          <a:prstGeom prst="roundRect">
            <a:avLst>
              <a:gd name="adj" fmla="val 8333"/>
            </a:avLst>
          </a:prstGeom>
          <a:solidFill>
            <a:srgbClr val="FFFFFF"/>
          </a:solidFill>
          <a:ln w="12700">
            <a:solidFill>
              <a:srgbClr val="E6E0D7"/>
            </a:solidFill>
            <a:prstDash val="solid"/>
          </a:ln>
          <a:effectLst>
            <a:outerShdw blurRad="12700" dist="12700" dir="2700000" algn="bl" rotWithShape="0">
              <a:srgbClr val="000000">
                <a:alpha val="5000"/>
              </a:srgbClr>
            </a:outerShdw>
          </a:effectLst>
        </p:spPr>
        <p:txBody>
          <a:bodyPr/>
          <a:lstStyle/>
          <a:p>
            <a:endParaRPr lang="vi-VN"/>
          </a:p>
        </p:txBody>
      </p:sp>
      <p:sp>
        <p:nvSpPr>
          <p:cNvPr id="2" name="Shape 0"/>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6" name="Text 4"/>
          <p:cNvSpPr/>
          <p:nvPr/>
        </p:nvSpPr>
        <p:spPr>
          <a:xfrm>
            <a:off x="438912" y="329184"/>
            <a:ext cx="777240" cy="237744"/>
          </a:xfrm>
          <a:prstGeom prst="rect">
            <a:avLst/>
          </a:prstGeom>
          <a:noFill/>
          <a:ln/>
        </p:spPr>
        <p:txBody>
          <a:bodyPr wrap="square" lIns="0" tIns="0" rIns="0" bIns="0" rtlCol="0" anchor="ctr">
            <a:normAutofit/>
          </a:bodyPr>
          <a:lstStyle/>
          <a:p>
            <a:pPr marL="0" indent="0">
              <a:buNone/>
            </a:pPr>
            <a:r>
              <a:rPr lang="en-US" sz="1200" b="1" dirty="0">
                <a:solidFill>
                  <a:srgbClr val="B00020"/>
                </a:solidFill>
                <a:latin typeface="Arial" pitchFamily="34" charset="0"/>
                <a:ea typeface="Arial" pitchFamily="34" charset="-122"/>
                <a:cs typeface="Arial" pitchFamily="34" charset="-120"/>
              </a:rPr>
              <a:t>HUST</a:t>
            </a:r>
            <a:endParaRPr lang="en-US" sz="1200" dirty="0"/>
          </a:p>
        </p:txBody>
      </p:sp>
      <p:sp>
        <p:nvSpPr>
          <p:cNvPr id="7" name="Text 5"/>
          <p:cNvSpPr/>
          <p:nvPr/>
        </p:nvSpPr>
        <p:spPr>
          <a:xfrm>
            <a:off x="5549346" y="6565392"/>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10" name="Text 8"/>
          <p:cNvSpPr/>
          <p:nvPr/>
        </p:nvSpPr>
        <p:spPr>
          <a:xfrm>
            <a:off x="640080" y="658368"/>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II. Tổng </a:t>
            </a:r>
            <a:r>
              <a:rPr lang="en-US" sz="2700" b="1" dirty="0">
                <a:solidFill>
                  <a:srgbClr val="121D33"/>
                </a:solidFill>
                <a:latin typeface="Arial" pitchFamily="34" charset="0"/>
                <a:ea typeface="Arial" pitchFamily="34" charset="-122"/>
                <a:cs typeface="Arial" pitchFamily="34" charset="-120"/>
              </a:rPr>
              <a:t>quan </a:t>
            </a:r>
            <a:r>
              <a:rPr lang="en-US" sz="2700" b="1">
                <a:solidFill>
                  <a:srgbClr val="121D33"/>
                </a:solidFill>
                <a:latin typeface="Arial" pitchFamily="34" charset="0"/>
                <a:ea typeface="Arial" pitchFamily="34" charset="-122"/>
                <a:cs typeface="Arial" pitchFamily="34" charset="-120"/>
              </a:rPr>
              <a:t>dự án</a:t>
            </a:r>
            <a:endParaRPr lang="en-US" sz="2700" dirty="0"/>
          </a:p>
        </p:txBody>
      </p:sp>
      <p:sp>
        <p:nvSpPr>
          <p:cNvPr id="12" name="Shape 10"/>
          <p:cNvSpPr/>
          <p:nvPr/>
        </p:nvSpPr>
        <p:spPr>
          <a:xfrm>
            <a:off x="658368" y="1217971"/>
            <a:ext cx="1920240" cy="0"/>
          </a:xfrm>
          <a:prstGeom prst="line">
            <a:avLst/>
          </a:prstGeom>
          <a:noFill/>
          <a:ln w="25400">
            <a:solidFill>
              <a:srgbClr val="D6A62C"/>
            </a:solidFill>
            <a:prstDash val="solid"/>
          </a:ln>
        </p:spPr>
        <p:txBody>
          <a:bodyPr/>
          <a:lstStyle/>
          <a:p>
            <a:endParaRPr lang="vi-VN"/>
          </a:p>
        </p:txBody>
      </p:sp>
      <p:pic>
        <p:nvPicPr>
          <p:cNvPr id="13" name="Image 0" descr="Phối cảnh tủ Smartbox đặt tại sảnh chung cư"/>
          <p:cNvPicPr>
            <a:picLocks noChangeAspect="1"/>
          </p:cNvPicPr>
          <p:nvPr/>
        </p:nvPicPr>
        <p:blipFill>
          <a:blip r:embed="rId3"/>
          <a:srcRect l="22765" r="22765"/>
          <a:stretch/>
        </p:blipFill>
        <p:spPr>
          <a:xfrm>
            <a:off x="6537960" y="1170432"/>
            <a:ext cx="4956048" cy="5120640"/>
          </a:xfrm>
          <a:prstGeom prst="rect">
            <a:avLst/>
          </a:prstGeom>
        </p:spPr>
      </p:pic>
      <p:sp>
        <p:nvSpPr>
          <p:cNvPr id="14" name="Shape 11"/>
          <p:cNvSpPr/>
          <p:nvPr/>
        </p:nvSpPr>
        <p:spPr>
          <a:xfrm>
            <a:off x="6400800" y="1042416"/>
            <a:ext cx="5212080" cy="5394960"/>
          </a:xfrm>
          <a:prstGeom prst="roundRect">
            <a:avLst>
              <a:gd name="adj" fmla="val 2807"/>
            </a:avLst>
          </a:prstGeom>
          <a:solidFill>
            <a:srgbClr val="FFFFFF">
              <a:alpha val="0"/>
            </a:srgbClr>
          </a:solidFill>
          <a:ln w="13970">
            <a:solidFill>
              <a:srgbClr val="FFFFFF">
                <a:alpha val="60000"/>
              </a:srgbClr>
            </a:solidFill>
            <a:prstDash val="solid"/>
          </a:ln>
        </p:spPr>
        <p:txBody>
          <a:bodyPr/>
          <a:lstStyle/>
          <a:p>
            <a:endParaRPr lang="vi-VN"/>
          </a:p>
        </p:txBody>
      </p:sp>
      <p:sp>
        <p:nvSpPr>
          <p:cNvPr id="15" name="Text 12"/>
          <p:cNvSpPr/>
          <p:nvPr/>
        </p:nvSpPr>
        <p:spPr>
          <a:xfrm>
            <a:off x="666204" y="1391363"/>
            <a:ext cx="1417320" cy="256032"/>
          </a:xfrm>
          <a:prstGeom prst="rect">
            <a:avLst/>
          </a:prstGeom>
          <a:noFill/>
          <a:ln/>
        </p:spPr>
        <p:txBody>
          <a:bodyPr wrap="square" lIns="1016" tIns="1016" rIns="1016" bIns="1016" rtlCol="0" anchor="ctr">
            <a:normAutofit/>
          </a:bodyPr>
          <a:lstStyle/>
          <a:p>
            <a:pPr marL="0" indent="0" algn="l">
              <a:buNone/>
            </a:pPr>
            <a:r>
              <a:rPr lang="en-US" sz="1100" b="1" dirty="0">
                <a:solidFill>
                  <a:srgbClr val="B00020"/>
                </a:solidFill>
                <a:latin typeface="Arial" pitchFamily="34" charset="0"/>
                <a:ea typeface="Arial" pitchFamily="34" charset="-122"/>
                <a:cs typeface="Arial" pitchFamily="34" charset="-120"/>
              </a:rPr>
              <a:t>Tên đề tài</a:t>
            </a:r>
            <a:endParaRPr lang="en-US" sz="1100" dirty="0"/>
          </a:p>
        </p:txBody>
      </p:sp>
      <p:sp>
        <p:nvSpPr>
          <p:cNvPr id="16" name="Text 13"/>
          <p:cNvSpPr/>
          <p:nvPr/>
        </p:nvSpPr>
        <p:spPr>
          <a:xfrm>
            <a:off x="731520" y="1858842"/>
            <a:ext cx="5303520" cy="530352"/>
          </a:xfrm>
          <a:prstGeom prst="rect">
            <a:avLst/>
          </a:prstGeom>
          <a:noFill/>
          <a:ln/>
        </p:spPr>
        <p:txBody>
          <a:bodyPr wrap="square" lIns="1016" tIns="1016" rIns="1016" bIns="1016" rtlCol="0" anchor="ctr">
            <a:normAutofit fontScale="92500"/>
          </a:bodyPr>
          <a:lstStyle/>
          <a:p>
            <a:pPr marL="0" indent="0" algn="l">
              <a:buNone/>
            </a:pPr>
            <a:r>
              <a:rPr lang="en-US" sz="1800" b="1" dirty="0">
                <a:solidFill>
                  <a:srgbClr val="121D33"/>
                </a:solidFill>
                <a:latin typeface="Arial" pitchFamily="34" charset="0"/>
                <a:ea typeface="Arial" pitchFamily="34" charset="-122"/>
                <a:cs typeface="Arial" pitchFamily="34" charset="-120"/>
              </a:rPr>
              <a:t>Phát triển và triển khai </a:t>
            </a:r>
            <a:r>
              <a:rPr lang="en-US" sz="1800" b="1">
                <a:solidFill>
                  <a:srgbClr val="121D33"/>
                </a:solidFill>
                <a:latin typeface="Arial" pitchFamily="34" charset="0"/>
                <a:ea typeface="Arial" pitchFamily="34" charset="-122"/>
                <a:cs typeface="Arial" pitchFamily="34" charset="-120"/>
              </a:rPr>
              <a:t>Hệ thống </a:t>
            </a:r>
            <a:r>
              <a:rPr lang="en-US" sz="1800" b="1" dirty="0">
                <a:solidFill>
                  <a:srgbClr val="121D33"/>
                </a:solidFill>
                <a:latin typeface="Arial" pitchFamily="34" charset="0"/>
                <a:ea typeface="Arial" pitchFamily="34" charset="-122"/>
                <a:cs typeface="Arial" pitchFamily="34" charset="-120"/>
              </a:rPr>
              <a:t>tủ đồ thông minh Smartbox tại KĐT Vinhomes Ocean Park, Gia Lâm</a:t>
            </a:r>
            <a:endParaRPr lang="en-US" sz="1800" dirty="0"/>
          </a:p>
        </p:txBody>
      </p:sp>
      <p:sp>
        <p:nvSpPr>
          <p:cNvPr id="17" name="Text 14"/>
          <p:cNvSpPr/>
          <p:nvPr/>
        </p:nvSpPr>
        <p:spPr>
          <a:xfrm>
            <a:off x="731520" y="2586189"/>
            <a:ext cx="1417320" cy="256032"/>
          </a:xfrm>
          <a:prstGeom prst="rect">
            <a:avLst/>
          </a:prstGeom>
          <a:noFill/>
          <a:ln/>
        </p:spPr>
        <p:txBody>
          <a:bodyPr wrap="square" lIns="1016" tIns="1016" rIns="1016" bIns="1016" rtlCol="0" anchor="ctr">
            <a:normAutofit/>
          </a:bodyPr>
          <a:lstStyle/>
          <a:p>
            <a:pPr marL="0" indent="0" algn="l">
              <a:buNone/>
            </a:pPr>
            <a:r>
              <a:rPr lang="en-US" sz="1100" b="1" dirty="0">
                <a:solidFill>
                  <a:srgbClr val="B00020"/>
                </a:solidFill>
                <a:latin typeface="Arial" pitchFamily="34" charset="0"/>
                <a:ea typeface="Arial" pitchFamily="34" charset="-122"/>
                <a:cs typeface="Arial" pitchFamily="34" charset="-120"/>
              </a:rPr>
              <a:t>Mục tiêu</a:t>
            </a:r>
            <a:endParaRPr lang="en-US" sz="1100" dirty="0"/>
          </a:p>
        </p:txBody>
      </p:sp>
      <p:sp>
        <p:nvSpPr>
          <p:cNvPr id="18" name="Text 15"/>
          <p:cNvSpPr/>
          <p:nvPr/>
        </p:nvSpPr>
        <p:spPr>
          <a:xfrm>
            <a:off x="731520" y="3162324"/>
            <a:ext cx="5303520" cy="1236259"/>
          </a:xfrm>
          <a:prstGeom prst="rect">
            <a:avLst/>
          </a:prstGeom>
          <a:noFill/>
          <a:ln/>
        </p:spPr>
        <p:txBody>
          <a:bodyPr wrap="square" lIns="1016" tIns="1016" rIns="1016" bIns="1016" rtlCol="0" anchor="ctr">
            <a:normAutofit lnSpcReduction="10000"/>
          </a:bodyPr>
          <a:lstStyle/>
          <a:p>
            <a:pPr marL="0" indent="0" algn="l">
              <a:buNone/>
            </a:pPr>
            <a:r>
              <a:rPr lang="vi-VN" sz="1400">
                <a:solidFill>
                  <a:srgbClr val="252B33"/>
                </a:solidFill>
                <a:latin typeface="Arial" pitchFamily="34" charset="0"/>
                <a:ea typeface="Arial" pitchFamily="34" charset="-122"/>
                <a:cs typeface="Arial" pitchFamily="34" charset="-120"/>
              </a:rPr>
              <a:t>- Về mục tiêu, hệ thống phải mô phỏng được hai nhóm nghiệp vụ chính: thứ nhất là giao–nhận hàng tự phục vụ; thứ hai là thuê ngăn cá nhân.</a:t>
            </a:r>
          </a:p>
          <a:p>
            <a:pPr marL="0" indent="0" algn="l">
              <a:buNone/>
            </a:pPr>
            <a:r>
              <a:rPr lang="vi-VN" sz="1400">
                <a:solidFill>
                  <a:srgbClr val="252B33"/>
                </a:solidFill>
                <a:latin typeface="Arial" pitchFamily="34" charset="0"/>
                <a:ea typeface="Arial" pitchFamily="34" charset="-122"/>
                <a:cs typeface="Arial" pitchFamily="34" charset="-120"/>
              </a:rPr>
              <a:t>- Xung quanh hai nghiệp vụ đó, hệ thống phải quản lý người dùng, trạm tủ, loại ngăn, từng ngăn tủ, giao dịch, OTP hoặc QR, COD, phí dịch vụ, phí quá hạn và thanh toán mô phỏng.</a:t>
            </a:r>
            <a:endParaRPr lang="vi-VN" sz="1400" dirty="0">
              <a:solidFill>
                <a:srgbClr val="252B33"/>
              </a:solidFill>
              <a:latin typeface="Arial" pitchFamily="34" charset="0"/>
              <a:ea typeface="Arial" pitchFamily="34" charset="-122"/>
              <a:cs typeface="Arial" pitchFamily="34" charset="-120"/>
            </a:endParaRPr>
          </a:p>
        </p:txBody>
      </p:sp>
      <p:sp>
        <p:nvSpPr>
          <p:cNvPr id="19" name="Text 16"/>
          <p:cNvSpPr/>
          <p:nvPr/>
        </p:nvSpPr>
        <p:spPr>
          <a:xfrm>
            <a:off x="731520" y="4466947"/>
            <a:ext cx="1691640" cy="256032"/>
          </a:xfrm>
          <a:prstGeom prst="rect">
            <a:avLst/>
          </a:prstGeom>
          <a:noFill/>
          <a:ln/>
        </p:spPr>
        <p:txBody>
          <a:bodyPr wrap="square" lIns="1016" tIns="1016" rIns="1016" bIns="1016" rtlCol="0" anchor="ctr">
            <a:normAutofit/>
          </a:bodyPr>
          <a:lstStyle/>
          <a:p>
            <a:pPr marL="0" indent="0" algn="l">
              <a:buNone/>
            </a:pPr>
            <a:r>
              <a:rPr lang="en-US" sz="1100" b="1">
                <a:solidFill>
                  <a:srgbClr val="B00020"/>
                </a:solidFill>
                <a:latin typeface="Arial" pitchFamily="34" charset="0"/>
                <a:ea typeface="Arial" pitchFamily="34" charset="-122"/>
                <a:cs typeface="Arial" pitchFamily="34" charset="-120"/>
              </a:rPr>
              <a:t>Phạm vi</a:t>
            </a:r>
            <a:endParaRPr lang="en-US" sz="1100" dirty="0"/>
          </a:p>
        </p:txBody>
      </p:sp>
      <p:sp>
        <p:nvSpPr>
          <p:cNvPr id="20" name="Shape 17"/>
          <p:cNvSpPr/>
          <p:nvPr/>
        </p:nvSpPr>
        <p:spPr>
          <a:xfrm>
            <a:off x="693419" y="4885511"/>
            <a:ext cx="5120640" cy="1236260"/>
          </a:xfrm>
          <a:prstGeom prst="roundRect">
            <a:avLst>
              <a:gd name="adj" fmla="val 8333"/>
            </a:avLst>
          </a:prstGeom>
          <a:solidFill>
            <a:srgbClr val="FFFFFF"/>
          </a:solidFill>
          <a:ln w="12700">
            <a:solidFill>
              <a:srgbClr val="E6E0D7"/>
            </a:solidFill>
            <a:prstDash val="solid"/>
          </a:ln>
          <a:effectLst>
            <a:outerShdw blurRad="12700" dist="12700" dir="2700000" algn="bl" rotWithShape="0">
              <a:srgbClr val="000000">
                <a:alpha val="5000"/>
              </a:srgbClr>
            </a:outerShdw>
          </a:effectLst>
        </p:spPr>
        <p:txBody>
          <a:bodyPr/>
          <a:lstStyle/>
          <a:p>
            <a:endParaRPr lang="vi-VN"/>
          </a:p>
        </p:txBody>
      </p:sp>
      <p:sp>
        <p:nvSpPr>
          <p:cNvPr id="24" name="Text 15">
            <a:extLst>
              <a:ext uri="{FF2B5EF4-FFF2-40B4-BE49-F238E27FC236}">
                <a16:creationId xmlns:a16="http://schemas.microsoft.com/office/drawing/2014/main" id="{2F59E779-C069-DDCD-9BE9-89BB1E442A98}"/>
              </a:ext>
            </a:extLst>
          </p:cNvPr>
          <p:cNvSpPr/>
          <p:nvPr/>
        </p:nvSpPr>
        <p:spPr>
          <a:xfrm>
            <a:off x="752855" y="4789499"/>
            <a:ext cx="5120640" cy="1380744"/>
          </a:xfrm>
          <a:prstGeom prst="rect">
            <a:avLst/>
          </a:prstGeom>
          <a:noFill/>
          <a:ln/>
        </p:spPr>
        <p:txBody>
          <a:bodyPr wrap="square" lIns="1016" tIns="1016" rIns="1016" bIns="1016" rtlCol="0" anchor="ctr">
            <a:normAutofit/>
          </a:bodyPr>
          <a:lstStyle/>
          <a:p>
            <a:pPr marL="0" indent="0" algn="l">
              <a:buNone/>
            </a:pPr>
            <a:r>
              <a:rPr lang="vi-VN" sz="1400">
                <a:solidFill>
                  <a:srgbClr val="252B33"/>
                </a:solidFill>
                <a:latin typeface="Arial" pitchFamily="34" charset="0"/>
                <a:ea typeface="Arial" pitchFamily="34" charset="-122"/>
                <a:cs typeface="Arial" pitchFamily="34" charset="-120"/>
              </a:rPr>
              <a:t>Khảo sát - phân tích - thiết kế - phát triển phần mềm/CSDL; mô phỏng OTP/QR, thanh toán và trạng thái tủ; </a:t>
            </a:r>
          </a:p>
          <a:p>
            <a:pPr marL="0" indent="0" algn="l">
              <a:buNone/>
            </a:pPr>
            <a:r>
              <a:rPr lang="vi-VN" sz="1400">
                <a:solidFill>
                  <a:srgbClr val="252B33"/>
                </a:solidFill>
                <a:latin typeface="Arial" pitchFamily="34" charset="0"/>
                <a:ea typeface="Arial" pitchFamily="34" charset="-122"/>
                <a:cs typeface="Arial" pitchFamily="34" charset="-120"/>
              </a:rPr>
              <a:t>- Kiểm thử; triển khai demo, nghiệm thu và hồ sơ quản trị dự án.</a:t>
            </a:r>
            <a:endParaRPr lang="vi-VN" sz="1400" dirty="0">
              <a:solidFill>
                <a:srgbClr val="252B33"/>
              </a:solidFill>
              <a:latin typeface="Arial" pitchFamily="34" charset="0"/>
              <a:ea typeface="Arial" pitchFamily="34" charset="-122"/>
              <a:cs typeface="Arial" pitchFamily="34" charset="-120"/>
            </a:endParaRPr>
          </a:p>
        </p:txBody>
      </p:sp>
      <p:sp>
        <p:nvSpPr>
          <p:cNvPr id="28" name="Shape 10">
            <a:extLst>
              <a:ext uri="{FF2B5EF4-FFF2-40B4-BE49-F238E27FC236}">
                <a16:creationId xmlns:a16="http://schemas.microsoft.com/office/drawing/2014/main" id="{F305EC3A-7339-45A4-1893-B893CAB6702A}"/>
              </a:ext>
            </a:extLst>
          </p:cNvPr>
          <p:cNvSpPr/>
          <p:nvPr/>
        </p:nvSpPr>
        <p:spPr>
          <a:xfrm>
            <a:off x="693419" y="1716925"/>
            <a:ext cx="645524" cy="0"/>
          </a:xfrm>
          <a:prstGeom prst="line">
            <a:avLst/>
          </a:prstGeom>
          <a:noFill/>
          <a:ln w="25400">
            <a:solidFill>
              <a:srgbClr val="D6A62C"/>
            </a:solidFill>
            <a:prstDash val="solid"/>
          </a:ln>
        </p:spPr>
        <p:txBody>
          <a:bodyPr/>
          <a:lstStyle/>
          <a:p>
            <a:endParaRPr lang="vi-VN"/>
          </a:p>
        </p:txBody>
      </p:sp>
      <p:sp>
        <p:nvSpPr>
          <p:cNvPr id="30" name="Shape 10">
            <a:extLst>
              <a:ext uri="{FF2B5EF4-FFF2-40B4-BE49-F238E27FC236}">
                <a16:creationId xmlns:a16="http://schemas.microsoft.com/office/drawing/2014/main" id="{0EB3AC22-B71C-55EE-DCF1-25B5325819BC}"/>
              </a:ext>
            </a:extLst>
          </p:cNvPr>
          <p:cNvSpPr/>
          <p:nvPr/>
        </p:nvSpPr>
        <p:spPr>
          <a:xfrm>
            <a:off x="693419" y="2855532"/>
            <a:ext cx="645524" cy="0"/>
          </a:xfrm>
          <a:prstGeom prst="line">
            <a:avLst/>
          </a:prstGeom>
          <a:noFill/>
          <a:ln w="25400">
            <a:solidFill>
              <a:srgbClr val="D6A62C"/>
            </a:solidFill>
            <a:prstDash val="solid"/>
          </a:ln>
        </p:spPr>
        <p:txBody>
          <a:bodyPr/>
          <a:lstStyle/>
          <a:p>
            <a:endParaRPr lang="vi-VN"/>
          </a:p>
        </p:txBody>
      </p:sp>
      <p:sp>
        <p:nvSpPr>
          <p:cNvPr id="32" name="Shape 10">
            <a:extLst>
              <a:ext uri="{FF2B5EF4-FFF2-40B4-BE49-F238E27FC236}">
                <a16:creationId xmlns:a16="http://schemas.microsoft.com/office/drawing/2014/main" id="{047B9197-20D1-A0FA-42B4-F20161DDD473}"/>
              </a:ext>
            </a:extLst>
          </p:cNvPr>
          <p:cNvSpPr/>
          <p:nvPr/>
        </p:nvSpPr>
        <p:spPr>
          <a:xfrm>
            <a:off x="693419" y="4749775"/>
            <a:ext cx="645524" cy="0"/>
          </a:xfrm>
          <a:prstGeom prst="line">
            <a:avLst/>
          </a:prstGeom>
          <a:noFill/>
          <a:ln w="25400">
            <a:solidFill>
              <a:srgbClr val="D6A62C"/>
            </a:solidFill>
            <a:prstDash val="solid"/>
          </a:ln>
        </p:spPr>
        <p:txBody>
          <a:bodyPr/>
          <a:lstStyle/>
          <a:p>
            <a:endParaRPr lang="vi-V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8F5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8" name="Text 6"/>
          <p:cNvSpPr/>
          <p:nvPr/>
        </p:nvSpPr>
        <p:spPr>
          <a:xfrm>
            <a:off x="5120640" y="6510528"/>
            <a:ext cx="2011680" cy="164592"/>
          </a:xfrm>
          <a:prstGeom prst="rect">
            <a:avLst/>
          </a:prstGeom>
          <a:noFill/>
          <a:ln/>
        </p:spPr>
        <p:txBody>
          <a:bodyPr wrap="square" lIns="0" tIns="0" rIns="0" bIns="0" rtlCol="0" anchor="ctr">
            <a:normAutofit/>
          </a:bodyPr>
          <a:lstStyle/>
          <a:p>
            <a:pPr marL="0" indent="0" algn="ctr">
              <a:buNone/>
            </a:pPr>
            <a:r>
              <a:rPr lang="en-US" sz="750" dirty="0">
                <a:solidFill>
                  <a:srgbClr val="8C8C8C"/>
                </a:solidFill>
                <a:latin typeface="Arial" pitchFamily="34" charset="0"/>
                <a:ea typeface="Arial" pitchFamily="34" charset="-122"/>
                <a:cs typeface="Arial" pitchFamily="34" charset="-120"/>
              </a:rPr>
              <a:t>Báo cáo thuyết trình</a:t>
            </a:r>
            <a:endParaRPr lang="en-US" sz="750" dirty="0"/>
          </a:p>
        </p:txBody>
      </p:sp>
      <p:sp>
        <p:nvSpPr>
          <p:cNvPr id="10" name="Text 8"/>
          <p:cNvSpPr/>
          <p:nvPr/>
        </p:nvSpPr>
        <p:spPr>
          <a:xfrm>
            <a:off x="640080" y="429765"/>
            <a:ext cx="6400800" cy="402336"/>
          </a:xfrm>
          <a:prstGeom prst="rect">
            <a:avLst/>
          </a:prstGeom>
          <a:noFill/>
          <a:ln/>
        </p:spPr>
        <p:txBody>
          <a:bodyPr wrap="square" lIns="0" tIns="0" rIns="0" bIns="0" rtlCol="0" anchor="ctr">
            <a:normAutofit lnSpcReduction="10000"/>
          </a:bodyPr>
          <a:lstStyle/>
          <a:p>
            <a:r>
              <a:rPr lang="en-US" sz="2700" b="1">
                <a:solidFill>
                  <a:srgbClr val="121D33"/>
                </a:solidFill>
                <a:latin typeface="Arial" pitchFamily="34" charset="0"/>
                <a:ea typeface="Arial" pitchFamily="34" charset="-122"/>
                <a:cs typeface="Arial" pitchFamily="34" charset="-120"/>
              </a:rPr>
              <a:t>II. Tổng quan dự án Smartbox</a:t>
            </a:r>
            <a:endParaRPr lang="en-US" sz="2700" dirty="0"/>
          </a:p>
        </p:txBody>
      </p:sp>
      <p:sp>
        <p:nvSpPr>
          <p:cNvPr id="12" name="Shape 10"/>
          <p:cNvSpPr/>
          <p:nvPr/>
        </p:nvSpPr>
        <p:spPr>
          <a:xfrm>
            <a:off x="658368" y="1417320"/>
            <a:ext cx="860189" cy="0"/>
          </a:xfrm>
          <a:prstGeom prst="line">
            <a:avLst/>
          </a:prstGeom>
          <a:noFill/>
          <a:ln w="25400">
            <a:solidFill>
              <a:srgbClr val="D6A62C"/>
            </a:solidFill>
            <a:prstDash val="solid"/>
          </a:ln>
        </p:spPr>
        <p:txBody>
          <a:bodyPr/>
          <a:lstStyle/>
          <a:p>
            <a:endParaRPr lang="vi-VN"/>
          </a:p>
        </p:txBody>
      </p:sp>
      <p:sp>
        <p:nvSpPr>
          <p:cNvPr id="46" name="Text 14">
            <a:extLst>
              <a:ext uri="{FF2B5EF4-FFF2-40B4-BE49-F238E27FC236}">
                <a16:creationId xmlns:a16="http://schemas.microsoft.com/office/drawing/2014/main" id="{5C6D292B-1FBC-A273-C03D-B932A43454B1}"/>
              </a:ext>
            </a:extLst>
          </p:cNvPr>
          <p:cNvSpPr/>
          <p:nvPr/>
        </p:nvSpPr>
        <p:spPr>
          <a:xfrm>
            <a:off x="658368" y="1088136"/>
            <a:ext cx="2068306" cy="320040"/>
          </a:xfrm>
          <a:prstGeom prst="rect">
            <a:avLst/>
          </a:prstGeom>
          <a:noFill/>
          <a:ln/>
        </p:spPr>
        <p:txBody>
          <a:bodyPr wrap="square" lIns="1016" tIns="1016" rIns="1016" bIns="1016" rtlCol="0" anchor="ctr">
            <a:normAutofit/>
          </a:bodyPr>
          <a:lstStyle/>
          <a:p>
            <a:pPr marL="0" indent="0" algn="l">
              <a:buNone/>
            </a:pPr>
            <a:r>
              <a:rPr lang="en-US" sz="1400" b="1">
                <a:solidFill>
                  <a:srgbClr val="B00020"/>
                </a:solidFill>
                <a:latin typeface="Arial" pitchFamily="34" charset="0"/>
                <a:cs typeface="Arial" pitchFamily="34" charset="-120"/>
              </a:rPr>
              <a:t>Vòng đời</a:t>
            </a:r>
            <a:endParaRPr lang="en-US" sz="1400" dirty="0"/>
          </a:p>
        </p:txBody>
      </p:sp>
      <p:sp>
        <p:nvSpPr>
          <p:cNvPr id="48" name="Shape 10">
            <a:extLst>
              <a:ext uri="{FF2B5EF4-FFF2-40B4-BE49-F238E27FC236}">
                <a16:creationId xmlns:a16="http://schemas.microsoft.com/office/drawing/2014/main" id="{2A322FBB-07C6-B081-6770-D54DDD51B813}"/>
              </a:ext>
            </a:extLst>
          </p:cNvPr>
          <p:cNvSpPr/>
          <p:nvPr/>
        </p:nvSpPr>
        <p:spPr>
          <a:xfrm>
            <a:off x="806434" y="3989467"/>
            <a:ext cx="812054" cy="0"/>
          </a:xfrm>
          <a:prstGeom prst="line">
            <a:avLst/>
          </a:prstGeom>
          <a:noFill/>
          <a:ln w="25400">
            <a:solidFill>
              <a:srgbClr val="D6A62C"/>
            </a:solidFill>
            <a:prstDash val="solid"/>
          </a:ln>
        </p:spPr>
        <p:txBody>
          <a:bodyPr/>
          <a:lstStyle/>
          <a:p>
            <a:endParaRPr lang="vi-VN"/>
          </a:p>
        </p:txBody>
      </p:sp>
      <p:sp>
        <p:nvSpPr>
          <p:cNvPr id="50" name="Text 14">
            <a:extLst>
              <a:ext uri="{FF2B5EF4-FFF2-40B4-BE49-F238E27FC236}">
                <a16:creationId xmlns:a16="http://schemas.microsoft.com/office/drawing/2014/main" id="{8687364D-3D53-84CE-A4B6-E59093300BF5}"/>
              </a:ext>
            </a:extLst>
          </p:cNvPr>
          <p:cNvSpPr/>
          <p:nvPr/>
        </p:nvSpPr>
        <p:spPr>
          <a:xfrm>
            <a:off x="806433" y="3616515"/>
            <a:ext cx="1980309" cy="347473"/>
          </a:xfrm>
          <a:prstGeom prst="rect">
            <a:avLst/>
          </a:prstGeom>
          <a:noFill/>
          <a:ln/>
        </p:spPr>
        <p:txBody>
          <a:bodyPr wrap="square" lIns="1016" tIns="1016" rIns="1016" bIns="1016" rtlCol="0" anchor="ctr">
            <a:normAutofit/>
          </a:bodyPr>
          <a:lstStyle/>
          <a:p>
            <a:pPr marL="0" indent="0" algn="l">
              <a:buNone/>
            </a:pPr>
            <a:r>
              <a:rPr lang="en-US" sz="1400" b="1">
                <a:solidFill>
                  <a:srgbClr val="B00020"/>
                </a:solidFill>
                <a:latin typeface="Arial" pitchFamily="34" charset="0"/>
                <a:cs typeface="Arial" pitchFamily="34" charset="-120"/>
              </a:rPr>
              <a:t>Kinh phí</a:t>
            </a:r>
            <a:endParaRPr lang="en-US" sz="1400" dirty="0"/>
          </a:p>
        </p:txBody>
      </p:sp>
      <p:pic>
        <p:nvPicPr>
          <p:cNvPr id="51" name="Picture 2">
            <a:extLst>
              <a:ext uri="{FF2B5EF4-FFF2-40B4-BE49-F238E27FC236}">
                <a16:creationId xmlns:a16="http://schemas.microsoft.com/office/drawing/2014/main" id="{04309FC7-6068-515E-0846-3752CC67C4FB}"/>
              </a:ext>
            </a:extLst>
          </p:cNvPr>
          <p:cNvPicPr>
            <a:picLocks noChangeAspect="1"/>
          </p:cNvPicPr>
          <p:nvPr/>
        </p:nvPicPr>
        <p:blipFill>
          <a:blip r:embed="rId3"/>
          <a:stretch>
            <a:fillRect/>
          </a:stretch>
        </p:blipFill>
        <p:spPr>
          <a:xfrm>
            <a:off x="1618488" y="1554137"/>
            <a:ext cx="8068120" cy="2076255"/>
          </a:xfrm>
          <a:prstGeom prst="rect">
            <a:avLst/>
          </a:prstGeom>
        </p:spPr>
      </p:pic>
      <p:graphicFrame>
        <p:nvGraphicFramePr>
          <p:cNvPr id="52" name="Bảng 51">
            <a:extLst>
              <a:ext uri="{FF2B5EF4-FFF2-40B4-BE49-F238E27FC236}">
                <a16:creationId xmlns:a16="http://schemas.microsoft.com/office/drawing/2014/main" id="{72DDC85D-4BAD-0756-F380-8A2ED224A0B6}"/>
              </a:ext>
            </a:extLst>
          </p:cNvPr>
          <p:cNvGraphicFramePr>
            <a:graphicFrameLocks noGrp="1"/>
          </p:cNvGraphicFramePr>
          <p:nvPr>
            <p:extLst>
              <p:ext uri="{D42A27DB-BD31-4B8C-83A1-F6EECF244321}">
                <p14:modId xmlns:p14="http://schemas.microsoft.com/office/powerpoint/2010/main" val="3423456391"/>
              </p:ext>
            </p:extLst>
          </p:nvPr>
        </p:nvGraphicFramePr>
        <p:xfrm>
          <a:off x="1627414" y="4075786"/>
          <a:ext cx="8047220" cy="2380891"/>
        </p:xfrm>
        <a:graphic>
          <a:graphicData uri="http://schemas.openxmlformats.org/drawingml/2006/table">
            <a:tbl>
              <a:tblPr firstRow="1" firstCol="1" bandRow="1"/>
              <a:tblGrid>
                <a:gridCol w="1834243">
                  <a:extLst>
                    <a:ext uri="{9D8B030D-6E8A-4147-A177-3AD203B41FA5}">
                      <a16:colId xmlns:a16="http://schemas.microsoft.com/office/drawing/2014/main" val="3190873783"/>
                    </a:ext>
                  </a:extLst>
                </a:gridCol>
                <a:gridCol w="1562100">
                  <a:extLst>
                    <a:ext uri="{9D8B030D-6E8A-4147-A177-3AD203B41FA5}">
                      <a16:colId xmlns:a16="http://schemas.microsoft.com/office/drawing/2014/main" val="3706397466"/>
                    </a:ext>
                  </a:extLst>
                </a:gridCol>
                <a:gridCol w="1268186">
                  <a:extLst>
                    <a:ext uri="{9D8B030D-6E8A-4147-A177-3AD203B41FA5}">
                      <a16:colId xmlns:a16="http://schemas.microsoft.com/office/drawing/2014/main" val="3508121677"/>
                    </a:ext>
                  </a:extLst>
                </a:gridCol>
                <a:gridCol w="3382691">
                  <a:extLst>
                    <a:ext uri="{9D8B030D-6E8A-4147-A177-3AD203B41FA5}">
                      <a16:colId xmlns:a16="http://schemas.microsoft.com/office/drawing/2014/main" val="765269487"/>
                    </a:ext>
                  </a:extLst>
                </a:gridCol>
              </a:tblGrid>
              <a:tr h="286736">
                <a:tc>
                  <a:txBody>
                    <a:bodyPr/>
                    <a:lstStyle/>
                    <a:p>
                      <a:pPr algn="ctr">
                        <a:lnSpc>
                          <a:spcPct val="122000"/>
                        </a:lnSpc>
                        <a:spcAft>
                          <a:spcPts val="400"/>
                        </a:spcAft>
                        <a:buNone/>
                      </a:pPr>
                      <a:r>
                        <a:rPr lang="en-US" sz="1200" b="1">
                          <a:solidFill>
                            <a:srgbClr val="000000"/>
                          </a:solidFill>
                          <a:effectLst/>
                          <a:latin typeface="+mj-lt"/>
                          <a:ea typeface="Times New Roman" panose="02020603050405020304" pitchFamily="18" charset="0"/>
                          <a:cs typeface="Times New Roman" panose="02020603050405020304" pitchFamily="18" charset="0"/>
                        </a:rPr>
                        <a:t>Nhóm chi phí</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22000"/>
                        </a:lnSpc>
                        <a:spcAft>
                          <a:spcPts val="400"/>
                        </a:spcAft>
                        <a:buNone/>
                      </a:pPr>
                      <a:r>
                        <a:rPr lang="en-US" sz="1200" b="1">
                          <a:solidFill>
                            <a:srgbClr val="000000"/>
                          </a:solidFill>
                          <a:effectLst/>
                          <a:latin typeface="+mj-lt"/>
                          <a:ea typeface="Times New Roman" panose="02020603050405020304" pitchFamily="18" charset="0"/>
                          <a:cs typeface="Times New Roman" panose="02020603050405020304" pitchFamily="18" charset="0"/>
                        </a:rPr>
                        <a:t>Giá trị (triệu đồng)</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22000"/>
                        </a:lnSpc>
                        <a:spcAft>
                          <a:spcPts val="400"/>
                        </a:spcAft>
                        <a:buNone/>
                      </a:pPr>
                      <a:r>
                        <a:rPr lang="en-US" sz="1200" b="1">
                          <a:solidFill>
                            <a:srgbClr val="000000"/>
                          </a:solidFill>
                          <a:effectLst/>
                          <a:latin typeface="+mj-lt"/>
                          <a:ea typeface="Times New Roman" panose="02020603050405020304" pitchFamily="18" charset="0"/>
                          <a:cs typeface="Times New Roman" panose="02020603050405020304" pitchFamily="18" charset="0"/>
                        </a:rPr>
                        <a:t>Tỷ trọng</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22000"/>
                        </a:lnSpc>
                        <a:spcAft>
                          <a:spcPts val="400"/>
                        </a:spcAft>
                        <a:buNone/>
                      </a:pPr>
                      <a:r>
                        <a:rPr lang="en-US" sz="1200" b="1">
                          <a:solidFill>
                            <a:srgbClr val="000000"/>
                          </a:solidFill>
                          <a:effectLst/>
                          <a:latin typeface="+mj-lt"/>
                          <a:ea typeface="Times New Roman" panose="02020603050405020304" pitchFamily="18" charset="0"/>
                          <a:cs typeface="Times New Roman" panose="02020603050405020304" pitchFamily="18" charset="0"/>
                        </a:rPr>
                        <a:t>Cơ sở</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201421164"/>
                  </a:ext>
                </a:extLst>
              </a:tr>
              <a:tr h="328071">
                <a:tc>
                  <a:txBody>
                    <a:bodyPr/>
                    <a:lstStyle/>
                    <a:p>
                      <a:pPr algn="ctr">
                        <a:lnSpc>
                          <a:spcPct val="105000"/>
                        </a:lnSpc>
                        <a:spcAft>
                          <a:spcPts val="400"/>
                        </a:spcAft>
                        <a:buNone/>
                      </a:pPr>
                      <a:r>
                        <a:rPr lang="en-US" sz="1200">
                          <a:solidFill>
                            <a:srgbClr val="000000"/>
                          </a:solidFill>
                          <a:effectLst/>
                          <a:latin typeface="+mj-lt"/>
                          <a:ea typeface="Times New Roman" panose="02020603050405020304" pitchFamily="18" charset="0"/>
                          <a:cs typeface="Times New Roman" panose="02020603050405020304" pitchFamily="18" charset="0"/>
                        </a:rPr>
                        <a:t>Nhân công</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mj-lt"/>
                          <a:ea typeface="Times New Roman" panose="02020603050405020304" pitchFamily="18" charset="0"/>
                          <a:cs typeface="Times New Roman" panose="02020603050405020304" pitchFamily="18" charset="0"/>
                        </a:rPr>
                        <a:t>250,0</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mj-lt"/>
                          <a:ea typeface="Times New Roman" panose="02020603050405020304" pitchFamily="18" charset="0"/>
                          <a:cs typeface="Times New Roman" panose="02020603050405020304" pitchFamily="18" charset="0"/>
                        </a:rPr>
                        <a:t>25,0%</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mj-lt"/>
                          <a:ea typeface="Times New Roman" panose="02020603050405020304" pitchFamily="18" charset="0"/>
                          <a:cs typeface="Times New Roman" panose="02020603050405020304" pitchFamily="18" charset="0"/>
                        </a:rPr>
                        <a:t>Phân bổ theo tỷ trọng 190,85 ngày công của 19 gói WBS</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138122828"/>
                  </a:ext>
                </a:extLst>
              </a:tr>
              <a:tr h="477235">
                <a:tc>
                  <a:txBody>
                    <a:bodyPr/>
                    <a:lstStyle/>
                    <a:p>
                      <a:pPr algn="ctr">
                        <a:lnSpc>
                          <a:spcPct val="105000"/>
                        </a:lnSpc>
                        <a:spcAft>
                          <a:spcPts val="400"/>
                        </a:spcAft>
                        <a:buNone/>
                      </a:pPr>
                      <a:r>
                        <a:rPr lang="en-US" sz="1200">
                          <a:solidFill>
                            <a:srgbClr val="000000"/>
                          </a:solidFill>
                          <a:effectLst/>
                          <a:latin typeface="+mj-lt"/>
                          <a:ea typeface="Times New Roman" panose="02020603050405020304" pitchFamily="18" charset="0"/>
                          <a:cs typeface="Times New Roman" panose="02020603050405020304" pitchFamily="18" charset="0"/>
                        </a:rPr>
                        <a:t>Hạ tầng/thiết bị demo</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mj-lt"/>
                          <a:ea typeface="Times New Roman" panose="02020603050405020304" pitchFamily="18" charset="0"/>
                          <a:cs typeface="Times New Roman" panose="02020603050405020304" pitchFamily="18" charset="0"/>
                        </a:rPr>
                        <a:t>300,0</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mj-lt"/>
                          <a:ea typeface="Times New Roman" panose="02020603050405020304" pitchFamily="18" charset="0"/>
                          <a:cs typeface="Times New Roman" panose="02020603050405020304" pitchFamily="18" charset="0"/>
                        </a:rPr>
                        <a:t>30,0%</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mj-lt"/>
                          <a:ea typeface="Times New Roman" panose="02020603050405020304" pitchFamily="18" charset="0"/>
                          <a:cs typeface="Times New Roman" panose="02020603050405020304" pitchFamily="18" charset="0"/>
                        </a:rPr>
                        <a:t>Cloud/VPS, dịch vụ CSDL/API, IoT mock, mạng/lưu trữ, QR/thiết bị demo, công cụ test</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1821541271"/>
                  </a:ext>
                </a:extLst>
              </a:tr>
              <a:tr h="477235">
                <a:tc>
                  <a:txBody>
                    <a:bodyPr/>
                    <a:lstStyle/>
                    <a:p>
                      <a:pPr algn="ctr">
                        <a:lnSpc>
                          <a:spcPct val="105000"/>
                        </a:lnSpc>
                        <a:spcAft>
                          <a:spcPts val="400"/>
                        </a:spcAft>
                        <a:buNone/>
                      </a:pPr>
                      <a:r>
                        <a:rPr lang="en-US" sz="1200">
                          <a:solidFill>
                            <a:srgbClr val="000000"/>
                          </a:solidFill>
                          <a:effectLst/>
                          <a:latin typeface="+mj-lt"/>
                          <a:ea typeface="Times New Roman" panose="02020603050405020304" pitchFamily="18" charset="0"/>
                          <a:cs typeface="Times New Roman" panose="02020603050405020304" pitchFamily="18" charset="0"/>
                        </a:rPr>
                        <a:t>Chi khác</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mj-lt"/>
                          <a:ea typeface="Times New Roman" panose="02020603050405020304" pitchFamily="18" charset="0"/>
                          <a:cs typeface="Times New Roman" panose="02020603050405020304" pitchFamily="18" charset="0"/>
                        </a:rPr>
                        <a:t>400,0</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mj-lt"/>
                          <a:ea typeface="Times New Roman" panose="02020603050405020304" pitchFamily="18" charset="0"/>
                          <a:cs typeface="Times New Roman" panose="02020603050405020304" pitchFamily="18" charset="0"/>
                        </a:rPr>
                        <a:t>40,0%</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mj-lt"/>
                          <a:ea typeface="Times New Roman" panose="02020603050405020304" pitchFamily="18" charset="0"/>
                          <a:cs typeface="Times New Roman" panose="02020603050405020304" pitchFamily="18" charset="0"/>
                        </a:rPr>
                        <a:t>Khảo sát, mô hình hóa, UX/prototype, hỗ trợ tích hợp, kiểm thử chuyên sâu, demo, tài liệu</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3837736592"/>
                  </a:ext>
                </a:extLst>
              </a:tr>
              <a:tr h="328071">
                <a:tc>
                  <a:txBody>
                    <a:bodyPr/>
                    <a:lstStyle/>
                    <a:p>
                      <a:pPr algn="ctr">
                        <a:lnSpc>
                          <a:spcPct val="105000"/>
                        </a:lnSpc>
                        <a:spcAft>
                          <a:spcPts val="400"/>
                        </a:spcAft>
                        <a:buNone/>
                      </a:pPr>
                      <a:r>
                        <a:rPr lang="en-US" sz="1200">
                          <a:solidFill>
                            <a:srgbClr val="000000"/>
                          </a:solidFill>
                          <a:effectLst/>
                          <a:latin typeface="+mj-lt"/>
                          <a:ea typeface="Times New Roman" panose="02020603050405020304" pitchFamily="18" charset="0"/>
                          <a:cs typeface="Times New Roman" panose="02020603050405020304" pitchFamily="18" charset="0"/>
                        </a:rPr>
                        <a:t>Dự phòng rủi ro</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mj-lt"/>
                          <a:ea typeface="Times New Roman" panose="02020603050405020304" pitchFamily="18" charset="0"/>
                          <a:cs typeface="Times New Roman" panose="02020603050405020304" pitchFamily="18" charset="0"/>
                        </a:rPr>
                        <a:t>50,0</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mj-lt"/>
                          <a:ea typeface="Times New Roman" panose="02020603050405020304" pitchFamily="18" charset="0"/>
                          <a:cs typeface="Times New Roman" panose="02020603050405020304" pitchFamily="18" charset="0"/>
                        </a:rPr>
                        <a:t>5,0%</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mj-lt"/>
                          <a:ea typeface="Times New Roman" panose="02020603050405020304" pitchFamily="18" charset="0"/>
                          <a:cs typeface="Times New Roman" panose="02020603050405020304" pitchFamily="18" charset="0"/>
                        </a:rPr>
                        <a:t>Chỉ sử dụng khi rủi ro phát sinh và được PM/nhóm phê duyệt</a:t>
                      </a:r>
                      <a:endParaRPr lang="vi-VN" sz="1200">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265132515"/>
                  </a:ext>
                </a:extLst>
              </a:tr>
              <a:tr h="178908">
                <a:tc>
                  <a:txBody>
                    <a:bodyPr/>
                    <a:lstStyle/>
                    <a:p>
                      <a:pPr algn="ctr">
                        <a:lnSpc>
                          <a:spcPct val="105000"/>
                        </a:lnSpc>
                        <a:spcAft>
                          <a:spcPts val="400"/>
                        </a:spcAft>
                        <a:buNone/>
                      </a:pPr>
                      <a:r>
                        <a:rPr lang="en-US" sz="1200" b="1">
                          <a:solidFill>
                            <a:srgbClr val="000000"/>
                          </a:solidFill>
                          <a:effectLst/>
                          <a:latin typeface="+mj-lt"/>
                          <a:ea typeface="Times New Roman" panose="02020603050405020304" pitchFamily="18" charset="0"/>
                          <a:cs typeface="Times New Roman" panose="02020603050405020304" pitchFamily="18" charset="0"/>
                        </a:rPr>
                        <a:t>TỔNG</a:t>
                      </a:r>
                      <a:endParaRPr lang="vi-VN" sz="1200" b="1">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b="1">
                          <a:solidFill>
                            <a:srgbClr val="000000"/>
                          </a:solidFill>
                          <a:effectLst/>
                          <a:latin typeface="+mj-lt"/>
                          <a:ea typeface="Times New Roman" panose="02020603050405020304" pitchFamily="18" charset="0"/>
                          <a:cs typeface="Times New Roman" panose="02020603050405020304" pitchFamily="18" charset="0"/>
                        </a:rPr>
                        <a:t>1.000,0</a:t>
                      </a:r>
                      <a:endParaRPr lang="vi-VN" sz="1200" b="1">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b="1">
                          <a:solidFill>
                            <a:srgbClr val="000000"/>
                          </a:solidFill>
                          <a:effectLst/>
                          <a:latin typeface="+mj-lt"/>
                          <a:ea typeface="Times New Roman" panose="02020603050405020304" pitchFamily="18" charset="0"/>
                          <a:cs typeface="Times New Roman" panose="02020603050405020304" pitchFamily="18" charset="0"/>
                        </a:rPr>
                        <a:t>100%</a:t>
                      </a:r>
                      <a:endParaRPr lang="vi-VN" sz="1200" b="1">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b="1">
                          <a:solidFill>
                            <a:srgbClr val="000000"/>
                          </a:solidFill>
                          <a:effectLst/>
                          <a:latin typeface="+mj-lt"/>
                          <a:ea typeface="Times New Roman" panose="02020603050405020304" pitchFamily="18" charset="0"/>
                          <a:cs typeface="Times New Roman" panose="02020603050405020304" pitchFamily="18" charset="0"/>
                        </a:rPr>
                        <a:t>Ngân sách giả định toàn dự án</a:t>
                      </a:r>
                      <a:endParaRPr lang="vi-VN" sz="1200" b="1">
                        <a:effectLst/>
                        <a:latin typeface="+mj-lt"/>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66154534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044DC489-207C-55E9-2B7E-E1AC12983BF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D56F56E-5AFB-1507-7B45-84DFF9035FA9}"/>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51740421-B0C4-DD12-01F8-E470F3DC090A}"/>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833D3F89-CA3B-B45B-DCA3-649B09A6E061}"/>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2BFC8D3A-3645-26D7-5D27-380C285B95C7}"/>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6" name="Text 4">
            <a:extLst>
              <a:ext uri="{FF2B5EF4-FFF2-40B4-BE49-F238E27FC236}">
                <a16:creationId xmlns:a16="http://schemas.microsoft.com/office/drawing/2014/main" id="{12DE781C-5826-39C5-F315-6FB2AEBD11A6}"/>
              </a:ext>
            </a:extLst>
          </p:cNvPr>
          <p:cNvSpPr/>
          <p:nvPr/>
        </p:nvSpPr>
        <p:spPr>
          <a:xfrm>
            <a:off x="661849" y="295962"/>
            <a:ext cx="3605349" cy="473766"/>
          </a:xfrm>
          <a:prstGeom prst="rect">
            <a:avLst/>
          </a:prstGeom>
          <a:noFill/>
          <a:ln/>
        </p:spPr>
        <p:txBody>
          <a:bodyPr wrap="square" lIns="0" tIns="0" rIns="0" bIns="0" rtlCol="0" anchor="ctr">
            <a:normAutofit/>
          </a:bodyPr>
          <a:lstStyle/>
          <a:p>
            <a:pPr marL="0" indent="0">
              <a:buNone/>
            </a:pPr>
            <a:r>
              <a:rPr lang="en-US" sz="1600" b="1">
                <a:solidFill>
                  <a:srgbClr val="B00020"/>
                </a:solidFill>
                <a:latin typeface="Arial" pitchFamily="34" charset="0"/>
                <a:cs typeface="Arial" pitchFamily="34" charset="-120"/>
              </a:rPr>
              <a:t>III. QUẢN TRỊ DỰ ÁN</a:t>
            </a:r>
            <a:endParaRPr lang="en-US" sz="1600" dirty="0"/>
          </a:p>
        </p:txBody>
      </p:sp>
      <p:sp>
        <p:nvSpPr>
          <p:cNvPr id="7" name="Text 5">
            <a:extLst>
              <a:ext uri="{FF2B5EF4-FFF2-40B4-BE49-F238E27FC236}">
                <a16:creationId xmlns:a16="http://schemas.microsoft.com/office/drawing/2014/main" id="{CA8031F6-2D6B-9089-1083-3C5C820A482E}"/>
              </a:ext>
            </a:extLst>
          </p:cNvPr>
          <p:cNvSpPr/>
          <p:nvPr/>
        </p:nvSpPr>
        <p:spPr>
          <a:xfrm>
            <a:off x="5549346" y="6565392"/>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10" name="Text 8">
            <a:extLst>
              <a:ext uri="{FF2B5EF4-FFF2-40B4-BE49-F238E27FC236}">
                <a16:creationId xmlns:a16="http://schemas.microsoft.com/office/drawing/2014/main" id="{08633A38-BC66-E0AC-7C7D-8422BC695126}"/>
              </a:ext>
            </a:extLst>
          </p:cNvPr>
          <p:cNvSpPr/>
          <p:nvPr/>
        </p:nvSpPr>
        <p:spPr>
          <a:xfrm>
            <a:off x="640080" y="721330"/>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1. Quản lý phạm vi</a:t>
            </a:r>
            <a:endParaRPr lang="en-US" sz="2700" dirty="0"/>
          </a:p>
        </p:txBody>
      </p:sp>
      <p:sp>
        <p:nvSpPr>
          <p:cNvPr id="12" name="Shape 10">
            <a:extLst>
              <a:ext uri="{FF2B5EF4-FFF2-40B4-BE49-F238E27FC236}">
                <a16:creationId xmlns:a16="http://schemas.microsoft.com/office/drawing/2014/main" id="{B3DC8EE0-5319-A916-4A37-1F923BEA3D00}"/>
              </a:ext>
            </a:extLst>
          </p:cNvPr>
          <p:cNvSpPr/>
          <p:nvPr/>
        </p:nvSpPr>
        <p:spPr>
          <a:xfrm>
            <a:off x="658367" y="1217971"/>
            <a:ext cx="2634561" cy="0"/>
          </a:xfrm>
          <a:prstGeom prst="line">
            <a:avLst/>
          </a:prstGeom>
          <a:noFill/>
          <a:ln w="25400">
            <a:solidFill>
              <a:srgbClr val="D6A62C"/>
            </a:solidFill>
            <a:prstDash val="solid"/>
          </a:ln>
        </p:spPr>
        <p:txBody>
          <a:bodyPr/>
          <a:lstStyle/>
          <a:p>
            <a:endParaRPr lang="vi-VN"/>
          </a:p>
        </p:txBody>
      </p:sp>
      <p:sp>
        <p:nvSpPr>
          <p:cNvPr id="17" name="Text 14">
            <a:extLst>
              <a:ext uri="{FF2B5EF4-FFF2-40B4-BE49-F238E27FC236}">
                <a16:creationId xmlns:a16="http://schemas.microsoft.com/office/drawing/2014/main" id="{C68DB5BB-7881-7728-2155-F1137E0F1241}"/>
              </a:ext>
            </a:extLst>
          </p:cNvPr>
          <p:cNvSpPr/>
          <p:nvPr/>
        </p:nvSpPr>
        <p:spPr>
          <a:xfrm>
            <a:off x="713933" y="1288374"/>
            <a:ext cx="2685757" cy="328781"/>
          </a:xfrm>
          <a:prstGeom prst="rect">
            <a:avLst/>
          </a:prstGeom>
          <a:noFill/>
          <a:ln/>
        </p:spPr>
        <p:txBody>
          <a:bodyPr wrap="square" lIns="1016" tIns="1016" rIns="1016" bIns="1016" rtlCol="0" anchor="ctr">
            <a:normAutofit/>
          </a:bodyPr>
          <a:lstStyle/>
          <a:p>
            <a:pPr marL="0" indent="0" algn="l">
              <a:buNone/>
            </a:pPr>
            <a:r>
              <a:rPr lang="en-US" sz="1400" b="1">
                <a:solidFill>
                  <a:srgbClr val="B00020"/>
                </a:solidFill>
                <a:latin typeface="Arial" pitchFamily="34" charset="0"/>
                <a:ea typeface="Arial" pitchFamily="34" charset="-122"/>
                <a:cs typeface="Arial" pitchFamily="34" charset="-120"/>
              </a:rPr>
              <a:t>Mục tiêu quản lý phạm vi</a:t>
            </a:r>
            <a:endParaRPr lang="en-US" sz="1400" dirty="0"/>
          </a:p>
        </p:txBody>
      </p:sp>
      <p:sp>
        <p:nvSpPr>
          <p:cNvPr id="18" name="Text 15">
            <a:extLst>
              <a:ext uri="{FF2B5EF4-FFF2-40B4-BE49-F238E27FC236}">
                <a16:creationId xmlns:a16="http://schemas.microsoft.com/office/drawing/2014/main" id="{F6B857AE-B604-62D9-8E01-CC5D6D1B59F2}"/>
              </a:ext>
            </a:extLst>
          </p:cNvPr>
          <p:cNvSpPr/>
          <p:nvPr/>
        </p:nvSpPr>
        <p:spPr>
          <a:xfrm>
            <a:off x="708071" y="1643340"/>
            <a:ext cx="9772359" cy="439548"/>
          </a:xfrm>
          <a:prstGeom prst="rect">
            <a:avLst/>
          </a:prstGeom>
          <a:noFill/>
          <a:ln/>
        </p:spPr>
        <p:txBody>
          <a:bodyPr wrap="square" lIns="1016" tIns="1016" rIns="1016" bIns="1016" rtlCol="0" anchor="ctr">
            <a:normAutofit/>
          </a:bodyPr>
          <a:lstStyle/>
          <a:p>
            <a:pPr marL="0" indent="0" algn="l">
              <a:buNone/>
            </a:pPr>
            <a:r>
              <a:rPr lang="vi-VN" sz="1400">
                <a:solidFill>
                  <a:srgbClr val="252B33"/>
                </a:solidFill>
                <a:latin typeface="Arial" pitchFamily="34" charset="0"/>
                <a:ea typeface="Arial" pitchFamily="34" charset="-122"/>
                <a:cs typeface="Arial" pitchFamily="34" charset="-120"/>
              </a:rPr>
              <a:t>Mục tiêu của quản lý phạm vi là ngăn dự án bị mở rộng ngoài khả năng kiểm soát.</a:t>
            </a:r>
            <a:endParaRPr lang="vi-VN" sz="1400" dirty="0">
              <a:solidFill>
                <a:srgbClr val="252B33"/>
              </a:solidFill>
              <a:latin typeface="Arial" pitchFamily="34" charset="0"/>
              <a:ea typeface="Arial" pitchFamily="34" charset="-122"/>
              <a:cs typeface="Arial" pitchFamily="34" charset="-120"/>
            </a:endParaRPr>
          </a:p>
        </p:txBody>
      </p:sp>
      <p:sp>
        <p:nvSpPr>
          <p:cNvPr id="19" name="Text 16">
            <a:extLst>
              <a:ext uri="{FF2B5EF4-FFF2-40B4-BE49-F238E27FC236}">
                <a16:creationId xmlns:a16="http://schemas.microsoft.com/office/drawing/2014/main" id="{1CFA3B49-5A5B-4331-656A-23B00FB9207B}"/>
              </a:ext>
            </a:extLst>
          </p:cNvPr>
          <p:cNvSpPr/>
          <p:nvPr/>
        </p:nvSpPr>
        <p:spPr>
          <a:xfrm>
            <a:off x="731520" y="2266764"/>
            <a:ext cx="1691640" cy="256032"/>
          </a:xfrm>
          <a:prstGeom prst="rect">
            <a:avLst/>
          </a:prstGeom>
          <a:noFill/>
          <a:ln/>
        </p:spPr>
        <p:txBody>
          <a:bodyPr wrap="square" lIns="1016" tIns="1016" rIns="1016" bIns="1016" rtlCol="0" anchor="ctr">
            <a:normAutofit/>
          </a:bodyPr>
          <a:lstStyle/>
          <a:p>
            <a:pPr marL="0" indent="0" algn="l">
              <a:buNone/>
            </a:pPr>
            <a:r>
              <a:rPr lang="en-US" sz="1400" b="1">
                <a:solidFill>
                  <a:srgbClr val="B00020"/>
                </a:solidFill>
                <a:latin typeface="Arial" pitchFamily="34" charset="0"/>
                <a:ea typeface="Arial" pitchFamily="34" charset="-122"/>
                <a:cs typeface="Arial" pitchFamily="34" charset="-120"/>
              </a:rPr>
              <a:t>Phạm vi</a:t>
            </a:r>
            <a:endParaRPr lang="en-US" sz="1400" dirty="0"/>
          </a:p>
        </p:txBody>
      </p:sp>
      <p:graphicFrame>
        <p:nvGraphicFramePr>
          <p:cNvPr id="11" name="Bảng 10">
            <a:extLst>
              <a:ext uri="{FF2B5EF4-FFF2-40B4-BE49-F238E27FC236}">
                <a16:creationId xmlns:a16="http://schemas.microsoft.com/office/drawing/2014/main" id="{4D8742AE-E6B1-B121-AD3A-83FB0C034892}"/>
              </a:ext>
            </a:extLst>
          </p:cNvPr>
          <p:cNvGraphicFramePr>
            <a:graphicFrameLocks noGrp="1"/>
          </p:cNvGraphicFramePr>
          <p:nvPr>
            <p:extLst>
              <p:ext uri="{D42A27DB-BD31-4B8C-83A1-F6EECF244321}">
                <p14:modId xmlns:p14="http://schemas.microsoft.com/office/powerpoint/2010/main" val="1906603038"/>
              </p:ext>
            </p:extLst>
          </p:nvPr>
        </p:nvGraphicFramePr>
        <p:xfrm>
          <a:off x="713933" y="2666220"/>
          <a:ext cx="9766498" cy="1433895"/>
        </p:xfrm>
        <a:graphic>
          <a:graphicData uri="http://schemas.openxmlformats.org/drawingml/2006/table">
            <a:tbl>
              <a:tblPr firstRow="1" firstCol="1" bandRow="1"/>
              <a:tblGrid>
                <a:gridCol w="1309973">
                  <a:extLst>
                    <a:ext uri="{9D8B030D-6E8A-4147-A177-3AD203B41FA5}">
                      <a16:colId xmlns:a16="http://schemas.microsoft.com/office/drawing/2014/main" val="1789236495"/>
                    </a:ext>
                  </a:extLst>
                </a:gridCol>
                <a:gridCol w="8456525">
                  <a:extLst>
                    <a:ext uri="{9D8B030D-6E8A-4147-A177-3AD203B41FA5}">
                      <a16:colId xmlns:a16="http://schemas.microsoft.com/office/drawing/2014/main" val="3076316998"/>
                    </a:ext>
                  </a:extLst>
                </a:gridCol>
              </a:tblGrid>
              <a:tr h="0">
                <a:tc>
                  <a:txBody>
                    <a:bodyPr/>
                    <a:lstStyle/>
                    <a:p>
                      <a:pPr algn="ctr">
                        <a:lnSpc>
                          <a:spcPct val="115000"/>
                        </a:lnSpc>
                        <a:spcAft>
                          <a:spcPts val="400"/>
                        </a:spcAft>
                        <a:buNone/>
                      </a:pPr>
                      <a:r>
                        <a:rPr lang="en-US" sz="1400" b="1">
                          <a:solidFill>
                            <a:srgbClr val="000000"/>
                          </a:solidFill>
                          <a:effectLst/>
                          <a:latin typeface="+mj-lt"/>
                          <a:ea typeface="Times New Roman" panose="02020603050405020304" pitchFamily="18" charset="0"/>
                          <a:cs typeface="Times New Roman" panose="02020603050405020304" pitchFamily="18" charset="0"/>
                        </a:rPr>
                        <a:t>Phạm vi</a:t>
                      </a:r>
                      <a:endParaRPr lang="vi-VN" sz="1400">
                        <a:effectLst/>
                        <a:latin typeface="+mj-lt"/>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400"/>
                        </a:spcAft>
                        <a:buNone/>
                      </a:pPr>
                      <a:r>
                        <a:rPr lang="en-US" sz="1400" b="1">
                          <a:solidFill>
                            <a:srgbClr val="000000"/>
                          </a:solidFill>
                          <a:effectLst/>
                          <a:latin typeface="+mj-lt"/>
                          <a:ea typeface="Times New Roman" panose="02020603050405020304" pitchFamily="18" charset="0"/>
                          <a:cs typeface="Times New Roman" panose="02020603050405020304" pitchFamily="18" charset="0"/>
                        </a:rPr>
                        <a:t>Nội dung</a:t>
                      </a:r>
                      <a:endParaRPr lang="vi-VN" sz="1400">
                        <a:effectLst/>
                        <a:latin typeface="+mj-lt"/>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7207477"/>
                  </a:ext>
                </a:extLst>
              </a:tr>
              <a:tr h="0">
                <a:tc>
                  <a:txBody>
                    <a:bodyPr/>
                    <a:lstStyle/>
                    <a:p>
                      <a:pPr algn="ctr">
                        <a:lnSpc>
                          <a:spcPct val="115000"/>
                        </a:lnSpc>
                        <a:spcAft>
                          <a:spcPts val="400"/>
                        </a:spcAft>
                        <a:buNone/>
                      </a:pPr>
                      <a:r>
                        <a:rPr lang="en-US" sz="1400" b="1">
                          <a:solidFill>
                            <a:srgbClr val="000000"/>
                          </a:solidFill>
                          <a:effectLst/>
                          <a:latin typeface="+mj-lt"/>
                          <a:ea typeface="Times New Roman" panose="02020603050405020304" pitchFamily="18" charset="0"/>
                          <a:cs typeface="Times New Roman" panose="02020603050405020304" pitchFamily="18" charset="0"/>
                        </a:rPr>
                        <a:t>IN</a:t>
                      </a:r>
                      <a:endParaRPr lang="vi-VN" sz="1400">
                        <a:effectLst/>
                        <a:latin typeface="+mj-lt"/>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400">
                          <a:solidFill>
                            <a:srgbClr val="000000"/>
                          </a:solidFill>
                          <a:effectLst/>
                          <a:latin typeface="+mj-lt"/>
                          <a:ea typeface="Times New Roman" panose="02020603050405020304" pitchFamily="18" charset="0"/>
                          <a:cs typeface="Times New Roman" panose="02020603050405020304" pitchFamily="18" charset="0"/>
                        </a:rPr>
                        <a:t>Khảo sát - phân tích - thiết kế - phát triển phần mềm/CSDL; mô phỏng OTP/QR, thanh toán và trạng thái tủ; kiểm thử Unit/Integration/System/Acceptance; triển khai demo, nghiệm thu và hồ sơ quản trị.</a:t>
                      </a:r>
                      <a:endParaRPr lang="vi-VN" sz="1400">
                        <a:effectLst/>
                        <a:latin typeface="+mj-lt"/>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277054"/>
                  </a:ext>
                </a:extLst>
              </a:tr>
              <a:tr h="0">
                <a:tc>
                  <a:txBody>
                    <a:bodyPr/>
                    <a:lstStyle/>
                    <a:p>
                      <a:pPr algn="ctr">
                        <a:lnSpc>
                          <a:spcPct val="115000"/>
                        </a:lnSpc>
                        <a:spcAft>
                          <a:spcPts val="400"/>
                        </a:spcAft>
                        <a:buNone/>
                      </a:pPr>
                      <a:r>
                        <a:rPr lang="en-US" sz="1400" b="1">
                          <a:solidFill>
                            <a:srgbClr val="000000"/>
                          </a:solidFill>
                          <a:effectLst/>
                          <a:latin typeface="+mj-lt"/>
                          <a:ea typeface="Times New Roman" panose="02020603050405020304" pitchFamily="18" charset="0"/>
                          <a:cs typeface="Times New Roman" panose="02020603050405020304" pitchFamily="18" charset="0"/>
                        </a:rPr>
                        <a:t>OUT</a:t>
                      </a:r>
                      <a:endParaRPr lang="vi-VN" sz="1400">
                        <a:effectLst/>
                        <a:latin typeface="+mj-lt"/>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400">
                          <a:solidFill>
                            <a:srgbClr val="000000"/>
                          </a:solidFill>
                          <a:effectLst/>
                          <a:latin typeface="+mj-lt"/>
                          <a:ea typeface="Times New Roman" panose="02020603050405020304" pitchFamily="18" charset="0"/>
                          <a:cs typeface="Times New Roman" panose="02020603050405020304" pitchFamily="18" charset="0"/>
                        </a:rPr>
                        <a:t>Lắp đặt tủ phần cứng thật tại Ocean Park; tích hợp cổng thanh toán/SMS thật; vận hành thương mại; cam kết hạ tầng chính thức của Ban quản lý tòa nhà.</a:t>
                      </a:r>
                      <a:endParaRPr lang="vi-VN" sz="1400">
                        <a:effectLst/>
                        <a:latin typeface="+mj-lt"/>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9879048"/>
                  </a:ext>
                </a:extLst>
              </a:tr>
            </a:tbl>
          </a:graphicData>
        </a:graphic>
      </p:graphicFrame>
      <p:sp>
        <p:nvSpPr>
          <p:cNvPr id="23" name="Text 16">
            <a:extLst>
              <a:ext uri="{FF2B5EF4-FFF2-40B4-BE49-F238E27FC236}">
                <a16:creationId xmlns:a16="http://schemas.microsoft.com/office/drawing/2014/main" id="{240C606B-9B0F-BEE7-14C6-71AC6A40CD50}"/>
              </a:ext>
            </a:extLst>
          </p:cNvPr>
          <p:cNvSpPr/>
          <p:nvPr/>
        </p:nvSpPr>
        <p:spPr>
          <a:xfrm>
            <a:off x="702212" y="4283131"/>
            <a:ext cx="2697478" cy="308439"/>
          </a:xfrm>
          <a:prstGeom prst="rect">
            <a:avLst/>
          </a:prstGeom>
          <a:noFill/>
          <a:ln/>
        </p:spPr>
        <p:txBody>
          <a:bodyPr wrap="square" lIns="1016" tIns="1016" rIns="1016" bIns="1016" rtlCol="0" anchor="ctr">
            <a:normAutofit/>
          </a:bodyPr>
          <a:lstStyle/>
          <a:p>
            <a:pPr marL="0" indent="0" algn="l">
              <a:buNone/>
            </a:pPr>
            <a:r>
              <a:rPr lang="en-US" sz="1400" b="1">
                <a:solidFill>
                  <a:srgbClr val="B00020"/>
                </a:solidFill>
                <a:latin typeface="Arial" pitchFamily="34" charset="0"/>
                <a:cs typeface="Arial" pitchFamily="34" charset="-120"/>
              </a:rPr>
              <a:t>Kiểm soát thay đổi phạm vi</a:t>
            </a:r>
            <a:endParaRPr lang="en-US" sz="1400" dirty="0"/>
          </a:p>
        </p:txBody>
      </p:sp>
      <p:sp>
        <p:nvSpPr>
          <p:cNvPr id="27" name="Text 15">
            <a:extLst>
              <a:ext uri="{FF2B5EF4-FFF2-40B4-BE49-F238E27FC236}">
                <a16:creationId xmlns:a16="http://schemas.microsoft.com/office/drawing/2014/main" id="{D544DBAD-7BEF-0CD0-A850-58B529673E88}"/>
              </a:ext>
            </a:extLst>
          </p:cNvPr>
          <p:cNvSpPr/>
          <p:nvPr/>
        </p:nvSpPr>
        <p:spPr>
          <a:xfrm>
            <a:off x="702212" y="4609425"/>
            <a:ext cx="9927688" cy="1808960"/>
          </a:xfrm>
          <a:prstGeom prst="rect">
            <a:avLst/>
          </a:prstGeom>
          <a:noFill/>
          <a:ln/>
        </p:spPr>
        <p:txBody>
          <a:bodyPr wrap="square" lIns="1016" tIns="1016" rIns="1016" bIns="1016" rtlCol="0" anchor="ctr">
            <a:normAutofit/>
          </a:bodyPr>
          <a:lstStyle/>
          <a:p>
            <a:pPr marL="0" indent="0" algn="l">
              <a:buNone/>
            </a:pPr>
            <a:r>
              <a:rPr lang="vi-VN" sz="1400">
                <a:solidFill>
                  <a:srgbClr val="252B33"/>
                </a:solidFill>
                <a:latin typeface="Arial" pitchFamily="34" charset="0"/>
                <a:ea typeface="Arial" pitchFamily="34" charset="-122"/>
                <a:cs typeface="Arial" pitchFamily="34" charset="-120"/>
              </a:rPr>
              <a:t>Khi có yêu cầu mới phát sinh, nhóm không tự ý đưa ngay vào danh sách công việc. </a:t>
            </a:r>
          </a:p>
          <a:p>
            <a:pPr marL="0" indent="0" algn="l">
              <a:buNone/>
            </a:pPr>
            <a:r>
              <a:rPr lang="vi-VN" sz="1400">
                <a:solidFill>
                  <a:srgbClr val="252B33"/>
                </a:solidFill>
                <a:latin typeface="Arial" pitchFamily="34" charset="0"/>
                <a:ea typeface="Arial" pitchFamily="34" charset="-122"/>
                <a:cs typeface="Arial" pitchFamily="34" charset="-120"/>
              </a:rPr>
              <a:t>Thay vào đó, cần tạo một phiếu đề xuất thay đổi, nêu rõ lý do và những kế hoạch chuẩn ban đầu bị ảnh hưởng, đồng thời đánh giá kỹ tác động đến tiến độ, chi phí, chất lượng, nhân lực và các rủi ro đi kèm.</a:t>
            </a:r>
          </a:p>
          <a:p>
            <a:pPr marL="0" indent="0" algn="l">
              <a:buNone/>
            </a:pPr>
            <a:r>
              <a:rPr lang="vi-VN" sz="1400">
                <a:solidFill>
                  <a:srgbClr val="252B33"/>
                </a:solidFill>
                <a:latin typeface="Arial" pitchFamily="34" charset="0"/>
                <a:ea typeface="Arial" pitchFamily="34" charset="-122"/>
                <a:cs typeface="Arial" pitchFamily="34" charset="-120"/>
              </a:rPr>
              <a:t>Chỉ khi đề xuất được phê duyệt chính thức, nhóm mới cập nhật lại tài liệu đặc tả yêu cầu, bảng phân chia công việc, tiến độ, chi phí, phương án rủi ro và ma trận truy vết yêu cầu.</a:t>
            </a:r>
          </a:p>
          <a:p>
            <a:pPr marL="0" indent="0" algn="l">
              <a:buNone/>
            </a:pPr>
            <a:r>
              <a:rPr lang="vi-VN" sz="1400">
                <a:solidFill>
                  <a:srgbClr val="252B33"/>
                </a:solidFill>
                <a:latin typeface="Arial" pitchFamily="34" charset="0"/>
                <a:ea typeface="Arial" pitchFamily="34" charset="-122"/>
                <a:cs typeface="Arial" pitchFamily="34" charset="-120"/>
              </a:rPr>
              <a:t>Bản chất của quản lý thay đổi không phải là cấm cản, mà nhằm đảm bảo mọi điều chỉnh đều được đồng thuận rõ ràng và có căn cứ để truy cứu trách nhiệm.</a:t>
            </a:r>
          </a:p>
        </p:txBody>
      </p:sp>
    </p:spTree>
    <p:extLst>
      <p:ext uri="{BB962C8B-B14F-4D97-AF65-F5344CB8AC3E}">
        <p14:creationId xmlns:p14="http://schemas.microsoft.com/office/powerpoint/2010/main" val="1428661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AB6A101F-19CB-3D98-0DBB-A05CB89FFF4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4804DD3-2E7C-47AB-460D-E322573E7A00}"/>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40BD0CA1-DD28-700C-E741-A02BCB1351A9}"/>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0479CDD8-8717-EEA8-1D57-896DE15C6958}"/>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4A867F84-BDE3-827B-8166-EF3F171C7808}"/>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6" name="Text 4">
            <a:extLst>
              <a:ext uri="{FF2B5EF4-FFF2-40B4-BE49-F238E27FC236}">
                <a16:creationId xmlns:a16="http://schemas.microsoft.com/office/drawing/2014/main" id="{E1A65170-F892-E68D-D027-0EF1DD8DDBEE}"/>
              </a:ext>
            </a:extLst>
          </p:cNvPr>
          <p:cNvSpPr/>
          <p:nvPr/>
        </p:nvSpPr>
        <p:spPr>
          <a:xfrm>
            <a:off x="650963" y="327136"/>
            <a:ext cx="2756263" cy="394194"/>
          </a:xfrm>
          <a:prstGeom prst="rect">
            <a:avLst/>
          </a:prstGeom>
          <a:noFill/>
          <a:ln/>
        </p:spPr>
        <p:txBody>
          <a:bodyPr wrap="square" lIns="0" tIns="0" rIns="0" bIns="0" rtlCol="0" anchor="ctr">
            <a:normAutofit/>
          </a:bodyPr>
          <a:lstStyle/>
          <a:p>
            <a:pPr marL="0" indent="0">
              <a:buNone/>
            </a:pPr>
            <a:r>
              <a:rPr lang="en-US" sz="1600" b="1">
                <a:solidFill>
                  <a:srgbClr val="B00020"/>
                </a:solidFill>
                <a:latin typeface="Arial" pitchFamily="34" charset="0"/>
                <a:cs typeface="Arial" pitchFamily="34" charset="-120"/>
              </a:rPr>
              <a:t>III. QUẢN TRỊ DỰ ÁN</a:t>
            </a:r>
            <a:endParaRPr lang="en-US" sz="1600" dirty="0"/>
          </a:p>
        </p:txBody>
      </p:sp>
      <p:sp>
        <p:nvSpPr>
          <p:cNvPr id="7" name="Text 5">
            <a:extLst>
              <a:ext uri="{FF2B5EF4-FFF2-40B4-BE49-F238E27FC236}">
                <a16:creationId xmlns:a16="http://schemas.microsoft.com/office/drawing/2014/main" id="{2D8FDBDE-D82F-DE9E-5036-87E32D19CB79}"/>
              </a:ext>
            </a:extLst>
          </p:cNvPr>
          <p:cNvSpPr/>
          <p:nvPr/>
        </p:nvSpPr>
        <p:spPr>
          <a:xfrm>
            <a:off x="5549346" y="6565392"/>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10" name="Text 8">
            <a:extLst>
              <a:ext uri="{FF2B5EF4-FFF2-40B4-BE49-F238E27FC236}">
                <a16:creationId xmlns:a16="http://schemas.microsoft.com/office/drawing/2014/main" id="{CC1FB348-129C-50C0-BBC8-C7399E9968AA}"/>
              </a:ext>
            </a:extLst>
          </p:cNvPr>
          <p:cNvSpPr/>
          <p:nvPr/>
        </p:nvSpPr>
        <p:spPr>
          <a:xfrm>
            <a:off x="640080" y="721330"/>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2. Quản lý thời gian</a:t>
            </a:r>
            <a:endParaRPr lang="en-US" sz="2700" dirty="0"/>
          </a:p>
        </p:txBody>
      </p:sp>
      <p:sp>
        <p:nvSpPr>
          <p:cNvPr id="12" name="Shape 10">
            <a:extLst>
              <a:ext uri="{FF2B5EF4-FFF2-40B4-BE49-F238E27FC236}">
                <a16:creationId xmlns:a16="http://schemas.microsoft.com/office/drawing/2014/main" id="{B6971EED-A332-3B83-9FAA-75A4D406BC3D}"/>
              </a:ext>
            </a:extLst>
          </p:cNvPr>
          <p:cNvSpPr/>
          <p:nvPr/>
        </p:nvSpPr>
        <p:spPr>
          <a:xfrm>
            <a:off x="658368" y="1217971"/>
            <a:ext cx="1920240" cy="0"/>
          </a:xfrm>
          <a:prstGeom prst="line">
            <a:avLst/>
          </a:prstGeom>
          <a:noFill/>
          <a:ln w="25400">
            <a:solidFill>
              <a:srgbClr val="D6A62C"/>
            </a:solidFill>
            <a:prstDash val="solid"/>
          </a:ln>
        </p:spPr>
        <p:txBody>
          <a:bodyPr/>
          <a:lstStyle/>
          <a:p>
            <a:endParaRPr lang="vi-VN"/>
          </a:p>
        </p:txBody>
      </p:sp>
      <p:sp>
        <p:nvSpPr>
          <p:cNvPr id="17" name="Text 14">
            <a:extLst>
              <a:ext uri="{FF2B5EF4-FFF2-40B4-BE49-F238E27FC236}">
                <a16:creationId xmlns:a16="http://schemas.microsoft.com/office/drawing/2014/main" id="{81F3A3B1-8514-1DD1-4F02-802504E60A15}"/>
              </a:ext>
            </a:extLst>
          </p:cNvPr>
          <p:cNvSpPr/>
          <p:nvPr/>
        </p:nvSpPr>
        <p:spPr>
          <a:xfrm>
            <a:off x="713933" y="1288374"/>
            <a:ext cx="5322196" cy="328781"/>
          </a:xfrm>
          <a:prstGeom prst="rect">
            <a:avLst/>
          </a:prstGeom>
          <a:noFill/>
          <a:ln/>
        </p:spPr>
        <p:txBody>
          <a:bodyPr wrap="square" lIns="1016" tIns="1016" rIns="1016" bIns="1016" rtlCol="0" anchor="ctr">
            <a:normAutofit/>
          </a:bodyPr>
          <a:lstStyle/>
          <a:p>
            <a:pPr marL="0" indent="0" algn="l">
              <a:buNone/>
            </a:pPr>
            <a:r>
              <a:rPr lang="en-US" sz="1400" b="1">
                <a:solidFill>
                  <a:srgbClr val="B00020"/>
                </a:solidFill>
                <a:latin typeface="Arial" pitchFamily="34" charset="0"/>
                <a:ea typeface="Arial" pitchFamily="34" charset="-122"/>
                <a:cs typeface="Arial" pitchFamily="34" charset="-120"/>
              </a:rPr>
              <a:t>Baseline thời gian theo 6 giai đoạn</a:t>
            </a:r>
            <a:endParaRPr lang="en-US" sz="1400" dirty="0"/>
          </a:p>
        </p:txBody>
      </p:sp>
      <p:pic>
        <p:nvPicPr>
          <p:cNvPr id="8" name="Picture 7">
            <a:extLst>
              <a:ext uri="{FF2B5EF4-FFF2-40B4-BE49-F238E27FC236}">
                <a16:creationId xmlns:a16="http://schemas.microsoft.com/office/drawing/2014/main" id="{199F32D1-3C73-EEE1-A587-115C267A2BE3}"/>
              </a:ext>
            </a:extLst>
          </p:cNvPr>
          <p:cNvPicPr>
            <a:picLocks noChangeAspect="1"/>
          </p:cNvPicPr>
          <p:nvPr/>
        </p:nvPicPr>
        <p:blipFill>
          <a:blip r:embed="rId3"/>
          <a:stretch>
            <a:fillRect/>
          </a:stretch>
        </p:blipFill>
        <p:spPr>
          <a:xfrm>
            <a:off x="2575090" y="1729909"/>
            <a:ext cx="6779484" cy="2580013"/>
          </a:xfrm>
          <a:prstGeom prst="rect">
            <a:avLst/>
          </a:prstGeom>
        </p:spPr>
      </p:pic>
      <p:graphicFrame>
        <p:nvGraphicFramePr>
          <p:cNvPr id="14" name="Bảng 13">
            <a:extLst>
              <a:ext uri="{FF2B5EF4-FFF2-40B4-BE49-F238E27FC236}">
                <a16:creationId xmlns:a16="http://schemas.microsoft.com/office/drawing/2014/main" id="{DE30A1A1-56DF-5303-8465-1D89FB7B13D6}"/>
              </a:ext>
            </a:extLst>
          </p:cNvPr>
          <p:cNvGraphicFramePr>
            <a:graphicFrameLocks noGrp="1"/>
          </p:cNvGraphicFramePr>
          <p:nvPr>
            <p:extLst>
              <p:ext uri="{D42A27DB-BD31-4B8C-83A1-F6EECF244321}">
                <p14:modId xmlns:p14="http://schemas.microsoft.com/office/powerpoint/2010/main" val="2071565599"/>
              </p:ext>
            </p:extLst>
          </p:nvPr>
        </p:nvGraphicFramePr>
        <p:xfrm>
          <a:off x="2575090" y="4453993"/>
          <a:ext cx="6779484" cy="1976247"/>
        </p:xfrm>
        <a:graphic>
          <a:graphicData uri="http://schemas.openxmlformats.org/drawingml/2006/table">
            <a:tbl>
              <a:tblPr firstRow="1" firstCol="1" bandRow="1"/>
              <a:tblGrid>
                <a:gridCol w="2510469">
                  <a:extLst>
                    <a:ext uri="{9D8B030D-6E8A-4147-A177-3AD203B41FA5}">
                      <a16:colId xmlns:a16="http://schemas.microsoft.com/office/drawing/2014/main" val="1843185395"/>
                    </a:ext>
                  </a:extLst>
                </a:gridCol>
                <a:gridCol w="4269015">
                  <a:extLst>
                    <a:ext uri="{9D8B030D-6E8A-4147-A177-3AD203B41FA5}">
                      <a16:colId xmlns:a16="http://schemas.microsoft.com/office/drawing/2014/main" val="2433504837"/>
                    </a:ext>
                  </a:extLst>
                </a:gridCol>
              </a:tblGrid>
              <a:tr h="0">
                <a:tc>
                  <a:txBody>
                    <a:bodyPr/>
                    <a:lstStyle/>
                    <a:p>
                      <a:pPr algn="ct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Giai đoạn</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Thời gian</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extLst>
                  <a:ext uri="{0D108BD9-81ED-4DB2-BD59-A6C34878D82A}">
                    <a16:rowId xmlns:a16="http://schemas.microsoft.com/office/drawing/2014/main" val="1110690839"/>
                  </a:ext>
                </a:extLst>
              </a:tr>
              <a:tr h="0">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Scope</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08/09-25/09/2026</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36742996"/>
                  </a:ext>
                </a:extLst>
              </a:tr>
              <a:tr h="0">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Analysis</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26/09-23/10/2026</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41567019"/>
                  </a:ext>
                </a:extLst>
              </a:tr>
              <a:tr h="0">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Design</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24/10-20/11/2026</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7071794"/>
                  </a:ext>
                </a:extLst>
              </a:tr>
              <a:tr h="0">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Development</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21/11/2026-15/01/2027</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0259106"/>
                  </a:ext>
                </a:extLst>
              </a:tr>
              <a:tr h="0">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Testing</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16/01-05/02/2027</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7126125"/>
                  </a:ext>
                </a:extLst>
              </a:tr>
              <a:tr h="0">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Deployment</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06/02-26/02/2027</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90190910"/>
                  </a:ext>
                </a:extLst>
              </a:tr>
            </a:tbl>
          </a:graphicData>
        </a:graphic>
      </p:graphicFrame>
    </p:spTree>
    <p:extLst>
      <p:ext uri="{BB962C8B-B14F-4D97-AF65-F5344CB8AC3E}">
        <p14:creationId xmlns:p14="http://schemas.microsoft.com/office/powerpoint/2010/main" val="819103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8F5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30" name="Shape 27"/>
          <p:cNvSpPr/>
          <p:nvPr/>
        </p:nvSpPr>
        <p:spPr>
          <a:xfrm>
            <a:off x="649875" y="1523984"/>
            <a:ext cx="4206240" cy="960120"/>
          </a:xfrm>
          <a:prstGeom prst="roundRect">
            <a:avLst>
              <a:gd name="adj" fmla="val 7619"/>
            </a:avLst>
          </a:prstGeom>
          <a:solidFill>
            <a:srgbClr val="FFFFFF"/>
          </a:solidFill>
          <a:ln w="12700">
            <a:solidFill>
              <a:srgbClr val="E6E0D7"/>
            </a:solidFill>
            <a:prstDash val="solid"/>
          </a:ln>
          <a:effectLst>
            <a:outerShdw blurRad="12700" dist="12700" dir="2700000" algn="bl" rotWithShape="0">
              <a:srgbClr val="000000">
                <a:alpha val="5000"/>
              </a:srgbClr>
            </a:outerShdw>
          </a:effectLst>
        </p:spPr>
        <p:txBody>
          <a:bodyPr/>
          <a:lstStyle/>
          <a:p>
            <a:endParaRPr lang="vi-VN"/>
          </a:p>
        </p:txBody>
      </p:sp>
      <p:sp>
        <p:nvSpPr>
          <p:cNvPr id="31" name="Text 28"/>
          <p:cNvSpPr/>
          <p:nvPr/>
        </p:nvSpPr>
        <p:spPr>
          <a:xfrm>
            <a:off x="878475" y="1706864"/>
            <a:ext cx="1645920" cy="164592"/>
          </a:xfrm>
          <a:prstGeom prst="rect">
            <a:avLst/>
          </a:prstGeom>
          <a:noFill/>
          <a:ln/>
        </p:spPr>
        <p:txBody>
          <a:bodyPr wrap="square" lIns="0" tIns="0" rIns="0" bIns="0" rtlCol="0" anchor="ctr"/>
          <a:lstStyle/>
          <a:p>
            <a:pPr marL="0" indent="0">
              <a:buNone/>
            </a:pPr>
            <a:r>
              <a:rPr lang="en-US" sz="1000" b="1" dirty="0">
                <a:solidFill>
                  <a:srgbClr val="B00020"/>
                </a:solidFill>
                <a:latin typeface="Arial" pitchFamily="34" charset="0"/>
                <a:ea typeface="Arial" pitchFamily="34" charset="-122"/>
                <a:cs typeface="Arial" pitchFamily="34" charset="-120"/>
              </a:rPr>
              <a:t>Công thức ước lượng</a:t>
            </a:r>
            <a:endParaRPr lang="en-US" sz="1000" dirty="0"/>
          </a:p>
        </p:txBody>
      </p:sp>
      <p:sp>
        <p:nvSpPr>
          <p:cNvPr id="32" name="Text 29"/>
          <p:cNvSpPr/>
          <p:nvPr/>
        </p:nvSpPr>
        <p:spPr>
          <a:xfrm>
            <a:off x="878475" y="2008616"/>
            <a:ext cx="3749040" cy="256032"/>
          </a:xfrm>
          <a:prstGeom prst="rect">
            <a:avLst/>
          </a:prstGeom>
          <a:noFill/>
          <a:ln/>
        </p:spPr>
        <p:txBody>
          <a:bodyPr wrap="square" lIns="0" tIns="0" rIns="0" bIns="0" rtlCol="0" anchor="ctr">
            <a:normAutofit/>
          </a:bodyPr>
          <a:lstStyle/>
          <a:p>
            <a:pPr marL="0" indent="0">
              <a:buNone/>
            </a:pPr>
            <a:r>
              <a:rPr lang="en-US" sz="1500" b="1" dirty="0">
                <a:solidFill>
                  <a:srgbClr val="121D33"/>
                </a:solidFill>
                <a:latin typeface="Arial" pitchFamily="34" charset="0"/>
                <a:ea typeface="Arial" pitchFamily="34" charset="-122"/>
                <a:cs typeface="Arial" pitchFamily="34" charset="-120"/>
              </a:rPr>
              <a:t>EST = (MO + 4×ML + MP) </a:t>
            </a:r>
            <a:r>
              <a:rPr lang="en-US" sz="1500" b="1">
                <a:solidFill>
                  <a:srgbClr val="121D33"/>
                </a:solidFill>
                <a:latin typeface="Arial" pitchFamily="34" charset="0"/>
                <a:ea typeface="Arial" pitchFamily="34" charset="-122"/>
                <a:cs typeface="Arial" pitchFamily="34" charset="-120"/>
              </a:rPr>
              <a:t>/ 6</a:t>
            </a:r>
            <a:endParaRPr lang="en-US" sz="1500" dirty="0"/>
          </a:p>
        </p:txBody>
      </p:sp>
      <p:pic>
        <p:nvPicPr>
          <p:cNvPr id="34" name="Picture 7">
            <a:extLst>
              <a:ext uri="{FF2B5EF4-FFF2-40B4-BE49-F238E27FC236}">
                <a16:creationId xmlns:a16="http://schemas.microsoft.com/office/drawing/2014/main" id="{15F4086A-4E99-20C7-2DD4-8720DF79A373}"/>
              </a:ext>
            </a:extLst>
          </p:cNvPr>
          <p:cNvPicPr>
            <a:picLocks noChangeAspect="1"/>
          </p:cNvPicPr>
          <p:nvPr/>
        </p:nvPicPr>
        <p:blipFill>
          <a:blip r:embed="rId3"/>
          <a:stretch>
            <a:fillRect/>
          </a:stretch>
        </p:blipFill>
        <p:spPr>
          <a:xfrm>
            <a:off x="5120640" y="1557897"/>
            <a:ext cx="6903274" cy="3514846"/>
          </a:xfrm>
          <a:prstGeom prst="rect">
            <a:avLst/>
          </a:prstGeom>
        </p:spPr>
      </p:pic>
      <p:sp>
        <p:nvSpPr>
          <p:cNvPr id="33" name="Text 15">
            <a:extLst>
              <a:ext uri="{FF2B5EF4-FFF2-40B4-BE49-F238E27FC236}">
                <a16:creationId xmlns:a16="http://schemas.microsoft.com/office/drawing/2014/main" id="{1DA55252-4AAA-61FF-C34C-0192D2195BCD}"/>
              </a:ext>
            </a:extLst>
          </p:cNvPr>
          <p:cNvSpPr/>
          <p:nvPr/>
        </p:nvSpPr>
        <p:spPr>
          <a:xfrm>
            <a:off x="587828" y="2569464"/>
            <a:ext cx="4268287" cy="3673073"/>
          </a:xfrm>
          <a:prstGeom prst="rect">
            <a:avLst/>
          </a:prstGeom>
          <a:noFill/>
          <a:ln/>
        </p:spPr>
        <p:txBody>
          <a:bodyPr wrap="square" lIns="1016" tIns="1016" rIns="1016" bIns="1016" rtlCol="0" anchor="ctr">
            <a:normAutofit lnSpcReduction="10000"/>
          </a:bodyPr>
          <a:lstStyle/>
          <a:p>
            <a:pPr marL="0" indent="0" algn="l">
              <a:buNone/>
            </a:pPr>
            <a:r>
              <a:rPr lang="vi-VN" sz="1400">
                <a:solidFill>
                  <a:srgbClr val="252B33"/>
                </a:solidFill>
                <a:latin typeface="Arial" pitchFamily="34" charset="0"/>
                <a:ea typeface="Arial" pitchFamily="34" charset="-122"/>
                <a:cs typeface="Arial" pitchFamily="34" charset="-120"/>
              </a:rPr>
              <a:t>Mỗi gói WBS được ước lượng ba điểm: MO (lạc quan), ML (khả dĩ nhất), MP (bi quan). </a:t>
            </a:r>
          </a:p>
          <a:p>
            <a:pPr marL="0" indent="0" algn="l">
              <a:buNone/>
            </a:pPr>
            <a:endParaRPr lang="vi-VN" sz="1400">
              <a:solidFill>
                <a:srgbClr val="252B33"/>
              </a:solidFill>
              <a:latin typeface="Arial" pitchFamily="34" charset="0"/>
              <a:ea typeface="Arial" pitchFamily="34" charset="-122"/>
              <a:cs typeface="Arial" pitchFamily="34" charset="-120"/>
            </a:endParaRPr>
          </a:p>
          <a:p>
            <a:r>
              <a:rPr lang="vi-VN" sz="1400">
                <a:solidFill>
                  <a:srgbClr val="252B33"/>
                </a:solidFill>
                <a:latin typeface="Arial" pitchFamily="34" charset="0"/>
                <a:ea typeface="Arial" pitchFamily="34" charset="-122"/>
                <a:cs typeface="Arial" pitchFamily="34" charset="-120"/>
              </a:rPr>
              <a:t>Nhóm tính </a:t>
            </a:r>
            <a:r>
              <a:rPr lang="vi-VN" sz="1400"/>
              <a:t>giá trị ước tính kỳ vọng</a:t>
            </a:r>
            <a:r>
              <a:rPr lang="vi-VN" sz="1400">
                <a:solidFill>
                  <a:srgbClr val="252B33"/>
                </a:solidFill>
                <a:latin typeface="Arial" pitchFamily="34" charset="0"/>
                <a:ea typeface="Arial" pitchFamily="34" charset="-122"/>
                <a:cs typeface="Arial" pitchFamily="34" charset="-120"/>
              </a:rPr>
              <a:t> EST = (MO + 4×ML + MP)/6 và cộng hệ số dự phòng 10% để hình thành giá trị kế hoạch chốt. </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Tổng EST chốt (190,85 ngày công): Là tổng lượng công sức của cả 19 gói WBS gộp lại. Số ngày công này được chia cho 4 thành viên trong nhóm thực hiện (Hoàng Đàm Khánh: 47,30; Nguyễn Trọng Hiếu: 50,42; Nguyễn Hồng Dương: 45,10; Phạm Đức Anh: 48,03). </a:t>
            </a:r>
          </a:p>
          <a:p>
            <a:pPr marL="0" indent="0" algn="l">
              <a:buNone/>
            </a:pPr>
            <a:r>
              <a:rPr lang="vi-VN" sz="1400">
                <a:solidFill>
                  <a:srgbClr val="252B33"/>
                </a:solidFill>
                <a:latin typeface="Arial" pitchFamily="34" charset="0"/>
                <a:ea typeface="Arial" pitchFamily="34" charset="-122"/>
                <a:cs typeface="Arial" pitchFamily="34" charset="-120"/>
              </a:rPr>
              <a:t>Lưu ý: Đây là khối lượng nhân công (effort) để trả lương, phân chia đầu việc, không phải số ngày lịch thực tế. Khi các thành viên làm việc song song, thời gian hoàn thành dự án theo lịch biểu sẽ ngắn hơn con số 190 ngày. </a:t>
            </a:r>
          </a:p>
        </p:txBody>
      </p:sp>
      <p:sp>
        <p:nvSpPr>
          <p:cNvPr id="36" name="Text 4">
            <a:extLst>
              <a:ext uri="{FF2B5EF4-FFF2-40B4-BE49-F238E27FC236}">
                <a16:creationId xmlns:a16="http://schemas.microsoft.com/office/drawing/2014/main" id="{7A5E0680-E9D0-0DA7-4E27-B9E97DE9E7B7}"/>
              </a:ext>
            </a:extLst>
          </p:cNvPr>
          <p:cNvSpPr/>
          <p:nvPr/>
        </p:nvSpPr>
        <p:spPr>
          <a:xfrm>
            <a:off x="716279" y="327136"/>
            <a:ext cx="2783477" cy="357618"/>
          </a:xfrm>
          <a:prstGeom prst="rect">
            <a:avLst/>
          </a:prstGeom>
          <a:noFill/>
          <a:ln/>
        </p:spPr>
        <p:txBody>
          <a:bodyPr wrap="square" lIns="0" tIns="0" rIns="0" bIns="0" rtlCol="0" anchor="ctr">
            <a:normAutofit/>
          </a:bodyPr>
          <a:lstStyle/>
          <a:p>
            <a:pPr marL="0" indent="0">
              <a:buNone/>
            </a:pPr>
            <a:r>
              <a:rPr lang="en-US" sz="1600" b="1">
                <a:solidFill>
                  <a:srgbClr val="B00020"/>
                </a:solidFill>
                <a:latin typeface="Arial" pitchFamily="34" charset="0"/>
                <a:cs typeface="Arial" pitchFamily="34" charset="-120"/>
              </a:rPr>
              <a:t>III. QUẢN TRỊ DỰ ÁN</a:t>
            </a:r>
            <a:endParaRPr lang="en-US" sz="1600" dirty="0"/>
          </a:p>
        </p:txBody>
      </p:sp>
      <p:sp>
        <p:nvSpPr>
          <p:cNvPr id="38" name="Text 8">
            <a:extLst>
              <a:ext uri="{FF2B5EF4-FFF2-40B4-BE49-F238E27FC236}">
                <a16:creationId xmlns:a16="http://schemas.microsoft.com/office/drawing/2014/main" id="{288F98A5-E414-6974-8848-096302782AF6}"/>
              </a:ext>
            </a:extLst>
          </p:cNvPr>
          <p:cNvSpPr/>
          <p:nvPr/>
        </p:nvSpPr>
        <p:spPr>
          <a:xfrm>
            <a:off x="640080" y="721330"/>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2. Quản lý thời gian</a:t>
            </a:r>
            <a:endParaRPr lang="en-US" sz="2700" dirty="0"/>
          </a:p>
        </p:txBody>
      </p:sp>
      <p:sp>
        <p:nvSpPr>
          <p:cNvPr id="40" name="Shape 10">
            <a:extLst>
              <a:ext uri="{FF2B5EF4-FFF2-40B4-BE49-F238E27FC236}">
                <a16:creationId xmlns:a16="http://schemas.microsoft.com/office/drawing/2014/main" id="{5992D4A2-C377-E5BC-3164-CBDFE3CBCFB2}"/>
              </a:ext>
            </a:extLst>
          </p:cNvPr>
          <p:cNvSpPr/>
          <p:nvPr/>
        </p:nvSpPr>
        <p:spPr>
          <a:xfrm>
            <a:off x="658368" y="1217971"/>
            <a:ext cx="2776075" cy="0"/>
          </a:xfrm>
          <a:prstGeom prst="line">
            <a:avLst/>
          </a:prstGeom>
          <a:noFill/>
          <a:ln w="25400">
            <a:solidFill>
              <a:srgbClr val="D6A62C"/>
            </a:solidFill>
            <a:prstDash val="solid"/>
          </a:ln>
        </p:spPr>
        <p:txBody>
          <a:bodyPr/>
          <a:lstStyle/>
          <a:p>
            <a:endParaRPr lang="vi-V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7D5BEAF8-AED4-D194-3FBB-42F3A2C4088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CA92356-C095-157D-6065-64E888020C5E}"/>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CE088714-A561-AFD1-C418-01A758B5BE68}"/>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BBD16F9A-33E7-22DB-35B0-C1E2A2BE9E58}"/>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34BD94FC-146E-AE79-5175-20BFB1AD5A47}"/>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36" name="Text 4">
            <a:extLst>
              <a:ext uri="{FF2B5EF4-FFF2-40B4-BE49-F238E27FC236}">
                <a16:creationId xmlns:a16="http://schemas.microsoft.com/office/drawing/2014/main" id="{4FCC0D3B-7031-2D75-7562-A69D8B6ED3B1}"/>
              </a:ext>
            </a:extLst>
          </p:cNvPr>
          <p:cNvSpPr/>
          <p:nvPr/>
        </p:nvSpPr>
        <p:spPr>
          <a:xfrm>
            <a:off x="672736" y="294478"/>
            <a:ext cx="2495006" cy="298448"/>
          </a:xfrm>
          <a:prstGeom prst="rect">
            <a:avLst/>
          </a:prstGeom>
          <a:noFill/>
          <a:ln/>
        </p:spPr>
        <p:txBody>
          <a:bodyPr wrap="square" lIns="0" tIns="0" rIns="0" bIns="0" rtlCol="0" anchor="ctr">
            <a:normAutofit/>
          </a:bodyPr>
          <a:lstStyle/>
          <a:p>
            <a:pPr marL="0" indent="0">
              <a:buNone/>
            </a:pPr>
            <a:r>
              <a:rPr lang="en-US" sz="1600" b="1">
                <a:solidFill>
                  <a:srgbClr val="B00020"/>
                </a:solidFill>
                <a:latin typeface="Arial" pitchFamily="34" charset="0"/>
                <a:cs typeface="Arial" pitchFamily="34" charset="-120"/>
              </a:rPr>
              <a:t>III. QUẢN TRỊ DỰ ÁN</a:t>
            </a:r>
            <a:endParaRPr lang="en-US" sz="1600" dirty="0"/>
          </a:p>
        </p:txBody>
      </p:sp>
      <p:sp>
        <p:nvSpPr>
          <p:cNvPr id="38" name="Text 8">
            <a:extLst>
              <a:ext uri="{FF2B5EF4-FFF2-40B4-BE49-F238E27FC236}">
                <a16:creationId xmlns:a16="http://schemas.microsoft.com/office/drawing/2014/main" id="{0DACB4CB-C94A-0721-F26F-1682AA42AC6E}"/>
              </a:ext>
            </a:extLst>
          </p:cNvPr>
          <p:cNvSpPr/>
          <p:nvPr/>
        </p:nvSpPr>
        <p:spPr>
          <a:xfrm>
            <a:off x="640080" y="568926"/>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2. Quản lý thời gian</a:t>
            </a:r>
            <a:endParaRPr lang="en-US" sz="2700" dirty="0"/>
          </a:p>
        </p:txBody>
      </p:sp>
      <p:sp>
        <p:nvSpPr>
          <p:cNvPr id="40" name="Shape 10">
            <a:extLst>
              <a:ext uri="{FF2B5EF4-FFF2-40B4-BE49-F238E27FC236}">
                <a16:creationId xmlns:a16="http://schemas.microsoft.com/office/drawing/2014/main" id="{F0C05BBA-038D-B753-D46D-1AF75A0EB959}"/>
              </a:ext>
            </a:extLst>
          </p:cNvPr>
          <p:cNvSpPr/>
          <p:nvPr/>
        </p:nvSpPr>
        <p:spPr>
          <a:xfrm>
            <a:off x="658368" y="1022027"/>
            <a:ext cx="1920240" cy="0"/>
          </a:xfrm>
          <a:prstGeom prst="line">
            <a:avLst/>
          </a:prstGeom>
          <a:noFill/>
          <a:ln w="25400">
            <a:solidFill>
              <a:srgbClr val="D6A62C"/>
            </a:solidFill>
            <a:prstDash val="solid"/>
          </a:ln>
        </p:spPr>
        <p:txBody>
          <a:bodyPr/>
          <a:lstStyle/>
          <a:p>
            <a:endParaRPr lang="vi-VN"/>
          </a:p>
        </p:txBody>
      </p:sp>
      <p:graphicFrame>
        <p:nvGraphicFramePr>
          <p:cNvPr id="6" name="Bảng 5">
            <a:extLst>
              <a:ext uri="{FF2B5EF4-FFF2-40B4-BE49-F238E27FC236}">
                <a16:creationId xmlns:a16="http://schemas.microsoft.com/office/drawing/2014/main" id="{D169734E-4224-D4DE-D76E-7E2C9DF9AE3C}"/>
              </a:ext>
            </a:extLst>
          </p:cNvPr>
          <p:cNvGraphicFramePr>
            <a:graphicFrameLocks noGrp="1"/>
          </p:cNvGraphicFramePr>
          <p:nvPr>
            <p:extLst>
              <p:ext uri="{D42A27DB-BD31-4B8C-83A1-F6EECF244321}">
                <p14:modId xmlns:p14="http://schemas.microsoft.com/office/powerpoint/2010/main" val="2590006142"/>
              </p:ext>
            </p:extLst>
          </p:nvPr>
        </p:nvGraphicFramePr>
        <p:xfrm>
          <a:off x="3075210" y="1055352"/>
          <a:ext cx="7173686" cy="5662812"/>
        </p:xfrm>
        <a:graphic>
          <a:graphicData uri="http://schemas.openxmlformats.org/drawingml/2006/table">
            <a:tbl>
              <a:tblPr firstRow="1" firstCol="1" bandRow="1"/>
              <a:tblGrid>
                <a:gridCol w="895461">
                  <a:extLst>
                    <a:ext uri="{9D8B030D-6E8A-4147-A177-3AD203B41FA5}">
                      <a16:colId xmlns:a16="http://schemas.microsoft.com/office/drawing/2014/main" val="3249055423"/>
                    </a:ext>
                  </a:extLst>
                </a:gridCol>
                <a:gridCol w="3369963">
                  <a:extLst>
                    <a:ext uri="{9D8B030D-6E8A-4147-A177-3AD203B41FA5}">
                      <a16:colId xmlns:a16="http://schemas.microsoft.com/office/drawing/2014/main" val="3598997105"/>
                    </a:ext>
                  </a:extLst>
                </a:gridCol>
                <a:gridCol w="761237">
                  <a:extLst>
                    <a:ext uri="{9D8B030D-6E8A-4147-A177-3AD203B41FA5}">
                      <a16:colId xmlns:a16="http://schemas.microsoft.com/office/drawing/2014/main" val="990469871"/>
                    </a:ext>
                  </a:extLst>
                </a:gridCol>
                <a:gridCol w="761237">
                  <a:extLst>
                    <a:ext uri="{9D8B030D-6E8A-4147-A177-3AD203B41FA5}">
                      <a16:colId xmlns:a16="http://schemas.microsoft.com/office/drawing/2014/main" val="2108643975"/>
                    </a:ext>
                  </a:extLst>
                </a:gridCol>
                <a:gridCol w="761237">
                  <a:extLst>
                    <a:ext uri="{9D8B030D-6E8A-4147-A177-3AD203B41FA5}">
                      <a16:colId xmlns:a16="http://schemas.microsoft.com/office/drawing/2014/main" val="1719304686"/>
                    </a:ext>
                  </a:extLst>
                </a:gridCol>
                <a:gridCol w="624551">
                  <a:extLst>
                    <a:ext uri="{9D8B030D-6E8A-4147-A177-3AD203B41FA5}">
                      <a16:colId xmlns:a16="http://schemas.microsoft.com/office/drawing/2014/main" val="860120933"/>
                    </a:ext>
                  </a:extLst>
                </a:gridCol>
              </a:tblGrid>
              <a:tr h="522880">
                <a:tc>
                  <a:txBody>
                    <a:bodyPr/>
                    <a:lstStyle/>
                    <a:p>
                      <a:pPr algn="ctr">
                        <a:lnSpc>
                          <a:spcPct val="122000"/>
                        </a:lnSpc>
                        <a:spcAft>
                          <a:spcPts val="400"/>
                        </a:spcAft>
                        <a:buNone/>
                      </a:pPr>
                      <a:r>
                        <a:rPr lang="en-US" sz="14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WBS</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4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Gói công việc</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4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4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ML</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4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MP</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4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EST chốt</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extLst>
                  <a:ext uri="{0D108BD9-81ED-4DB2-BD59-A6C34878D82A}">
                    <a16:rowId xmlns:a16="http://schemas.microsoft.com/office/drawing/2014/main" val="1053872538"/>
                  </a:ext>
                </a:extLst>
              </a:tr>
              <a:tr h="249491">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1.1</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Khởi động &amp; thiết lập quản trị dự án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7</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11</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7,88</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175489598"/>
                  </a:ext>
                </a:extLst>
              </a:tr>
              <a:tr h="269947">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1.2</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Khảo sát, xác định phạm vi &amp; WBS</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7</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11</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18</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12,65</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4104945966"/>
                  </a:ext>
                </a:extLst>
              </a:tr>
              <a:tr h="249491">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1.3</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Dự toán chi phí &amp; rủi ro ban đầu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8</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4,77</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3998103460"/>
                  </a:ext>
                </a:extLst>
              </a:tr>
              <a:tr h="249491">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2.1</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Tổng hợp khảo sát &amp; mô hình nghiệp vụ</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7</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7,70</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4042423368"/>
                  </a:ext>
                </a:extLst>
              </a:tr>
              <a:tr h="269947">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2.2</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Phân tích use case &amp; yêu cầu hệ thống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16</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23</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17,78</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104761042"/>
                  </a:ext>
                </a:extLst>
              </a:tr>
              <a:tr h="249491">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2.3</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Hoàn thiện SRS &amp; ma trận truy vết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4,58</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2750951264"/>
                  </a:ext>
                </a:extLst>
              </a:tr>
              <a:tr h="249491">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3.1</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Thiết kế kiến trúc &amp; API</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6,97</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177929340"/>
                  </a:ext>
                </a:extLst>
              </a:tr>
              <a:tr h="269947">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3.2</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Thiết kế CSDL, trạng thái &amp; tích hợp nghiệp vụ</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11</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19</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12,65</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3720664651"/>
                  </a:ext>
                </a:extLst>
              </a:tr>
              <a:tr h="249491">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3.3</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Thiết kế prototype &amp; chốt baseline</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15</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11,00</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231180925"/>
                  </a:ext>
                </a:extLst>
              </a:tr>
              <a:tr h="269947">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4.1</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Thiết lập nền tảng phát triển &amp; dữ liệu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7</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13</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14,48</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1688002626"/>
                  </a:ext>
                </a:extLst>
              </a:tr>
              <a:tr h="249491">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4.2</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Phát triển luồng gửi - nhận hàng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16</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11,37</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355357529"/>
                  </a:ext>
                </a:extLst>
              </a:tr>
              <a:tr h="269947">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4.3</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Phát triển thuê ngăn, COD/phí &amp; thanh toán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12</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13,57</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1194032373"/>
                  </a:ext>
                </a:extLst>
              </a:tr>
              <a:tr h="269947">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4.4</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Thông báo, sự cố, báo cáo &amp; tích hợp</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9</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16</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25</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17,97</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3069786859"/>
                  </a:ext>
                </a:extLst>
              </a:tr>
              <a:tr h="249491">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5.1</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Chuẩn bị kiểm thử &amp; Unit Testing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9</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6,60</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4162594237"/>
                  </a:ext>
                </a:extLst>
              </a:tr>
              <a:tr h="269947">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5.2</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Integration/System/NFR &amp; Acceptance Testing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8</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14</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24</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16,13</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50314215"/>
                  </a:ext>
                </a:extLst>
              </a:tr>
              <a:tr h="249491">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5.3</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Sửa lỗi, regression &amp; báo cáo kiểm thử</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7</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11</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7,88</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1612633034"/>
                  </a:ext>
                </a:extLst>
              </a:tr>
              <a:tr h="249491">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6.1</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Đóng gói, triển khai demo &amp; smoke test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11</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6,97</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223948411"/>
                  </a:ext>
                </a:extLst>
              </a:tr>
              <a:tr h="249491">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6.2</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Hoàn thiện hướng dẫn &amp; kịch bản trình bày</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7</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5,50</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2935965178"/>
                  </a:ext>
                </a:extLst>
              </a:tr>
              <a:tr h="249491">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6.3</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Nghiệm thu, bàn giao &amp; đóng dự án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4,40</a:t>
                      </a:r>
                      <a:endParaRPr lang="vi-V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088" marR="30088" marT="26327" marB="26327"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4169377322"/>
                  </a:ext>
                </a:extLst>
              </a:tr>
            </a:tbl>
          </a:graphicData>
        </a:graphic>
      </p:graphicFrame>
    </p:spTree>
    <p:extLst>
      <p:ext uri="{BB962C8B-B14F-4D97-AF65-F5344CB8AC3E}">
        <p14:creationId xmlns:p14="http://schemas.microsoft.com/office/powerpoint/2010/main" val="1793557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09BEAE8B-F4A5-1596-FA91-CAEDEBF76BC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78000D6-1420-6EDF-3BF7-D8558B27D1B2}"/>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69472433-B0DA-4D26-6D20-FFB53E1A34EC}"/>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2115D901-F1D1-DC44-3458-1969DC062EBC}"/>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FB497C7B-234C-84CA-A1A9-E5A9FC5DADAD}"/>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36" name="Text 4">
            <a:extLst>
              <a:ext uri="{FF2B5EF4-FFF2-40B4-BE49-F238E27FC236}">
                <a16:creationId xmlns:a16="http://schemas.microsoft.com/office/drawing/2014/main" id="{75318D7A-6BFE-D342-AED5-50E802552F6C}"/>
              </a:ext>
            </a:extLst>
          </p:cNvPr>
          <p:cNvSpPr/>
          <p:nvPr/>
        </p:nvSpPr>
        <p:spPr>
          <a:xfrm>
            <a:off x="672736" y="250548"/>
            <a:ext cx="2407920" cy="314332"/>
          </a:xfrm>
          <a:prstGeom prst="rect">
            <a:avLst/>
          </a:prstGeom>
          <a:noFill/>
          <a:ln/>
        </p:spPr>
        <p:txBody>
          <a:bodyPr wrap="square" lIns="0" tIns="0" rIns="0" bIns="0" rtlCol="0" anchor="ctr">
            <a:noAutofit/>
          </a:bodyPr>
          <a:lstStyle/>
          <a:p>
            <a:pPr marL="0" indent="0">
              <a:buNone/>
            </a:pPr>
            <a:r>
              <a:rPr lang="en-US" sz="1600" b="1">
                <a:solidFill>
                  <a:srgbClr val="B00020"/>
                </a:solidFill>
                <a:latin typeface="Arial" pitchFamily="34" charset="0"/>
                <a:cs typeface="Arial" pitchFamily="34" charset="-120"/>
              </a:rPr>
              <a:t>III. QUẢN TRỊ DỰ ÁN</a:t>
            </a:r>
            <a:endParaRPr lang="en-US" sz="1600" dirty="0"/>
          </a:p>
        </p:txBody>
      </p:sp>
      <p:sp>
        <p:nvSpPr>
          <p:cNvPr id="38" name="Text 8">
            <a:extLst>
              <a:ext uri="{FF2B5EF4-FFF2-40B4-BE49-F238E27FC236}">
                <a16:creationId xmlns:a16="http://schemas.microsoft.com/office/drawing/2014/main" id="{4A125B4B-057D-D650-4ABB-1D44E07F0C8E}"/>
              </a:ext>
            </a:extLst>
          </p:cNvPr>
          <p:cNvSpPr/>
          <p:nvPr/>
        </p:nvSpPr>
        <p:spPr>
          <a:xfrm>
            <a:off x="640080" y="568926"/>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2. Quản lý thời gian</a:t>
            </a:r>
            <a:endParaRPr lang="en-US" sz="2700" dirty="0"/>
          </a:p>
        </p:txBody>
      </p:sp>
      <p:sp>
        <p:nvSpPr>
          <p:cNvPr id="40" name="Shape 10">
            <a:extLst>
              <a:ext uri="{FF2B5EF4-FFF2-40B4-BE49-F238E27FC236}">
                <a16:creationId xmlns:a16="http://schemas.microsoft.com/office/drawing/2014/main" id="{FF658250-BAAC-C15B-06B0-463FB709A1A7}"/>
              </a:ext>
            </a:extLst>
          </p:cNvPr>
          <p:cNvSpPr/>
          <p:nvPr/>
        </p:nvSpPr>
        <p:spPr>
          <a:xfrm>
            <a:off x="658368" y="1022027"/>
            <a:ext cx="1920240" cy="0"/>
          </a:xfrm>
          <a:prstGeom prst="line">
            <a:avLst/>
          </a:prstGeom>
          <a:noFill/>
          <a:ln w="25400">
            <a:solidFill>
              <a:srgbClr val="D6A62C"/>
            </a:solidFill>
            <a:prstDash val="solid"/>
          </a:ln>
        </p:spPr>
        <p:txBody>
          <a:bodyPr/>
          <a:lstStyle/>
          <a:p>
            <a:endParaRPr lang="vi-VN"/>
          </a:p>
        </p:txBody>
      </p:sp>
      <p:graphicFrame>
        <p:nvGraphicFramePr>
          <p:cNvPr id="8" name="Bảng 7">
            <a:extLst>
              <a:ext uri="{FF2B5EF4-FFF2-40B4-BE49-F238E27FC236}">
                <a16:creationId xmlns:a16="http://schemas.microsoft.com/office/drawing/2014/main" id="{F39BDF24-D395-50B5-F404-D4AB8FE2151A}"/>
              </a:ext>
            </a:extLst>
          </p:cNvPr>
          <p:cNvGraphicFramePr>
            <a:graphicFrameLocks noGrp="1"/>
          </p:cNvGraphicFramePr>
          <p:nvPr>
            <p:extLst>
              <p:ext uri="{D42A27DB-BD31-4B8C-83A1-F6EECF244321}">
                <p14:modId xmlns:p14="http://schemas.microsoft.com/office/powerpoint/2010/main" val="4265023426"/>
              </p:ext>
            </p:extLst>
          </p:nvPr>
        </p:nvGraphicFramePr>
        <p:xfrm>
          <a:off x="2035625" y="1126272"/>
          <a:ext cx="7908472" cy="5568438"/>
        </p:xfrm>
        <a:graphic>
          <a:graphicData uri="http://schemas.openxmlformats.org/drawingml/2006/table">
            <a:tbl>
              <a:tblPr firstRow="1" firstCol="1" bandRow="1"/>
              <a:tblGrid>
                <a:gridCol w="604968">
                  <a:extLst>
                    <a:ext uri="{9D8B030D-6E8A-4147-A177-3AD203B41FA5}">
                      <a16:colId xmlns:a16="http://schemas.microsoft.com/office/drawing/2014/main" val="2560737383"/>
                    </a:ext>
                  </a:extLst>
                </a:gridCol>
                <a:gridCol w="3095669">
                  <a:extLst>
                    <a:ext uri="{9D8B030D-6E8A-4147-A177-3AD203B41FA5}">
                      <a16:colId xmlns:a16="http://schemas.microsoft.com/office/drawing/2014/main" val="1955293165"/>
                    </a:ext>
                  </a:extLst>
                </a:gridCol>
                <a:gridCol w="1209086">
                  <a:extLst>
                    <a:ext uri="{9D8B030D-6E8A-4147-A177-3AD203B41FA5}">
                      <a16:colId xmlns:a16="http://schemas.microsoft.com/office/drawing/2014/main" val="3865512139"/>
                    </a:ext>
                  </a:extLst>
                </a:gridCol>
                <a:gridCol w="1064033">
                  <a:extLst>
                    <a:ext uri="{9D8B030D-6E8A-4147-A177-3AD203B41FA5}">
                      <a16:colId xmlns:a16="http://schemas.microsoft.com/office/drawing/2014/main" val="3722232355"/>
                    </a:ext>
                  </a:extLst>
                </a:gridCol>
                <a:gridCol w="1064033">
                  <a:extLst>
                    <a:ext uri="{9D8B030D-6E8A-4147-A177-3AD203B41FA5}">
                      <a16:colId xmlns:a16="http://schemas.microsoft.com/office/drawing/2014/main" val="3070741546"/>
                    </a:ext>
                  </a:extLst>
                </a:gridCol>
                <a:gridCol w="870683">
                  <a:extLst>
                    <a:ext uri="{9D8B030D-6E8A-4147-A177-3AD203B41FA5}">
                      <a16:colId xmlns:a16="http://schemas.microsoft.com/office/drawing/2014/main" val="3044676616"/>
                    </a:ext>
                  </a:extLst>
                </a:gridCol>
              </a:tblGrid>
              <a:tr h="481606">
                <a:tc>
                  <a:txBody>
                    <a:bodyPr/>
                    <a:lstStyle/>
                    <a:p>
                      <a:pPr algn="ctr">
                        <a:lnSpc>
                          <a:spcPct val="150000"/>
                        </a:lnSpc>
                        <a:spcAft>
                          <a:spcPts val="400"/>
                        </a:spcAft>
                        <a:buNone/>
                      </a:pPr>
                      <a:r>
                        <a:rPr lang="en-US" sz="1000" b="1">
                          <a:solidFill>
                            <a:srgbClr val="000000"/>
                          </a:solidFill>
                          <a:effectLst/>
                          <a:latin typeface="+mj-lt"/>
                          <a:ea typeface="Times New Roman" panose="02020603050405020304" pitchFamily="18" charset="0"/>
                          <a:cs typeface="Times New Roman" panose="02020603050405020304" pitchFamily="18" charset="0"/>
                        </a:rPr>
                        <a:t>Sự kiện</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solidFill>
                            <a:srgbClr val="000000"/>
                          </a:solidFill>
                          <a:effectLst/>
                          <a:latin typeface="+mj-lt"/>
                          <a:ea typeface="Times New Roman" panose="02020603050405020304" pitchFamily="18" charset="0"/>
                          <a:cs typeface="Times New Roman" panose="02020603050405020304" pitchFamily="18" charset="0"/>
                        </a:rPr>
                        <a:t>Ý nghĩa sự kiện</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solidFill>
                            <a:srgbClr val="000000"/>
                          </a:solidFill>
                          <a:effectLst/>
                          <a:latin typeface="+mj-lt"/>
                          <a:ea typeface="Times New Roman" panose="02020603050405020304" pitchFamily="18" charset="0"/>
                          <a:cs typeface="Times New Roman" panose="02020603050405020304" pitchFamily="18" charset="0"/>
                        </a:rPr>
                        <a:t>Công việc</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solidFill>
                            <a:srgbClr val="000000"/>
                          </a:solidFill>
                          <a:effectLst/>
                          <a:latin typeface="+mj-lt"/>
                          <a:ea typeface="Times New Roman" panose="02020603050405020304" pitchFamily="18" charset="0"/>
                          <a:cs typeface="Times New Roman" panose="02020603050405020304" pitchFamily="18" charset="0"/>
                        </a:rPr>
                        <a:t>Thời hạn sớm</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solidFill>
                            <a:srgbClr val="000000"/>
                          </a:solidFill>
                          <a:effectLst/>
                          <a:latin typeface="+mj-lt"/>
                          <a:ea typeface="Times New Roman" panose="02020603050405020304" pitchFamily="18" charset="0"/>
                          <a:cs typeface="Times New Roman" panose="02020603050405020304" pitchFamily="18" charset="0"/>
                        </a:rPr>
                        <a:t>Thời hạn muộn</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solidFill>
                            <a:srgbClr val="000000"/>
                          </a:solidFill>
                          <a:effectLst/>
                          <a:latin typeface="+mj-lt"/>
                          <a:ea typeface="Times New Roman" panose="02020603050405020304" pitchFamily="18" charset="0"/>
                          <a:cs typeface="Times New Roman" panose="02020603050405020304" pitchFamily="18" charset="0"/>
                        </a:rPr>
                        <a:t>Găng?</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9872395"/>
                  </a:ext>
                </a:extLst>
              </a:tr>
              <a:tr h="225445">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Bắt đầu dự án</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Bắt đầu</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0,00</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0,00</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Có</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4269807"/>
                  </a:ext>
                </a:extLst>
              </a:tr>
              <a:tr h="225445">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2</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Hoàn thành 1.1</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1.1</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7,88</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7,88</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Có</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2002931"/>
                  </a:ext>
                </a:extLst>
              </a:tr>
              <a:tr h="369928">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Hoàn thành 1.3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1.3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12,65</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20,53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Không</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8740067"/>
                  </a:ext>
                </a:extLst>
              </a:tr>
              <a:tr h="225445">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4</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Hội tụ 1.2 và 1.3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1.2 + e1</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20,53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20,53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Có</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2815370"/>
                  </a:ext>
                </a:extLst>
              </a:tr>
              <a:tr h="225445">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5</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Hoàn thành 2.1</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2.1</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28,23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28,23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Có</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87852093"/>
                  </a:ext>
                </a:extLst>
              </a:tr>
              <a:tr h="225445">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6</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Hoàn thành 2.2</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2.2</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46,02</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46,02</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Có</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8054863"/>
                  </a:ext>
                </a:extLst>
              </a:tr>
              <a:tr h="225445">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7</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Hoàn thành 2.3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2.3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50,60</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50,60</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Có</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3416285"/>
                  </a:ext>
                </a:extLst>
              </a:tr>
              <a:tr h="369928">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8</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Hoàn thành 3.1</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3.1</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57,57</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63,25</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Không</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07634643"/>
                  </a:ext>
                </a:extLst>
              </a:tr>
              <a:tr h="225445">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9</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Hội tụ 3.1 và 3.2</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3.2 + e2</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63,25</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63,25</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Có</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1989361"/>
                  </a:ext>
                </a:extLst>
              </a:tr>
              <a:tr h="225445">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10</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Hoàn thành 3.3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3.3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74,25</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74,25</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Có</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6239326"/>
                  </a:ext>
                </a:extLst>
              </a:tr>
              <a:tr h="225445">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11</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Hoàn thành 4.1</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4.1</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88,73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88,73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Có</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34102678"/>
                  </a:ext>
                </a:extLst>
              </a:tr>
              <a:tr h="369928">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12</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Hoàn thành 4.2</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4.2</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100,10</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102,30</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Không</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0872008"/>
                  </a:ext>
                </a:extLst>
              </a:tr>
              <a:tr h="225445">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Hội tụ 4.2 và 4.3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4.3 + e3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102,30</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102,30</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Có</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7445263"/>
                  </a:ext>
                </a:extLst>
              </a:tr>
              <a:tr h="225445">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14</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Hoàn thành 4.4</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4.4</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120,27</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120,27</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Có</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126754"/>
                  </a:ext>
                </a:extLst>
              </a:tr>
              <a:tr h="225445">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15</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Hoàn thành 5.1</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5.1</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126,87</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126,87</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Có</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8920802"/>
                  </a:ext>
                </a:extLst>
              </a:tr>
              <a:tr h="225445">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16</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Hoàn thành 5.2</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5.2</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143,00</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143,00</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Có</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219014"/>
                  </a:ext>
                </a:extLst>
              </a:tr>
              <a:tr h="225445">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17</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Hoàn thành 5.3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5.3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150,88</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150,88</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Có</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5908818"/>
                  </a:ext>
                </a:extLst>
              </a:tr>
              <a:tr h="369928">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18</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Hoàn thành 6.2</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6.2</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156,38</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157,85</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Không</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21142025"/>
                  </a:ext>
                </a:extLst>
              </a:tr>
              <a:tr h="225445">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19</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Hội tụ 6.1 và 6.2</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6.1 + e4</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157,85</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157,85</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Có</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7355308"/>
                  </a:ext>
                </a:extLst>
              </a:tr>
              <a:tr h="225445">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20</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Kết thúc 6.3 / dự án</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a:effectLst/>
                          <a:latin typeface="+mj-lt"/>
                          <a:ea typeface="Times New Roman" panose="02020603050405020304" pitchFamily="18" charset="0"/>
                          <a:cs typeface="Times New Roman" panose="02020603050405020304" pitchFamily="18" charset="0"/>
                        </a:rPr>
                        <a:t>6.3</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162,25</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162,25</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400"/>
                        </a:spcAft>
                        <a:buNone/>
                      </a:pPr>
                      <a:r>
                        <a:rPr lang="en-US" sz="1000" b="1">
                          <a:effectLst/>
                          <a:latin typeface="+mj-lt"/>
                          <a:ea typeface="Times New Roman" panose="02020603050405020304" pitchFamily="18" charset="0"/>
                          <a:cs typeface="Times New Roman" panose="02020603050405020304" pitchFamily="18" charset="0"/>
                        </a:rPr>
                        <a:t>Có</a:t>
                      </a:r>
                      <a:endParaRPr lang="vi-VN" sz="1000">
                        <a:effectLst/>
                        <a:latin typeface="+mj-lt"/>
                        <a:ea typeface="Times New Roman" panose="02020603050405020304" pitchFamily="18" charset="0"/>
                        <a:cs typeface="Times New Roman" panose="02020603050405020304" pitchFamily="18" charset="0"/>
                      </a:endParaRPr>
                    </a:p>
                  </a:txBody>
                  <a:tcPr marL="46326" marR="4632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97120620"/>
                  </a:ext>
                </a:extLst>
              </a:tr>
            </a:tbl>
          </a:graphicData>
        </a:graphic>
      </p:graphicFrame>
    </p:spTree>
    <p:extLst>
      <p:ext uri="{BB962C8B-B14F-4D97-AF65-F5344CB8AC3E}">
        <p14:creationId xmlns:p14="http://schemas.microsoft.com/office/powerpoint/2010/main" val="2885086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775FEA19-3B01-58E7-8E97-99A18BB271D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FB9EBC0-D574-9391-2A1D-38AB461A8A9A}"/>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EAD97BFB-D949-FB5F-E752-6378FADC0DA6}"/>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BC2BF3A0-E945-DD85-3E23-E8DC0751AF8C}"/>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5EF275A8-E721-09A1-85EA-49DBEF7EC7EC}"/>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36" name="Text 4">
            <a:extLst>
              <a:ext uri="{FF2B5EF4-FFF2-40B4-BE49-F238E27FC236}">
                <a16:creationId xmlns:a16="http://schemas.microsoft.com/office/drawing/2014/main" id="{FFD063B3-93D0-EACC-1EB4-0769D8FDE5B4}"/>
              </a:ext>
            </a:extLst>
          </p:cNvPr>
          <p:cNvSpPr/>
          <p:nvPr/>
        </p:nvSpPr>
        <p:spPr>
          <a:xfrm>
            <a:off x="672736" y="250548"/>
            <a:ext cx="2407920" cy="314332"/>
          </a:xfrm>
          <a:prstGeom prst="rect">
            <a:avLst/>
          </a:prstGeom>
          <a:noFill/>
          <a:ln/>
        </p:spPr>
        <p:txBody>
          <a:bodyPr wrap="square" lIns="0" tIns="0" rIns="0" bIns="0" rtlCol="0" anchor="ctr">
            <a:noAutofit/>
          </a:bodyPr>
          <a:lstStyle/>
          <a:p>
            <a:pPr marL="0" indent="0">
              <a:buNone/>
            </a:pPr>
            <a:r>
              <a:rPr lang="en-US" sz="1600" b="1">
                <a:solidFill>
                  <a:srgbClr val="B00020"/>
                </a:solidFill>
                <a:latin typeface="Arial" pitchFamily="34" charset="0"/>
                <a:cs typeface="Arial" pitchFamily="34" charset="-120"/>
              </a:rPr>
              <a:t>III. QUẢN TRỊ DỰ ÁN</a:t>
            </a:r>
            <a:endParaRPr lang="en-US" sz="1600" dirty="0"/>
          </a:p>
        </p:txBody>
      </p:sp>
      <p:sp>
        <p:nvSpPr>
          <p:cNvPr id="38" name="Text 8">
            <a:extLst>
              <a:ext uri="{FF2B5EF4-FFF2-40B4-BE49-F238E27FC236}">
                <a16:creationId xmlns:a16="http://schemas.microsoft.com/office/drawing/2014/main" id="{55517896-E500-B83A-75D4-88CCFE142225}"/>
              </a:ext>
            </a:extLst>
          </p:cNvPr>
          <p:cNvSpPr/>
          <p:nvPr/>
        </p:nvSpPr>
        <p:spPr>
          <a:xfrm>
            <a:off x="640080" y="568926"/>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2. Quản lý thời gian</a:t>
            </a:r>
            <a:endParaRPr lang="en-US" sz="2700" dirty="0"/>
          </a:p>
        </p:txBody>
      </p:sp>
      <p:sp>
        <p:nvSpPr>
          <p:cNvPr id="40" name="Shape 10">
            <a:extLst>
              <a:ext uri="{FF2B5EF4-FFF2-40B4-BE49-F238E27FC236}">
                <a16:creationId xmlns:a16="http://schemas.microsoft.com/office/drawing/2014/main" id="{8536EE88-9B4D-DE29-4DC9-C7A397C6EBAA}"/>
              </a:ext>
            </a:extLst>
          </p:cNvPr>
          <p:cNvSpPr/>
          <p:nvPr/>
        </p:nvSpPr>
        <p:spPr>
          <a:xfrm>
            <a:off x="658368" y="1022027"/>
            <a:ext cx="3124418" cy="0"/>
          </a:xfrm>
          <a:prstGeom prst="line">
            <a:avLst/>
          </a:prstGeom>
          <a:noFill/>
          <a:ln w="25400">
            <a:solidFill>
              <a:srgbClr val="D6A62C"/>
            </a:solidFill>
            <a:prstDash val="solid"/>
          </a:ln>
        </p:spPr>
        <p:txBody>
          <a:bodyPr/>
          <a:lstStyle/>
          <a:p>
            <a:endParaRPr lang="vi-VN"/>
          </a:p>
        </p:txBody>
      </p:sp>
      <p:sp>
        <p:nvSpPr>
          <p:cNvPr id="11" name="Text 15">
            <a:extLst>
              <a:ext uri="{FF2B5EF4-FFF2-40B4-BE49-F238E27FC236}">
                <a16:creationId xmlns:a16="http://schemas.microsoft.com/office/drawing/2014/main" id="{612CCD60-B502-14E6-D31F-CBE6C6EE5321}"/>
              </a:ext>
            </a:extLst>
          </p:cNvPr>
          <p:cNvSpPr/>
          <p:nvPr/>
        </p:nvSpPr>
        <p:spPr>
          <a:xfrm>
            <a:off x="7854043" y="1061356"/>
            <a:ext cx="3338213" cy="5385163"/>
          </a:xfrm>
          <a:prstGeom prst="rect">
            <a:avLst/>
          </a:prstGeom>
          <a:noFill/>
          <a:ln/>
        </p:spPr>
        <p:txBody>
          <a:bodyPr wrap="square" lIns="1016" tIns="1016" rIns="1016" bIns="1016" rtlCol="0" anchor="ctr">
            <a:normAutofit/>
          </a:bodyPr>
          <a:lstStyle/>
          <a:p>
            <a:pPr marL="0" indent="0" algn="l">
              <a:buNone/>
            </a:pPr>
            <a:r>
              <a:rPr lang="vi-VN" sz="1400">
                <a:solidFill>
                  <a:srgbClr val="252B33"/>
                </a:solidFill>
                <a:latin typeface="Arial" pitchFamily="34" charset="0"/>
                <a:ea typeface="Arial" pitchFamily="34" charset="-122"/>
                <a:cs typeface="Arial" pitchFamily="34" charset="-120"/>
              </a:rPr>
              <a:t>Ghi chú: e1, e2, e3, e4 là các công việc giả có thời gian bằng 0, dùng để thể hiện đúng quan hệ hội tụ trong sơ đồ PERT.</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 </a:t>
            </a:r>
            <a:r>
              <a:rPr lang="vi-VN" sz="1400" b="1">
                <a:solidFill>
                  <a:srgbClr val="252B33"/>
                </a:solidFill>
                <a:latin typeface="Arial" pitchFamily="34" charset="0"/>
                <a:ea typeface="Arial" pitchFamily="34" charset="-122"/>
                <a:cs typeface="Arial" pitchFamily="34" charset="-120"/>
              </a:rPr>
              <a:t>Các sự kiện găng:</a:t>
            </a:r>
            <a:r>
              <a:rPr lang="vi-VN" sz="1400">
                <a:solidFill>
                  <a:srgbClr val="252B33"/>
                </a:solidFill>
                <a:latin typeface="Arial" pitchFamily="34" charset="0"/>
                <a:ea typeface="Arial" pitchFamily="34" charset="-122"/>
                <a:cs typeface="Arial" pitchFamily="34" charset="-120"/>
              </a:rPr>
              <a:t> 1, 2, 4, 5, 6, 7, 9, 10, 11, 13, 14, 15, 16, 17, 19, 20.</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 </a:t>
            </a:r>
            <a:r>
              <a:rPr lang="vi-VN" sz="1400" b="1">
                <a:solidFill>
                  <a:srgbClr val="252B33"/>
                </a:solidFill>
                <a:latin typeface="Arial" pitchFamily="34" charset="0"/>
                <a:ea typeface="Arial" pitchFamily="34" charset="-122"/>
                <a:cs typeface="Arial" pitchFamily="34" charset="-120"/>
              </a:rPr>
              <a:t>Công việc găng:</a:t>
            </a:r>
            <a:r>
              <a:rPr lang="vi-VN" sz="1400">
                <a:solidFill>
                  <a:srgbClr val="252B33"/>
                </a:solidFill>
                <a:latin typeface="Arial" pitchFamily="34" charset="0"/>
                <a:ea typeface="Arial" pitchFamily="34" charset="-122"/>
                <a:cs typeface="Arial" pitchFamily="34" charset="-120"/>
              </a:rPr>
              <a:t> 1.1, 1.2, 2.1, 2.2, 2.3, 3.2, 3.3, 4.1, 4.3, 4.4, 5.1, 5.2, 5.3, 6.1, 6.3.</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 </a:t>
            </a:r>
            <a:r>
              <a:rPr lang="vi-VN" sz="1400" b="1">
                <a:solidFill>
                  <a:srgbClr val="252B33"/>
                </a:solidFill>
                <a:latin typeface="Arial" pitchFamily="34" charset="0"/>
                <a:ea typeface="Arial" pitchFamily="34" charset="-122"/>
                <a:cs typeface="Arial" pitchFamily="34" charset="-120"/>
              </a:rPr>
              <a:t>Các công việc không găng </a:t>
            </a:r>
            <a:r>
              <a:rPr lang="vi-VN" sz="1400">
                <a:solidFill>
                  <a:srgbClr val="252B33"/>
                </a:solidFill>
                <a:latin typeface="Arial" pitchFamily="34" charset="0"/>
                <a:ea typeface="Arial" pitchFamily="34" charset="-122"/>
                <a:cs typeface="Arial" pitchFamily="34" charset="-120"/>
              </a:rPr>
              <a:t>1.3, 3.1, 4.2 và 6.2 có dự trữ lần lượt khoảng 7,88; 5,68; 2,20 và 1,47.</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 </a:t>
            </a:r>
            <a:r>
              <a:rPr lang="vi-VN" sz="1400" b="1">
                <a:solidFill>
                  <a:srgbClr val="252B33"/>
                </a:solidFill>
                <a:latin typeface="Arial" pitchFamily="34" charset="0"/>
                <a:ea typeface="Arial" pitchFamily="34" charset="-122"/>
                <a:cs typeface="Arial" pitchFamily="34" charset="-120"/>
              </a:rPr>
              <a:t>Đường găng: </a:t>
            </a:r>
            <a:r>
              <a:rPr lang="vi-VN" sz="1400">
                <a:solidFill>
                  <a:srgbClr val="252B33"/>
                </a:solidFill>
                <a:latin typeface="Arial" pitchFamily="34" charset="0"/>
                <a:ea typeface="Arial" pitchFamily="34" charset="-122"/>
                <a:cs typeface="Arial" pitchFamily="34" charset="-120"/>
              </a:rPr>
              <a:t>1.1 → 1.2 → 2.1 → 2.2 → 2.3 → 3.2 → 3.3 → 4.1 → 4.3 → 4.4 → 5.1 → 5.2 → 5.3 → 6.1 → 6.3.</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 </a:t>
            </a:r>
            <a:r>
              <a:rPr lang="vi-VN" sz="1400" b="1">
                <a:solidFill>
                  <a:srgbClr val="252B33"/>
                </a:solidFill>
                <a:latin typeface="Arial" pitchFamily="34" charset="0"/>
                <a:ea typeface="Arial" pitchFamily="34" charset="-122"/>
                <a:cs typeface="Arial" pitchFamily="34" charset="-120"/>
              </a:rPr>
              <a:t>Độ dài đường găng:</a:t>
            </a:r>
            <a:r>
              <a:rPr lang="vi-VN" sz="1400">
                <a:solidFill>
                  <a:srgbClr val="252B33"/>
                </a:solidFill>
                <a:latin typeface="Arial" pitchFamily="34" charset="0"/>
                <a:ea typeface="Arial" pitchFamily="34" charset="-122"/>
                <a:cs typeface="Arial" pitchFamily="34" charset="-120"/>
              </a:rPr>
              <a:t> 162,25 (ngày).</a:t>
            </a:r>
          </a:p>
        </p:txBody>
      </p:sp>
      <p:pic>
        <p:nvPicPr>
          <p:cNvPr id="6" name="Hình ảnh 5">
            <a:extLst>
              <a:ext uri="{FF2B5EF4-FFF2-40B4-BE49-F238E27FC236}">
                <a16:creationId xmlns:a16="http://schemas.microsoft.com/office/drawing/2014/main" id="{835417AA-652C-381B-0123-4AF6BE32334F}"/>
              </a:ext>
            </a:extLst>
          </p:cNvPr>
          <p:cNvPicPr>
            <a:picLocks noChangeAspect="1"/>
          </p:cNvPicPr>
          <p:nvPr/>
        </p:nvPicPr>
        <p:blipFill>
          <a:blip r:embed="rId3"/>
          <a:stretch>
            <a:fillRect/>
          </a:stretch>
        </p:blipFill>
        <p:spPr>
          <a:xfrm>
            <a:off x="359883" y="1187876"/>
            <a:ext cx="7096178" cy="5419576"/>
          </a:xfrm>
          <a:prstGeom prst="rect">
            <a:avLst/>
          </a:prstGeom>
        </p:spPr>
      </p:pic>
    </p:spTree>
    <p:extLst>
      <p:ext uri="{BB962C8B-B14F-4D97-AF65-F5344CB8AC3E}">
        <p14:creationId xmlns:p14="http://schemas.microsoft.com/office/powerpoint/2010/main" val="2232472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4D5F7EB7-084A-2FD2-7237-B8A1836422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385E1D5-2F60-EBA6-9B75-7A0EF91829E5}"/>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34E62290-284D-1FFF-129B-48D42499E248}"/>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2E34E8BD-84FB-7797-6BD7-992DEC9D982B}"/>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2990026B-65A6-27CC-AF84-1A95FCAE6DEE}"/>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6" name="Text 4">
            <a:extLst>
              <a:ext uri="{FF2B5EF4-FFF2-40B4-BE49-F238E27FC236}">
                <a16:creationId xmlns:a16="http://schemas.microsoft.com/office/drawing/2014/main" id="{4C47D0CC-D962-8949-7C5B-D0894ABBC75D}"/>
              </a:ext>
            </a:extLst>
          </p:cNvPr>
          <p:cNvSpPr/>
          <p:nvPr/>
        </p:nvSpPr>
        <p:spPr>
          <a:xfrm>
            <a:off x="716280" y="327136"/>
            <a:ext cx="2325956" cy="237744"/>
          </a:xfrm>
          <a:prstGeom prst="rect">
            <a:avLst/>
          </a:prstGeom>
          <a:noFill/>
          <a:ln/>
        </p:spPr>
        <p:txBody>
          <a:bodyPr wrap="square" lIns="0" tIns="0" rIns="0" bIns="0" rtlCol="0" anchor="ctr">
            <a:normAutofit/>
          </a:bodyPr>
          <a:lstStyle/>
          <a:p>
            <a:pPr marL="0" indent="0">
              <a:buNone/>
            </a:pPr>
            <a:r>
              <a:rPr lang="en-US" sz="1200" b="1">
                <a:solidFill>
                  <a:srgbClr val="B00020"/>
                </a:solidFill>
                <a:latin typeface="Arial" pitchFamily="34" charset="0"/>
                <a:cs typeface="Arial" pitchFamily="34" charset="-120"/>
              </a:rPr>
              <a:t>III. QUẢN TRỊ DỰ ÁN</a:t>
            </a:r>
            <a:endParaRPr lang="en-US" sz="1200" dirty="0"/>
          </a:p>
        </p:txBody>
      </p:sp>
      <p:sp>
        <p:nvSpPr>
          <p:cNvPr id="7" name="Text 5">
            <a:extLst>
              <a:ext uri="{FF2B5EF4-FFF2-40B4-BE49-F238E27FC236}">
                <a16:creationId xmlns:a16="http://schemas.microsoft.com/office/drawing/2014/main" id="{17E246B9-33B0-25D4-A13A-AC21CC8B84E2}"/>
              </a:ext>
            </a:extLst>
          </p:cNvPr>
          <p:cNvSpPr/>
          <p:nvPr/>
        </p:nvSpPr>
        <p:spPr>
          <a:xfrm>
            <a:off x="5549346" y="6565392"/>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10" name="Text 8">
            <a:extLst>
              <a:ext uri="{FF2B5EF4-FFF2-40B4-BE49-F238E27FC236}">
                <a16:creationId xmlns:a16="http://schemas.microsoft.com/office/drawing/2014/main" id="{36FCCAE9-98EB-1E86-BC3E-F616C22D5003}"/>
              </a:ext>
            </a:extLst>
          </p:cNvPr>
          <p:cNvSpPr/>
          <p:nvPr/>
        </p:nvSpPr>
        <p:spPr>
          <a:xfrm>
            <a:off x="640080" y="721330"/>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3. Quản lý chi phí</a:t>
            </a:r>
            <a:endParaRPr lang="en-US" sz="2700" dirty="0"/>
          </a:p>
        </p:txBody>
      </p:sp>
      <p:sp>
        <p:nvSpPr>
          <p:cNvPr id="12" name="Shape 10">
            <a:extLst>
              <a:ext uri="{FF2B5EF4-FFF2-40B4-BE49-F238E27FC236}">
                <a16:creationId xmlns:a16="http://schemas.microsoft.com/office/drawing/2014/main" id="{5DAD7263-A03C-1719-1229-4B8E227F3A73}"/>
              </a:ext>
            </a:extLst>
          </p:cNvPr>
          <p:cNvSpPr/>
          <p:nvPr/>
        </p:nvSpPr>
        <p:spPr>
          <a:xfrm>
            <a:off x="658368" y="1217971"/>
            <a:ext cx="1920240" cy="0"/>
          </a:xfrm>
          <a:prstGeom prst="line">
            <a:avLst/>
          </a:prstGeom>
          <a:noFill/>
          <a:ln w="25400">
            <a:solidFill>
              <a:srgbClr val="D6A62C"/>
            </a:solidFill>
            <a:prstDash val="solid"/>
          </a:ln>
        </p:spPr>
        <p:txBody>
          <a:bodyPr/>
          <a:lstStyle/>
          <a:p>
            <a:endParaRPr lang="vi-VN"/>
          </a:p>
        </p:txBody>
      </p:sp>
      <p:sp>
        <p:nvSpPr>
          <p:cNvPr id="17" name="Text 14">
            <a:extLst>
              <a:ext uri="{FF2B5EF4-FFF2-40B4-BE49-F238E27FC236}">
                <a16:creationId xmlns:a16="http://schemas.microsoft.com/office/drawing/2014/main" id="{AD64EBDA-B5FC-B622-D53E-D8B5EF6A5DC5}"/>
              </a:ext>
            </a:extLst>
          </p:cNvPr>
          <p:cNvSpPr/>
          <p:nvPr/>
        </p:nvSpPr>
        <p:spPr>
          <a:xfrm>
            <a:off x="2151192" y="1288374"/>
            <a:ext cx="3132164" cy="328781"/>
          </a:xfrm>
          <a:prstGeom prst="rect">
            <a:avLst/>
          </a:prstGeom>
          <a:noFill/>
          <a:ln/>
        </p:spPr>
        <p:txBody>
          <a:bodyPr wrap="square" lIns="1016" tIns="1016" rIns="1016" bIns="1016" rtlCol="0" anchor="ctr">
            <a:normAutofit/>
          </a:bodyPr>
          <a:lstStyle/>
          <a:p>
            <a:pPr marL="0" indent="0" algn="l">
              <a:buNone/>
            </a:pPr>
            <a:r>
              <a:rPr lang="en-US" sz="1400" b="1">
                <a:solidFill>
                  <a:srgbClr val="B00020"/>
                </a:solidFill>
                <a:latin typeface="Arial" pitchFamily="34" charset="0"/>
                <a:ea typeface="Arial" pitchFamily="34" charset="-122"/>
                <a:cs typeface="Arial" pitchFamily="34" charset="-120"/>
              </a:rPr>
              <a:t>Ngân sách kế hoạch</a:t>
            </a:r>
            <a:endParaRPr lang="en-US" sz="1400" dirty="0"/>
          </a:p>
        </p:txBody>
      </p:sp>
      <p:graphicFrame>
        <p:nvGraphicFramePr>
          <p:cNvPr id="13" name="Bảng 12">
            <a:extLst>
              <a:ext uri="{FF2B5EF4-FFF2-40B4-BE49-F238E27FC236}">
                <a16:creationId xmlns:a16="http://schemas.microsoft.com/office/drawing/2014/main" id="{B4DE7A7D-6D88-C1ED-28D0-8CC5132350EB}"/>
              </a:ext>
            </a:extLst>
          </p:cNvPr>
          <p:cNvGraphicFramePr>
            <a:graphicFrameLocks noGrp="1"/>
          </p:cNvGraphicFramePr>
          <p:nvPr>
            <p:extLst>
              <p:ext uri="{D42A27DB-BD31-4B8C-83A1-F6EECF244321}">
                <p14:modId xmlns:p14="http://schemas.microsoft.com/office/powerpoint/2010/main" val="3350990454"/>
              </p:ext>
            </p:extLst>
          </p:nvPr>
        </p:nvGraphicFramePr>
        <p:xfrm>
          <a:off x="640080" y="1766351"/>
          <a:ext cx="5042264" cy="4604612"/>
        </p:xfrm>
        <a:graphic>
          <a:graphicData uri="http://schemas.openxmlformats.org/drawingml/2006/table">
            <a:tbl>
              <a:tblPr firstRow="1" firstCol="1" bandRow="1"/>
              <a:tblGrid>
                <a:gridCol w="1143845">
                  <a:extLst>
                    <a:ext uri="{9D8B030D-6E8A-4147-A177-3AD203B41FA5}">
                      <a16:colId xmlns:a16="http://schemas.microsoft.com/office/drawing/2014/main" val="2626254471"/>
                    </a:ext>
                  </a:extLst>
                </a:gridCol>
                <a:gridCol w="975192">
                  <a:extLst>
                    <a:ext uri="{9D8B030D-6E8A-4147-A177-3AD203B41FA5}">
                      <a16:colId xmlns:a16="http://schemas.microsoft.com/office/drawing/2014/main" val="2474980496"/>
                    </a:ext>
                  </a:extLst>
                </a:gridCol>
                <a:gridCol w="1203671">
                  <a:extLst>
                    <a:ext uri="{9D8B030D-6E8A-4147-A177-3AD203B41FA5}">
                      <a16:colId xmlns:a16="http://schemas.microsoft.com/office/drawing/2014/main" val="2152757191"/>
                    </a:ext>
                  </a:extLst>
                </a:gridCol>
                <a:gridCol w="1719556">
                  <a:extLst>
                    <a:ext uri="{9D8B030D-6E8A-4147-A177-3AD203B41FA5}">
                      <a16:colId xmlns:a16="http://schemas.microsoft.com/office/drawing/2014/main" val="4002462535"/>
                    </a:ext>
                  </a:extLst>
                </a:gridCol>
              </a:tblGrid>
              <a:tr h="635908">
                <a:tc>
                  <a:txBody>
                    <a:bodyPr/>
                    <a:lstStyle/>
                    <a:p>
                      <a:pPr algn="ctr">
                        <a:lnSpc>
                          <a:spcPct val="122000"/>
                        </a:lnSpc>
                        <a:spcAft>
                          <a:spcPts val="400"/>
                        </a:spcAft>
                        <a:buNone/>
                      </a:pPr>
                      <a:r>
                        <a:rPr lang="en-US"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Nhóm chi phí</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Giá trị (triệu đồng)</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Tỷ trọng</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Cơ sở</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extLst>
                  <a:ext uri="{0D108BD9-81ED-4DB2-BD59-A6C34878D82A}">
                    <a16:rowId xmlns:a16="http://schemas.microsoft.com/office/drawing/2014/main" val="3396482804"/>
                  </a:ext>
                </a:extLst>
              </a:tr>
              <a:tr h="727579">
                <a:tc>
                  <a:txBody>
                    <a:bodyPr/>
                    <a:lstStyle/>
                    <a:p>
                      <a:pPr algn="ct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Nhân công</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250,0</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25,0%</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Phân bổ theo tỷ trọng 190,85 ngày công của 19 gói WBS</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982323073"/>
                  </a:ext>
                </a:extLst>
              </a:tr>
              <a:tr h="1058387">
                <a:tc>
                  <a:txBody>
                    <a:bodyPr/>
                    <a:lstStyle/>
                    <a:p>
                      <a:pPr algn="ct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Hạ tầng/thiết bị demo</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300,0</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30,0%</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Cloud/VPS, dịch vụ CSDL/API, IoT mock, mạng/lưu trữ, QR/thiết bị demo, công cụ test</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2851101792"/>
                  </a:ext>
                </a:extLst>
              </a:tr>
              <a:tr h="1058387">
                <a:tc>
                  <a:txBody>
                    <a:bodyPr/>
                    <a:lstStyle/>
                    <a:p>
                      <a:pPr algn="ct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Chi khác</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400,0</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40,0%</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Khảo sát, mô hình hóa, UX/prototype, hỗ trợ tích hợp, kiểm thử chuyên sâu, demo, tài liệu</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869122476"/>
                  </a:ext>
                </a:extLst>
              </a:tr>
              <a:tr h="727579">
                <a:tc>
                  <a:txBody>
                    <a:bodyPr/>
                    <a:lstStyle/>
                    <a:p>
                      <a:pPr algn="ct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Dự phòng rủi ro</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50,0</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5,0%</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Chỉ sử dụng khi rủi ro phát sinh và được PM/nhóm phê duyệt</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2988637843"/>
                  </a:ext>
                </a:extLst>
              </a:tr>
              <a:tr h="396772">
                <a:tc>
                  <a:txBody>
                    <a:bodyPr/>
                    <a:lstStyle/>
                    <a:p>
                      <a:pPr algn="ct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TỔNG</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1.000,0</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Ngân sách giả định toàn dự án</a:t>
                      </a:r>
                      <a:endParaRPr lang="vi-V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51" marR="41351" marT="36182" marB="36182"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397589510"/>
                  </a:ext>
                </a:extLst>
              </a:tr>
            </a:tbl>
          </a:graphicData>
        </a:graphic>
      </p:graphicFrame>
      <p:sp>
        <p:nvSpPr>
          <p:cNvPr id="15" name="Text 14">
            <a:extLst>
              <a:ext uri="{FF2B5EF4-FFF2-40B4-BE49-F238E27FC236}">
                <a16:creationId xmlns:a16="http://schemas.microsoft.com/office/drawing/2014/main" id="{097FC84A-EFBB-4F5E-C85E-8C34555F6441}"/>
              </a:ext>
            </a:extLst>
          </p:cNvPr>
          <p:cNvSpPr/>
          <p:nvPr/>
        </p:nvSpPr>
        <p:spPr>
          <a:xfrm>
            <a:off x="7309911" y="1304638"/>
            <a:ext cx="4038449" cy="328781"/>
          </a:xfrm>
          <a:prstGeom prst="rect">
            <a:avLst/>
          </a:prstGeom>
          <a:noFill/>
          <a:ln/>
        </p:spPr>
        <p:txBody>
          <a:bodyPr wrap="square" lIns="1016" tIns="1016" rIns="1016" bIns="1016" rtlCol="0" anchor="ctr">
            <a:normAutofit/>
          </a:bodyPr>
          <a:lstStyle/>
          <a:p>
            <a:pPr marL="0" indent="0" algn="l">
              <a:buNone/>
            </a:pPr>
            <a:r>
              <a:rPr lang="en-US" sz="1400" b="1">
                <a:solidFill>
                  <a:srgbClr val="B00020"/>
                </a:solidFill>
                <a:latin typeface="Arial" pitchFamily="34" charset="0"/>
                <a:ea typeface="Arial" pitchFamily="34" charset="-122"/>
                <a:cs typeface="Arial" pitchFamily="34" charset="-120"/>
              </a:rPr>
              <a:t>Chi phí nhân công và phân bổ nguồn lực</a:t>
            </a:r>
            <a:endParaRPr lang="en-US" sz="1400" dirty="0"/>
          </a:p>
        </p:txBody>
      </p:sp>
      <p:graphicFrame>
        <p:nvGraphicFramePr>
          <p:cNvPr id="20" name="Bảng 19">
            <a:extLst>
              <a:ext uri="{FF2B5EF4-FFF2-40B4-BE49-F238E27FC236}">
                <a16:creationId xmlns:a16="http://schemas.microsoft.com/office/drawing/2014/main" id="{78C1E3C8-C0BF-3229-9B85-D6B8B61C7C1C}"/>
              </a:ext>
            </a:extLst>
          </p:cNvPr>
          <p:cNvGraphicFramePr>
            <a:graphicFrameLocks noGrp="1"/>
          </p:cNvGraphicFramePr>
          <p:nvPr>
            <p:extLst>
              <p:ext uri="{D42A27DB-BD31-4B8C-83A1-F6EECF244321}">
                <p14:modId xmlns:p14="http://schemas.microsoft.com/office/powerpoint/2010/main" val="2315953848"/>
              </p:ext>
            </p:extLst>
          </p:nvPr>
        </p:nvGraphicFramePr>
        <p:xfrm>
          <a:off x="6384470" y="1762899"/>
          <a:ext cx="5167448" cy="4604612"/>
        </p:xfrm>
        <a:graphic>
          <a:graphicData uri="http://schemas.openxmlformats.org/drawingml/2006/table">
            <a:tbl>
              <a:tblPr firstRow="1" firstCol="1" bandRow="1"/>
              <a:tblGrid>
                <a:gridCol w="1560477">
                  <a:extLst>
                    <a:ext uri="{9D8B030D-6E8A-4147-A177-3AD203B41FA5}">
                      <a16:colId xmlns:a16="http://schemas.microsoft.com/office/drawing/2014/main" val="2639380478"/>
                    </a:ext>
                  </a:extLst>
                </a:gridCol>
                <a:gridCol w="796282">
                  <a:extLst>
                    <a:ext uri="{9D8B030D-6E8A-4147-A177-3AD203B41FA5}">
                      <a16:colId xmlns:a16="http://schemas.microsoft.com/office/drawing/2014/main" val="2569457491"/>
                    </a:ext>
                  </a:extLst>
                </a:gridCol>
                <a:gridCol w="990023">
                  <a:extLst>
                    <a:ext uri="{9D8B030D-6E8A-4147-A177-3AD203B41FA5}">
                      <a16:colId xmlns:a16="http://schemas.microsoft.com/office/drawing/2014/main" val="2996666501"/>
                    </a:ext>
                  </a:extLst>
                </a:gridCol>
                <a:gridCol w="1820666">
                  <a:extLst>
                    <a:ext uri="{9D8B030D-6E8A-4147-A177-3AD203B41FA5}">
                      <a16:colId xmlns:a16="http://schemas.microsoft.com/office/drawing/2014/main" val="1441039325"/>
                    </a:ext>
                  </a:extLst>
                </a:gridCol>
              </a:tblGrid>
              <a:tr h="660567">
                <a:tc>
                  <a:txBody>
                    <a:bodyPr/>
                    <a:lstStyle/>
                    <a:p>
                      <a:pPr algn="ctr">
                        <a:lnSpc>
                          <a:spcPct val="122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Thành viên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Ngày công quy đổi</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Chi phí NC (triệu)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Trọng tâm</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extLst>
                  <a:ext uri="{0D108BD9-81ED-4DB2-BD59-A6C34878D82A}">
                    <a16:rowId xmlns:a16="http://schemas.microsoft.com/office/drawing/2014/main" val="3373050883"/>
                  </a:ext>
                </a:extLst>
              </a:tr>
              <a:tr h="860558">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Hoàng Đàm Khánh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47,30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61,96</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PM; quản trị; tích hợp/báo cáo; Deployment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3418130753"/>
                  </a:ext>
                </a:extLst>
              </a:tr>
              <a:tr h="860558">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Nguyễn Trọng Hiếu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50,42</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66,04</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Analysis; kiến trúc/API; gửi-nhận; Unit Test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1385324662"/>
                  </a:ext>
                </a:extLst>
              </a:tr>
              <a:tr h="860558">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Nguyễn Hồng Dương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45,10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59,08</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Scope/WBS; prototype; COD/phí; regression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3987030477"/>
                  </a:ext>
                </a:extLst>
              </a:tr>
              <a:tr h="860558">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Phạm Đức Anh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48,03</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62,92</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Risk/cost; CSDL/hạ tầng; System/UAT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2633553400"/>
                  </a:ext>
                </a:extLst>
              </a:tr>
              <a:tr h="501813">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TỔNG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190,85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250,00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Phân bổ theo WBS</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3706502047"/>
                  </a:ext>
                </a:extLst>
              </a:tr>
            </a:tbl>
          </a:graphicData>
        </a:graphic>
      </p:graphicFrame>
    </p:spTree>
    <p:extLst>
      <p:ext uri="{BB962C8B-B14F-4D97-AF65-F5344CB8AC3E}">
        <p14:creationId xmlns:p14="http://schemas.microsoft.com/office/powerpoint/2010/main" val="79188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387AC1D4-6F88-FAE6-727D-8397BC88D7A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7F3DCC6-EA0F-4FB0-53E8-7D81E324D624}"/>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B6AC8C9A-53C2-AC93-73C6-9A776F12E7FA}"/>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D36E7EB9-251E-E27B-BA49-D9AB07911B7E}"/>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DD45FF34-91EB-32D6-E8AC-5A5BC8BE5D31}"/>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6" name="Text 4">
            <a:extLst>
              <a:ext uri="{FF2B5EF4-FFF2-40B4-BE49-F238E27FC236}">
                <a16:creationId xmlns:a16="http://schemas.microsoft.com/office/drawing/2014/main" id="{52473EA5-9980-1738-7DCC-0525A9EE063D}"/>
              </a:ext>
            </a:extLst>
          </p:cNvPr>
          <p:cNvSpPr/>
          <p:nvPr/>
        </p:nvSpPr>
        <p:spPr>
          <a:xfrm>
            <a:off x="650963" y="327136"/>
            <a:ext cx="2386149" cy="357618"/>
          </a:xfrm>
          <a:prstGeom prst="rect">
            <a:avLst/>
          </a:prstGeom>
          <a:noFill/>
          <a:ln/>
        </p:spPr>
        <p:txBody>
          <a:bodyPr wrap="square" lIns="0" tIns="0" rIns="0" bIns="0" rtlCol="0" anchor="ctr">
            <a:normAutofit/>
          </a:bodyPr>
          <a:lstStyle/>
          <a:p>
            <a:pPr marL="0" indent="0">
              <a:buNone/>
            </a:pPr>
            <a:r>
              <a:rPr lang="en-US" sz="1600" b="1">
                <a:solidFill>
                  <a:srgbClr val="B00020"/>
                </a:solidFill>
                <a:latin typeface="Arial" pitchFamily="34" charset="0"/>
                <a:cs typeface="Arial" pitchFamily="34" charset="-120"/>
              </a:rPr>
              <a:t>III. QUẢN TRỊ DỰ ÁN</a:t>
            </a:r>
            <a:endParaRPr lang="en-US" sz="1600" dirty="0"/>
          </a:p>
        </p:txBody>
      </p:sp>
      <p:sp>
        <p:nvSpPr>
          <p:cNvPr id="7" name="Text 5">
            <a:extLst>
              <a:ext uri="{FF2B5EF4-FFF2-40B4-BE49-F238E27FC236}">
                <a16:creationId xmlns:a16="http://schemas.microsoft.com/office/drawing/2014/main" id="{C60E81BF-7D55-A53B-607E-636AF810AAE7}"/>
              </a:ext>
            </a:extLst>
          </p:cNvPr>
          <p:cNvSpPr/>
          <p:nvPr/>
        </p:nvSpPr>
        <p:spPr>
          <a:xfrm>
            <a:off x="5549346" y="6565392"/>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10" name="Text 8">
            <a:extLst>
              <a:ext uri="{FF2B5EF4-FFF2-40B4-BE49-F238E27FC236}">
                <a16:creationId xmlns:a16="http://schemas.microsoft.com/office/drawing/2014/main" id="{5CD43752-2E97-B7A7-BFB3-B9C3CA3F8BBE}"/>
              </a:ext>
            </a:extLst>
          </p:cNvPr>
          <p:cNvSpPr/>
          <p:nvPr/>
        </p:nvSpPr>
        <p:spPr>
          <a:xfrm>
            <a:off x="640080" y="721330"/>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3. Quản lý chi phí</a:t>
            </a:r>
            <a:endParaRPr lang="en-US" sz="2700" dirty="0"/>
          </a:p>
        </p:txBody>
      </p:sp>
      <p:sp>
        <p:nvSpPr>
          <p:cNvPr id="12" name="Shape 10">
            <a:extLst>
              <a:ext uri="{FF2B5EF4-FFF2-40B4-BE49-F238E27FC236}">
                <a16:creationId xmlns:a16="http://schemas.microsoft.com/office/drawing/2014/main" id="{4B1F6972-AC68-3C2A-6365-A8601758D803}"/>
              </a:ext>
            </a:extLst>
          </p:cNvPr>
          <p:cNvSpPr/>
          <p:nvPr/>
        </p:nvSpPr>
        <p:spPr>
          <a:xfrm>
            <a:off x="658368" y="1217971"/>
            <a:ext cx="1920240" cy="0"/>
          </a:xfrm>
          <a:prstGeom prst="line">
            <a:avLst/>
          </a:prstGeom>
          <a:noFill/>
          <a:ln w="25400">
            <a:solidFill>
              <a:srgbClr val="D6A62C"/>
            </a:solidFill>
            <a:prstDash val="solid"/>
          </a:ln>
        </p:spPr>
        <p:txBody>
          <a:bodyPr/>
          <a:lstStyle/>
          <a:p>
            <a:endParaRPr lang="vi-VN"/>
          </a:p>
        </p:txBody>
      </p:sp>
      <p:sp>
        <p:nvSpPr>
          <p:cNvPr id="17" name="Text 14">
            <a:extLst>
              <a:ext uri="{FF2B5EF4-FFF2-40B4-BE49-F238E27FC236}">
                <a16:creationId xmlns:a16="http://schemas.microsoft.com/office/drawing/2014/main" id="{D3D398E0-1525-66BB-3804-7BA2CF5EAF32}"/>
              </a:ext>
            </a:extLst>
          </p:cNvPr>
          <p:cNvSpPr/>
          <p:nvPr/>
        </p:nvSpPr>
        <p:spPr>
          <a:xfrm>
            <a:off x="2041994" y="1359132"/>
            <a:ext cx="2685757" cy="328781"/>
          </a:xfrm>
          <a:prstGeom prst="rect">
            <a:avLst/>
          </a:prstGeom>
          <a:noFill/>
          <a:ln/>
        </p:spPr>
        <p:txBody>
          <a:bodyPr wrap="square" lIns="1016" tIns="1016" rIns="1016" bIns="1016" rtlCol="0" anchor="ctr">
            <a:normAutofit/>
          </a:bodyPr>
          <a:lstStyle/>
          <a:p>
            <a:pPr marL="0" indent="0" algn="l">
              <a:buNone/>
            </a:pPr>
            <a:r>
              <a:rPr lang="en-US" sz="1400" b="1">
                <a:solidFill>
                  <a:srgbClr val="B00020"/>
                </a:solidFill>
                <a:latin typeface="Arial" pitchFamily="34" charset="0"/>
                <a:ea typeface="Arial" pitchFamily="34" charset="-122"/>
                <a:cs typeface="Arial" pitchFamily="34" charset="-120"/>
              </a:rPr>
              <a:t>Hạ tầng và thiết bị demo</a:t>
            </a:r>
            <a:endParaRPr lang="en-US" sz="1400" dirty="0"/>
          </a:p>
        </p:txBody>
      </p:sp>
      <p:sp>
        <p:nvSpPr>
          <p:cNvPr id="15" name="Text 14">
            <a:extLst>
              <a:ext uri="{FF2B5EF4-FFF2-40B4-BE49-F238E27FC236}">
                <a16:creationId xmlns:a16="http://schemas.microsoft.com/office/drawing/2014/main" id="{D8A19337-DA85-9A0B-250A-AFC0FD2711BB}"/>
              </a:ext>
            </a:extLst>
          </p:cNvPr>
          <p:cNvSpPr/>
          <p:nvPr/>
        </p:nvSpPr>
        <p:spPr>
          <a:xfrm>
            <a:off x="7391553" y="1355300"/>
            <a:ext cx="4038449" cy="328781"/>
          </a:xfrm>
          <a:prstGeom prst="rect">
            <a:avLst/>
          </a:prstGeom>
          <a:noFill/>
          <a:ln/>
        </p:spPr>
        <p:txBody>
          <a:bodyPr wrap="square" lIns="1016" tIns="1016" rIns="1016" bIns="1016" rtlCol="0" anchor="ctr">
            <a:normAutofit/>
          </a:bodyPr>
          <a:lstStyle/>
          <a:p>
            <a:pPr marL="0" indent="0" algn="l">
              <a:buNone/>
            </a:pPr>
            <a:r>
              <a:rPr lang="en-US" sz="1400" b="1">
                <a:solidFill>
                  <a:srgbClr val="B00020"/>
                </a:solidFill>
                <a:latin typeface="Arial" pitchFamily="34" charset="0"/>
                <a:ea typeface="Arial" pitchFamily="34" charset="-122"/>
                <a:cs typeface="Arial" pitchFamily="34" charset="-120"/>
              </a:rPr>
              <a:t>Phân bổ ngân sách theo giai đoạn</a:t>
            </a:r>
            <a:endParaRPr lang="en-US" sz="1400" dirty="0"/>
          </a:p>
        </p:txBody>
      </p:sp>
      <p:graphicFrame>
        <p:nvGraphicFramePr>
          <p:cNvPr id="11" name="Bảng 10">
            <a:extLst>
              <a:ext uri="{FF2B5EF4-FFF2-40B4-BE49-F238E27FC236}">
                <a16:creationId xmlns:a16="http://schemas.microsoft.com/office/drawing/2014/main" id="{714F7FE4-BC51-C240-8F0D-F45746B143D5}"/>
              </a:ext>
            </a:extLst>
          </p:cNvPr>
          <p:cNvGraphicFramePr>
            <a:graphicFrameLocks noGrp="1"/>
          </p:cNvGraphicFramePr>
          <p:nvPr>
            <p:extLst>
              <p:ext uri="{D42A27DB-BD31-4B8C-83A1-F6EECF244321}">
                <p14:modId xmlns:p14="http://schemas.microsoft.com/office/powerpoint/2010/main" val="4063298916"/>
              </p:ext>
            </p:extLst>
          </p:nvPr>
        </p:nvGraphicFramePr>
        <p:xfrm>
          <a:off x="460248" y="1830875"/>
          <a:ext cx="5167666" cy="4550225"/>
        </p:xfrm>
        <a:graphic>
          <a:graphicData uri="http://schemas.openxmlformats.org/drawingml/2006/table">
            <a:tbl>
              <a:tblPr firstRow="1" firstCol="1" bandRow="1"/>
              <a:tblGrid>
                <a:gridCol w="1248809">
                  <a:extLst>
                    <a:ext uri="{9D8B030D-6E8A-4147-A177-3AD203B41FA5}">
                      <a16:colId xmlns:a16="http://schemas.microsoft.com/office/drawing/2014/main" val="1893696268"/>
                    </a:ext>
                  </a:extLst>
                </a:gridCol>
                <a:gridCol w="2883875">
                  <a:extLst>
                    <a:ext uri="{9D8B030D-6E8A-4147-A177-3AD203B41FA5}">
                      <a16:colId xmlns:a16="http://schemas.microsoft.com/office/drawing/2014/main" val="593032069"/>
                    </a:ext>
                  </a:extLst>
                </a:gridCol>
                <a:gridCol w="1034982">
                  <a:extLst>
                    <a:ext uri="{9D8B030D-6E8A-4147-A177-3AD203B41FA5}">
                      <a16:colId xmlns:a16="http://schemas.microsoft.com/office/drawing/2014/main" val="2478903196"/>
                    </a:ext>
                  </a:extLst>
                </a:gridCol>
              </a:tblGrid>
              <a:tr h="481348">
                <a:tc>
                  <a:txBody>
                    <a:bodyPr/>
                    <a:lstStyle/>
                    <a:p>
                      <a:pPr algn="ctr">
                        <a:lnSpc>
                          <a:spcPct val="122000"/>
                        </a:lnSpc>
                        <a:spcAft>
                          <a:spcPts val="400"/>
                        </a:spcAft>
                        <a:buNone/>
                      </a:pPr>
                      <a:r>
                        <a:rPr lang="en-US" sz="11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Giai đoạn/WBS</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1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Hạng mục</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1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Thành tiền (triệu)</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extLst>
                  <a:ext uri="{0D108BD9-81ED-4DB2-BD59-A6C34878D82A}">
                    <a16:rowId xmlns:a16="http://schemas.microsoft.com/office/drawing/2014/main" val="2055106009"/>
                  </a:ext>
                </a:extLst>
              </a:tr>
              <a:tr h="417149">
                <a:tc>
                  <a:txBody>
                    <a:bodyPr/>
                    <a:lstStyle/>
                    <a:p>
                      <a:pPr algn="ct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Design - 3.1</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Cloud/VPS môi trường thiết kế kiến trúc &amp; API</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30</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629308085"/>
                  </a:ext>
                </a:extLst>
              </a:tr>
              <a:tr h="417149">
                <a:tc>
                  <a:txBody>
                    <a:bodyPr/>
                    <a:lstStyle/>
                    <a:p>
                      <a:pPr algn="ct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Design - 3.2</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Dịch vụ CSDL/API phục vụ tích hợp mock</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30</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2389965623"/>
                  </a:ext>
                </a:extLst>
              </a:tr>
              <a:tr h="430144">
                <a:tc>
                  <a:txBody>
                    <a:bodyPr/>
                    <a:lstStyle/>
                    <a:p>
                      <a:pPr algn="ct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Development - 4.1</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Bộ mô phỏng IoT/ngăn tủ tại phòng lab</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80</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4118063703"/>
                  </a:ext>
                </a:extLst>
              </a:tr>
              <a:tr h="430144">
                <a:tc>
                  <a:txBody>
                    <a:bodyPr/>
                    <a:lstStyle/>
                    <a:p>
                      <a:pPr algn="ct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Development - 4.1</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Thiết bị mạng, lưu trữ và sao lưu</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30</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442623134"/>
                  </a:ext>
                </a:extLst>
              </a:tr>
              <a:tr h="430144">
                <a:tc>
                  <a:txBody>
                    <a:bodyPr/>
                    <a:lstStyle/>
                    <a:p>
                      <a:pPr algn="ct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Development - 4.2</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Thiết bị QR/điện thoại phục vụ demo</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40</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4050294052"/>
                  </a:ext>
                </a:extLst>
              </a:tr>
              <a:tr h="430144">
                <a:tc>
                  <a:txBody>
                    <a:bodyPr/>
                    <a:lstStyle/>
                    <a:p>
                      <a:pPr algn="ct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Development - 4.4</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CI/CD, monitoring và license hỗ trợ tích hợp</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1417405148"/>
                  </a:ext>
                </a:extLst>
              </a:tr>
              <a:tr h="417149">
                <a:tc>
                  <a:txBody>
                    <a:bodyPr/>
                    <a:lstStyle/>
                    <a:p>
                      <a:pPr algn="ct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Testing - 5.1</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Môi trường/công cụ Unit &amp; Integration Test</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348209859"/>
                  </a:ext>
                </a:extLst>
              </a:tr>
              <a:tr h="417149">
                <a:tc>
                  <a:txBody>
                    <a:bodyPr/>
                    <a:lstStyle/>
                    <a:p>
                      <a:pPr algn="ct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Testing - 5.2</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Công cụ kiểm thử bảo mật/hiệu năng</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1645403762"/>
                  </a:ext>
                </a:extLst>
              </a:tr>
              <a:tr h="430144">
                <a:tc>
                  <a:txBody>
                    <a:bodyPr/>
                    <a:lstStyle/>
                    <a:p>
                      <a:pPr algn="ct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Deployment - 6.1</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Cloud/VPS demo, backup và cấu hình triển khai</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30</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746515109"/>
                  </a:ext>
                </a:extLst>
              </a:tr>
              <a:tr h="249561">
                <a:tc>
                  <a:txBody>
                    <a:bodyPr/>
                    <a:lstStyle/>
                    <a:p>
                      <a:pPr algn="ct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TỔNG</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300</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843" marR="44843" marT="39238" marB="39238"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3289748844"/>
                  </a:ext>
                </a:extLst>
              </a:tr>
            </a:tbl>
          </a:graphicData>
        </a:graphic>
      </p:graphicFrame>
      <p:graphicFrame>
        <p:nvGraphicFramePr>
          <p:cNvPr id="14" name="Bảng 13">
            <a:extLst>
              <a:ext uri="{FF2B5EF4-FFF2-40B4-BE49-F238E27FC236}">
                <a16:creationId xmlns:a16="http://schemas.microsoft.com/office/drawing/2014/main" id="{4A6295CF-111C-3997-2699-4540FE4C04C6}"/>
              </a:ext>
            </a:extLst>
          </p:cNvPr>
          <p:cNvGraphicFramePr>
            <a:graphicFrameLocks noGrp="1"/>
          </p:cNvGraphicFramePr>
          <p:nvPr>
            <p:extLst>
              <p:ext uri="{D42A27DB-BD31-4B8C-83A1-F6EECF244321}">
                <p14:modId xmlns:p14="http://schemas.microsoft.com/office/powerpoint/2010/main" val="1700856109"/>
              </p:ext>
            </p:extLst>
          </p:nvPr>
        </p:nvGraphicFramePr>
        <p:xfrm>
          <a:off x="6242957" y="1830875"/>
          <a:ext cx="5116285" cy="4550226"/>
        </p:xfrm>
        <a:graphic>
          <a:graphicData uri="http://schemas.openxmlformats.org/drawingml/2006/table">
            <a:tbl>
              <a:tblPr firstRow="1" firstCol="1" bandRow="1"/>
              <a:tblGrid>
                <a:gridCol w="990600">
                  <a:extLst>
                    <a:ext uri="{9D8B030D-6E8A-4147-A177-3AD203B41FA5}">
                      <a16:colId xmlns:a16="http://schemas.microsoft.com/office/drawing/2014/main" val="1118087294"/>
                    </a:ext>
                  </a:extLst>
                </a:gridCol>
                <a:gridCol w="658586">
                  <a:extLst>
                    <a:ext uri="{9D8B030D-6E8A-4147-A177-3AD203B41FA5}">
                      <a16:colId xmlns:a16="http://schemas.microsoft.com/office/drawing/2014/main" val="2170953490"/>
                    </a:ext>
                  </a:extLst>
                </a:gridCol>
                <a:gridCol w="759965">
                  <a:extLst>
                    <a:ext uri="{9D8B030D-6E8A-4147-A177-3AD203B41FA5}">
                      <a16:colId xmlns:a16="http://schemas.microsoft.com/office/drawing/2014/main" val="3072486784"/>
                    </a:ext>
                  </a:extLst>
                </a:gridCol>
                <a:gridCol w="902378">
                  <a:extLst>
                    <a:ext uri="{9D8B030D-6E8A-4147-A177-3AD203B41FA5}">
                      <a16:colId xmlns:a16="http://schemas.microsoft.com/office/drawing/2014/main" val="2045924828"/>
                    </a:ext>
                  </a:extLst>
                </a:gridCol>
                <a:gridCol w="902378">
                  <a:extLst>
                    <a:ext uri="{9D8B030D-6E8A-4147-A177-3AD203B41FA5}">
                      <a16:colId xmlns:a16="http://schemas.microsoft.com/office/drawing/2014/main" val="3158845497"/>
                    </a:ext>
                  </a:extLst>
                </a:gridCol>
                <a:gridCol w="902378">
                  <a:extLst>
                    <a:ext uri="{9D8B030D-6E8A-4147-A177-3AD203B41FA5}">
                      <a16:colId xmlns:a16="http://schemas.microsoft.com/office/drawing/2014/main" val="3525149190"/>
                    </a:ext>
                  </a:extLst>
                </a:gridCol>
              </a:tblGrid>
              <a:tr h="568045">
                <a:tc>
                  <a:txBody>
                    <a:bodyPr/>
                    <a:lstStyle/>
                    <a:p>
                      <a:pPr algn="ctr">
                        <a:lnSpc>
                          <a:spcPct val="122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Giai đoạn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Tổng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Nhân công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Thiết bị</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Chi khác</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Dự phòng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extLst>
                  <a:ext uri="{0D108BD9-81ED-4DB2-BD59-A6C34878D82A}">
                    <a16:rowId xmlns:a16="http://schemas.microsoft.com/office/drawing/2014/main" val="912670954"/>
                  </a:ext>
                </a:extLst>
              </a:tr>
              <a:tr h="435464">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Scope</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83,1</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33,1</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627048782"/>
                  </a:ext>
                </a:extLst>
              </a:tr>
              <a:tr h="746775">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Analysis</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99,4</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39,4</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474587474"/>
                  </a:ext>
                </a:extLst>
              </a:tr>
              <a:tr h="435464">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Design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172,1</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40,1</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7</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3670952989"/>
                  </a:ext>
                </a:extLst>
              </a:tr>
              <a:tr h="746775">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Development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330,2</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75,2</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170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70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543281898"/>
                  </a:ext>
                </a:extLst>
              </a:tr>
              <a:tr h="435464">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Testing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190,1</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40,1</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589173720"/>
                  </a:ext>
                </a:extLst>
              </a:tr>
              <a:tr h="746775">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Deployment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125,1</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22,1</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8</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546528579"/>
                  </a:ext>
                </a:extLst>
              </a:tr>
              <a:tr h="435464">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TỔNG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1.000,0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250,0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300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400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380237601"/>
                  </a:ext>
                </a:extLst>
              </a:tr>
            </a:tbl>
          </a:graphicData>
        </a:graphic>
      </p:graphicFrame>
    </p:spTree>
    <p:extLst>
      <p:ext uri="{BB962C8B-B14F-4D97-AF65-F5344CB8AC3E}">
        <p14:creationId xmlns:p14="http://schemas.microsoft.com/office/powerpoint/2010/main" val="4171236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8F5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8" name="Text 6"/>
          <p:cNvSpPr/>
          <p:nvPr/>
        </p:nvSpPr>
        <p:spPr>
          <a:xfrm>
            <a:off x="5120640" y="6510528"/>
            <a:ext cx="2011680" cy="164592"/>
          </a:xfrm>
          <a:prstGeom prst="rect">
            <a:avLst/>
          </a:prstGeom>
          <a:noFill/>
          <a:ln/>
        </p:spPr>
        <p:txBody>
          <a:bodyPr wrap="square" lIns="0" tIns="0" rIns="0" bIns="0" rtlCol="0" anchor="ctr">
            <a:normAutofit/>
          </a:bodyPr>
          <a:lstStyle/>
          <a:p>
            <a:pPr marL="0" indent="0" algn="ctr">
              <a:buNone/>
            </a:pPr>
            <a:r>
              <a:rPr lang="en-US" sz="750" dirty="0">
                <a:solidFill>
                  <a:srgbClr val="8C8C8C"/>
                </a:solidFill>
                <a:latin typeface="Arial" pitchFamily="34" charset="0"/>
                <a:ea typeface="Arial" pitchFamily="34" charset="-122"/>
                <a:cs typeface="Arial" pitchFamily="34" charset="-120"/>
              </a:rPr>
              <a:t>Báo cáo thuyết trình</a:t>
            </a:r>
            <a:endParaRPr lang="en-US" sz="750" dirty="0"/>
          </a:p>
        </p:txBody>
      </p:sp>
      <p:sp>
        <p:nvSpPr>
          <p:cNvPr id="9" name="Text 7"/>
          <p:cNvSpPr/>
          <p:nvPr/>
        </p:nvSpPr>
        <p:spPr>
          <a:xfrm>
            <a:off x="11274552" y="6446520"/>
            <a:ext cx="457200" cy="201168"/>
          </a:xfrm>
          <a:prstGeom prst="rect">
            <a:avLst/>
          </a:prstGeom>
          <a:noFill/>
          <a:ln/>
        </p:spPr>
        <p:txBody>
          <a:bodyPr wrap="square" lIns="0" tIns="0" rIns="0" bIns="0" rtlCol="0" anchor="ctr">
            <a:normAutofit/>
          </a:bodyPr>
          <a:lstStyle/>
          <a:p>
            <a:pPr marL="0" indent="0" algn="r">
              <a:buNone/>
            </a:pPr>
            <a:r>
              <a:rPr lang="en-US" sz="850" b="1" dirty="0">
                <a:solidFill>
                  <a:srgbClr val="B00020"/>
                </a:solidFill>
                <a:latin typeface="Arial" pitchFamily="34" charset="0"/>
                <a:ea typeface="Arial" pitchFamily="34" charset="-122"/>
                <a:cs typeface="Arial" pitchFamily="34" charset="-120"/>
              </a:rPr>
              <a:t>12</a:t>
            </a:r>
            <a:endParaRPr lang="en-US" sz="850" dirty="0"/>
          </a:p>
        </p:txBody>
      </p:sp>
      <p:sp>
        <p:nvSpPr>
          <p:cNvPr id="14" name="Shape 11"/>
          <p:cNvSpPr/>
          <p:nvPr/>
        </p:nvSpPr>
        <p:spPr>
          <a:xfrm>
            <a:off x="6720840" y="2417718"/>
            <a:ext cx="2057400" cy="960120"/>
          </a:xfrm>
          <a:prstGeom prst="roundRect">
            <a:avLst>
              <a:gd name="adj" fmla="val 8571"/>
            </a:avLst>
          </a:prstGeom>
          <a:solidFill>
            <a:srgbClr val="FFFFFF">
              <a:alpha val="95000"/>
            </a:srgbClr>
          </a:solidFill>
          <a:ln w="8890">
            <a:solidFill>
              <a:srgbClr val="E6E0D7"/>
            </a:solidFill>
            <a:prstDash val="solid"/>
          </a:ln>
          <a:effectLst>
            <a:outerShdw blurRad="25400" dist="12700" dir="2700000" algn="bl" rotWithShape="0">
              <a:srgbClr val="000000">
                <a:alpha val="9000"/>
              </a:srgbClr>
            </a:outerShdw>
          </a:effectLst>
        </p:spPr>
        <p:txBody>
          <a:bodyPr/>
          <a:lstStyle/>
          <a:p>
            <a:endParaRPr lang="vi-VN"/>
          </a:p>
        </p:txBody>
      </p:sp>
      <p:sp>
        <p:nvSpPr>
          <p:cNvPr id="15" name="Shape 12"/>
          <p:cNvSpPr/>
          <p:nvPr/>
        </p:nvSpPr>
        <p:spPr>
          <a:xfrm>
            <a:off x="6720840" y="2417718"/>
            <a:ext cx="73152" cy="960120"/>
          </a:xfrm>
          <a:prstGeom prst="rect">
            <a:avLst/>
          </a:prstGeom>
          <a:solidFill>
            <a:srgbClr val="B00020"/>
          </a:solidFill>
          <a:ln w="12700">
            <a:solidFill>
              <a:srgbClr val="B00020"/>
            </a:solidFill>
            <a:prstDash val="solid"/>
          </a:ln>
        </p:spPr>
        <p:txBody>
          <a:bodyPr/>
          <a:lstStyle/>
          <a:p>
            <a:endParaRPr lang="vi-VN"/>
          </a:p>
        </p:txBody>
      </p:sp>
      <p:sp>
        <p:nvSpPr>
          <p:cNvPr id="16" name="Text 13"/>
          <p:cNvSpPr/>
          <p:nvPr/>
        </p:nvSpPr>
        <p:spPr>
          <a:xfrm>
            <a:off x="6922008" y="2582310"/>
            <a:ext cx="1728216" cy="384048"/>
          </a:xfrm>
          <a:prstGeom prst="rect">
            <a:avLst/>
          </a:prstGeom>
          <a:noFill/>
          <a:ln/>
        </p:spPr>
        <p:txBody>
          <a:bodyPr wrap="square" lIns="0" tIns="0" rIns="0" bIns="0" rtlCol="0" anchor="ctr">
            <a:normAutofit/>
          </a:bodyPr>
          <a:lstStyle/>
          <a:p>
            <a:pPr marL="0" indent="0">
              <a:buNone/>
            </a:pPr>
            <a:r>
              <a:rPr lang="en-US" sz="2500" b="1" dirty="0">
                <a:solidFill>
                  <a:srgbClr val="B00020"/>
                </a:solidFill>
                <a:latin typeface="Arial" pitchFamily="34" charset="0"/>
                <a:ea typeface="Arial" pitchFamily="34" charset="-122"/>
                <a:cs typeface="Arial" pitchFamily="34" charset="-120"/>
              </a:rPr>
              <a:t>1 tỷ</a:t>
            </a:r>
            <a:endParaRPr lang="en-US" sz="2500" dirty="0"/>
          </a:p>
        </p:txBody>
      </p:sp>
      <p:sp>
        <p:nvSpPr>
          <p:cNvPr id="17" name="Text 14"/>
          <p:cNvSpPr/>
          <p:nvPr/>
        </p:nvSpPr>
        <p:spPr>
          <a:xfrm>
            <a:off x="6922008" y="2984646"/>
            <a:ext cx="1728216" cy="301752"/>
          </a:xfrm>
          <a:prstGeom prst="rect">
            <a:avLst/>
          </a:prstGeom>
          <a:noFill/>
          <a:ln/>
        </p:spPr>
        <p:txBody>
          <a:bodyPr wrap="square" lIns="0" tIns="0" rIns="0" bIns="0" rtlCol="0" anchor="ctr">
            <a:normAutofit/>
          </a:bodyPr>
          <a:lstStyle/>
          <a:p>
            <a:pPr marL="0" indent="0">
              <a:buNone/>
            </a:pPr>
            <a:r>
              <a:rPr lang="en-US" sz="1050" dirty="0">
                <a:solidFill>
                  <a:srgbClr val="252B33"/>
                </a:solidFill>
                <a:latin typeface="Arial" pitchFamily="34" charset="0"/>
                <a:ea typeface="Arial" pitchFamily="34" charset="-122"/>
                <a:cs typeface="Arial" pitchFamily="34" charset="-120"/>
              </a:rPr>
              <a:t>tổng ngân sách dự kiến</a:t>
            </a:r>
            <a:endParaRPr lang="en-US" sz="1050" dirty="0"/>
          </a:p>
        </p:txBody>
      </p:sp>
      <p:sp>
        <p:nvSpPr>
          <p:cNvPr id="18" name="Shape 15"/>
          <p:cNvSpPr/>
          <p:nvPr/>
        </p:nvSpPr>
        <p:spPr>
          <a:xfrm>
            <a:off x="9144000" y="2417718"/>
            <a:ext cx="2057400" cy="960120"/>
          </a:xfrm>
          <a:prstGeom prst="roundRect">
            <a:avLst>
              <a:gd name="adj" fmla="val 8571"/>
            </a:avLst>
          </a:prstGeom>
          <a:solidFill>
            <a:srgbClr val="FFFFFF">
              <a:alpha val="95000"/>
            </a:srgbClr>
          </a:solidFill>
          <a:ln w="8890">
            <a:solidFill>
              <a:srgbClr val="E6E0D7"/>
            </a:solidFill>
            <a:prstDash val="solid"/>
          </a:ln>
          <a:effectLst>
            <a:outerShdw blurRad="25400" dist="12700" dir="2700000" algn="bl" rotWithShape="0">
              <a:srgbClr val="000000">
                <a:alpha val="9000"/>
              </a:srgbClr>
            </a:outerShdw>
          </a:effectLst>
        </p:spPr>
        <p:txBody>
          <a:bodyPr/>
          <a:lstStyle/>
          <a:p>
            <a:endParaRPr lang="vi-VN"/>
          </a:p>
        </p:txBody>
      </p:sp>
      <p:sp>
        <p:nvSpPr>
          <p:cNvPr id="19" name="Shape 16"/>
          <p:cNvSpPr/>
          <p:nvPr/>
        </p:nvSpPr>
        <p:spPr>
          <a:xfrm>
            <a:off x="9144000" y="2417718"/>
            <a:ext cx="73152" cy="960120"/>
          </a:xfrm>
          <a:prstGeom prst="rect">
            <a:avLst/>
          </a:prstGeom>
          <a:solidFill>
            <a:srgbClr val="D6A62C"/>
          </a:solidFill>
          <a:ln w="12700">
            <a:solidFill>
              <a:srgbClr val="D6A62C"/>
            </a:solidFill>
            <a:prstDash val="solid"/>
          </a:ln>
        </p:spPr>
        <p:txBody>
          <a:bodyPr/>
          <a:lstStyle/>
          <a:p>
            <a:endParaRPr lang="vi-VN"/>
          </a:p>
        </p:txBody>
      </p:sp>
      <p:sp>
        <p:nvSpPr>
          <p:cNvPr id="20" name="Text 17"/>
          <p:cNvSpPr/>
          <p:nvPr/>
        </p:nvSpPr>
        <p:spPr>
          <a:xfrm>
            <a:off x="9345168" y="2582310"/>
            <a:ext cx="1728216" cy="384048"/>
          </a:xfrm>
          <a:prstGeom prst="rect">
            <a:avLst/>
          </a:prstGeom>
          <a:noFill/>
          <a:ln/>
        </p:spPr>
        <p:txBody>
          <a:bodyPr wrap="square" lIns="0" tIns="0" rIns="0" bIns="0" rtlCol="0" anchor="ctr">
            <a:normAutofit/>
          </a:bodyPr>
          <a:lstStyle/>
          <a:p>
            <a:pPr marL="0" indent="0">
              <a:buNone/>
            </a:pPr>
            <a:r>
              <a:rPr lang="en-US" sz="2500" b="1" dirty="0">
                <a:solidFill>
                  <a:srgbClr val="D6A62C"/>
                </a:solidFill>
                <a:latin typeface="Arial" pitchFamily="34" charset="0"/>
                <a:ea typeface="Arial" pitchFamily="34" charset="-122"/>
                <a:cs typeface="Arial" pitchFamily="34" charset="-120"/>
              </a:rPr>
              <a:t>250 triệu</a:t>
            </a:r>
            <a:endParaRPr lang="en-US" sz="2500" dirty="0"/>
          </a:p>
        </p:txBody>
      </p:sp>
      <p:sp>
        <p:nvSpPr>
          <p:cNvPr id="21" name="Text 18"/>
          <p:cNvSpPr/>
          <p:nvPr/>
        </p:nvSpPr>
        <p:spPr>
          <a:xfrm>
            <a:off x="9345168" y="2984646"/>
            <a:ext cx="1728216" cy="301752"/>
          </a:xfrm>
          <a:prstGeom prst="rect">
            <a:avLst/>
          </a:prstGeom>
          <a:noFill/>
          <a:ln/>
        </p:spPr>
        <p:txBody>
          <a:bodyPr wrap="square" lIns="0" tIns="0" rIns="0" bIns="0" rtlCol="0" anchor="ctr">
            <a:normAutofit lnSpcReduction="10000"/>
          </a:bodyPr>
          <a:lstStyle/>
          <a:p>
            <a:pPr marL="0" indent="0">
              <a:buNone/>
            </a:pPr>
            <a:r>
              <a:rPr lang="en-US" sz="1050" dirty="0">
                <a:solidFill>
                  <a:srgbClr val="252B33"/>
                </a:solidFill>
                <a:latin typeface="Arial" pitchFamily="34" charset="0"/>
                <a:ea typeface="Arial" pitchFamily="34" charset="-122"/>
                <a:cs typeface="Arial" pitchFamily="34" charset="-120"/>
              </a:rPr>
              <a:t>nhân công theo 190,85 ngày công</a:t>
            </a:r>
            <a:endParaRPr lang="en-US" sz="1050" dirty="0"/>
          </a:p>
        </p:txBody>
      </p:sp>
      <p:sp>
        <p:nvSpPr>
          <p:cNvPr id="22" name="Shape 19"/>
          <p:cNvSpPr/>
          <p:nvPr/>
        </p:nvSpPr>
        <p:spPr>
          <a:xfrm>
            <a:off x="6720840" y="3652158"/>
            <a:ext cx="2057400" cy="960120"/>
          </a:xfrm>
          <a:prstGeom prst="roundRect">
            <a:avLst>
              <a:gd name="adj" fmla="val 8571"/>
            </a:avLst>
          </a:prstGeom>
          <a:solidFill>
            <a:srgbClr val="FFFFFF">
              <a:alpha val="95000"/>
            </a:srgbClr>
          </a:solidFill>
          <a:ln w="8890">
            <a:solidFill>
              <a:srgbClr val="E6E0D7"/>
            </a:solidFill>
            <a:prstDash val="solid"/>
          </a:ln>
          <a:effectLst>
            <a:outerShdw blurRad="25400" dist="12700" dir="2700000" algn="bl" rotWithShape="0">
              <a:srgbClr val="000000">
                <a:alpha val="9000"/>
              </a:srgbClr>
            </a:outerShdw>
          </a:effectLst>
        </p:spPr>
        <p:txBody>
          <a:bodyPr/>
          <a:lstStyle/>
          <a:p>
            <a:endParaRPr lang="vi-VN"/>
          </a:p>
        </p:txBody>
      </p:sp>
      <p:sp>
        <p:nvSpPr>
          <p:cNvPr id="23" name="Shape 20"/>
          <p:cNvSpPr/>
          <p:nvPr/>
        </p:nvSpPr>
        <p:spPr>
          <a:xfrm>
            <a:off x="6720840" y="3652158"/>
            <a:ext cx="73152" cy="960120"/>
          </a:xfrm>
          <a:prstGeom prst="rect">
            <a:avLst/>
          </a:prstGeom>
          <a:solidFill>
            <a:srgbClr val="B00020"/>
          </a:solidFill>
          <a:ln w="12700">
            <a:solidFill>
              <a:srgbClr val="B00020"/>
            </a:solidFill>
            <a:prstDash val="solid"/>
          </a:ln>
        </p:spPr>
        <p:txBody>
          <a:bodyPr/>
          <a:lstStyle/>
          <a:p>
            <a:endParaRPr lang="vi-VN"/>
          </a:p>
        </p:txBody>
      </p:sp>
      <p:sp>
        <p:nvSpPr>
          <p:cNvPr id="24" name="Text 21"/>
          <p:cNvSpPr/>
          <p:nvPr/>
        </p:nvSpPr>
        <p:spPr>
          <a:xfrm>
            <a:off x="6922008" y="3816750"/>
            <a:ext cx="1728216" cy="384048"/>
          </a:xfrm>
          <a:prstGeom prst="rect">
            <a:avLst/>
          </a:prstGeom>
          <a:noFill/>
          <a:ln/>
        </p:spPr>
        <p:txBody>
          <a:bodyPr wrap="square" lIns="0" tIns="0" rIns="0" bIns="0" rtlCol="0" anchor="ctr">
            <a:normAutofit/>
          </a:bodyPr>
          <a:lstStyle/>
          <a:p>
            <a:pPr marL="0" indent="0">
              <a:buNone/>
            </a:pPr>
            <a:r>
              <a:rPr lang="en-US" sz="2500" b="1" dirty="0">
                <a:solidFill>
                  <a:srgbClr val="B00020"/>
                </a:solidFill>
                <a:latin typeface="Arial" pitchFamily="34" charset="0"/>
                <a:ea typeface="Arial" pitchFamily="34" charset="-122"/>
                <a:cs typeface="Arial" pitchFamily="34" charset="-120"/>
              </a:rPr>
              <a:t>300 triệu</a:t>
            </a:r>
            <a:endParaRPr lang="en-US" sz="2500" dirty="0"/>
          </a:p>
        </p:txBody>
      </p:sp>
      <p:sp>
        <p:nvSpPr>
          <p:cNvPr id="25" name="Text 22"/>
          <p:cNvSpPr/>
          <p:nvPr/>
        </p:nvSpPr>
        <p:spPr>
          <a:xfrm>
            <a:off x="6922008" y="4219086"/>
            <a:ext cx="1728216" cy="301752"/>
          </a:xfrm>
          <a:prstGeom prst="rect">
            <a:avLst/>
          </a:prstGeom>
          <a:noFill/>
          <a:ln/>
        </p:spPr>
        <p:txBody>
          <a:bodyPr wrap="square" lIns="0" tIns="0" rIns="0" bIns="0" rtlCol="0" anchor="ctr">
            <a:normAutofit/>
          </a:bodyPr>
          <a:lstStyle/>
          <a:p>
            <a:pPr marL="0" indent="0">
              <a:buNone/>
            </a:pPr>
            <a:r>
              <a:rPr lang="en-US" sz="1050" dirty="0">
                <a:solidFill>
                  <a:srgbClr val="252B33"/>
                </a:solidFill>
                <a:latin typeface="Arial" pitchFamily="34" charset="0"/>
                <a:ea typeface="Arial" pitchFamily="34" charset="-122"/>
                <a:cs typeface="Arial" pitchFamily="34" charset="-120"/>
              </a:rPr>
              <a:t>hạ tầng/thiết bị demo</a:t>
            </a:r>
            <a:endParaRPr lang="en-US" sz="1050" dirty="0"/>
          </a:p>
        </p:txBody>
      </p:sp>
      <p:sp>
        <p:nvSpPr>
          <p:cNvPr id="26" name="Shape 23"/>
          <p:cNvSpPr/>
          <p:nvPr/>
        </p:nvSpPr>
        <p:spPr>
          <a:xfrm>
            <a:off x="9144000" y="3652158"/>
            <a:ext cx="2057400" cy="960120"/>
          </a:xfrm>
          <a:prstGeom prst="roundRect">
            <a:avLst>
              <a:gd name="adj" fmla="val 8571"/>
            </a:avLst>
          </a:prstGeom>
          <a:solidFill>
            <a:srgbClr val="FFFFFF">
              <a:alpha val="95000"/>
            </a:srgbClr>
          </a:solidFill>
          <a:ln w="8890">
            <a:solidFill>
              <a:srgbClr val="E6E0D7"/>
            </a:solidFill>
            <a:prstDash val="solid"/>
          </a:ln>
          <a:effectLst>
            <a:outerShdw blurRad="25400" dist="12700" dir="2700000" algn="bl" rotWithShape="0">
              <a:srgbClr val="000000">
                <a:alpha val="9000"/>
              </a:srgbClr>
            </a:outerShdw>
          </a:effectLst>
        </p:spPr>
        <p:txBody>
          <a:bodyPr/>
          <a:lstStyle/>
          <a:p>
            <a:endParaRPr lang="vi-VN"/>
          </a:p>
        </p:txBody>
      </p:sp>
      <p:sp>
        <p:nvSpPr>
          <p:cNvPr id="27" name="Shape 24"/>
          <p:cNvSpPr/>
          <p:nvPr/>
        </p:nvSpPr>
        <p:spPr>
          <a:xfrm>
            <a:off x="9144000" y="3652158"/>
            <a:ext cx="73152" cy="960120"/>
          </a:xfrm>
          <a:prstGeom prst="rect">
            <a:avLst/>
          </a:prstGeom>
          <a:solidFill>
            <a:srgbClr val="D6A62C"/>
          </a:solidFill>
          <a:ln w="12700">
            <a:solidFill>
              <a:srgbClr val="D6A62C"/>
            </a:solidFill>
            <a:prstDash val="solid"/>
          </a:ln>
        </p:spPr>
        <p:txBody>
          <a:bodyPr/>
          <a:lstStyle/>
          <a:p>
            <a:endParaRPr lang="vi-VN"/>
          </a:p>
        </p:txBody>
      </p:sp>
      <p:sp>
        <p:nvSpPr>
          <p:cNvPr id="28" name="Text 25"/>
          <p:cNvSpPr/>
          <p:nvPr/>
        </p:nvSpPr>
        <p:spPr>
          <a:xfrm>
            <a:off x="9345168" y="3816750"/>
            <a:ext cx="1728216" cy="384048"/>
          </a:xfrm>
          <a:prstGeom prst="rect">
            <a:avLst/>
          </a:prstGeom>
          <a:noFill/>
          <a:ln/>
        </p:spPr>
        <p:txBody>
          <a:bodyPr wrap="square" lIns="0" tIns="0" rIns="0" bIns="0" rtlCol="0" anchor="ctr">
            <a:normAutofit/>
          </a:bodyPr>
          <a:lstStyle/>
          <a:p>
            <a:pPr marL="0" indent="0">
              <a:buNone/>
            </a:pPr>
            <a:r>
              <a:rPr lang="en-US" sz="2500" b="1" dirty="0">
                <a:solidFill>
                  <a:srgbClr val="D6A62C"/>
                </a:solidFill>
                <a:latin typeface="Arial" pitchFamily="34" charset="0"/>
                <a:ea typeface="Arial" pitchFamily="34" charset="-122"/>
                <a:cs typeface="Arial" pitchFamily="34" charset="-120"/>
              </a:rPr>
              <a:t>50 triệu</a:t>
            </a:r>
            <a:endParaRPr lang="en-US" sz="2500" dirty="0"/>
          </a:p>
        </p:txBody>
      </p:sp>
      <p:sp>
        <p:nvSpPr>
          <p:cNvPr id="29" name="Text 26"/>
          <p:cNvSpPr/>
          <p:nvPr/>
        </p:nvSpPr>
        <p:spPr>
          <a:xfrm>
            <a:off x="9345168" y="4219086"/>
            <a:ext cx="1728216" cy="301752"/>
          </a:xfrm>
          <a:prstGeom prst="rect">
            <a:avLst/>
          </a:prstGeom>
          <a:noFill/>
          <a:ln/>
        </p:spPr>
        <p:txBody>
          <a:bodyPr wrap="square" lIns="0" tIns="0" rIns="0" bIns="0" rtlCol="0" anchor="ctr">
            <a:normAutofit/>
          </a:bodyPr>
          <a:lstStyle/>
          <a:p>
            <a:pPr marL="0" indent="0">
              <a:buNone/>
            </a:pPr>
            <a:r>
              <a:rPr lang="en-US" sz="1050" dirty="0">
                <a:solidFill>
                  <a:srgbClr val="252B33"/>
                </a:solidFill>
                <a:latin typeface="Arial" pitchFamily="34" charset="0"/>
                <a:ea typeface="Arial" pitchFamily="34" charset="-122"/>
                <a:cs typeface="Arial" pitchFamily="34" charset="-120"/>
              </a:rPr>
              <a:t>dự phòng rủi ro = 5%</a:t>
            </a:r>
            <a:endParaRPr lang="en-US" sz="1050" dirty="0"/>
          </a:p>
        </p:txBody>
      </p:sp>
      <p:sp>
        <p:nvSpPr>
          <p:cNvPr id="30" name="Shape 27"/>
          <p:cNvSpPr/>
          <p:nvPr/>
        </p:nvSpPr>
        <p:spPr>
          <a:xfrm>
            <a:off x="2359805" y="5576838"/>
            <a:ext cx="7168243" cy="749808"/>
          </a:xfrm>
          <a:prstGeom prst="roundRect">
            <a:avLst>
              <a:gd name="adj" fmla="val 9756"/>
            </a:avLst>
          </a:prstGeom>
          <a:solidFill>
            <a:srgbClr val="FFFFFF"/>
          </a:solidFill>
          <a:ln w="12700">
            <a:solidFill>
              <a:srgbClr val="E6E0D7"/>
            </a:solidFill>
            <a:prstDash val="solid"/>
          </a:ln>
          <a:effectLst>
            <a:outerShdw blurRad="12700" dist="12700" dir="2700000" algn="bl" rotWithShape="0">
              <a:srgbClr val="000000">
                <a:alpha val="5000"/>
              </a:srgbClr>
            </a:outerShdw>
          </a:effectLst>
        </p:spPr>
        <p:txBody>
          <a:bodyPr/>
          <a:lstStyle/>
          <a:p>
            <a:endParaRPr lang="vi-VN"/>
          </a:p>
        </p:txBody>
      </p:sp>
      <p:sp>
        <p:nvSpPr>
          <p:cNvPr id="31" name="Text 28"/>
          <p:cNvSpPr/>
          <p:nvPr/>
        </p:nvSpPr>
        <p:spPr>
          <a:xfrm>
            <a:off x="2590800" y="5796293"/>
            <a:ext cx="6803571" cy="316035"/>
          </a:xfrm>
          <a:prstGeom prst="rect">
            <a:avLst/>
          </a:prstGeom>
          <a:noFill/>
          <a:ln/>
        </p:spPr>
        <p:txBody>
          <a:bodyPr wrap="square" lIns="0" tIns="0" rIns="0" bIns="0" rtlCol="0" anchor="ctr">
            <a:normAutofit/>
          </a:bodyPr>
          <a:lstStyle/>
          <a:p>
            <a:pPr marL="0" indent="0">
              <a:buNone/>
            </a:pPr>
            <a:r>
              <a:rPr lang="en-US" sz="1150" b="1" dirty="0">
                <a:solidFill>
                  <a:srgbClr val="7A0019"/>
                </a:solidFill>
                <a:latin typeface="Arial" pitchFamily="34" charset="0"/>
                <a:ea typeface="Arial" pitchFamily="34" charset="-122"/>
                <a:cs typeface="Arial" pitchFamily="34" charset="-120"/>
              </a:rPr>
              <a:t>Nguyên tắc kiểm soát: chi phí phát sinh ngoài baseline phải qua phê duyệt thay đổi và có ghi vết.</a:t>
            </a:r>
            <a:endParaRPr lang="en-US" sz="1150" dirty="0"/>
          </a:p>
        </p:txBody>
      </p:sp>
      <p:pic>
        <p:nvPicPr>
          <p:cNvPr id="33" name="Picture 3">
            <a:extLst>
              <a:ext uri="{FF2B5EF4-FFF2-40B4-BE49-F238E27FC236}">
                <a16:creationId xmlns:a16="http://schemas.microsoft.com/office/drawing/2014/main" id="{C6233927-7198-7363-B8E0-832E3F0DC814}"/>
              </a:ext>
            </a:extLst>
          </p:cNvPr>
          <p:cNvPicPr>
            <a:picLocks noChangeAspect="1"/>
          </p:cNvPicPr>
          <p:nvPr/>
        </p:nvPicPr>
        <p:blipFill>
          <a:blip r:embed="rId3"/>
          <a:stretch>
            <a:fillRect/>
          </a:stretch>
        </p:blipFill>
        <p:spPr>
          <a:xfrm>
            <a:off x="146431" y="2053081"/>
            <a:ext cx="6339463" cy="3002683"/>
          </a:xfrm>
          <a:prstGeom prst="rect">
            <a:avLst/>
          </a:prstGeom>
        </p:spPr>
      </p:pic>
      <p:sp>
        <p:nvSpPr>
          <p:cNvPr id="32" name="Text 4">
            <a:extLst>
              <a:ext uri="{FF2B5EF4-FFF2-40B4-BE49-F238E27FC236}">
                <a16:creationId xmlns:a16="http://schemas.microsoft.com/office/drawing/2014/main" id="{FB1CD3A8-966B-E2EC-94F0-EF7850ABC847}"/>
              </a:ext>
            </a:extLst>
          </p:cNvPr>
          <p:cNvSpPr/>
          <p:nvPr/>
        </p:nvSpPr>
        <p:spPr>
          <a:xfrm>
            <a:off x="569321" y="261820"/>
            <a:ext cx="2325956" cy="237744"/>
          </a:xfrm>
          <a:prstGeom prst="rect">
            <a:avLst/>
          </a:prstGeom>
          <a:noFill/>
          <a:ln/>
        </p:spPr>
        <p:txBody>
          <a:bodyPr wrap="square" lIns="0" tIns="0" rIns="0" bIns="0" rtlCol="0" anchor="ctr">
            <a:normAutofit/>
          </a:bodyPr>
          <a:lstStyle/>
          <a:p>
            <a:pPr marL="0" indent="0">
              <a:buNone/>
            </a:pPr>
            <a:r>
              <a:rPr lang="en-US" sz="1200" b="1">
                <a:solidFill>
                  <a:srgbClr val="B00020"/>
                </a:solidFill>
                <a:latin typeface="Arial" pitchFamily="34" charset="0"/>
                <a:cs typeface="Arial" pitchFamily="34" charset="-120"/>
              </a:rPr>
              <a:t>III. QUẢN TRỊ DỰ ÁN</a:t>
            </a:r>
            <a:endParaRPr lang="en-US" sz="1200" dirty="0"/>
          </a:p>
        </p:txBody>
      </p:sp>
      <p:sp>
        <p:nvSpPr>
          <p:cNvPr id="36" name="Text 8">
            <a:extLst>
              <a:ext uri="{FF2B5EF4-FFF2-40B4-BE49-F238E27FC236}">
                <a16:creationId xmlns:a16="http://schemas.microsoft.com/office/drawing/2014/main" id="{57DD8F29-27DC-AE2A-C245-936EB08F1992}"/>
              </a:ext>
            </a:extLst>
          </p:cNvPr>
          <p:cNvSpPr/>
          <p:nvPr/>
        </p:nvSpPr>
        <p:spPr>
          <a:xfrm>
            <a:off x="493121" y="656014"/>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3. Quản lý chi phí</a:t>
            </a:r>
            <a:endParaRPr lang="en-US" sz="2700" dirty="0"/>
          </a:p>
        </p:txBody>
      </p:sp>
      <p:sp>
        <p:nvSpPr>
          <p:cNvPr id="38" name="Shape 10">
            <a:extLst>
              <a:ext uri="{FF2B5EF4-FFF2-40B4-BE49-F238E27FC236}">
                <a16:creationId xmlns:a16="http://schemas.microsoft.com/office/drawing/2014/main" id="{F6B385B7-1128-0B52-D298-31E6B8986C9A}"/>
              </a:ext>
            </a:extLst>
          </p:cNvPr>
          <p:cNvSpPr/>
          <p:nvPr/>
        </p:nvSpPr>
        <p:spPr>
          <a:xfrm>
            <a:off x="511409" y="1152655"/>
            <a:ext cx="1920240" cy="0"/>
          </a:xfrm>
          <a:prstGeom prst="line">
            <a:avLst/>
          </a:prstGeom>
          <a:noFill/>
          <a:ln w="25400">
            <a:solidFill>
              <a:srgbClr val="D6A62C"/>
            </a:solidFill>
            <a:prstDash val="solid"/>
          </a:ln>
        </p:spPr>
        <p:txBody>
          <a:bodyPr/>
          <a:lstStyle/>
          <a:p>
            <a:endParaRPr lang="vi-VN"/>
          </a:p>
        </p:txBody>
      </p:sp>
      <p:sp>
        <p:nvSpPr>
          <p:cNvPr id="40" name="Text 14">
            <a:extLst>
              <a:ext uri="{FF2B5EF4-FFF2-40B4-BE49-F238E27FC236}">
                <a16:creationId xmlns:a16="http://schemas.microsoft.com/office/drawing/2014/main" id="{B865D7F2-F3B1-2407-63A0-EDDA15634485}"/>
              </a:ext>
            </a:extLst>
          </p:cNvPr>
          <p:cNvSpPr/>
          <p:nvPr/>
        </p:nvSpPr>
        <p:spPr>
          <a:xfrm>
            <a:off x="469000" y="1473431"/>
            <a:ext cx="5153467" cy="328781"/>
          </a:xfrm>
          <a:prstGeom prst="rect">
            <a:avLst/>
          </a:prstGeom>
          <a:noFill/>
          <a:ln/>
        </p:spPr>
        <p:txBody>
          <a:bodyPr wrap="square" lIns="1016" tIns="1016" rIns="1016" bIns="1016" rtlCol="0" anchor="ctr">
            <a:normAutofit/>
          </a:bodyPr>
          <a:lstStyle/>
          <a:p>
            <a:pPr marL="0" indent="0" algn="l">
              <a:buNone/>
            </a:pPr>
            <a:r>
              <a:rPr lang="en-US" sz="1400" b="1">
                <a:solidFill>
                  <a:srgbClr val="B00020"/>
                </a:solidFill>
                <a:latin typeface="Arial" pitchFamily="34" charset="0"/>
                <a:ea typeface="Arial" pitchFamily="34" charset="-122"/>
                <a:cs typeface="Arial" pitchFamily="34" charset="-120"/>
              </a:rPr>
              <a:t>Cost baseline theo giai đoạn và nhóm chi phí</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DC8A6713-A946-10AE-83FD-95203C0B705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DF9C6C3-0D74-9355-4F54-99E967824121}"/>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86DA2FF1-97C7-87C0-145F-D05F91EB0FA0}"/>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A0EBF2BE-7C23-B3DF-879B-05DEE84C7256}"/>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AD6FB38B-6842-21D3-A8DF-4688E2C4CBC2}"/>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6" name="Text 4">
            <a:extLst>
              <a:ext uri="{FF2B5EF4-FFF2-40B4-BE49-F238E27FC236}">
                <a16:creationId xmlns:a16="http://schemas.microsoft.com/office/drawing/2014/main" id="{84F7BA41-9941-ED4D-0593-63DD93A43E4E}"/>
              </a:ext>
            </a:extLst>
          </p:cNvPr>
          <p:cNvSpPr/>
          <p:nvPr/>
        </p:nvSpPr>
        <p:spPr>
          <a:xfrm>
            <a:off x="645520" y="327135"/>
            <a:ext cx="2582091" cy="322871"/>
          </a:xfrm>
          <a:prstGeom prst="rect">
            <a:avLst/>
          </a:prstGeom>
          <a:noFill/>
          <a:ln/>
        </p:spPr>
        <p:txBody>
          <a:bodyPr wrap="square" lIns="0" tIns="0" rIns="0" bIns="0" rtlCol="0" anchor="ctr">
            <a:normAutofit/>
          </a:bodyPr>
          <a:lstStyle/>
          <a:p>
            <a:pPr marL="0" indent="0">
              <a:buNone/>
            </a:pPr>
            <a:r>
              <a:rPr lang="en-US" sz="1600" b="1">
                <a:solidFill>
                  <a:srgbClr val="B00020"/>
                </a:solidFill>
                <a:latin typeface="Arial" pitchFamily="34" charset="0"/>
                <a:cs typeface="Arial" pitchFamily="34" charset="-120"/>
              </a:rPr>
              <a:t>III. QUẢN TRỊ DỰ ÁN</a:t>
            </a:r>
            <a:endParaRPr lang="en-US" sz="1600" dirty="0"/>
          </a:p>
        </p:txBody>
      </p:sp>
      <p:sp>
        <p:nvSpPr>
          <p:cNvPr id="9" name="Text 7">
            <a:extLst>
              <a:ext uri="{FF2B5EF4-FFF2-40B4-BE49-F238E27FC236}">
                <a16:creationId xmlns:a16="http://schemas.microsoft.com/office/drawing/2014/main" id="{F19083E7-19E1-95AB-3CF7-C5828AB7CE5C}"/>
              </a:ext>
            </a:extLst>
          </p:cNvPr>
          <p:cNvSpPr/>
          <p:nvPr/>
        </p:nvSpPr>
        <p:spPr>
          <a:xfrm>
            <a:off x="11274552" y="6446520"/>
            <a:ext cx="457200" cy="201168"/>
          </a:xfrm>
          <a:prstGeom prst="rect">
            <a:avLst/>
          </a:prstGeom>
          <a:noFill/>
          <a:ln/>
        </p:spPr>
        <p:txBody>
          <a:bodyPr wrap="square" lIns="0" tIns="0" rIns="0" bIns="0" rtlCol="0" anchor="ctr">
            <a:normAutofit/>
          </a:bodyPr>
          <a:lstStyle/>
          <a:p>
            <a:pPr marL="0" indent="0" algn="r">
              <a:buNone/>
            </a:pPr>
            <a:r>
              <a:rPr lang="en-US" sz="850" b="1" dirty="0">
                <a:solidFill>
                  <a:srgbClr val="B00020"/>
                </a:solidFill>
                <a:latin typeface="Arial" pitchFamily="34" charset="0"/>
                <a:ea typeface="Arial" pitchFamily="34" charset="-122"/>
                <a:cs typeface="Arial" pitchFamily="34" charset="-120"/>
              </a:rPr>
              <a:t>04</a:t>
            </a:r>
            <a:endParaRPr lang="en-US" sz="850" dirty="0"/>
          </a:p>
        </p:txBody>
      </p:sp>
      <p:sp>
        <p:nvSpPr>
          <p:cNvPr id="10" name="Text 8">
            <a:extLst>
              <a:ext uri="{FF2B5EF4-FFF2-40B4-BE49-F238E27FC236}">
                <a16:creationId xmlns:a16="http://schemas.microsoft.com/office/drawing/2014/main" id="{B77CE351-E630-D792-D306-0624F208362D}"/>
              </a:ext>
            </a:extLst>
          </p:cNvPr>
          <p:cNvSpPr/>
          <p:nvPr/>
        </p:nvSpPr>
        <p:spPr>
          <a:xfrm>
            <a:off x="640080" y="721330"/>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4. Quản lý chất lượng</a:t>
            </a:r>
            <a:endParaRPr lang="en-US" sz="2700" dirty="0"/>
          </a:p>
        </p:txBody>
      </p:sp>
      <p:sp>
        <p:nvSpPr>
          <p:cNvPr id="12" name="Shape 10">
            <a:extLst>
              <a:ext uri="{FF2B5EF4-FFF2-40B4-BE49-F238E27FC236}">
                <a16:creationId xmlns:a16="http://schemas.microsoft.com/office/drawing/2014/main" id="{3EFA6464-ACE6-6EBD-A320-6EEAE42D003F}"/>
              </a:ext>
            </a:extLst>
          </p:cNvPr>
          <p:cNvSpPr/>
          <p:nvPr/>
        </p:nvSpPr>
        <p:spPr>
          <a:xfrm>
            <a:off x="658368" y="1217971"/>
            <a:ext cx="1920240" cy="0"/>
          </a:xfrm>
          <a:prstGeom prst="line">
            <a:avLst/>
          </a:prstGeom>
          <a:noFill/>
          <a:ln w="25400">
            <a:solidFill>
              <a:srgbClr val="D6A62C"/>
            </a:solidFill>
            <a:prstDash val="solid"/>
          </a:ln>
        </p:spPr>
        <p:txBody>
          <a:bodyPr/>
          <a:lstStyle/>
          <a:p>
            <a:endParaRPr lang="vi-VN"/>
          </a:p>
        </p:txBody>
      </p:sp>
      <p:sp>
        <p:nvSpPr>
          <p:cNvPr id="17" name="Text 14">
            <a:extLst>
              <a:ext uri="{FF2B5EF4-FFF2-40B4-BE49-F238E27FC236}">
                <a16:creationId xmlns:a16="http://schemas.microsoft.com/office/drawing/2014/main" id="{4D76B232-C4B2-DED3-CFF3-33C69718E0AC}"/>
              </a:ext>
            </a:extLst>
          </p:cNvPr>
          <p:cNvSpPr/>
          <p:nvPr/>
        </p:nvSpPr>
        <p:spPr>
          <a:xfrm>
            <a:off x="626845" y="1288374"/>
            <a:ext cx="2685757" cy="328781"/>
          </a:xfrm>
          <a:prstGeom prst="rect">
            <a:avLst/>
          </a:prstGeom>
          <a:noFill/>
          <a:ln/>
        </p:spPr>
        <p:txBody>
          <a:bodyPr wrap="square" lIns="1016" tIns="1016" rIns="1016" bIns="1016" rtlCol="0" anchor="ctr">
            <a:normAutofit/>
          </a:bodyPr>
          <a:lstStyle/>
          <a:p>
            <a:pPr marL="0" indent="0" algn="l">
              <a:buNone/>
            </a:pPr>
            <a:r>
              <a:rPr lang="vi-VN" sz="1400" b="1">
                <a:solidFill>
                  <a:srgbClr val="B00020"/>
                </a:solidFill>
                <a:latin typeface="Arial" pitchFamily="34" charset="0"/>
                <a:ea typeface="Arial" pitchFamily="34" charset="-122"/>
                <a:cs typeface="Arial" pitchFamily="34" charset="-120"/>
              </a:rPr>
              <a:t>Mục tiêu chất lượng</a:t>
            </a:r>
            <a:endParaRPr lang="en-US" sz="1400" dirty="0"/>
          </a:p>
        </p:txBody>
      </p:sp>
      <p:sp>
        <p:nvSpPr>
          <p:cNvPr id="15" name="Text 14">
            <a:extLst>
              <a:ext uri="{FF2B5EF4-FFF2-40B4-BE49-F238E27FC236}">
                <a16:creationId xmlns:a16="http://schemas.microsoft.com/office/drawing/2014/main" id="{BEE8BF0C-D07A-5A6E-2422-FD8C9DB6DD55}"/>
              </a:ext>
            </a:extLst>
          </p:cNvPr>
          <p:cNvSpPr/>
          <p:nvPr/>
        </p:nvSpPr>
        <p:spPr>
          <a:xfrm>
            <a:off x="1768041" y="2275706"/>
            <a:ext cx="4038449" cy="328781"/>
          </a:xfrm>
          <a:prstGeom prst="rect">
            <a:avLst/>
          </a:prstGeom>
          <a:noFill/>
          <a:ln/>
        </p:spPr>
        <p:txBody>
          <a:bodyPr wrap="square" lIns="1016" tIns="1016" rIns="1016" bIns="1016" rtlCol="0" anchor="ctr">
            <a:normAutofit/>
          </a:bodyPr>
          <a:lstStyle/>
          <a:p>
            <a:pPr marL="0" indent="0" algn="l">
              <a:buNone/>
            </a:pPr>
            <a:r>
              <a:rPr lang="vi-VN" sz="1400" b="1">
                <a:solidFill>
                  <a:srgbClr val="B00020"/>
                </a:solidFill>
                <a:latin typeface="Arial" pitchFamily="34" charset="0"/>
                <a:ea typeface="Arial" pitchFamily="34" charset="-122"/>
                <a:cs typeface="Arial" pitchFamily="34" charset="-120"/>
              </a:rPr>
              <a:t>Sáu nhóm tiêu chí chất lượng</a:t>
            </a:r>
            <a:endParaRPr lang="en-US" sz="1400" dirty="0"/>
          </a:p>
        </p:txBody>
      </p:sp>
      <p:sp>
        <p:nvSpPr>
          <p:cNvPr id="13" name="Text 15">
            <a:extLst>
              <a:ext uri="{FF2B5EF4-FFF2-40B4-BE49-F238E27FC236}">
                <a16:creationId xmlns:a16="http://schemas.microsoft.com/office/drawing/2014/main" id="{B9F51F70-45B0-718B-7260-6BA3671E60AE}"/>
              </a:ext>
            </a:extLst>
          </p:cNvPr>
          <p:cNvSpPr/>
          <p:nvPr/>
        </p:nvSpPr>
        <p:spPr>
          <a:xfrm>
            <a:off x="593635" y="1499921"/>
            <a:ext cx="11015979" cy="706311"/>
          </a:xfrm>
          <a:prstGeom prst="rect">
            <a:avLst/>
          </a:prstGeom>
          <a:noFill/>
          <a:ln/>
        </p:spPr>
        <p:txBody>
          <a:bodyPr wrap="square" lIns="1016" tIns="1016" rIns="1016" bIns="1016" rtlCol="0" anchor="ctr">
            <a:normAutofit/>
          </a:bodyPr>
          <a:lstStyle/>
          <a:p>
            <a:pPr marL="0" indent="0" algn="l">
              <a:buNone/>
            </a:pPr>
            <a:r>
              <a:rPr lang="vi-VN" sz="1400">
                <a:solidFill>
                  <a:srgbClr val="252B33"/>
                </a:solidFill>
                <a:latin typeface="Arial" pitchFamily="34" charset="0"/>
                <a:ea typeface="Arial" pitchFamily="34" charset="-122"/>
                <a:cs typeface="Arial" pitchFamily="34" charset="-120"/>
              </a:rPr>
              <a:t>Đảm bảo sản phẩm Smartbox làm ra đúng như cam kết, chạy ổn định trên thực tế và đủ điều kiện minh bạch để bàn giao thành công.</a:t>
            </a:r>
          </a:p>
        </p:txBody>
      </p:sp>
      <p:graphicFrame>
        <p:nvGraphicFramePr>
          <p:cNvPr id="16" name="Bảng 15">
            <a:extLst>
              <a:ext uri="{FF2B5EF4-FFF2-40B4-BE49-F238E27FC236}">
                <a16:creationId xmlns:a16="http://schemas.microsoft.com/office/drawing/2014/main" id="{F722CF6B-FFF8-3C97-98FB-7C791CA12262}"/>
              </a:ext>
            </a:extLst>
          </p:cNvPr>
          <p:cNvGraphicFramePr>
            <a:graphicFrameLocks noGrp="1"/>
          </p:cNvGraphicFramePr>
          <p:nvPr>
            <p:extLst>
              <p:ext uri="{D42A27DB-BD31-4B8C-83A1-F6EECF244321}">
                <p14:modId xmlns:p14="http://schemas.microsoft.com/office/powerpoint/2010/main" val="969774215"/>
              </p:ext>
            </p:extLst>
          </p:nvPr>
        </p:nvGraphicFramePr>
        <p:xfrm>
          <a:off x="447893" y="2693158"/>
          <a:ext cx="5229008" cy="4022322"/>
        </p:xfrm>
        <a:graphic>
          <a:graphicData uri="http://schemas.openxmlformats.org/drawingml/2006/table">
            <a:tbl>
              <a:tblPr firstRow="1" firstCol="1" bandRow="1"/>
              <a:tblGrid>
                <a:gridCol w="1369184">
                  <a:extLst>
                    <a:ext uri="{9D8B030D-6E8A-4147-A177-3AD203B41FA5}">
                      <a16:colId xmlns:a16="http://schemas.microsoft.com/office/drawing/2014/main" val="564837361"/>
                    </a:ext>
                  </a:extLst>
                </a:gridCol>
                <a:gridCol w="3859824">
                  <a:extLst>
                    <a:ext uri="{9D8B030D-6E8A-4147-A177-3AD203B41FA5}">
                      <a16:colId xmlns:a16="http://schemas.microsoft.com/office/drawing/2014/main" val="2673671392"/>
                    </a:ext>
                  </a:extLst>
                </a:gridCol>
              </a:tblGrid>
              <a:tr h="340635">
                <a:tc>
                  <a:txBody>
                    <a:bodyPr/>
                    <a:lstStyle/>
                    <a:p>
                      <a:pPr algn="ct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Tiêu chí</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Mức chấp nhận</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extLst>
                  <a:ext uri="{0D108BD9-81ED-4DB2-BD59-A6C34878D82A}">
                    <a16:rowId xmlns:a16="http://schemas.microsoft.com/office/drawing/2014/main" val="2878532837"/>
                  </a:ext>
                </a:extLst>
              </a:tr>
              <a:tr h="594388">
                <a:tc>
                  <a:txBody>
                    <a:bodyPr/>
                    <a:lstStyle/>
                    <a:p>
                      <a:pP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Bao phủ yêu cầu</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100% tính năng đã chốt đều có mã định danh và gắn với kịch bản kiểm thử cụ thể trong ma trận truy vết (RTM)</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6153565"/>
                  </a:ext>
                </a:extLst>
              </a:tr>
              <a:tr h="594388">
                <a:tc>
                  <a:txBody>
                    <a:bodyPr/>
                    <a:lstStyle/>
                    <a:p>
                      <a:pP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Luồng nghiệp vụ then chốt</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Đạt 100% kiểm thử chấp nhận (UAT) cho các tính năng: gửi – nhận đồ, mã OTP/QR, thu hộ COD, thanh toán và phân quyền sử dụng</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862818"/>
                  </a:ext>
                </a:extLst>
              </a:tr>
              <a:tr h="594388">
                <a:tc>
                  <a:txBody>
                    <a:bodyPr/>
                    <a:lstStyle/>
                    <a:p>
                      <a:pP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Độ ổn định khi kiểm thử</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vi-V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Tỷ lệ vượt qua bài test hệ thống/UAT đạt 95%; xóa bỏ hoàn toàn lỗi nghiêm trọng (Critical) và lỗi mức cao (High) trước khi nghiệm thu</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48620420"/>
                  </a:ext>
                </a:extLst>
              </a:tr>
              <a:tr h="594388">
                <a:tc>
                  <a:txBody>
                    <a:bodyPr/>
                    <a:lstStyle/>
                    <a:p>
                      <a:pP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Độ toàn vẹn dữ liệu</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Không bao giờ cấp trùng ngăn tủ đang sử dụng; tuyệt đối không để trùng lặp giao dịch thu/chi tiền</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1153630"/>
                  </a:ext>
                </a:extLst>
              </a:tr>
              <a:tr h="340635">
                <a:tc>
                  <a:txBody>
                    <a:bodyPr/>
                    <a:lstStyle/>
                    <a:p>
                      <a:pP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Bảo mật truy cập</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vi-V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Người dùng chỉ xem và thao tác đúng phần quyền được cấp, ngăn chặn tuyệt đối việc xem chéo dữ liệu</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293027"/>
                  </a:ext>
                </a:extLst>
              </a:tr>
              <a:tr h="594388">
                <a:tc>
                  <a:txBody>
                    <a:bodyPr/>
                    <a:lstStyle/>
                    <a:p>
                      <a:pPr>
                        <a:lnSpc>
                          <a:spcPct val="115000"/>
                        </a:lnSpc>
                        <a:spcAft>
                          <a:spcPts val="400"/>
                        </a:spcAft>
                        <a:buNone/>
                      </a:pPr>
                      <a:r>
                        <a:rPr lang="vi-VN"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Quản lý hồ sơ bàn giao</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vi-V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100% tài liệu và sản phẩm bàn giao phải gắn số phiên bản, cập nhật trạng thái và có người ký duyệt</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6872914"/>
                  </a:ext>
                </a:extLst>
              </a:tr>
            </a:tbl>
          </a:graphicData>
        </a:graphic>
      </p:graphicFrame>
      <p:sp>
        <p:nvSpPr>
          <p:cNvPr id="19" name="Text 14">
            <a:extLst>
              <a:ext uri="{FF2B5EF4-FFF2-40B4-BE49-F238E27FC236}">
                <a16:creationId xmlns:a16="http://schemas.microsoft.com/office/drawing/2014/main" id="{E1D59D9B-B4C9-FD51-C7BB-55FA913683FE}"/>
              </a:ext>
            </a:extLst>
          </p:cNvPr>
          <p:cNvSpPr/>
          <p:nvPr/>
        </p:nvSpPr>
        <p:spPr>
          <a:xfrm>
            <a:off x="8197308" y="2282732"/>
            <a:ext cx="1662756" cy="328781"/>
          </a:xfrm>
          <a:prstGeom prst="rect">
            <a:avLst/>
          </a:prstGeom>
          <a:noFill/>
          <a:ln/>
        </p:spPr>
        <p:txBody>
          <a:bodyPr wrap="square" lIns="1016" tIns="1016" rIns="1016" bIns="1016" rtlCol="0" anchor="ctr">
            <a:normAutofit/>
          </a:bodyPr>
          <a:lstStyle/>
          <a:p>
            <a:pPr marL="0" indent="0" algn="l">
              <a:buNone/>
            </a:pPr>
            <a:r>
              <a:rPr lang="vi-VN" sz="1400" b="1">
                <a:solidFill>
                  <a:srgbClr val="B00020"/>
                </a:solidFill>
                <a:latin typeface="Arial" pitchFamily="34" charset="0"/>
                <a:ea typeface="Arial" pitchFamily="34" charset="-122"/>
                <a:cs typeface="Arial" pitchFamily="34" charset="-120"/>
              </a:rPr>
              <a:t>Kiểm thử 4 mức</a:t>
            </a:r>
            <a:endParaRPr lang="en-US" sz="1400" dirty="0"/>
          </a:p>
        </p:txBody>
      </p:sp>
      <p:graphicFrame>
        <p:nvGraphicFramePr>
          <p:cNvPr id="20" name="Bảng 19">
            <a:extLst>
              <a:ext uri="{FF2B5EF4-FFF2-40B4-BE49-F238E27FC236}">
                <a16:creationId xmlns:a16="http://schemas.microsoft.com/office/drawing/2014/main" id="{96792195-C290-D987-B7CB-27AD2771C8F0}"/>
              </a:ext>
            </a:extLst>
          </p:cNvPr>
          <p:cNvGraphicFramePr>
            <a:graphicFrameLocks noGrp="1"/>
          </p:cNvGraphicFramePr>
          <p:nvPr>
            <p:extLst>
              <p:ext uri="{D42A27DB-BD31-4B8C-83A1-F6EECF244321}">
                <p14:modId xmlns:p14="http://schemas.microsoft.com/office/powerpoint/2010/main" val="1102380141"/>
              </p:ext>
            </p:extLst>
          </p:nvPr>
        </p:nvGraphicFramePr>
        <p:xfrm>
          <a:off x="6045562" y="2693158"/>
          <a:ext cx="5902960" cy="3981962"/>
        </p:xfrm>
        <a:graphic>
          <a:graphicData uri="http://schemas.openxmlformats.org/drawingml/2006/table">
            <a:tbl>
              <a:tblPr firstRow="1" firstCol="1" bandRow="1"/>
              <a:tblGrid>
                <a:gridCol w="971550">
                  <a:extLst>
                    <a:ext uri="{9D8B030D-6E8A-4147-A177-3AD203B41FA5}">
                      <a16:colId xmlns:a16="http://schemas.microsoft.com/office/drawing/2014/main" val="71325418"/>
                    </a:ext>
                  </a:extLst>
                </a:gridCol>
                <a:gridCol w="3347720">
                  <a:extLst>
                    <a:ext uri="{9D8B030D-6E8A-4147-A177-3AD203B41FA5}">
                      <a16:colId xmlns:a16="http://schemas.microsoft.com/office/drawing/2014/main" val="2076172366"/>
                    </a:ext>
                  </a:extLst>
                </a:gridCol>
                <a:gridCol w="1583690">
                  <a:extLst>
                    <a:ext uri="{9D8B030D-6E8A-4147-A177-3AD203B41FA5}">
                      <a16:colId xmlns:a16="http://schemas.microsoft.com/office/drawing/2014/main" val="3003842172"/>
                    </a:ext>
                  </a:extLst>
                </a:gridCol>
              </a:tblGrid>
              <a:tr h="483854">
                <a:tc>
                  <a:txBody>
                    <a:bodyPr/>
                    <a:lstStyle/>
                    <a:p>
                      <a:pPr algn="ct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Mức</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Phạm vi</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Đầu mối</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extLst>
                  <a:ext uri="{0D108BD9-81ED-4DB2-BD59-A6C34878D82A}">
                    <a16:rowId xmlns:a16="http://schemas.microsoft.com/office/drawing/2014/main" val="406407645"/>
                  </a:ext>
                </a:extLst>
              </a:tr>
              <a:tr h="844298">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Unit Test (Kiểm thử đơn vị)</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vi-V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Đảm bảo từng hàm/mô-đun code chạy đúng: tính toán phí, cập nhật trạng thái đơn, mở/cấp ngăn tủ, tạo mã OTP</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Nguyễn Trọng Hiếu</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3384412"/>
                  </a:ext>
                </a:extLst>
              </a:tr>
              <a:tr h="844298">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Integration Test (Kiểm thử tích hợp)</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vi-V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Khả năng kết nối giữa các phần: API với Cơ sở dữ liệu, luồng gửi - nhận dữ liệu, cổng thanh toán giả lập, gửi thông báo.</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Cả nhóm; Nguyễn Trọng Hiếu điều phối</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1658392"/>
                  </a:ext>
                </a:extLst>
              </a:tr>
              <a:tr h="965214">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 System Test (Kiểm thử toàn hệ thống)</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Kiểm tra luồng chạy hoàn chỉnh từ đầu đến cuối: xử lý tình huống mất mạng/lỗi giao dịch, đo tốc độ phản hồi và độ an toàn bảo mật</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Phạm Đức Anh</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6055109"/>
                  </a:ext>
                </a:extLst>
              </a:tr>
              <a:tr h="844298">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Acceptance Test (Nghiệm thu thực tế)</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Đánh giá kịch bản thực tế dựa trên tiêu chí bàn giao; ký xác nhận hoàn thành (Sign-off) nội bộ và với các bên liên quan</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Phạm Đức Anh + Hoàng Đàm Khánh</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12027551"/>
                  </a:ext>
                </a:extLst>
              </a:tr>
            </a:tbl>
          </a:graphicData>
        </a:graphic>
      </p:graphicFrame>
    </p:spTree>
    <p:extLst>
      <p:ext uri="{BB962C8B-B14F-4D97-AF65-F5344CB8AC3E}">
        <p14:creationId xmlns:p14="http://schemas.microsoft.com/office/powerpoint/2010/main" val="574793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4216FF67-DDA4-990F-F5E2-E81216DA231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A7F97FE-DD5E-AA52-6BE7-B32502840BD6}"/>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011C7BCC-C332-1EF4-645F-6C697F79D475}"/>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A0546EC1-2C45-FD02-E223-E58507128D10}"/>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0070BDAA-8FF2-BAEB-8295-6334BCC12B58}"/>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6" name="Text 4">
            <a:extLst>
              <a:ext uri="{FF2B5EF4-FFF2-40B4-BE49-F238E27FC236}">
                <a16:creationId xmlns:a16="http://schemas.microsoft.com/office/drawing/2014/main" id="{2FD9796D-86ED-5D9C-03A9-47FD07FA3EA2}"/>
              </a:ext>
            </a:extLst>
          </p:cNvPr>
          <p:cNvSpPr/>
          <p:nvPr/>
        </p:nvSpPr>
        <p:spPr>
          <a:xfrm>
            <a:off x="716280" y="327136"/>
            <a:ext cx="2325956" cy="237744"/>
          </a:xfrm>
          <a:prstGeom prst="rect">
            <a:avLst/>
          </a:prstGeom>
          <a:noFill/>
          <a:ln/>
        </p:spPr>
        <p:txBody>
          <a:bodyPr wrap="square" lIns="0" tIns="0" rIns="0" bIns="0" rtlCol="0" anchor="ctr">
            <a:normAutofit/>
          </a:bodyPr>
          <a:lstStyle/>
          <a:p>
            <a:pPr marL="0" indent="0">
              <a:buNone/>
            </a:pPr>
            <a:r>
              <a:rPr lang="en-US" sz="1200" b="1">
                <a:solidFill>
                  <a:srgbClr val="B00020"/>
                </a:solidFill>
                <a:latin typeface="Arial" pitchFamily="34" charset="0"/>
                <a:cs typeface="Arial" pitchFamily="34" charset="-120"/>
              </a:rPr>
              <a:t>III. QUẢN TRỊ DỰ ÁN</a:t>
            </a:r>
            <a:endParaRPr lang="en-US" sz="1200" dirty="0"/>
          </a:p>
        </p:txBody>
      </p:sp>
      <p:sp>
        <p:nvSpPr>
          <p:cNvPr id="7" name="Text 5">
            <a:extLst>
              <a:ext uri="{FF2B5EF4-FFF2-40B4-BE49-F238E27FC236}">
                <a16:creationId xmlns:a16="http://schemas.microsoft.com/office/drawing/2014/main" id="{85906AD2-2F42-E572-E7BF-91769AA01C42}"/>
              </a:ext>
            </a:extLst>
          </p:cNvPr>
          <p:cNvSpPr/>
          <p:nvPr/>
        </p:nvSpPr>
        <p:spPr>
          <a:xfrm>
            <a:off x="5549346" y="6565392"/>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9" name="Text 7">
            <a:extLst>
              <a:ext uri="{FF2B5EF4-FFF2-40B4-BE49-F238E27FC236}">
                <a16:creationId xmlns:a16="http://schemas.microsoft.com/office/drawing/2014/main" id="{C26687E6-0BDA-1649-0A5E-043072016350}"/>
              </a:ext>
            </a:extLst>
          </p:cNvPr>
          <p:cNvSpPr/>
          <p:nvPr/>
        </p:nvSpPr>
        <p:spPr>
          <a:xfrm>
            <a:off x="11274552" y="6446520"/>
            <a:ext cx="457200" cy="201168"/>
          </a:xfrm>
          <a:prstGeom prst="rect">
            <a:avLst/>
          </a:prstGeom>
          <a:noFill/>
          <a:ln/>
        </p:spPr>
        <p:txBody>
          <a:bodyPr wrap="square" lIns="0" tIns="0" rIns="0" bIns="0" rtlCol="0" anchor="ctr">
            <a:normAutofit/>
          </a:bodyPr>
          <a:lstStyle/>
          <a:p>
            <a:pPr marL="0" indent="0" algn="r">
              <a:buNone/>
            </a:pPr>
            <a:r>
              <a:rPr lang="en-US" sz="850" b="1" dirty="0">
                <a:solidFill>
                  <a:srgbClr val="B00020"/>
                </a:solidFill>
                <a:latin typeface="Arial" pitchFamily="34" charset="0"/>
                <a:ea typeface="Arial" pitchFamily="34" charset="-122"/>
                <a:cs typeface="Arial" pitchFamily="34" charset="-120"/>
              </a:rPr>
              <a:t>04</a:t>
            </a:r>
            <a:endParaRPr lang="en-US" sz="850" dirty="0"/>
          </a:p>
        </p:txBody>
      </p:sp>
      <p:sp>
        <p:nvSpPr>
          <p:cNvPr id="10" name="Text 8">
            <a:extLst>
              <a:ext uri="{FF2B5EF4-FFF2-40B4-BE49-F238E27FC236}">
                <a16:creationId xmlns:a16="http://schemas.microsoft.com/office/drawing/2014/main" id="{958212FC-84BA-5055-CB76-5E67F569C713}"/>
              </a:ext>
            </a:extLst>
          </p:cNvPr>
          <p:cNvSpPr/>
          <p:nvPr/>
        </p:nvSpPr>
        <p:spPr>
          <a:xfrm>
            <a:off x="640080" y="721330"/>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5. Quản lý nguồn nhân lực dự án</a:t>
            </a:r>
            <a:endParaRPr lang="en-US" sz="2700" dirty="0"/>
          </a:p>
        </p:txBody>
      </p:sp>
      <p:sp>
        <p:nvSpPr>
          <p:cNvPr id="12" name="Shape 10">
            <a:extLst>
              <a:ext uri="{FF2B5EF4-FFF2-40B4-BE49-F238E27FC236}">
                <a16:creationId xmlns:a16="http://schemas.microsoft.com/office/drawing/2014/main" id="{3CEC64C8-37F0-CB25-DED1-B4247C5ECEA6}"/>
              </a:ext>
            </a:extLst>
          </p:cNvPr>
          <p:cNvSpPr/>
          <p:nvPr/>
        </p:nvSpPr>
        <p:spPr>
          <a:xfrm>
            <a:off x="658368" y="1217971"/>
            <a:ext cx="1920240" cy="0"/>
          </a:xfrm>
          <a:prstGeom prst="line">
            <a:avLst/>
          </a:prstGeom>
          <a:noFill/>
          <a:ln w="25400">
            <a:solidFill>
              <a:srgbClr val="D6A62C"/>
            </a:solidFill>
            <a:prstDash val="solid"/>
          </a:ln>
        </p:spPr>
        <p:txBody>
          <a:bodyPr/>
          <a:lstStyle/>
          <a:p>
            <a:endParaRPr lang="vi-VN"/>
          </a:p>
        </p:txBody>
      </p:sp>
      <p:sp>
        <p:nvSpPr>
          <p:cNvPr id="15" name="Text 14">
            <a:extLst>
              <a:ext uri="{FF2B5EF4-FFF2-40B4-BE49-F238E27FC236}">
                <a16:creationId xmlns:a16="http://schemas.microsoft.com/office/drawing/2014/main" id="{E17A8C99-8454-EE0C-6CCC-CBE0DCA67A1C}"/>
              </a:ext>
            </a:extLst>
          </p:cNvPr>
          <p:cNvSpPr/>
          <p:nvPr/>
        </p:nvSpPr>
        <p:spPr>
          <a:xfrm>
            <a:off x="593635" y="1388516"/>
            <a:ext cx="4038449" cy="328781"/>
          </a:xfrm>
          <a:prstGeom prst="rect">
            <a:avLst/>
          </a:prstGeom>
          <a:noFill/>
          <a:ln/>
        </p:spPr>
        <p:txBody>
          <a:bodyPr wrap="square" lIns="1016" tIns="1016" rIns="1016" bIns="1016" rtlCol="0" anchor="ctr">
            <a:normAutofit/>
          </a:bodyPr>
          <a:lstStyle/>
          <a:p>
            <a:pPr marL="0" indent="0" algn="l">
              <a:buNone/>
            </a:pPr>
            <a:r>
              <a:rPr lang="vi-VN" sz="1400" b="1">
                <a:solidFill>
                  <a:srgbClr val="B00020"/>
                </a:solidFill>
                <a:latin typeface="Arial" pitchFamily="34" charset="0"/>
                <a:ea typeface="Arial" pitchFamily="34" charset="-122"/>
                <a:cs typeface="Arial" pitchFamily="34" charset="-120"/>
              </a:rPr>
              <a:t>Mô hình tổ chức</a:t>
            </a:r>
            <a:endParaRPr lang="en-US" sz="1400" dirty="0"/>
          </a:p>
        </p:txBody>
      </p:sp>
      <p:sp>
        <p:nvSpPr>
          <p:cNvPr id="14" name="Text 15">
            <a:extLst>
              <a:ext uri="{FF2B5EF4-FFF2-40B4-BE49-F238E27FC236}">
                <a16:creationId xmlns:a16="http://schemas.microsoft.com/office/drawing/2014/main" id="{E6CFEAA8-2D71-EDB2-82CD-6028BA380194}"/>
              </a:ext>
            </a:extLst>
          </p:cNvPr>
          <p:cNvSpPr/>
          <p:nvPr/>
        </p:nvSpPr>
        <p:spPr>
          <a:xfrm>
            <a:off x="593634" y="1711969"/>
            <a:ext cx="9834879" cy="722545"/>
          </a:xfrm>
          <a:prstGeom prst="rect">
            <a:avLst/>
          </a:prstGeom>
          <a:noFill/>
          <a:ln/>
        </p:spPr>
        <p:txBody>
          <a:bodyPr wrap="square" lIns="1016" tIns="1016" rIns="1016" bIns="1016" rtlCol="0" anchor="ctr">
            <a:normAutofit/>
          </a:bodyPr>
          <a:lstStyle/>
          <a:p>
            <a:r>
              <a:rPr lang="vi-VN" sz="1400">
                <a:solidFill>
                  <a:srgbClr val="252B33"/>
                </a:solidFill>
                <a:latin typeface="Arial" pitchFamily="34" charset="0"/>
                <a:ea typeface="Arial" pitchFamily="34" charset="-122"/>
                <a:cs typeface="Arial" pitchFamily="34" charset="-120"/>
              </a:rPr>
              <a:t>Nhóm 05 là nhóm dự án nhỏ, nhân sự đã cố định 04 thành viên nên không có bước tuyển thêm. Trọng tâm quản lý nhân lực là </a:t>
            </a:r>
            <a:r>
              <a:rPr lang="vi-VN" sz="1400"/>
              <a:t>sử dụng hiệu quả bốn người hiện có,</a:t>
            </a:r>
            <a:r>
              <a:rPr lang="vi-VN" sz="1400">
                <a:solidFill>
                  <a:srgbClr val="252B33"/>
                </a:solidFill>
                <a:latin typeface="Arial" pitchFamily="34" charset="0"/>
                <a:ea typeface="Arial" pitchFamily="34" charset="-122"/>
                <a:cs typeface="Arial" pitchFamily="34" charset="-120"/>
              </a:rPr>
              <a:t> phân công đúng thế mạnh, cân bằng khối lượng, có người hỗ trợ chéo và duy trì phối hợp trong suốt 06 giai đoạn.</a:t>
            </a:r>
          </a:p>
        </p:txBody>
      </p:sp>
      <p:graphicFrame>
        <p:nvGraphicFramePr>
          <p:cNvPr id="18" name="Bảng 17">
            <a:extLst>
              <a:ext uri="{FF2B5EF4-FFF2-40B4-BE49-F238E27FC236}">
                <a16:creationId xmlns:a16="http://schemas.microsoft.com/office/drawing/2014/main" id="{5D787290-3EA0-DF2F-3799-CC24214B1D45}"/>
              </a:ext>
            </a:extLst>
          </p:cNvPr>
          <p:cNvGraphicFramePr>
            <a:graphicFrameLocks noGrp="1"/>
          </p:cNvGraphicFramePr>
          <p:nvPr>
            <p:extLst>
              <p:ext uri="{D42A27DB-BD31-4B8C-83A1-F6EECF244321}">
                <p14:modId xmlns:p14="http://schemas.microsoft.com/office/powerpoint/2010/main" val="364436128"/>
              </p:ext>
            </p:extLst>
          </p:nvPr>
        </p:nvGraphicFramePr>
        <p:xfrm>
          <a:off x="2318657" y="2723104"/>
          <a:ext cx="7625443" cy="3413566"/>
        </p:xfrm>
        <a:graphic>
          <a:graphicData uri="http://schemas.openxmlformats.org/drawingml/2006/table">
            <a:tbl>
              <a:tblPr firstRow="1" firstCol="1" bandRow="1"/>
              <a:tblGrid>
                <a:gridCol w="1766911">
                  <a:extLst>
                    <a:ext uri="{9D8B030D-6E8A-4147-A177-3AD203B41FA5}">
                      <a16:colId xmlns:a16="http://schemas.microsoft.com/office/drawing/2014/main" val="1583710277"/>
                    </a:ext>
                  </a:extLst>
                </a:gridCol>
                <a:gridCol w="1580704">
                  <a:extLst>
                    <a:ext uri="{9D8B030D-6E8A-4147-A177-3AD203B41FA5}">
                      <a16:colId xmlns:a16="http://schemas.microsoft.com/office/drawing/2014/main" val="2660949280"/>
                    </a:ext>
                  </a:extLst>
                </a:gridCol>
                <a:gridCol w="4277828">
                  <a:extLst>
                    <a:ext uri="{9D8B030D-6E8A-4147-A177-3AD203B41FA5}">
                      <a16:colId xmlns:a16="http://schemas.microsoft.com/office/drawing/2014/main" val="817866844"/>
                    </a:ext>
                  </a:extLst>
                </a:gridCol>
              </a:tblGrid>
              <a:tr h="427778">
                <a:tc>
                  <a:txBody>
                    <a:bodyPr/>
                    <a:lstStyle/>
                    <a:p>
                      <a:pPr algn="ct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Thành viên</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Vai trò</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Trách nhiệm chính</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extLst>
                  <a:ext uri="{0D108BD9-81ED-4DB2-BD59-A6C34878D82A}">
                    <a16:rowId xmlns:a16="http://schemas.microsoft.com/office/drawing/2014/main" val="1947086472"/>
                  </a:ext>
                </a:extLst>
              </a:tr>
              <a:tr h="746447">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Hoàng Đàm Khánh</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Project Manager</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Điều phối; Charter/stakeholder; truyền thông/thay đổi; tích hợp; Deployment, nghiệm thu và đóng dự án.</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7099863"/>
                  </a:ext>
                </a:extLst>
              </a:tr>
              <a:tr h="746447">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Nguyễn Trọng Hiếu</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Phân tích/Kỹ thuật/QA</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Khảo sát-phân tích; kiến trúc/API; luồng gửi-nhận; Unit Testing; điều phối kỹ thuật.</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1644432"/>
                  </a:ext>
                </a:extLst>
              </a:tr>
              <a:tr h="746447">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Nguyễn Hồng Dương</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Scope/WBS/Tiến độ</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Scope Statement; WBS/PERT/Gantt; prototype; COD/phí; regression; theo dõi tiến độ.</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7480572"/>
                  </a:ext>
                </a:extLst>
              </a:tr>
              <a:tr h="746447">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Phạm Đức Anh</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Rủi ro/Chi phí/Hạ tầng</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Risk Register; dự toán; CSDL/trạng thái; hạ tầng; System/UAT; tài liệu và phiên bản.</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9516304"/>
                  </a:ext>
                </a:extLst>
              </a:tr>
            </a:tbl>
          </a:graphicData>
        </a:graphic>
      </p:graphicFrame>
    </p:spTree>
    <p:extLst>
      <p:ext uri="{BB962C8B-B14F-4D97-AF65-F5344CB8AC3E}">
        <p14:creationId xmlns:p14="http://schemas.microsoft.com/office/powerpoint/2010/main" val="1858982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E0DC6B6E-3604-0FAD-8AB2-1A3489AAD8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FBD5FCA-8B89-CFD4-6FD5-5925778223D0}"/>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3FF73E5A-EC6D-B4EA-0DD5-E6BB7F045021}"/>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5EA028BA-8FBE-961D-43C1-A03848FD7665}"/>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9F752052-3BDC-8D7B-00FF-BAA8D8906592}"/>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6" name="Text 4">
            <a:extLst>
              <a:ext uri="{FF2B5EF4-FFF2-40B4-BE49-F238E27FC236}">
                <a16:creationId xmlns:a16="http://schemas.microsoft.com/office/drawing/2014/main" id="{E2438E74-2E30-9ED2-83C7-7AD5318699CF}"/>
              </a:ext>
            </a:extLst>
          </p:cNvPr>
          <p:cNvSpPr/>
          <p:nvPr/>
        </p:nvSpPr>
        <p:spPr>
          <a:xfrm>
            <a:off x="716280" y="327136"/>
            <a:ext cx="2625634" cy="357618"/>
          </a:xfrm>
          <a:prstGeom prst="rect">
            <a:avLst/>
          </a:prstGeom>
          <a:noFill/>
          <a:ln/>
        </p:spPr>
        <p:txBody>
          <a:bodyPr wrap="square" lIns="0" tIns="0" rIns="0" bIns="0" rtlCol="0" anchor="ctr">
            <a:normAutofit/>
          </a:bodyPr>
          <a:lstStyle/>
          <a:p>
            <a:pPr marL="0" indent="0">
              <a:buNone/>
            </a:pPr>
            <a:r>
              <a:rPr lang="en-US" sz="1600" b="1">
                <a:solidFill>
                  <a:srgbClr val="B00020"/>
                </a:solidFill>
                <a:latin typeface="Arial" pitchFamily="34" charset="0"/>
                <a:cs typeface="Arial" pitchFamily="34" charset="-120"/>
              </a:rPr>
              <a:t>III. QUẢN TRỊ DỰ ÁN</a:t>
            </a:r>
            <a:endParaRPr lang="en-US" sz="1600" dirty="0"/>
          </a:p>
        </p:txBody>
      </p:sp>
      <p:sp>
        <p:nvSpPr>
          <p:cNvPr id="7" name="Text 5">
            <a:extLst>
              <a:ext uri="{FF2B5EF4-FFF2-40B4-BE49-F238E27FC236}">
                <a16:creationId xmlns:a16="http://schemas.microsoft.com/office/drawing/2014/main" id="{65684EDF-22EB-A755-B1C3-8FE10E648F9B}"/>
              </a:ext>
            </a:extLst>
          </p:cNvPr>
          <p:cNvSpPr/>
          <p:nvPr/>
        </p:nvSpPr>
        <p:spPr>
          <a:xfrm>
            <a:off x="5549346" y="6565392"/>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9" name="Text 7">
            <a:extLst>
              <a:ext uri="{FF2B5EF4-FFF2-40B4-BE49-F238E27FC236}">
                <a16:creationId xmlns:a16="http://schemas.microsoft.com/office/drawing/2014/main" id="{571D4722-542C-6340-2476-0FF978DE91FC}"/>
              </a:ext>
            </a:extLst>
          </p:cNvPr>
          <p:cNvSpPr/>
          <p:nvPr/>
        </p:nvSpPr>
        <p:spPr>
          <a:xfrm>
            <a:off x="11274552" y="6446520"/>
            <a:ext cx="457200" cy="201168"/>
          </a:xfrm>
          <a:prstGeom prst="rect">
            <a:avLst/>
          </a:prstGeom>
          <a:noFill/>
          <a:ln/>
        </p:spPr>
        <p:txBody>
          <a:bodyPr wrap="square" lIns="0" tIns="0" rIns="0" bIns="0" rtlCol="0" anchor="ctr">
            <a:normAutofit/>
          </a:bodyPr>
          <a:lstStyle/>
          <a:p>
            <a:pPr marL="0" indent="0" algn="r">
              <a:buNone/>
            </a:pPr>
            <a:r>
              <a:rPr lang="en-US" sz="850" b="1" dirty="0">
                <a:solidFill>
                  <a:srgbClr val="B00020"/>
                </a:solidFill>
                <a:latin typeface="Arial" pitchFamily="34" charset="0"/>
                <a:ea typeface="Arial" pitchFamily="34" charset="-122"/>
                <a:cs typeface="Arial" pitchFamily="34" charset="-120"/>
              </a:rPr>
              <a:t>04</a:t>
            </a:r>
            <a:endParaRPr lang="en-US" sz="850" dirty="0"/>
          </a:p>
        </p:txBody>
      </p:sp>
      <p:sp>
        <p:nvSpPr>
          <p:cNvPr id="10" name="Text 8">
            <a:extLst>
              <a:ext uri="{FF2B5EF4-FFF2-40B4-BE49-F238E27FC236}">
                <a16:creationId xmlns:a16="http://schemas.microsoft.com/office/drawing/2014/main" id="{398851EF-2905-33F3-E2B3-254355456590}"/>
              </a:ext>
            </a:extLst>
          </p:cNvPr>
          <p:cNvSpPr/>
          <p:nvPr/>
        </p:nvSpPr>
        <p:spPr>
          <a:xfrm>
            <a:off x="640080" y="721330"/>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5. Quản lý nguồn nhân lực dự án</a:t>
            </a:r>
            <a:endParaRPr lang="en-US" sz="2700" dirty="0"/>
          </a:p>
        </p:txBody>
      </p:sp>
      <p:sp>
        <p:nvSpPr>
          <p:cNvPr id="12" name="Shape 10">
            <a:extLst>
              <a:ext uri="{FF2B5EF4-FFF2-40B4-BE49-F238E27FC236}">
                <a16:creationId xmlns:a16="http://schemas.microsoft.com/office/drawing/2014/main" id="{75561948-E75D-909D-3843-A9C5B27EFEE0}"/>
              </a:ext>
            </a:extLst>
          </p:cNvPr>
          <p:cNvSpPr/>
          <p:nvPr/>
        </p:nvSpPr>
        <p:spPr>
          <a:xfrm>
            <a:off x="658368" y="1217971"/>
            <a:ext cx="1920240" cy="0"/>
          </a:xfrm>
          <a:prstGeom prst="line">
            <a:avLst/>
          </a:prstGeom>
          <a:noFill/>
          <a:ln w="25400">
            <a:solidFill>
              <a:srgbClr val="D6A62C"/>
            </a:solidFill>
            <a:prstDash val="solid"/>
          </a:ln>
        </p:spPr>
        <p:txBody>
          <a:bodyPr/>
          <a:lstStyle/>
          <a:p>
            <a:endParaRPr lang="vi-VN"/>
          </a:p>
        </p:txBody>
      </p:sp>
      <p:sp>
        <p:nvSpPr>
          <p:cNvPr id="15" name="Text 14">
            <a:extLst>
              <a:ext uri="{FF2B5EF4-FFF2-40B4-BE49-F238E27FC236}">
                <a16:creationId xmlns:a16="http://schemas.microsoft.com/office/drawing/2014/main" id="{F0043C20-EA2F-B652-CAF6-9C89A5FC2964}"/>
              </a:ext>
            </a:extLst>
          </p:cNvPr>
          <p:cNvSpPr/>
          <p:nvPr/>
        </p:nvSpPr>
        <p:spPr>
          <a:xfrm>
            <a:off x="5206669" y="1536065"/>
            <a:ext cx="4038449" cy="328781"/>
          </a:xfrm>
          <a:prstGeom prst="rect">
            <a:avLst/>
          </a:prstGeom>
          <a:noFill/>
          <a:ln/>
        </p:spPr>
        <p:txBody>
          <a:bodyPr wrap="square" lIns="1016" tIns="1016" rIns="1016" bIns="1016" rtlCol="0" anchor="ctr">
            <a:normAutofit/>
          </a:bodyPr>
          <a:lstStyle/>
          <a:p>
            <a:pPr marL="0" indent="0" algn="l">
              <a:buNone/>
            </a:pPr>
            <a:r>
              <a:rPr lang="vi-VN" sz="1400" b="1">
                <a:solidFill>
                  <a:srgbClr val="B00020"/>
                </a:solidFill>
                <a:latin typeface="Arial" pitchFamily="34" charset="0"/>
                <a:ea typeface="Arial" pitchFamily="34" charset="-122"/>
                <a:cs typeface="Arial" pitchFamily="34" charset="-120"/>
              </a:rPr>
              <a:t>Phân bổ khối lượng</a:t>
            </a:r>
            <a:endParaRPr lang="en-US" sz="1400" dirty="0"/>
          </a:p>
        </p:txBody>
      </p:sp>
      <p:graphicFrame>
        <p:nvGraphicFramePr>
          <p:cNvPr id="8" name="Bảng 7">
            <a:extLst>
              <a:ext uri="{FF2B5EF4-FFF2-40B4-BE49-F238E27FC236}">
                <a16:creationId xmlns:a16="http://schemas.microsoft.com/office/drawing/2014/main" id="{5D6371A4-BDA4-20C3-EBDE-DE08012A22C8}"/>
              </a:ext>
            </a:extLst>
          </p:cNvPr>
          <p:cNvGraphicFramePr>
            <a:graphicFrameLocks noGrp="1"/>
          </p:cNvGraphicFramePr>
          <p:nvPr>
            <p:extLst>
              <p:ext uri="{D42A27DB-BD31-4B8C-83A1-F6EECF244321}">
                <p14:modId xmlns:p14="http://schemas.microsoft.com/office/powerpoint/2010/main" val="363082072"/>
              </p:ext>
            </p:extLst>
          </p:nvPr>
        </p:nvGraphicFramePr>
        <p:xfrm>
          <a:off x="3395842" y="2064966"/>
          <a:ext cx="5291455" cy="1693926"/>
        </p:xfrm>
        <a:graphic>
          <a:graphicData uri="http://schemas.openxmlformats.org/drawingml/2006/table">
            <a:tbl>
              <a:tblPr firstRow="1" firstCol="1" bandRow="1"/>
              <a:tblGrid>
                <a:gridCol w="2097345">
                  <a:extLst>
                    <a:ext uri="{9D8B030D-6E8A-4147-A177-3AD203B41FA5}">
                      <a16:colId xmlns:a16="http://schemas.microsoft.com/office/drawing/2014/main" val="2653143455"/>
                    </a:ext>
                  </a:extLst>
                </a:gridCol>
                <a:gridCol w="1677876">
                  <a:extLst>
                    <a:ext uri="{9D8B030D-6E8A-4147-A177-3AD203B41FA5}">
                      <a16:colId xmlns:a16="http://schemas.microsoft.com/office/drawing/2014/main" val="4038314154"/>
                    </a:ext>
                  </a:extLst>
                </a:gridCol>
                <a:gridCol w="1516234">
                  <a:extLst>
                    <a:ext uri="{9D8B030D-6E8A-4147-A177-3AD203B41FA5}">
                      <a16:colId xmlns:a16="http://schemas.microsoft.com/office/drawing/2014/main" val="4280168937"/>
                    </a:ext>
                  </a:extLst>
                </a:gridCol>
              </a:tblGrid>
              <a:tr h="0">
                <a:tc>
                  <a:txBody>
                    <a:bodyPr/>
                    <a:lstStyle/>
                    <a:p>
                      <a:pPr algn="ct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Thành viên</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Ngày công quy đổi</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Chi phí NC (triệu)</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extLst>
                  <a:ext uri="{0D108BD9-81ED-4DB2-BD59-A6C34878D82A}">
                    <a16:rowId xmlns:a16="http://schemas.microsoft.com/office/drawing/2014/main" val="3584547296"/>
                  </a:ext>
                </a:extLst>
              </a:tr>
              <a:tr h="0">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Hoàng Đàm Khánh</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47,30</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61,96</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3258312"/>
                  </a:ext>
                </a:extLst>
              </a:tr>
              <a:tr h="0">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Nguyễn Trọng Hiếu</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50,42</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66,04</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6315744"/>
                  </a:ext>
                </a:extLst>
              </a:tr>
              <a:tr h="0">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Nguyễn Hồng Dương</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45,10</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59,08</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80605122"/>
                  </a:ext>
                </a:extLst>
              </a:tr>
              <a:tr h="0">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Phạm Đức Anh</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48,03</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62,92</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7580733"/>
                  </a:ext>
                </a:extLst>
              </a:tr>
              <a:tr h="0">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TỔNG</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190,85</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250,00</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7061250"/>
                  </a:ext>
                </a:extLst>
              </a:tr>
            </a:tbl>
          </a:graphicData>
        </a:graphic>
      </p:graphicFrame>
      <p:pic>
        <p:nvPicPr>
          <p:cNvPr id="11" name="Picture 7">
            <a:extLst>
              <a:ext uri="{FF2B5EF4-FFF2-40B4-BE49-F238E27FC236}">
                <a16:creationId xmlns:a16="http://schemas.microsoft.com/office/drawing/2014/main" id="{29B041EE-7CD8-259B-07E8-9A693C5A62C3}"/>
              </a:ext>
            </a:extLst>
          </p:cNvPr>
          <p:cNvPicPr>
            <a:picLocks noChangeAspect="1"/>
          </p:cNvPicPr>
          <p:nvPr/>
        </p:nvPicPr>
        <p:blipFill>
          <a:blip r:embed="rId3"/>
          <a:stretch>
            <a:fillRect/>
          </a:stretch>
        </p:blipFill>
        <p:spPr>
          <a:xfrm>
            <a:off x="3395843" y="3946071"/>
            <a:ext cx="5291455" cy="2362200"/>
          </a:xfrm>
          <a:prstGeom prst="rect">
            <a:avLst/>
          </a:prstGeom>
        </p:spPr>
      </p:pic>
    </p:spTree>
    <p:extLst>
      <p:ext uri="{BB962C8B-B14F-4D97-AF65-F5344CB8AC3E}">
        <p14:creationId xmlns:p14="http://schemas.microsoft.com/office/powerpoint/2010/main" val="3364107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A58ED531-C862-573A-F2FA-428EB799C2A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90EF04B-ED9C-6857-803E-B8A21C253947}"/>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74A24F0E-2C21-ACEC-497C-CE9A1489970D}"/>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E127F829-8448-D9BD-C44E-32360560A804}"/>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90A8B360-301F-6AC5-965E-C8F674319BDC}"/>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6" name="Text 4">
            <a:extLst>
              <a:ext uri="{FF2B5EF4-FFF2-40B4-BE49-F238E27FC236}">
                <a16:creationId xmlns:a16="http://schemas.microsoft.com/office/drawing/2014/main" id="{558E04B4-02CC-12C6-E1FB-3A401E73B648}"/>
              </a:ext>
            </a:extLst>
          </p:cNvPr>
          <p:cNvSpPr/>
          <p:nvPr/>
        </p:nvSpPr>
        <p:spPr>
          <a:xfrm>
            <a:off x="667292" y="327136"/>
            <a:ext cx="2805249" cy="357618"/>
          </a:xfrm>
          <a:prstGeom prst="rect">
            <a:avLst/>
          </a:prstGeom>
          <a:noFill/>
          <a:ln/>
        </p:spPr>
        <p:txBody>
          <a:bodyPr wrap="square" lIns="0" tIns="0" rIns="0" bIns="0" rtlCol="0" anchor="ctr">
            <a:normAutofit/>
          </a:bodyPr>
          <a:lstStyle/>
          <a:p>
            <a:pPr marL="0" indent="0">
              <a:buNone/>
            </a:pPr>
            <a:r>
              <a:rPr lang="en-US" sz="1600" b="1">
                <a:solidFill>
                  <a:srgbClr val="B00020"/>
                </a:solidFill>
                <a:latin typeface="Arial" pitchFamily="34" charset="0"/>
                <a:cs typeface="Arial" pitchFamily="34" charset="-120"/>
              </a:rPr>
              <a:t>III. QUẢN TRỊ DỰ ÁN</a:t>
            </a:r>
            <a:endParaRPr lang="en-US" sz="1600" dirty="0"/>
          </a:p>
        </p:txBody>
      </p:sp>
      <p:sp>
        <p:nvSpPr>
          <p:cNvPr id="7" name="Text 5">
            <a:extLst>
              <a:ext uri="{FF2B5EF4-FFF2-40B4-BE49-F238E27FC236}">
                <a16:creationId xmlns:a16="http://schemas.microsoft.com/office/drawing/2014/main" id="{47D571D9-DB79-AFED-8D22-70A99C25BF68}"/>
              </a:ext>
            </a:extLst>
          </p:cNvPr>
          <p:cNvSpPr/>
          <p:nvPr/>
        </p:nvSpPr>
        <p:spPr>
          <a:xfrm>
            <a:off x="5549346" y="6565392"/>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9" name="Text 7">
            <a:extLst>
              <a:ext uri="{FF2B5EF4-FFF2-40B4-BE49-F238E27FC236}">
                <a16:creationId xmlns:a16="http://schemas.microsoft.com/office/drawing/2014/main" id="{2D8B293B-20F8-ADF8-BD6A-53E19F1D6A86}"/>
              </a:ext>
            </a:extLst>
          </p:cNvPr>
          <p:cNvSpPr/>
          <p:nvPr/>
        </p:nvSpPr>
        <p:spPr>
          <a:xfrm>
            <a:off x="11274552" y="6446520"/>
            <a:ext cx="457200" cy="201168"/>
          </a:xfrm>
          <a:prstGeom prst="rect">
            <a:avLst/>
          </a:prstGeom>
          <a:noFill/>
          <a:ln/>
        </p:spPr>
        <p:txBody>
          <a:bodyPr wrap="square" lIns="0" tIns="0" rIns="0" bIns="0" rtlCol="0" anchor="ctr">
            <a:normAutofit/>
          </a:bodyPr>
          <a:lstStyle/>
          <a:p>
            <a:pPr marL="0" indent="0" algn="r">
              <a:buNone/>
            </a:pPr>
            <a:r>
              <a:rPr lang="en-US" sz="850" b="1" dirty="0">
                <a:solidFill>
                  <a:srgbClr val="B00020"/>
                </a:solidFill>
                <a:latin typeface="Arial" pitchFamily="34" charset="0"/>
                <a:ea typeface="Arial" pitchFamily="34" charset="-122"/>
                <a:cs typeface="Arial" pitchFamily="34" charset="-120"/>
              </a:rPr>
              <a:t>04</a:t>
            </a:r>
            <a:endParaRPr lang="en-US" sz="850" dirty="0"/>
          </a:p>
        </p:txBody>
      </p:sp>
      <p:sp>
        <p:nvSpPr>
          <p:cNvPr id="10" name="Text 8">
            <a:extLst>
              <a:ext uri="{FF2B5EF4-FFF2-40B4-BE49-F238E27FC236}">
                <a16:creationId xmlns:a16="http://schemas.microsoft.com/office/drawing/2014/main" id="{77614ED4-1228-EA60-A4C1-F26923EF79A8}"/>
              </a:ext>
            </a:extLst>
          </p:cNvPr>
          <p:cNvSpPr/>
          <p:nvPr/>
        </p:nvSpPr>
        <p:spPr>
          <a:xfrm>
            <a:off x="640080" y="721330"/>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5. Quản lý nguồn nhân lực dự án</a:t>
            </a:r>
            <a:endParaRPr lang="en-US" sz="2700" dirty="0"/>
          </a:p>
        </p:txBody>
      </p:sp>
      <p:sp>
        <p:nvSpPr>
          <p:cNvPr id="12" name="Shape 10">
            <a:extLst>
              <a:ext uri="{FF2B5EF4-FFF2-40B4-BE49-F238E27FC236}">
                <a16:creationId xmlns:a16="http://schemas.microsoft.com/office/drawing/2014/main" id="{DCC2E33A-2C4B-95CC-382F-D4827D69D0B7}"/>
              </a:ext>
            </a:extLst>
          </p:cNvPr>
          <p:cNvSpPr/>
          <p:nvPr/>
        </p:nvSpPr>
        <p:spPr>
          <a:xfrm>
            <a:off x="658368" y="1217971"/>
            <a:ext cx="1920240" cy="0"/>
          </a:xfrm>
          <a:prstGeom prst="line">
            <a:avLst/>
          </a:prstGeom>
          <a:noFill/>
          <a:ln w="25400">
            <a:solidFill>
              <a:srgbClr val="D6A62C"/>
            </a:solidFill>
            <a:prstDash val="solid"/>
          </a:ln>
        </p:spPr>
        <p:txBody>
          <a:bodyPr/>
          <a:lstStyle/>
          <a:p>
            <a:endParaRPr lang="vi-VN"/>
          </a:p>
        </p:txBody>
      </p:sp>
      <p:sp>
        <p:nvSpPr>
          <p:cNvPr id="15" name="Text 14">
            <a:extLst>
              <a:ext uri="{FF2B5EF4-FFF2-40B4-BE49-F238E27FC236}">
                <a16:creationId xmlns:a16="http://schemas.microsoft.com/office/drawing/2014/main" id="{59A6996F-5EFB-3930-7DD2-F59796259952}"/>
              </a:ext>
            </a:extLst>
          </p:cNvPr>
          <p:cNvSpPr/>
          <p:nvPr/>
        </p:nvSpPr>
        <p:spPr>
          <a:xfrm>
            <a:off x="593635" y="1372189"/>
            <a:ext cx="4038449" cy="328781"/>
          </a:xfrm>
          <a:prstGeom prst="rect">
            <a:avLst/>
          </a:prstGeom>
          <a:noFill/>
          <a:ln/>
        </p:spPr>
        <p:txBody>
          <a:bodyPr wrap="square" lIns="1016" tIns="1016" rIns="1016" bIns="1016" rtlCol="0" anchor="ctr">
            <a:normAutofit/>
          </a:bodyPr>
          <a:lstStyle/>
          <a:p>
            <a:pPr marL="0" indent="0" algn="l">
              <a:buNone/>
            </a:pPr>
            <a:r>
              <a:rPr lang="vi-VN" sz="1400" b="1">
                <a:solidFill>
                  <a:srgbClr val="B00020"/>
                </a:solidFill>
                <a:latin typeface="Arial" pitchFamily="34" charset="0"/>
                <a:ea typeface="Arial" pitchFamily="34" charset="-122"/>
                <a:cs typeface="Arial" pitchFamily="34" charset="-120"/>
              </a:rPr>
              <a:t>Quy tắc phối hợp</a:t>
            </a:r>
            <a:endParaRPr lang="en-US" sz="1400" dirty="0"/>
          </a:p>
        </p:txBody>
      </p:sp>
      <p:sp>
        <p:nvSpPr>
          <p:cNvPr id="14" name="Text 15">
            <a:extLst>
              <a:ext uri="{FF2B5EF4-FFF2-40B4-BE49-F238E27FC236}">
                <a16:creationId xmlns:a16="http://schemas.microsoft.com/office/drawing/2014/main" id="{07324B4E-0673-FFDC-122F-B8C40782BD5D}"/>
              </a:ext>
            </a:extLst>
          </p:cNvPr>
          <p:cNvSpPr/>
          <p:nvPr/>
        </p:nvSpPr>
        <p:spPr>
          <a:xfrm>
            <a:off x="593635" y="1851635"/>
            <a:ext cx="10795334" cy="1543837"/>
          </a:xfrm>
          <a:prstGeom prst="rect">
            <a:avLst/>
          </a:prstGeom>
          <a:noFill/>
          <a:ln/>
        </p:spPr>
        <p:txBody>
          <a:bodyPr wrap="square" lIns="1016" tIns="1016" rIns="1016" bIns="1016" rtlCol="0" anchor="ctr">
            <a:normAutofit/>
          </a:bodyPr>
          <a:lstStyle/>
          <a:p>
            <a:pPr marL="0" indent="0" algn="l">
              <a:buNone/>
            </a:pPr>
            <a:r>
              <a:rPr lang="vi-VN" sz="1400">
                <a:solidFill>
                  <a:srgbClr val="252B33"/>
                </a:solidFill>
                <a:latin typeface="Arial" pitchFamily="34" charset="0"/>
                <a:ea typeface="Arial" pitchFamily="34" charset="-122"/>
                <a:cs typeface="Arial" pitchFamily="34" charset="-120"/>
              </a:rPr>
              <a:t>Rõ người phụ trách, có người hỗ trợ: Mỗi việc có 1 người chịu trách nhiệm chính (Owner) và tối thiểu 1 người kiểm tra hoặc làm phương án dự phòng (backup). </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Trao đổi liên tục: Duy trì họp tuần qua MS Teams; vấn đề phát sinh gấp cần báo ngay cho Quản lý dự án (PM) để giải quyết kịp thời. </a:t>
            </a:r>
          </a:p>
          <a:p>
            <a:pPr marL="0" indent="0" algn="l">
              <a:buNone/>
            </a:pPr>
            <a:r>
              <a:rPr lang="vi-VN" sz="1400">
                <a:solidFill>
                  <a:srgbClr val="252B33"/>
                </a:solidFill>
                <a:latin typeface="Arial" pitchFamily="34" charset="0"/>
                <a:ea typeface="Arial" pitchFamily="34" charset="-122"/>
                <a:cs typeface="Arial" pitchFamily="34" charset="-120"/>
              </a:rPr>
              <a:t>Minh bạch khi đổi việc: Mọi điều chuyển nhân sự lớn đều phải được cả nhóm thống nhất và cập nhật lại bảng phân chia việc (WBS), ma trận vai trò (RACI) và lịch biểu. </a:t>
            </a:r>
          </a:p>
        </p:txBody>
      </p:sp>
      <p:sp>
        <p:nvSpPr>
          <p:cNvPr id="11" name="Text 14">
            <a:extLst>
              <a:ext uri="{FF2B5EF4-FFF2-40B4-BE49-F238E27FC236}">
                <a16:creationId xmlns:a16="http://schemas.microsoft.com/office/drawing/2014/main" id="{EC62FC6C-A9D7-1728-6CA4-FB4F1CAEA01A}"/>
              </a:ext>
            </a:extLst>
          </p:cNvPr>
          <p:cNvSpPr/>
          <p:nvPr/>
        </p:nvSpPr>
        <p:spPr>
          <a:xfrm>
            <a:off x="559383" y="3592037"/>
            <a:ext cx="4038449" cy="328781"/>
          </a:xfrm>
          <a:prstGeom prst="rect">
            <a:avLst/>
          </a:prstGeom>
          <a:noFill/>
          <a:ln/>
        </p:spPr>
        <p:txBody>
          <a:bodyPr wrap="square" lIns="1016" tIns="1016" rIns="1016" bIns="1016" rtlCol="0" anchor="ctr">
            <a:normAutofit/>
          </a:bodyPr>
          <a:lstStyle/>
          <a:p>
            <a:pPr marL="0" indent="0" algn="l">
              <a:buNone/>
            </a:pPr>
            <a:r>
              <a:rPr lang="vi-VN" sz="1400" b="1">
                <a:solidFill>
                  <a:srgbClr val="B00020"/>
                </a:solidFill>
                <a:latin typeface="Arial" pitchFamily="34" charset="0"/>
                <a:ea typeface="Arial" pitchFamily="34" charset="-122"/>
                <a:cs typeface="Arial" pitchFamily="34" charset="-120"/>
              </a:rPr>
              <a:t>Phương án xử lý quá tải &amp; Rủi ro tiến độ</a:t>
            </a:r>
            <a:endParaRPr lang="en-US" sz="1400" dirty="0"/>
          </a:p>
        </p:txBody>
      </p:sp>
      <p:sp>
        <p:nvSpPr>
          <p:cNvPr id="16" name="Text 15">
            <a:extLst>
              <a:ext uri="{FF2B5EF4-FFF2-40B4-BE49-F238E27FC236}">
                <a16:creationId xmlns:a16="http://schemas.microsoft.com/office/drawing/2014/main" id="{CB0A1326-B49E-DB76-4FDC-3F2AB520233A}"/>
              </a:ext>
            </a:extLst>
          </p:cNvPr>
          <p:cNvSpPr/>
          <p:nvPr/>
        </p:nvSpPr>
        <p:spPr>
          <a:xfrm>
            <a:off x="570191" y="4094963"/>
            <a:ext cx="9486536" cy="1635277"/>
          </a:xfrm>
          <a:prstGeom prst="rect">
            <a:avLst/>
          </a:prstGeom>
          <a:noFill/>
          <a:ln/>
        </p:spPr>
        <p:txBody>
          <a:bodyPr wrap="square" lIns="1016" tIns="1016" rIns="1016" bIns="1016" rtlCol="0" anchor="ctr">
            <a:normAutofit/>
          </a:bodyPr>
          <a:lstStyle/>
          <a:p>
            <a:pPr marL="0" indent="0" algn="l">
              <a:buNone/>
            </a:pPr>
            <a:r>
              <a:rPr lang="vi-VN" sz="1400">
                <a:solidFill>
                  <a:srgbClr val="252B33"/>
                </a:solidFill>
                <a:latin typeface="Arial" pitchFamily="34" charset="0"/>
                <a:ea typeface="Arial" pitchFamily="34" charset="-122"/>
                <a:cs typeface="Arial" pitchFamily="34" charset="-120"/>
              </a:rPr>
              <a:t>Linh hoạt khi kẹt lịch học/quá tải: PM chủ động san sẻ các việc có thời gian dự phòng (float) hoặc chia nhỏ việc bàn giao, tránh tuyệt đối nguy cơ làm chậm công việc then chốt (đường găng).</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 </a:t>
            </a:r>
          </a:p>
          <a:p>
            <a:pPr marL="0" indent="0" algn="l">
              <a:buNone/>
            </a:pPr>
            <a:r>
              <a:rPr lang="vi-VN" sz="1400">
                <a:solidFill>
                  <a:srgbClr val="252B33"/>
                </a:solidFill>
                <a:latin typeface="Arial" pitchFamily="34" charset="0"/>
                <a:ea typeface="Arial" pitchFamily="34" charset="-122"/>
                <a:cs typeface="Arial" pitchFamily="34" charset="-120"/>
              </a:rPr>
              <a:t>PM giữ nhịp nhóm: Kịp thời phát hiện và tháo gỡ xung đột nội bộ, duy trì gắn kết và giúp các thành viên bám sát mục tiêu dự án. </a:t>
            </a:r>
          </a:p>
        </p:txBody>
      </p:sp>
    </p:spTree>
    <p:extLst>
      <p:ext uri="{BB962C8B-B14F-4D97-AF65-F5344CB8AC3E}">
        <p14:creationId xmlns:p14="http://schemas.microsoft.com/office/powerpoint/2010/main" val="4014074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B6D5E5CC-AD72-A392-8530-3A2B30F3ADF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7AEFFE2-6927-10A6-D848-4942F6D07C38}"/>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08BB3458-7F7C-0EA5-F1CB-06C42B16995B}"/>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CB673DBF-FC47-54FB-6D2B-DACD20AD26CC}"/>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7A25DF22-C189-A4EB-EEF5-4BD34FDC2650}"/>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6" name="Text 4">
            <a:extLst>
              <a:ext uri="{FF2B5EF4-FFF2-40B4-BE49-F238E27FC236}">
                <a16:creationId xmlns:a16="http://schemas.microsoft.com/office/drawing/2014/main" id="{B845CFC2-2EC4-4DDD-4BB9-CB87598659DD}"/>
              </a:ext>
            </a:extLst>
          </p:cNvPr>
          <p:cNvSpPr/>
          <p:nvPr/>
        </p:nvSpPr>
        <p:spPr>
          <a:xfrm>
            <a:off x="656406" y="327136"/>
            <a:ext cx="2652849" cy="357618"/>
          </a:xfrm>
          <a:prstGeom prst="rect">
            <a:avLst/>
          </a:prstGeom>
          <a:noFill/>
          <a:ln/>
        </p:spPr>
        <p:txBody>
          <a:bodyPr wrap="square" lIns="0" tIns="0" rIns="0" bIns="0" rtlCol="0" anchor="ctr">
            <a:normAutofit/>
          </a:bodyPr>
          <a:lstStyle/>
          <a:p>
            <a:pPr marL="0" indent="0">
              <a:buNone/>
            </a:pPr>
            <a:r>
              <a:rPr lang="en-US" sz="1600" b="1">
                <a:solidFill>
                  <a:srgbClr val="B00020"/>
                </a:solidFill>
                <a:latin typeface="Arial" pitchFamily="34" charset="0"/>
                <a:cs typeface="Arial" pitchFamily="34" charset="-120"/>
              </a:rPr>
              <a:t>III. QUẢN TRỊ DỰ ÁN</a:t>
            </a:r>
            <a:endParaRPr lang="en-US" sz="1600" dirty="0"/>
          </a:p>
        </p:txBody>
      </p:sp>
      <p:sp>
        <p:nvSpPr>
          <p:cNvPr id="9" name="Text 7">
            <a:extLst>
              <a:ext uri="{FF2B5EF4-FFF2-40B4-BE49-F238E27FC236}">
                <a16:creationId xmlns:a16="http://schemas.microsoft.com/office/drawing/2014/main" id="{78959F4C-D74B-55D7-2B00-323AF08AB0D9}"/>
              </a:ext>
            </a:extLst>
          </p:cNvPr>
          <p:cNvSpPr/>
          <p:nvPr/>
        </p:nvSpPr>
        <p:spPr>
          <a:xfrm>
            <a:off x="11274552" y="6446520"/>
            <a:ext cx="457200" cy="201168"/>
          </a:xfrm>
          <a:prstGeom prst="rect">
            <a:avLst/>
          </a:prstGeom>
          <a:noFill/>
          <a:ln/>
        </p:spPr>
        <p:txBody>
          <a:bodyPr wrap="square" lIns="0" tIns="0" rIns="0" bIns="0" rtlCol="0" anchor="ctr">
            <a:normAutofit/>
          </a:bodyPr>
          <a:lstStyle/>
          <a:p>
            <a:pPr marL="0" indent="0" algn="r">
              <a:buNone/>
            </a:pPr>
            <a:r>
              <a:rPr lang="en-US" sz="850" b="1" dirty="0">
                <a:solidFill>
                  <a:srgbClr val="B00020"/>
                </a:solidFill>
                <a:latin typeface="Arial" pitchFamily="34" charset="0"/>
                <a:ea typeface="Arial" pitchFamily="34" charset="-122"/>
                <a:cs typeface="Arial" pitchFamily="34" charset="-120"/>
              </a:rPr>
              <a:t>04</a:t>
            </a:r>
            <a:endParaRPr lang="en-US" sz="850" dirty="0"/>
          </a:p>
        </p:txBody>
      </p:sp>
      <p:sp>
        <p:nvSpPr>
          <p:cNvPr id="10" name="Text 8">
            <a:extLst>
              <a:ext uri="{FF2B5EF4-FFF2-40B4-BE49-F238E27FC236}">
                <a16:creationId xmlns:a16="http://schemas.microsoft.com/office/drawing/2014/main" id="{F5C49ED2-BAB6-338A-BFB4-F6098891ACF9}"/>
              </a:ext>
            </a:extLst>
          </p:cNvPr>
          <p:cNvSpPr/>
          <p:nvPr/>
        </p:nvSpPr>
        <p:spPr>
          <a:xfrm>
            <a:off x="640080" y="721330"/>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6. Quản lý rủi ro</a:t>
            </a:r>
            <a:endParaRPr lang="en-US" sz="2700" dirty="0"/>
          </a:p>
        </p:txBody>
      </p:sp>
      <p:sp>
        <p:nvSpPr>
          <p:cNvPr id="12" name="Shape 10">
            <a:extLst>
              <a:ext uri="{FF2B5EF4-FFF2-40B4-BE49-F238E27FC236}">
                <a16:creationId xmlns:a16="http://schemas.microsoft.com/office/drawing/2014/main" id="{A870CDB6-FBBD-8203-F8BC-5648B29571F6}"/>
              </a:ext>
            </a:extLst>
          </p:cNvPr>
          <p:cNvSpPr/>
          <p:nvPr/>
        </p:nvSpPr>
        <p:spPr>
          <a:xfrm>
            <a:off x="658367" y="1217971"/>
            <a:ext cx="2577201" cy="0"/>
          </a:xfrm>
          <a:prstGeom prst="line">
            <a:avLst/>
          </a:prstGeom>
          <a:noFill/>
          <a:ln w="25400">
            <a:solidFill>
              <a:srgbClr val="D6A62C"/>
            </a:solidFill>
            <a:prstDash val="solid"/>
          </a:ln>
        </p:spPr>
        <p:txBody>
          <a:bodyPr/>
          <a:lstStyle/>
          <a:p>
            <a:endParaRPr lang="vi-VN"/>
          </a:p>
        </p:txBody>
      </p:sp>
      <p:sp>
        <p:nvSpPr>
          <p:cNvPr id="15" name="Text 14">
            <a:extLst>
              <a:ext uri="{FF2B5EF4-FFF2-40B4-BE49-F238E27FC236}">
                <a16:creationId xmlns:a16="http://schemas.microsoft.com/office/drawing/2014/main" id="{0FE8A554-EF94-3806-96CB-12956586D903}"/>
              </a:ext>
            </a:extLst>
          </p:cNvPr>
          <p:cNvSpPr/>
          <p:nvPr/>
        </p:nvSpPr>
        <p:spPr>
          <a:xfrm>
            <a:off x="593635" y="1388516"/>
            <a:ext cx="4038449" cy="328781"/>
          </a:xfrm>
          <a:prstGeom prst="rect">
            <a:avLst/>
          </a:prstGeom>
          <a:noFill/>
          <a:ln/>
        </p:spPr>
        <p:txBody>
          <a:bodyPr wrap="square" lIns="1016" tIns="1016" rIns="1016" bIns="1016" rtlCol="0" anchor="ctr">
            <a:normAutofit/>
          </a:bodyPr>
          <a:lstStyle/>
          <a:p>
            <a:pPr marL="0" indent="0" algn="l">
              <a:buNone/>
            </a:pPr>
            <a:r>
              <a:rPr lang="vi-VN" sz="1400" b="1">
                <a:solidFill>
                  <a:srgbClr val="B00020"/>
                </a:solidFill>
                <a:latin typeface="Arial" pitchFamily="34" charset="0"/>
                <a:ea typeface="Arial" pitchFamily="34" charset="-122"/>
                <a:cs typeface="Arial" pitchFamily="34" charset="-120"/>
              </a:rPr>
              <a:t>Phương pháp quản lý</a:t>
            </a:r>
            <a:endParaRPr lang="en-US" sz="1400" dirty="0"/>
          </a:p>
        </p:txBody>
      </p:sp>
      <p:sp>
        <p:nvSpPr>
          <p:cNvPr id="14" name="Text 15">
            <a:extLst>
              <a:ext uri="{FF2B5EF4-FFF2-40B4-BE49-F238E27FC236}">
                <a16:creationId xmlns:a16="http://schemas.microsoft.com/office/drawing/2014/main" id="{67E31A70-D291-FBEB-8493-433AE026731C}"/>
              </a:ext>
            </a:extLst>
          </p:cNvPr>
          <p:cNvSpPr/>
          <p:nvPr/>
        </p:nvSpPr>
        <p:spPr>
          <a:xfrm>
            <a:off x="593634" y="1747556"/>
            <a:ext cx="11138117" cy="1290253"/>
          </a:xfrm>
          <a:prstGeom prst="rect">
            <a:avLst/>
          </a:prstGeom>
          <a:noFill/>
          <a:ln/>
        </p:spPr>
        <p:txBody>
          <a:bodyPr wrap="square" lIns="1016" tIns="1016" rIns="1016" bIns="1016" rtlCol="0" anchor="ctr">
            <a:normAutofit/>
          </a:bodyPr>
          <a:lstStyle/>
          <a:p>
            <a:pPr marL="0" indent="0" algn="l">
              <a:buNone/>
            </a:pPr>
            <a:r>
              <a:rPr lang="vi-VN" sz="1400">
                <a:solidFill>
                  <a:srgbClr val="252B33"/>
                </a:solidFill>
                <a:latin typeface="Arial" pitchFamily="34" charset="0"/>
                <a:ea typeface="Arial" pitchFamily="34" charset="-122"/>
                <a:cs typeface="Arial" pitchFamily="34" charset="-120"/>
              </a:rPr>
              <a:t>Nhóm theo dõi rủi ro qua Bảng quản trị rủi ro (Risk Register) với công thức tính: 𝐸=𝑃×𝐼. </a:t>
            </a:r>
          </a:p>
          <a:p>
            <a:pPr marL="0" indent="0" algn="l">
              <a:buNone/>
            </a:pPr>
            <a:r>
              <a:rPr lang="vi-VN" sz="1400">
                <a:solidFill>
                  <a:srgbClr val="252B33"/>
                </a:solidFill>
                <a:latin typeface="Arial" pitchFamily="34" charset="0"/>
                <a:ea typeface="Arial" pitchFamily="34" charset="-122"/>
                <a:cs typeface="Arial" pitchFamily="34" charset="-120"/>
              </a:rPr>
              <a:t>𝑃(Khả năng xảy ra): Thang điểm 1 – 5. </a:t>
            </a:r>
          </a:p>
          <a:p>
            <a:pPr marL="0" indent="0" algn="l">
              <a:buNone/>
            </a:pPr>
            <a:r>
              <a:rPr lang="vi-VN" sz="1400">
                <a:solidFill>
                  <a:srgbClr val="252B33"/>
                </a:solidFill>
                <a:latin typeface="Arial" pitchFamily="34" charset="0"/>
                <a:ea typeface="Arial" pitchFamily="34" charset="-122"/>
                <a:cs typeface="Arial" pitchFamily="34" charset="-120"/>
              </a:rPr>
              <a:t>𝐼(Mức độ ảnh hưởng): Thang điểm 1 – 5. </a:t>
            </a:r>
          </a:p>
          <a:p>
            <a:pPr marL="0" indent="0" algn="l">
              <a:buNone/>
            </a:pPr>
            <a:r>
              <a:rPr lang="vi-VN" sz="1400">
                <a:solidFill>
                  <a:srgbClr val="252B33"/>
                </a:solidFill>
                <a:latin typeface="Arial" pitchFamily="34" charset="0"/>
                <a:ea typeface="Arial" pitchFamily="34" charset="-122"/>
                <a:cs typeface="Arial" pitchFamily="34" charset="-120"/>
              </a:rPr>
              <a:t>𝐸(Hậu quả): Điểm số dùng để phân loại mức độ nghiêm trọng. </a:t>
            </a:r>
          </a:p>
          <a:p>
            <a:pPr marL="0" indent="0" algn="l">
              <a:buNone/>
            </a:pPr>
            <a:r>
              <a:rPr lang="vi-VN" sz="1400">
                <a:solidFill>
                  <a:srgbClr val="252B33"/>
                </a:solidFill>
                <a:latin typeface="Arial" pitchFamily="34" charset="0"/>
                <a:ea typeface="Arial" pitchFamily="34" charset="-122"/>
                <a:cs typeface="Arial" pitchFamily="34" charset="-120"/>
              </a:rPr>
              <a:t>Mục tiêu: Áp dụng giải pháp để giảm thiểu tối đa rủi ro còn lại (residual risk) và bám sát đến khi nguy cơ biến mất hoàn toàn. </a:t>
            </a:r>
          </a:p>
        </p:txBody>
      </p:sp>
      <p:graphicFrame>
        <p:nvGraphicFramePr>
          <p:cNvPr id="11" name="Bảng 10">
            <a:extLst>
              <a:ext uri="{FF2B5EF4-FFF2-40B4-BE49-F238E27FC236}">
                <a16:creationId xmlns:a16="http://schemas.microsoft.com/office/drawing/2014/main" id="{AE3871FA-E5D1-D852-D7F1-79CB68FE63D1}"/>
              </a:ext>
            </a:extLst>
          </p:cNvPr>
          <p:cNvGraphicFramePr>
            <a:graphicFrameLocks noGrp="1"/>
          </p:cNvGraphicFramePr>
          <p:nvPr>
            <p:extLst>
              <p:ext uri="{D42A27DB-BD31-4B8C-83A1-F6EECF244321}">
                <p14:modId xmlns:p14="http://schemas.microsoft.com/office/powerpoint/2010/main" val="3092597926"/>
              </p:ext>
            </p:extLst>
          </p:nvPr>
        </p:nvGraphicFramePr>
        <p:xfrm>
          <a:off x="1576754" y="3098769"/>
          <a:ext cx="9313985" cy="3519037"/>
        </p:xfrm>
        <a:graphic>
          <a:graphicData uri="http://schemas.openxmlformats.org/drawingml/2006/table">
            <a:tbl>
              <a:tblPr firstRow="1" firstCol="1" bandRow="1"/>
              <a:tblGrid>
                <a:gridCol w="851554">
                  <a:extLst>
                    <a:ext uri="{9D8B030D-6E8A-4147-A177-3AD203B41FA5}">
                      <a16:colId xmlns:a16="http://schemas.microsoft.com/office/drawing/2014/main" val="2688790042"/>
                    </a:ext>
                  </a:extLst>
                </a:gridCol>
                <a:gridCol w="1979569">
                  <a:extLst>
                    <a:ext uri="{9D8B030D-6E8A-4147-A177-3AD203B41FA5}">
                      <a16:colId xmlns:a16="http://schemas.microsoft.com/office/drawing/2014/main" val="3653290011"/>
                    </a:ext>
                  </a:extLst>
                </a:gridCol>
                <a:gridCol w="6482862">
                  <a:extLst>
                    <a:ext uri="{9D8B030D-6E8A-4147-A177-3AD203B41FA5}">
                      <a16:colId xmlns:a16="http://schemas.microsoft.com/office/drawing/2014/main" val="414936344"/>
                    </a:ext>
                  </a:extLst>
                </a:gridCol>
              </a:tblGrid>
              <a:tr h="379260">
                <a:tc>
                  <a:txBody>
                    <a:bodyPr/>
                    <a:lstStyle/>
                    <a:p>
                      <a:pPr algn="ct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Bước</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Nội dung</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15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Áp dụng cho Smartbox</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extLst>
                  <a:ext uri="{0D108BD9-81ED-4DB2-BD59-A6C34878D82A}">
                    <a16:rowId xmlns:a16="http://schemas.microsoft.com/office/drawing/2014/main" val="3468189869"/>
                  </a:ext>
                </a:extLst>
              </a:tr>
              <a:tr h="661786">
                <a:tc>
                  <a:txBody>
                    <a:bodyPr/>
                    <a:lstStyle/>
                    <a:p>
                      <a:pPr algn="ct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Nhận diện rủi ro</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vi-V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Cả nhóm cùng thảo luận (brainstorming) tìm kiếm rủi ro trên 5 khía cạnh lớn: công nghệ, con người, quy trình nghiệp vụ, tổ chức và phạm vi / tiến độ / chi phí.</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9674396"/>
                  </a:ext>
                </a:extLst>
              </a:tr>
              <a:tr h="379260">
                <a:tc>
                  <a:txBody>
                    <a:bodyPr/>
                    <a:lstStyle/>
                    <a:p>
                      <a:pPr algn="ct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Đánh giá &amp; Xếp hạng</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vi-V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Chấm điểm P, I và tính E; dồn ưu tiên xử lý các rủi ro điểm cao hoặc rủi ro tác động trực tiếp đến tiến độ then chốt (đường găng). </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705353"/>
                  </a:ext>
                </a:extLst>
              </a:tr>
              <a:tr h="661786">
                <a:tc>
                  <a:txBody>
                    <a:bodyPr/>
                    <a:lstStyle/>
                    <a:p>
                      <a:pPr algn="ct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Lập giải pháp xử lý</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vi-V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Chọn 1 trong các hướng: Tránh né – Chấp nhận – Chuyển giao – Giảm nhẹ; đồng thời xác định dấu hiệu kích hoạt (trigger) và chuẩn bị sẵn phương án dự phòng.</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810264"/>
                  </a:ext>
                </a:extLst>
              </a:tr>
              <a:tr h="661786">
                <a:tc>
                  <a:txBody>
                    <a:bodyPr/>
                    <a:lstStyle/>
                    <a:p>
                      <a:pPr algn="ct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Xét duyệt kế hoạch</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Bắt buộc phải có phê duyệt từ PM và nhóm nếu giải pháp đòi hỏi thêm chi phí/nhân lực hoặc làm thay đổi kế hoạch chuẩn ban đầu (baseline). </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9817238"/>
                  </a:ext>
                </a:extLst>
              </a:tr>
              <a:tr h="661786">
                <a:tc>
                  <a:txBody>
                    <a:bodyPr/>
                    <a:lstStyle/>
                    <a:p>
                      <a:pPr algn="ct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Gán trách nhiệm &amp; Giám sát</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400"/>
                        </a:spcAft>
                        <a:buNone/>
                      </a:pPr>
                      <a:r>
                        <a:rPr lang="vi-V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Chỉ định rõ một người chịu trách nhiệm chính (owner); định kỳ họp rà soát để cập nhật lại điểm số P/I/E, tiến độ xử lý và trạng thái rủi ro.</a:t>
                      </a:r>
                      <a:endParaRPr lang="vi-V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5886047"/>
                  </a:ext>
                </a:extLst>
              </a:tr>
            </a:tbl>
          </a:graphicData>
        </a:graphic>
      </p:graphicFrame>
    </p:spTree>
    <p:extLst>
      <p:ext uri="{BB962C8B-B14F-4D97-AF65-F5344CB8AC3E}">
        <p14:creationId xmlns:p14="http://schemas.microsoft.com/office/powerpoint/2010/main" val="3082305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E32C8933-1972-B109-E5BB-108E808C0C4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7B5A7B0-2E4E-DD79-906F-E8C883CED08F}"/>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4C9B7366-9230-DAFB-97F2-FEC317B55639}"/>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A8D8E4B4-B5F9-C254-D09A-FFC4B61CD81C}"/>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A5BCC755-B043-D99C-3985-416952D0F5F8}"/>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6" name="Text 4">
            <a:extLst>
              <a:ext uri="{FF2B5EF4-FFF2-40B4-BE49-F238E27FC236}">
                <a16:creationId xmlns:a16="http://schemas.microsoft.com/office/drawing/2014/main" id="{1E3505F3-1AA3-AE3C-AA89-B0E999646ED6}"/>
              </a:ext>
            </a:extLst>
          </p:cNvPr>
          <p:cNvSpPr/>
          <p:nvPr/>
        </p:nvSpPr>
        <p:spPr>
          <a:xfrm>
            <a:off x="716280" y="327136"/>
            <a:ext cx="2325956" cy="237744"/>
          </a:xfrm>
          <a:prstGeom prst="rect">
            <a:avLst/>
          </a:prstGeom>
          <a:noFill/>
          <a:ln/>
        </p:spPr>
        <p:txBody>
          <a:bodyPr wrap="square" lIns="0" tIns="0" rIns="0" bIns="0" rtlCol="0" anchor="ctr">
            <a:normAutofit/>
          </a:bodyPr>
          <a:lstStyle/>
          <a:p>
            <a:pPr marL="0" indent="0">
              <a:buNone/>
            </a:pPr>
            <a:r>
              <a:rPr lang="en-US" sz="1200" b="1">
                <a:solidFill>
                  <a:srgbClr val="B00020"/>
                </a:solidFill>
                <a:latin typeface="Arial" pitchFamily="34" charset="0"/>
                <a:cs typeface="Arial" pitchFamily="34" charset="-120"/>
              </a:rPr>
              <a:t>III. QUẢN TRỊ DỰ ÁN</a:t>
            </a:r>
            <a:endParaRPr lang="en-US" sz="1200" dirty="0"/>
          </a:p>
        </p:txBody>
      </p:sp>
      <p:sp>
        <p:nvSpPr>
          <p:cNvPr id="10" name="Text 8">
            <a:extLst>
              <a:ext uri="{FF2B5EF4-FFF2-40B4-BE49-F238E27FC236}">
                <a16:creationId xmlns:a16="http://schemas.microsoft.com/office/drawing/2014/main" id="{6C28390C-8EBF-E1B0-1BE2-41FCE16BF85B}"/>
              </a:ext>
            </a:extLst>
          </p:cNvPr>
          <p:cNvSpPr/>
          <p:nvPr/>
        </p:nvSpPr>
        <p:spPr>
          <a:xfrm>
            <a:off x="640080" y="721330"/>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6. Quản lý rủi ro</a:t>
            </a:r>
            <a:endParaRPr lang="en-US" sz="2700" dirty="0"/>
          </a:p>
        </p:txBody>
      </p:sp>
      <p:sp>
        <p:nvSpPr>
          <p:cNvPr id="12" name="Shape 10">
            <a:extLst>
              <a:ext uri="{FF2B5EF4-FFF2-40B4-BE49-F238E27FC236}">
                <a16:creationId xmlns:a16="http://schemas.microsoft.com/office/drawing/2014/main" id="{B81349B4-37FA-55B5-A28B-8455C52C1985}"/>
              </a:ext>
            </a:extLst>
          </p:cNvPr>
          <p:cNvSpPr/>
          <p:nvPr/>
        </p:nvSpPr>
        <p:spPr>
          <a:xfrm>
            <a:off x="658368" y="1217971"/>
            <a:ext cx="1920240" cy="0"/>
          </a:xfrm>
          <a:prstGeom prst="line">
            <a:avLst/>
          </a:prstGeom>
          <a:noFill/>
          <a:ln w="25400">
            <a:solidFill>
              <a:srgbClr val="D6A62C"/>
            </a:solidFill>
            <a:prstDash val="solid"/>
          </a:ln>
        </p:spPr>
        <p:txBody>
          <a:bodyPr/>
          <a:lstStyle/>
          <a:p>
            <a:endParaRPr lang="vi-VN"/>
          </a:p>
        </p:txBody>
      </p:sp>
      <p:sp>
        <p:nvSpPr>
          <p:cNvPr id="15" name="Text 14">
            <a:extLst>
              <a:ext uri="{FF2B5EF4-FFF2-40B4-BE49-F238E27FC236}">
                <a16:creationId xmlns:a16="http://schemas.microsoft.com/office/drawing/2014/main" id="{FAAAA128-C370-7A34-DE87-C3E211944FF5}"/>
              </a:ext>
            </a:extLst>
          </p:cNvPr>
          <p:cNvSpPr/>
          <p:nvPr/>
        </p:nvSpPr>
        <p:spPr>
          <a:xfrm>
            <a:off x="5278118" y="924059"/>
            <a:ext cx="4038449" cy="328781"/>
          </a:xfrm>
          <a:prstGeom prst="rect">
            <a:avLst/>
          </a:prstGeom>
          <a:noFill/>
          <a:ln/>
        </p:spPr>
        <p:txBody>
          <a:bodyPr wrap="square" lIns="1016" tIns="1016" rIns="1016" bIns="1016" rtlCol="0" anchor="ctr">
            <a:normAutofit/>
          </a:bodyPr>
          <a:lstStyle/>
          <a:p>
            <a:pPr marL="0" indent="0" algn="l">
              <a:buNone/>
            </a:pPr>
            <a:r>
              <a:rPr lang="vi-VN" sz="1400" b="1">
                <a:solidFill>
                  <a:srgbClr val="B00020"/>
                </a:solidFill>
                <a:latin typeface="Arial" pitchFamily="34" charset="0"/>
                <a:ea typeface="Arial" pitchFamily="34" charset="-122"/>
                <a:cs typeface="Arial" pitchFamily="34" charset="-120"/>
              </a:rPr>
              <a:t>Bảng tổng hợp quản trị rủi ro</a:t>
            </a:r>
            <a:endParaRPr lang="en-US" sz="1400" dirty="0"/>
          </a:p>
        </p:txBody>
      </p:sp>
      <p:graphicFrame>
        <p:nvGraphicFramePr>
          <p:cNvPr id="11" name="Bảng 10">
            <a:extLst>
              <a:ext uri="{FF2B5EF4-FFF2-40B4-BE49-F238E27FC236}">
                <a16:creationId xmlns:a16="http://schemas.microsoft.com/office/drawing/2014/main" id="{5BEADC31-0E63-59FC-BDEF-0A588B339283}"/>
              </a:ext>
            </a:extLst>
          </p:cNvPr>
          <p:cNvGraphicFramePr>
            <a:graphicFrameLocks noGrp="1"/>
          </p:cNvGraphicFramePr>
          <p:nvPr>
            <p:extLst>
              <p:ext uri="{D42A27DB-BD31-4B8C-83A1-F6EECF244321}">
                <p14:modId xmlns:p14="http://schemas.microsoft.com/office/powerpoint/2010/main" val="2365632994"/>
              </p:ext>
            </p:extLst>
          </p:nvPr>
        </p:nvGraphicFramePr>
        <p:xfrm>
          <a:off x="689427" y="1455569"/>
          <a:ext cx="10834913" cy="4954372"/>
        </p:xfrm>
        <a:graphic>
          <a:graphicData uri="http://schemas.openxmlformats.org/drawingml/2006/table">
            <a:tbl>
              <a:tblPr firstRow="1" firstCol="1" bandRow="1"/>
              <a:tblGrid>
                <a:gridCol w="2292344">
                  <a:extLst>
                    <a:ext uri="{9D8B030D-6E8A-4147-A177-3AD203B41FA5}">
                      <a16:colId xmlns:a16="http://schemas.microsoft.com/office/drawing/2014/main" val="1020475775"/>
                    </a:ext>
                  </a:extLst>
                </a:gridCol>
                <a:gridCol w="1418526">
                  <a:extLst>
                    <a:ext uri="{9D8B030D-6E8A-4147-A177-3AD203B41FA5}">
                      <a16:colId xmlns:a16="http://schemas.microsoft.com/office/drawing/2014/main" val="1260371723"/>
                    </a:ext>
                  </a:extLst>
                </a:gridCol>
                <a:gridCol w="2261646">
                  <a:extLst>
                    <a:ext uri="{9D8B030D-6E8A-4147-A177-3AD203B41FA5}">
                      <a16:colId xmlns:a16="http://schemas.microsoft.com/office/drawing/2014/main" val="425881617"/>
                    </a:ext>
                  </a:extLst>
                </a:gridCol>
                <a:gridCol w="3443871">
                  <a:extLst>
                    <a:ext uri="{9D8B030D-6E8A-4147-A177-3AD203B41FA5}">
                      <a16:colId xmlns:a16="http://schemas.microsoft.com/office/drawing/2014/main" val="2560892394"/>
                    </a:ext>
                  </a:extLst>
                </a:gridCol>
                <a:gridCol w="1418526">
                  <a:extLst>
                    <a:ext uri="{9D8B030D-6E8A-4147-A177-3AD203B41FA5}">
                      <a16:colId xmlns:a16="http://schemas.microsoft.com/office/drawing/2014/main" val="787395610"/>
                    </a:ext>
                  </a:extLst>
                </a:gridCol>
              </a:tblGrid>
              <a:tr h="505523">
                <a:tc>
                  <a:txBody>
                    <a:bodyPr/>
                    <a:lstStyle/>
                    <a:p>
                      <a:pPr algn="ctr">
                        <a:lnSpc>
                          <a:spcPct val="115000"/>
                        </a:lnSpc>
                        <a:buNone/>
                      </a:pPr>
                      <a:r>
                        <a:rPr lang="en-US" sz="900" b="1">
                          <a:solidFill>
                            <a:srgbClr val="FFFFFF"/>
                          </a:solidFill>
                          <a:effectLst/>
                          <a:latin typeface="Arial" panose="020B0604020202020204" pitchFamily="34" charset="0"/>
                          <a:ea typeface="Arial" panose="020B0604020202020204" pitchFamily="34" charset="0"/>
                          <a:cs typeface="Times New Roman" panose="02020603050405020304" pitchFamily="18" charset="0"/>
                        </a:rPr>
                        <a:t>Rủi ro &amp; Mức độ</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3500" marR="63500" marT="57150" marB="571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17365D"/>
                    </a:solidFill>
                  </a:tcPr>
                </a:tc>
                <a:tc>
                  <a:txBody>
                    <a:bodyPr/>
                    <a:lstStyle/>
                    <a:p>
                      <a:pPr algn="ctr">
                        <a:lnSpc>
                          <a:spcPct val="115000"/>
                        </a:lnSpc>
                        <a:buNone/>
                      </a:pPr>
                      <a:r>
                        <a:rPr lang="en-US" sz="900" b="1">
                          <a:solidFill>
                            <a:srgbClr val="FFFFFF"/>
                          </a:solidFill>
                          <a:effectLst/>
                          <a:latin typeface="Arial" panose="020B0604020202020204" pitchFamily="34" charset="0"/>
                          <a:ea typeface="Arial" panose="020B0604020202020204" pitchFamily="34" charset="0"/>
                          <a:cs typeface="Times New Roman" panose="02020603050405020304" pitchFamily="18" charset="0"/>
                        </a:rPr>
                        <a:t>Người phụ trách</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3500" marR="63500" marT="57150" marB="571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17365D"/>
                    </a:solidFill>
                  </a:tcPr>
                </a:tc>
                <a:tc>
                  <a:txBody>
                    <a:bodyPr/>
                    <a:lstStyle/>
                    <a:p>
                      <a:pPr algn="ctr">
                        <a:lnSpc>
                          <a:spcPct val="115000"/>
                        </a:lnSpc>
                        <a:buNone/>
                      </a:pPr>
                      <a:r>
                        <a:rPr lang="en-US" sz="900" b="1">
                          <a:solidFill>
                            <a:srgbClr val="FFFFFF"/>
                          </a:solidFill>
                          <a:effectLst/>
                          <a:latin typeface="Arial" panose="020B0604020202020204" pitchFamily="34" charset="0"/>
                          <a:ea typeface="Arial" panose="020B0604020202020204" pitchFamily="34" charset="0"/>
                          <a:cs typeface="Times New Roman" panose="02020603050405020304" pitchFamily="18" charset="0"/>
                        </a:rPr>
                        <a:t>Dấu hiệu kích hoạt (Trigger)</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3500" marR="63500" marT="57150" marB="571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17365D"/>
                    </a:solidFill>
                  </a:tcPr>
                </a:tc>
                <a:tc>
                  <a:txBody>
                    <a:bodyPr/>
                    <a:lstStyle/>
                    <a:p>
                      <a:pPr algn="ctr">
                        <a:lnSpc>
                          <a:spcPct val="115000"/>
                        </a:lnSpc>
                        <a:buNone/>
                      </a:pPr>
                      <a:r>
                        <a:rPr lang="en-US" sz="900" b="1">
                          <a:solidFill>
                            <a:srgbClr val="FFFFFF"/>
                          </a:solidFill>
                          <a:effectLst/>
                          <a:latin typeface="Arial" panose="020B0604020202020204" pitchFamily="34" charset="0"/>
                          <a:ea typeface="Arial" panose="020B0604020202020204" pitchFamily="34" charset="0"/>
                          <a:cs typeface="Times New Roman" panose="02020603050405020304" pitchFamily="18" charset="0"/>
                        </a:rPr>
                        <a:t>Phương án xử lý cụ thể</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3500" marR="63500" marT="57150" marB="571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17365D"/>
                    </a:solidFill>
                  </a:tcPr>
                </a:tc>
                <a:tc>
                  <a:txBody>
                    <a:bodyPr/>
                    <a:lstStyle/>
                    <a:p>
                      <a:pPr algn="ctr">
                        <a:lnSpc>
                          <a:spcPct val="115000"/>
                        </a:lnSpc>
                        <a:buNone/>
                      </a:pPr>
                      <a:r>
                        <a:rPr lang="en-US" sz="900" b="1">
                          <a:solidFill>
                            <a:srgbClr val="FFFFFF"/>
                          </a:solidFill>
                          <a:effectLst/>
                          <a:latin typeface="Arial" panose="020B0604020202020204" pitchFamily="34" charset="0"/>
                          <a:ea typeface="Arial" panose="020B0604020202020204" pitchFamily="34" charset="0"/>
                          <a:cs typeface="Times New Roman" panose="02020603050405020304" pitchFamily="18" charset="0"/>
                        </a:rPr>
                        <a:t>Mức rủi ro còn lại (Mục tiêu)</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3500" marR="63500" marT="57150" marB="571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17365D"/>
                    </a:solidFill>
                  </a:tcPr>
                </a:tc>
                <a:extLst>
                  <a:ext uri="{0D108BD9-81ED-4DB2-BD59-A6C34878D82A}">
                    <a16:rowId xmlns:a16="http://schemas.microsoft.com/office/drawing/2014/main" val="1380505102"/>
                  </a:ext>
                </a:extLst>
              </a:tr>
              <a:tr h="540376">
                <a:tc>
                  <a:txBody>
                    <a:bodyPr/>
                    <a:lstStyle/>
                    <a:p>
                      <a:pPr>
                        <a:lnSpc>
                          <a:spcPct val="97000"/>
                        </a:lnSpc>
                        <a:buNone/>
                      </a:pPr>
                      <a:r>
                        <a:rPr lang="en-US" sz="900" b="1">
                          <a:solidFill>
                            <a:srgbClr val="20252B"/>
                          </a:solidFill>
                          <a:effectLst/>
                          <a:latin typeface="Arial" panose="020B0604020202020204" pitchFamily="34" charset="0"/>
                          <a:ea typeface="Arial" panose="020B0604020202020204" pitchFamily="34" charset="0"/>
                          <a:cs typeface="Times New Roman" panose="02020603050405020304" pitchFamily="18" charset="0"/>
                        </a:rPr>
                        <a:t>Phát sinh yêu cầu mới ngoài kế hoạch </a:t>
                      </a:r>
                      <a:r>
                        <a:rPr lang="en-US" sz="900">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  </a:t>
                      </a:r>
                      <a:r>
                        <a:rPr lang="en-US" sz="850" i="1">
                          <a:solidFill>
                            <a:srgbClr val="606A73"/>
                          </a:solidFill>
                          <a:effectLst/>
                          <a:latin typeface="Arial" panose="020B0604020202020204" pitchFamily="34" charset="0"/>
                          <a:ea typeface="Arial" panose="020B0604020202020204" pitchFamily="34" charset="0"/>
                          <a:cs typeface="Times New Roman" panose="02020603050405020304" pitchFamily="18" charset="0"/>
                        </a:rPr>
                        <a:t>(E: 16)</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tc>
                  <a:txBody>
                    <a:bodyPr/>
                    <a:lstStyle/>
                    <a:p>
                      <a:pPr algn="ct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Hoàng Đàm Khánh</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tc>
                  <a:txBody>
                    <a:bodyPr/>
                    <a:lstStyle/>
                    <a:p>
                      <a:pP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Xuất hiện yêu cầu mới sau khi đã chốt tài liệu đặc tả (SRS).</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tc>
                  <a:txBody>
                    <a:bodyPr/>
                    <a:lstStyle/>
                    <a:p>
                      <a:pP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Bắt buộc lập phiếu yêu cầu thay đổi (CR), đánh giá tác động chi phí/tiến độ; chỉ sửa khi được duyệt.</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tc>
                  <a:txBody>
                    <a:bodyPr/>
                    <a:lstStyle/>
                    <a:p>
                      <a:pPr algn="ctr">
                        <a:lnSpc>
                          <a:spcPct val="115000"/>
                        </a:lnSpc>
                        <a:buNone/>
                      </a:pPr>
                      <a:r>
                        <a:rPr lang="en-US" sz="1300" b="1">
                          <a:solidFill>
                            <a:srgbClr val="17365D"/>
                          </a:solidFill>
                          <a:effectLst/>
                          <a:latin typeface="Arial" panose="020B0604020202020204" pitchFamily="34" charset="0"/>
                          <a:ea typeface="Arial" panose="020B0604020202020204" pitchFamily="34" charset="0"/>
                          <a:cs typeface="Times New Roman" panose="02020603050405020304" pitchFamily="18" charset="0"/>
                        </a:rPr>
                        <a:t>8</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p>
                      <a:pPr algn="ctr">
                        <a:lnSpc>
                          <a:spcPct val="115000"/>
                        </a:lnSpc>
                        <a:buNone/>
                      </a:pPr>
                      <a:r>
                        <a:rPr lang="en-US" sz="800" i="1">
                          <a:solidFill>
                            <a:srgbClr val="606A73"/>
                          </a:solidFill>
                          <a:effectLst/>
                          <a:latin typeface="Arial" panose="020B0604020202020204" pitchFamily="34" charset="0"/>
                          <a:ea typeface="Arial" panose="020B0604020202020204" pitchFamily="34" charset="0"/>
                          <a:cs typeface="Times New Roman" panose="02020603050405020304" pitchFamily="18" charset="0"/>
                        </a:rPr>
                        <a:t>Giảm 50%</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extLst>
                  <a:ext uri="{0D108BD9-81ED-4DB2-BD59-A6C34878D82A}">
                    <a16:rowId xmlns:a16="http://schemas.microsoft.com/office/drawing/2014/main" val="3359554311"/>
                  </a:ext>
                </a:extLst>
              </a:tr>
              <a:tr h="666217">
                <a:tc>
                  <a:txBody>
                    <a:bodyPr/>
                    <a:lstStyle/>
                    <a:p>
                      <a:pPr>
                        <a:lnSpc>
                          <a:spcPct val="97000"/>
                        </a:lnSpc>
                        <a:buNone/>
                      </a:pPr>
                      <a:r>
                        <a:rPr lang="en-US" sz="900" b="1">
                          <a:solidFill>
                            <a:srgbClr val="20252B"/>
                          </a:solidFill>
                          <a:effectLst/>
                          <a:latin typeface="Arial" panose="020B0604020202020204" pitchFamily="34" charset="0"/>
                          <a:ea typeface="Arial" panose="020B0604020202020204" pitchFamily="34" charset="0"/>
                          <a:cs typeface="Times New Roman" panose="02020603050405020304" pitchFamily="18" charset="0"/>
                        </a:rPr>
                        <a:t>Lỗi dữ liệu thanh toán / cấp trùng ngăn tủ </a:t>
                      </a:r>
                      <a:r>
                        <a:rPr lang="en-US" sz="900">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  </a:t>
                      </a:r>
                      <a:r>
                        <a:rPr lang="en-US" sz="850" i="1">
                          <a:solidFill>
                            <a:srgbClr val="606A73"/>
                          </a:solidFill>
                          <a:effectLst/>
                          <a:latin typeface="Arial" panose="020B0604020202020204" pitchFamily="34" charset="0"/>
                          <a:ea typeface="Arial" panose="020B0604020202020204" pitchFamily="34" charset="0"/>
                          <a:cs typeface="Times New Roman" panose="02020603050405020304" pitchFamily="18" charset="0"/>
                        </a:rPr>
                        <a:t>(E: 15)</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tc>
                  <a:txBody>
                    <a:bodyPr/>
                    <a:lstStyle/>
                    <a:p>
                      <a:pPr algn="ct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Phạm Đức Anh</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tc>
                  <a:txBody>
                    <a:bodyPr/>
                    <a:lstStyle/>
                    <a:p>
                      <a:pP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Phát hiện giao dịch thanh toán không đồng nhất hoặc cấp trùng ngăn đang dùng.</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tc>
                  <a:txBody>
                    <a:bodyPr/>
                    <a:lstStyle/>
                    <a:p>
                      <a:pP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Ràng buộc cơ sở dữ liệu (Constraint), xử lý theo Transaction, chặn ghi nhận trùng lặp (Idempotency).</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tc>
                  <a:txBody>
                    <a:bodyPr/>
                    <a:lstStyle/>
                    <a:p>
                      <a:pPr algn="ctr">
                        <a:lnSpc>
                          <a:spcPct val="115000"/>
                        </a:lnSpc>
                        <a:buNone/>
                      </a:pPr>
                      <a:r>
                        <a:rPr lang="en-US" sz="1300" b="1">
                          <a:solidFill>
                            <a:srgbClr val="17365D"/>
                          </a:solidFill>
                          <a:effectLst/>
                          <a:latin typeface="Arial" panose="020B0604020202020204" pitchFamily="34" charset="0"/>
                          <a:ea typeface="Arial" panose="020B0604020202020204" pitchFamily="34" charset="0"/>
                          <a:cs typeface="Times New Roman" panose="02020603050405020304" pitchFamily="18" charset="0"/>
                        </a:rPr>
                        <a:t>8</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p>
                      <a:pPr algn="ctr">
                        <a:lnSpc>
                          <a:spcPct val="115000"/>
                        </a:lnSpc>
                        <a:buNone/>
                      </a:pPr>
                      <a:r>
                        <a:rPr lang="en-US" sz="800" i="1">
                          <a:solidFill>
                            <a:srgbClr val="606A73"/>
                          </a:solidFill>
                          <a:effectLst/>
                          <a:latin typeface="Arial" panose="020B0604020202020204" pitchFamily="34" charset="0"/>
                          <a:ea typeface="Arial" panose="020B0604020202020204" pitchFamily="34" charset="0"/>
                          <a:cs typeface="Times New Roman" panose="02020603050405020304" pitchFamily="18" charset="0"/>
                        </a:rPr>
                        <a:t>Giảm 47%</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extLst>
                  <a:ext uri="{0D108BD9-81ED-4DB2-BD59-A6C34878D82A}">
                    <a16:rowId xmlns:a16="http://schemas.microsoft.com/office/drawing/2014/main" val="3190759736"/>
                  </a:ext>
                </a:extLst>
              </a:tr>
              <a:tr h="540376">
                <a:tc>
                  <a:txBody>
                    <a:bodyPr/>
                    <a:lstStyle/>
                    <a:p>
                      <a:pPr>
                        <a:lnSpc>
                          <a:spcPct val="97000"/>
                        </a:lnSpc>
                        <a:buNone/>
                      </a:pPr>
                      <a:r>
                        <a:rPr lang="en-US" sz="900" b="1">
                          <a:solidFill>
                            <a:srgbClr val="20252B"/>
                          </a:solidFill>
                          <a:effectLst/>
                          <a:latin typeface="Arial" panose="020B0604020202020204" pitchFamily="34" charset="0"/>
                          <a:ea typeface="Arial" panose="020B0604020202020204" pitchFamily="34" charset="0"/>
                          <a:cs typeface="Times New Roman" panose="02020603050405020304" pitchFamily="18" charset="0"/>
                        </a:rPr>
                        <a:t>Chậm duyệt vị trí/hạ tầng khi lắp đặt thực tế </a:t>
                      </a:r>
                      <a:r>
                        <a:rPr lang="en-US" sz="900">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  </a:t>
                      </a:r>
                      <a:r>
                        <a:rPr lang="en-US" sz="850" i="1">
                          <a:solidFill>
                            <a:srgbClr val="606A73"/>
                          </a:solidFill>
                          <a:effectLst/>
                          <a:latin typeface="Arial" panose="020B0604020202020204" pitchFamily="34" charset="0"/>
                          <a:ea typeface="Arial" panose="020B0604020202020204" pitchFamily="34" charset="0"/>
                          <a:cs typeface="Times New Roman" panose="02020603050405020304" pitchFamily="18" charset="0"/>
                        </a:rPr>
                        <a:t>(E: 12)</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tc>
                  <a:txBody>
                    <a:bodyPr/>
                    <a:lstStyle/>
                    <a:p>
                      <a:pPr algn="ct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Hoàng Đàm Khánh</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tc>
                  <a:txBody>
                    <a:bodyPr/>
                    <a:lstStyle/>
                    <a:p>
                      <a:pP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Bị yêu cầu chuyển từ mô hình demo sang tủ thật khi chưa có mặt bằng.</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tc>
                  <a:txBody>
                    <a:bodyPr/>
                    <a:lstStyle/>
                    <a:p>
                      <a:pP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Kiên quyết giữ phạm vi là phần mềm demo; tách việc lắp tủ thật thành điều kiện ngoài phạm vi dự án.</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tc>
                  <a:txBody>
                    <a:bodyPr/>
                    <a:lstStyle/>
                    <a:p>
                      <a:pPr algn="ctr">
                        <a:lnSpc>
                          <a:spcPct val="115000"/>
                        </a:lnSpc>
                        <a:buNone/>
                      </a:pPr>
                      <a:r>
                        <a:rPr lang="en-US" sz="1300" b="1">
                          <a:solidFill>
                            <a:srgbClr val="17365D"/>
                          </a:solidFill>
                          <a:effectLst/>
                          <a:latin typeface="Arial" panose="020B0604020202020204" pitchFamily="34" charset="0"/>
                          <a:ea typeface="Arial" panose="020B0604020202020204" pitchFamily="34" charset="0"/>
                          <a:cs typeface="Times New Roman" panose="02020603050405020304" pitchFamily="18" charset="0"/>
                        </a:rPr>
                        <a:t>3</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p>
                      <a:pPr algn="ctr">
                        <a:lnSpc>
                          <a:spcPct val="115000"/>
                        </a:lnSpc>
                        <a:buNone/>
                      </a:pPr>
                      <a:r>
                        <a:rPr lang="en-US" sz="800" i="1">
                          <a:solidFill>
                            <a:srgbClr val="606A73"/>
                          </a:solidFill>
                          <a:effectLst/>
                          <a:latin typeface="Arial" panose="020B0604020202020204" pitchFamily="34" charset="0"/>
                          <a:ea typeface="Arial" panose="020B0604020202020204" pitchFamily="34" charset="0"/>
                          <a:cs typeface="Times New Roman" panose="02020603050405020304" pitchFamily="18" charset="0"/>
                        </a:rPr>
                        <a:t>Giảm 75%</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extLst>
                  <a:ext uri="{0D108BD9-81ED-4DB2-BD59-A6C34878D82A}">
                    <a16:rowId xmlns:a16="http://schemas.microsoft.com/office/drawing/2014/main" val="2500922198"/>
                  </a:ext>
                </a:extLst>
              </a:tr>
              <a:tr h="540376">
                <a:tc>
                  <a:txBody>
                    <a:bodyPr/>
                    <a:lstStyle/>
                    <a:p>
                      <a:pPr>
                        <a:lnSpc>
                          <a:spcPct val="97000"/>
                        </a:lnSpc>
                        <a:buNone/>
                      </a:pPr>
                      <a:r>
                        <a:rPr lang="en-US" sz="900" b="1">
                          <a:solidFill>
                            <a:srgbClr val="20252B"/>
                          </a:solidFill>
                          <a:effectLst/>
                          <a:latin typeface="Arial" panose="020B0604020202020204" pitchFamily="34" charset="0"/>
                          <a:ea typeface="Arial" panose="020B0604020202020204" pitchFamily="34" charset="0"/>
                          <a:cs typeface="Times New Roman" panose="02020603050405020304" pitchFamily="18" charset="0"/>
                        </a:rPr>
                        <a:t>Dịch vụ giả lập mã OTP/QR hoặc thanh toán bị lỗi </a:t>
                      </a:r>
                      <a:r>
                        <a:rPr lang="en-US" sz="900">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  </a:t>
                      </a:r>
                      <a:r>
                        <a:rPr lang="en-US" sz="850" i="1">
                          <a:solidFill>
                            <a:srgbClr val="606A73"/>
                          </a:solidFill>
                          <a:effectLst/>
                          <a:latin typeface="Arial" panose="020B0604020202020204" pitchFamily="34" charset="0"/>
                          <a:ea typeface="Arial" panose="020B0604020202020204" pitchFamily="34" charset="0"/>
                          <a:cs typeface="Times New Roman" panose="02020603050405020304" pitchFamily="18" charset="0"/>
                        </a:rPr>
                        <a:t>(E: 12)</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tc>
                  <a:txBody>
                    <a:bodyPr/>
                    <a:lstStyle/>
                    <a:p>
                      <a:pPr algn="ct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Nguyễn Trọng Hiếu</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tc>
                  <a:txBody>
                    <a:bodyPr/>
                    <a:lstStyle/>
                    <a:p>
                      <a:pP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Hệ thống giả lập (Mock service) báo lỗi trong lúc kiểm thử tích hợp.</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tc>
                  <a:txBody>
                    <a:bodyPr/>
                    <a:lstStyle/>
                    <a:p>
                      <a:pP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Chuẩn hóa chuẩn kết nối giao tiếp (Interface); làm sớm dịch vụ giả lập và chuẩn bị sẵn dữ liệu mẫu dự phòng.</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tc>
                  <a:txBody>
                    <a:bodyPr/>
                    <a:lstStyle/>
                    <a:p>
                      <a:pPr algn="ctr">
                        <a:lnSpc>
                          <a:spcPct val="115000"/>
                        </a:lnSpc>
                        <a:buNone/>
                      </a:pPr>
                      <a:r>
                        <a:rPr lang="en-US" sz="1300" b="1">
                          <a:solidFill>
                            <a:srgbClr val="17365D"/>
                          </a:solidFill>
                          <a:effectLst/>
                          <a:latin typeface="Arial" panose="020B0604020202020204" pitchFamily="34" charset="0"/>
                          <a:ea typeface="Arial" panose="020B0604020202020204" pitchFamily="34" charset="0"/>
                          <a:cs typeface="Times New Roman" panose="02020603050405020304" pitchFamily="18" charset="0"/>
                        </a:rPr>
                        <a:t>6</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p>
                      <a:pPr algn="ctr">
                        <a:lnSpc>
                          <a:spcPct val="115000"/>
                        </a:lnSpc>
                        <a:buNone/>
                      </a:pPr>
                      <a:r>
                        <a:rPr lang="en-US" sz="800" i="1">
                          <a:solidFill>
                            <a:srgbClr val="606A73"/>
                          </a:solidFill>
                          <a:effectLst/>
                          <a:latin typeface="Arial" panose="020B0604020202020204" pitchFamily="34" charset="0"/>
                          <a:ea typeface="Arial" panose="020B0604020202020204" pitchFamily="34" charset="0"/>
                          <a:cs typeface="Times New Roman" panose="02020603050405020304" pitchFamily="18" charset="0"/>
                        </a:rPr>
                        <a:t>Giảm 50%</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extLst>
                  <a:ext uri="{0D108BD9-81ED-4DB2-BD59-A6C34878D82A}">
                    <a16:rowId xmlns:a16="http://schemas.microsoft.com/office/drawing/2014/main" val="1758517884"/>
                  </a:ext>
                </a:extLst>
              </a:tr>
              <a:tr h="540376">
                <a:tc>
                  <a:txBody>
                    <a:bodyPr/>
                    <a:lstStyle/>
                    <a:p>
                      <a:pPr>
                        <a:lnSpc>
                          <a:spcPct val="97000"/>
                        </a:lnSpc>
                        <a:buNone/>
                      </a:pPr>
                      <a:r>
                        <a:rPr lang="en-US" sz="900" b="1">
                          <a:solidFill>
                            <a:srgbClr val="20252B"/>
                          </a:solidFill>
                          <a:effectLst/>
                          <a:latin typeface="Arial" panose="020B0604020202020204" pitchFamily="34" charset="0"/>
                          <a:ea typeface="Arial" panose="020B0604020202020204" pitchFamily="34" charset="0"/>
                          <a:cs typeface="Times New Roman" panose="02020603050405020304" pitchFamily="18" charset="0"/>
                        </a:rPr>
                        <a:t>Chậm tiến độ công việc then chốt (Đường găng) </a:t>
                      </a:r>
                      <a:r>
                        <a:rPr lang="en-US" sz="900">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  </a:t>
                      </a:r>
                      <a:r>
                        <a:rPr lang="en-US" sz="850" i="1">
                          <a:solidFill>
                            <a:srgbClr val="606A73"/>
                          </a:solidFill>
                          <a:effectLst/>
                          <a:latin typeface="Arial" panose="020B0604020202020204" pitchFamily="34" charset="0"/>
                          <a:ea typeface="Arial" panose="020B0604020202020204" pitchFamily="34" charset="0"/>
                          <a:cs typeface="Times New Roman" panose="02020603050405020304" pitchFamily="18" charset="0"/>
                        </a:rPr>
                        <a:t>(E: 12)</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tc>
                  <a:txBody>
                    <a:bodyPr/>
                    <a:lstStyle/>
                    <a:p>
                      <a:pPr algn="ct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Nguyễn Hồng Dương</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tc>
                  <a:txBody>
                    <a:bodyPr/>
                    <a:lstStyle/>
                    <a:p>
                      <a:pP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Công việc trên đường găng bị trễ so với mốc kế hoạch định kỳ.</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tc>
                  <a:txBody>
                    <a:bodyPr/>
                    <a:lstStyle/>
                    <a:p>
                      <a:pP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Theo dõi tiến độ hàng tuần; dồn ưu tiên nhân lực cho đường găng; tận dụng thời gian dự phòng (Float).</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tc>
                  <a:txBody>
                    <a:bodyPr/>
                    <a:lstStyle/>
                    <a:p>
                      <a:pPr algn="ctr">
                        <a:lnSpc>
                          <a:spcPct val="115000"/>
                        </a:lnSpc>
                        <a:buNone/>
                      </a:pPr>
                      <a:r>
                        <a:rPr lang="en-US" sz="1300" b="1">
                          <a:solidFill>
                            <a:srgbClr val="17365D"/>
                          </a:solidFill>
                          <a:effectLst/>
                          <a:latin typeface="Arial" panose="020B0604020202020204" pitchFamily="34" charset="0"/>
                          <a:ea typeface="Arial" panose="020B0604020202020204" pitchFamily="34" charset="0"/>
                          <a:cs typeface="Times New Roman" panose="02020603050405020304" pitchFamily="18" charset="0"/>
                        </a:rPr>
                        <a:t>8</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p>
                      <a:pPr algn="ctr">
                        <a:lnSpc>
                          <a:spcPct val="115000"/>
                        </a:lnSpc>
                        <a:buNone/>
                      </a:pPr>
                      <a:r>
                        <a:rPr lang="en-US" sz="800" i="1">
                          <a:solidFill>
                            <a:srgbClr val="606A73"/>
                          </a:solidFill>
                          <a:effectLst/>
                          <a:latin typeface="Arial" panose="020B0604020202020204" pitchFamily="34" charset="0"/>
                          <a:ea typeface="Arial" panose="020B0604020202020204" pitchFamily="34" charset="0"/>
                          <a:cs typeface="Times New Roman" panose="02020603050405020304" pitchFamily="18" charset="0"/>
                        </a:rPr>
                        <a:t>Giảm 33%</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extLst>
                  <a:ext uri="{0D108BD9-81ED-4DB2-BD59-A6C34878D82A}">
                    <a16:rowId xmlns:a16="http://schemas.microsoft.com/office/drawing/2014/main" val="84591992"/>
                  </a:ext>
                </a:extLst>
              </a:tr>
              <a:tr h="540376">
                <a:tc>
                  <a:txBody>
                    <a:bodyPr/>
                    <a:lstStyle/>
                    <a:p>
                      <a:pPr>
                        <a:lnSpc>
                          <a:spcPct val="97000"/>
                        </a:lnSpc>
                        <a:buNone/>
                      </a:pPr>
                      <a:r>
                        <a:rPr lang="en-US" sz="900" b="1">
                          <a:solidFill>
                            <a:srgbClr val="20252B"/>
                          </a:solidFill>
                          <a:effectLst/>
                          <a:latin typeface="Arial" panose="020B0604020202020204" pitchFamily="34" charset="0"/>
                          <a:ea typeface="Arial" panose="020B0604020202020204" pitchFamily="34" charset="0"/>
                          <a:cs typeface="Times New Roman" panose="02020603050405020304" pitchFamily="18" charset="0"/>
                        </a:rPr>
                        <a:t>Lọt lỗi nghiêm trọng đến giai đoạn kiểm thử muộn </a:t>
                      </a:r>
                      <a:r>
                        <a:rPr lang="en-US" sz="900">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  </a:t>
                      </a:r>
                      <a:r>
                        <a:rPr lang="en-US" sz="850" i="1">
                          <a:solidFill>
                            <a:srgbClr val="606A73"/>
                          </a:solidFill>
                          <a:effectLst/>
                          <a:latin typeface="Arial" panose="020B0604020202020204" pitchFamily="34" charset="0"/>
                          <a:ea typeface="Arial" panose="020B0604020202020204" pitchFamily="34" charset="0"/>
                          <a:cs typeface="Times New Roman" panose="02020603050405020304" pitchFamily="18" charset="0"/>
                        </a:rPr>
                        <a:t>(E: 12)</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tc>
                  <a:txBody>
                    <a:bodyPr/>
                    <a:lstStyle/>
                    <a:p>
                      <a:pPr algn="ct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Phạm Đức Anh</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tc>
                  <a:txBody>
                    <a:bodyPr/>
                    <a:lstStyle/>
                    <a:p>
                      <a:pP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Xuất hiện lỗi mức Critical/High ngay sát ngày bàn giao.</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tc>
                  <a:txBody>
                    <a:bodyPr/>
                    <a:lstStyle/>
                    <a:p>
                      <a:pP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Kiểm thử sớm từ đầu (Shift-left), bám sát ma trận RTM, rà soát code kỹ và chạy kiểm thử hồi quy sớm.</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tc>
                  <a:txBody>
                    <a:bodyPr/>
                    <a:lstStyle/>
                    <a:p>
                      <a:pPr algn="ctr">
                        <a:lnSpc>
                          <a:spcPct val="115000"/>
                        </a:lnSpc>
                        <a:buNone/>
                      </a:pPr>
                      <a:r>
                        <a:rPr lang="en-US" sz="1300" b="1">
                          <a:solidFill>
                            <a:srgbClr val="17365D"/>
                          </a:solidFill>
                          <a:effectLst/>
                          <a:latin typeface="Arial" panose="020B0604020202020204" pitchFamily="34" charset="0"/>
                          <a:ea typeface="Arial" panose="020B0604020202020204" pitchFamily="34" charset="0"/>
                          <a:cs typeface="Times New Roman" panose="02020603050405020304" pitchFamily="18" charset="0"/>
                        </a:rPr>
                        <a:t>6</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p>
                      <a:pPr algn="ctr">
                        <a:lnSpc>
                          <a:spcPct val="115000"/>
                        </a:lnSpc>
                        <a:buNone/>
                      </a:pPr>
                      <a:r>
                        <a:rPr lang="en-US" sz="800" i="1">
                          <a:solidFill>
                            <a:srgbClr val="606A73"/>
                          </a:solidFill>
                          <a:effectLst/>
                          <a:latin typeface="Arial" panose="020B0604020202020204" pitchFamily="34" charset="0"/>
                          <a:ea typeface="Arial" panose="020B0604020202020204" pitchFamily="34" charset="0"/>
                          <a:cs typeface="Times New Roman" panose="02020603050405020304" pitchFamily="18" charset="0"/>
                        </a:rPr>
                        <a:t>Giảm 50%</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extLst>
                  <a:ext uri="{0D108BD9-81ED-4DB2-BD59-A6C34878D82A}">
                    <a16:rowId xmlns:a16="http://schemas.microsoft.com/office/drawing/2014/main" val="3990289938"/>
                  </a:ext>
                </a:extLst>
              </a:tr>
              <a:tr h="540376">
                <a:tc>
                  <a:txBody>
                    <a:bodyPr/>
                    <a:lstStyle/>
                    <a:p>
                      <a:pPr>
                        <a:lnSpc>
                          <a:spcPct val="97000"/>
                        </a:lnSpc>
                        <a:buNone/>
                      </a:pPr>
                      <a:r>
                        <a:rPr lang="en-US" sz="900" b="1">
                          <a:solidFill>
                            <a:srgbClr val="20252B"/>
                          </a:solidFill>
                          <a:effectLst/>
                          <a:latin typeface="Arial" panose="020B0604020202020204" pitchFamily="34" charset="0"/>
                          <a:ea typeface="Arial" panose="020B0604020202020204" pitchFamily="34" charset="0"/>
                          <a:cs typeface="Times New Roman" panose="02020603050405020304" pitchFamily="18" charset="0"/>
                        </a:rPr>
                        <a:t>Mất mạng / lỗi môi trường lúc demo nghiệm thu </a:t>
                      </a:r>
                      <a:r>
                        <a:rPr lang="en-US" sz="900">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  </a:t>
                      </a:r>
                      <a:r>
                        <a:rPr lang="en-US" sz="850" i="1">
                          <a:solidFill>
                            <a:srgbClr val="606A73"/>
                          </a:solidFill>
                          <a:effectLst/>
                          <a:latin typeface="Arial" panose="020B0604020202020204" pitchFamily="34" charset="0"/>
                          <a:ea typeface="Arial" panose="020B0604020202020204" pitchFamily="34" charset="0"/>
                          <a:cs typeface="Times New Roman" panose="02020603050405020304" pitchFamily="18" charset="0"/>
                        </a:rPr>
                        <a:t>(E: 10)</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tc>
                  <a:txBody>
                    <a:bodyPr/>
                    <a:lstStyle/>
                    <a:p>
                      <a:pPr algn="ct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Hoàng Đàm Khánh</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tc>
                  <a:txBody>
                    <a:bodyPr/>
                    <a:lstStyle/>
                    <a:p>
                      <a:pP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Chạy thử trước giờ G (Smoke test) thất bại hoặc mất kết nối mạng.</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tc>
                  <a:txBody>
                    <a:bodyPr/>
                    <a:lstStyle/>
                    <a:p>
                      <a:pP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Sao lưu cơ sở dữ liệu và cấu hình; chuẩn bị sẵn bản chạy offline trên máy cục bộ; test thử trước khi diễn ra.</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tc>
                  <a:txBody>
                    <a:bodyPr/>
                    <a:lstStyle/>
                    <a:p>
                      <a:pPr algn="ctr">
                        <a:lnSpc>
                          <a:spcPct val="115000"/>
                        </a:lnSpc>
                        <a:buNone/>
                      </a:pPr>
                      <a:r>
                        <a:rPr lang="en-US" sz="1300" b="1">
                          <a:solidFill>
                            <a:srgbClr val="17365D"/>
                          </a:solidFill>
                          <a:effectLst/>
                          <a:latin typeface="Arial" panose="020B0604020202020204" pitchFamily="34" charset="0"/>
                          <a:ea typeface="Arial" panose="020B0604020202020204" pitchFamily="34" charset="0"/>
                          <a:cs typeface="Times New Roman" panose="02020603050405020304" pitchFamily="18" charset="0"/>
                        </a:rPr>
                        <a:t>4</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p>
                      <a:pPr algn="ctr">
                        <a:lnSpc>
                          <a:spcPct val="115000"/>
                        </a:lnSpc>
                        <a:buNone/>
                      </a:pPr>
                      <a:r>
                        <a:rPr lang="en-US" sz="800" i="1">
                          <a:solidFill>
                            <a:srgbClr val="606A73"/>
                          </a:solidFill>
                          <a:effectLst/>
                          <a:latin typeface="Arial" panose="020B0604020202020204" pitchFamily="34" charset="0"/>
                          <a:ea typeface="Arial" panose="020B0604020202020204" pitchFamily="34" charset="0"/>
                          <a:cs typeface="Times New Roman" panose="02020603050405020304" pitchFamily="18" charset="0"/>
                        </a:rPr>
                        <a:t>Giảm 60%</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FFFFF"/>
                    </a:solidFill>
                  </a:tcPr>
                </a:tc>
                <a:extLst>
                  <a:ext uri="{0D108BD9-81ED-4DB2-BD59-A6C34878D82A}">
                    <a16:rowId xmlns:a16="http://schemas.microsoft.com/office/drawing/2014/main" val="4020952168"/>
                  </a:ext>
                </a:extLst>
              </a:tr>
              <a:tr h="540376">
                <a:tc>
                  <a:txBody>
                    <a:bodyPr/>
                    <a:lstStyle/>
                    <a:p>
                      <a:pPr>
                        <a:lnSpc>
                          <a:spcPct val="97000"/>
                        </a:lnSpc>
                        <a:buNone/>
                      </a:pPr>
                      <a:r>
                        <a:rPr lang="en-US" sz="900" b="1">
                          <a:solidFill>
                            <a:srgbClr val="20252B"/>
                          </a:solidFill>
                          <a:effectLst/>
                          <a:latin typeface="Arial" panose="020B0604020202020204" pitchFamily="34" charset="0"/>
                          <a:ea typeface="Arial" panose="020B0604020202020204" pitchFamily="34" charset="0"/>
                          <a:cs typeface="Times New Roman" panose="02020603050405020304" pitchFamily="18" charset="0"/>
                        </a:rPr>
                        <a:t>Thành viên quá tải / vướng lịch thi, lịch học </a:t>
                      </a:r>
                      <a:r>
                        <a:rPr lang="en-US" sz="900">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  </a:t>
                      </a:r>
                      <a:r>
                        <a:rPr lang="en-US" sz="850" i="1">
                          <a:solidFill>
                            <a:srgbClr val="606A73"/>
                          </a:solidFill>
                          <a:effectLst/>
                          <a:latin typeface="Arial" panose="020B0604020202020204" pitchFamily="34" charset="0"/>
                          <a:ea typeface="Arial" panose="020B0604020202020204" pitchFamily="34" charset="0"/>
                          <a:cs typeface="Times New Roman" panose="02020603050405020304" pitchFamily="18" charset="0"/>
                        </a:rPr>
                        <a:t>(E: 9)</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tc>
                  <a:txBody>
                    <a:bodyPr/>
                    <a:lstStyle/>
                    <a:p>
                      <a:pPr algn="ct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Hoàng Đàm Khánh</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tc>
                  <a:txBody>
                    <a:bodyPr/>
                    <a:lstStyle/>
                    <a:p>
                      <a:pP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Thành viên không thể nộp phần việc đúng hạn cam kết.</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tc>
                  <a:txBody>
                    <a:bodyPr/>
                    <a:lstStyle/>
                    <a:p>
                      <a:pPr>
                        <a:lnSpc>
                          <a:spcPct val="115000"/>
                        </a:lnSpc>
                        <a:buNone/>
                      </a:pPr>
                      <a:r>
                        <a:rPr lang="en-US" sz="900">
                          <a:solidFill>
                            <a:srgbClr val="303840"/>
                          </a:solidFill>
                          <a:effectLst/>
                          <a:latin typeface="Arial" panose="020B0604020202020204" pitchFamily="34" charset="0"/>
                          <a:ea typeface="Arial" panose="020B0604020202020204" pitchFamily="34" charset="0"/>
                          <a:cs typeface="Times New Roman" panose="02020603050405020304" pitchFamily="18" charset="0"/>
                        </a:rPr>
                        <a:t>Có người hỗ trợ dự phòng (Backup), kiểm tra chéo, chia nhỏ gói việc để san sẻ cho nhau.</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tc>
                  <a:txBody>
                    <a:bodyPr/>
                    <a:lstStyle/>
                    <a:p>
                      <a:pPr algn="ctr">
                        <a:lnSpc>
                          <a:spcPct val="115000"/>
                        </a:lnSpc>
                        <a:buNone/>
                      </a:pPr>
                      <a:r>
                        <a:rPr lang="en-US" sz="1300" b="1">
                          <a:solidFill>
                            <a:srgbClr val="17365D"/>
                          </a:solidFill>
                          <a:effectLst/>
                          <a:latin typeface="Arial" panose="020B0604020202020204" pitchFamily="34" charset="0"/>
                          <a:ea typeface="Arial" panose="020B0604020202020204" pitchFamily="34" charset="0"/>
                          <a:cs typeface="Times New Roman" panose="02020603050405020304" pitchFamily="18" charset="0"/>
                        </a:rPr>
                        <a:t>4</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p>
                      <a:pPr algn="ctr">
                        <a:lnSpc>
                          <a:spcPct val="115000"/>
                        </a:lnSpc>
                        <a:buNone/>
                      </a:pPr>
                      <a:r>
                        <a:rPr lang="en-US" sz="800" i="1">
                          <a:solidFill>
                            <a:srgbClr val="606A73"/>
                          </a:solidFill>
                          <a:effectLst/>
                          <a:latin typeface="Arial" panose="020B0604020202020204" pitchFamily="34" charset="0"/>
                          <a:ea typeface="Arial" panose="020B0604020202020204" pitchFamily="34" charset="0"/>
                          <a:cs typeface="Times New Roman" panose="02020603050405020304" pitchFamily="18" charset="0"/>
                        </a:rPr>
                        <a:t>Giảm 55%</a:t>
                      </a:r>
                      <a:endParaRPr lang="vi-VN" sz="900">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lnL w="12700" cap="flat" cmpd="sng" algn="ctr">
                      <a:solidFill>
                        <a:srgbClr val="C9D2DC"/>
                      </a:solidFill>
                      <a:prstDash val="solid"/>
                      <a:round/>
                      <a:headEnd type="none" w="med" len="med"/>
                      <a:tailEnd type="none" w="med" len="med"/>
                    </a:lnL>
                    <a:lnR w="12700" cap="flat" cmpd="sng" algn="ctr">
                      <a:solidFill>
                        <a:srgbClr val="C9D2DC"/>
                      </a:solidFill>
                      <a:prstDash val="solid"/>
                      <a:round/>
                      <a:headEnd type="none" w="med" len="med"/>
                      <a:tailEnd type="none" w="med" len="med"/>
                    </a:lnR>
                    <a:lnT w="12700" cap="flat" cmpd="sng" algn="ctr">
                      <a:solidFill>
                        <a:srgbClr val="C9D2DC"/>
                      </a:solidFill>
                      <a:prstDash val="solid"/>
                      <a:round/>
                      <a:headEnd type="none" w="med" len="med"/>
                      <a:tailEnd type="none" w="med" len="med"/>
                    </a:lnT>
                    <a:lnB w="12700" cap="flat" cmpd="sng" algn="ctr">
                      <a:solidFill>
                        <a:srgbClr val="C9D2DC"/>
                      </a:solidFill>
                      <a:prstDash val="solid"/>
                      <a:round/>
                      <a:headEnd type="none" w="med" len="med"/>
                      <a:tailEnd type="none" w="med" len="med"/>
                    </a:lnB>
                    <a:solidFill>
                      <a:srgbClr val="F6F8FB"/>
                    </a:solidFill>
                  </a:tcPr>
                </a:tc>
                <a:extLst>
                  <a:ext uri="{0D108BD9-81ED-4DB2-BD59-A6C34878D82A}">
                    <a16:rowId xmlns:a16="http://schemas.microsoft.com/office/drawing/2014/main" val="3819175415"/>
                  </a:ext>
                </a:extLst>
              </a:tr>
            </a:tbl>
          </a:graphicData>
        </a:graphic>
      </p:graphicFrame>
    </p:spTree>
    <p:extLst>
      <p:ext uri="{BB962C8B-B14F-4D97-AF65-F5344CB8AC3E}">
        <p14:creationId xmlns:p14="http://schemas.microsoft.com/office/powerpoint/2010/main" val="3219692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3259BF5E-99C5-9CC8-7192-B96695DB46E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6F992E9-917D-0FF1-38D6-558091E1A43D}"/>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489C0E35-F076-46C7-7E19-E65A0D03A259}"/>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7FC84689-2EAD-9625-4B33-208681DC88E1}"/>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C5D4BD2F-978C-B7D3-FD48-DF03F92D8D0D}"/>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6" name="Text 4">
            <a:extLst>
              <a:ext uri="{FF2B5EF4-FFF2-40B4-BE49-F238E27FC236}">
                <a16:creationId xmlns:a16="http://schemas.microsoft.com/office/drawing/2014/main" id="{0B598DBB-72C8-7B14-847A-43E9A69ACEDA}"/>
              </a:ext>
            </a:extLst>
          </p:cNvPr>
          <p:cNvSpPr/>
          <p:nvPr/>
        </p:nvSpPr>
        <p:spPr>
          <a:xfrm>
            <a:off x="645520" y="327136"/>
            <a:ext cx="2603863" cy="357618"/>
          </a:xfrm>
          <a:prstGeom prst="rect">
            <a:avLst/>
          </a:prstGeom>
          <a:noFill/>
          <a:ln/>
        </p:spPr>
        <p:txBody>
          <a:bodyPr wrap="square" lIns="0" tIns="0" rIns="0" bIns="0" rtlCol="0" anchor="ctr">
            <a:normAutofit/>
          </a:bodyPr>
          <a:lstStyle/>
          <a:p>
            <a:pPr marL="0" indent="0">
              <a:buNone/>
            </a:pPr>
            <a:r>
              <a:rPr lang="en-US" sz="1600" b="1">
                <a:solidFill>
                  <a:srgbClr val="B00020"/>
                </a:solidFill>
                <a:latin typeface="Arial" pitchFamily="34" charset="0"/>
                <a:cs typeface="Arial" pitchFamily="34" charset="-120"/>
              </a:rPr>
              <a:t>III. QUẢN TRỊ DỰ ÁN</a:t>
            </a:r>
            <a:endParaRPr lang="en-US" sz="1600" dirty="0"/>
          </a:p>
        </p:txBody>
      </p:sp>
      <p:sp>
        <p:nvSpPr>
          <p:cNvPr id="7" name="Text 5">
            <a:extLst>
              <a:ext uri="{FF2B5EF4-FFF2-40B4-BE49-F238E27FC236}">
                <a16:creationId xmlns:a16="http://schemas.microsoft.com/office/drawing/2014/main" id="{E90DF9A4-22CC-BF40-F750-D8E1987C8A29}"/>
              </a:ext>
            </a:extLst>
          </p:cNvPr>
          <p:cNvSpPr/>
          <p:nvPr/>
        </p:nvSpPr>
        <p:spPr>
          <a:xfrm>
            <a:off x="5549346" y="6565392"/>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9" name="Text 7">
            <a:extLst>
              <a:ext uri="{FF2B5EF4-FFF2-40B4-BE49-F238E27FC236}">
                <a16:creationId xmlns:a16="http://schemas.microsoft.com/office/drawing/2014/main" id="{0FFA5AA9-34B2-28C2-E108-48C9015C7FA9}"/>
              </a:ext>
            </a:extLst>
          </p:cNvPr>
          <p:cNvSpPr/>
          <p:nvPr/>
        </p:nvSpPr>
        <p:spPr>
          <a:xfrm>
            <a:off x="11274552" y="6446520"/>
            <a:ext cx="457200" cy="201168"/>
          </a:xfrm>
          <a:prstGeom prst="rect">
            <a:avLst/>
          </a:prstGeom>
          <a:noFill/>
          <a:ln/>
        </p:spPr>
        <p:txBody>
          <a:bodyPr wrap="square" lIns="0" tIns="0" rIns="0" bIns="0" rtlCol="0" anchor="ctr">
            <a:normAutofit/>
          </a:bodyPr>
          <a:lstStyle/>
          <a:p>
            <a:pPr marL="0" indent="0" algn="r">
              <a:buNone/>
            </a:pPr>
            <a:r>
              <a:rPr lang="en-US" sz="850" b="1" dirty="0">
                <a:solidFill>
                  <a:srgbClr val="B00020"/>
                </a:solidFill>
                <a:latin typeface="Arial" pitchFamily="34" charset="0"/>
                <a:ea typeface="Arial" pitchFamily="34" charset="-122"/>
                <a:cs typeface="Arial" pitchFamily="34" charset="-120"/>
              </a:rPr>
              <a:t>04</a:t>
            </a:r>
            <a:endParaRPr lang="en-US" sz="850" dirty="0"/>
          </a:p>
        </p:txBody>
      </p:sp>
      <p:sp>
        <p:nvSpPr>
          <p:cNvPr id="10" name="Text 8">
            <a:extLst>
              <a:ext uri="{FF2B5EF4-FFF2-40B4-BE49-F238E27FC236}">
                <a16:creationId xmlns:a16="http://schemas.microsoft.com/office/drawing/2014/main" id="{3EFB2586-6A0C-D50A-937E-124B210DEC41}"/>
              </a:ext>
            </a:extLst>
          </p:cNvPr>
          <p:cNvSpPr/>
          <p:nvPr/>
        </p:nvSpPr>
        <p:spPr>
          <a:xfrm>
            <a:off x="640080" y="721330"/>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6. Quản lý rủi ro</a:t>
            </a:r>
            <a:endParaRPr lang="en-US" sz="2700" dirty="0"/>
          </a:p>
        </p:txBody>
      </p:sp>
      <p:sp>
        <p:nvSpPr>
          <p:cNvPr id="12" name="Shape 10">
            <a:extLst>
              <a:ext uri="{FF2B5EF4-FFF2-40B4-BE49-F238E27FC236}">
                <a16:creationId xmlns:a16="http://schemas.microsoft.com/office/drawing/2014/main" id="{7FE48C6C-BB58-C8C0-0E7E-1288660559FB}"/>
              </a:ext>
            </a:extLst>
          </p:cNvPr>
          <p:cNvSpPr/>
          <p:nvPr/>
        </p:nvSpPr>
        <p:spPr>
          <a:xfrm>
            <a:off x="658368" y="1217971"/>
            <a:ext cx="1920240" cy="0"/>
          </a:xfrm>
          <a:prstGeom prst="line">
            <a:avLst/>
          </a:prstGeom>
          <a:noFill/>
          <a:ln w="25400">
            <a:solidFill>
              <a:srgbClr val="D6A62C"/>
            </a:solidFill>
            <a:prstDash val="solid"/>
          </a:ln>
        </p:spPr>
        <p:txBody>
          <a:bodyPr/>
          <a:lstStyle/>
          <a:p>
            <a:endParaRPr lang="vi-VN"/>
          </a:p>
        </p:txBody>
      </p:sp>
      <p:sp>
        <p:nvSpPr>
          <p:cNvPr id="15" name="Text 14">
            <a:extLst>
              <a:ext uri="{FF2B5EF4-FFF2-40B4-BE49-F238E27FC236}">
                <a16:creationId xmlns:a16="http://schemas.microsoft.com/office/drawing/2014/main" id="{244B1863-CBD7-1A07-64DA-AD69572C9FB1}"/>
              </a:ext>
            </a:extLst>
          </p:cNvPr>
          <p:cNvSpPr/>
          <p:nvPr/>
        </p:nvSpPr>
        <p:spPr>
          <a:xfrm>
            <a:off x="593635" y="1388516"/>
            <a:ext cx="5455473" cy="565732"/>
          </a:xfrm>
          <a:prstGeom prst="rect">
            <a:avLst/>
          </a:prstGeom>
          <a:noFill/>
          <a:ln/>
        </p:spPr>
        <p:txBody>
          <a:bodyPr wrap="square" lIns="1016" tIns="1016" rIns="1016" bIns="1016" rtlCol="0" anchor="ctr">
            <a:normAutofit/>
          </a:bodyPr>
          <a:lstStyle/>
          <a:p>
            <a:pPr marL="0" indent="0" algn="l">
              <a:buNone/>
            </a:pPr>
            <a:r>
              <a:rPr lang="vi-VN" sz="1600" b="1">
                <a:solidFill>
                  <a:srgbClr val="B00020"/>
                </a:solidFill>
                <a:latin typeface="Arial" pitchFamily="34" charset="0"/>
                <a:ea typeface="Arial" pitchFamily="34" charset="-122"/>
                <a:cs typeface="Arial" pitchFamily="34" charset="-120"/>
              </a:rPr>
              <a:t>Rà soát và sử dụng quỹ dự phòng</a:t>
            </a:r>
            <a:endParaRPr lang="en-US" sz="1600" dirty="0"/>
          </a:p>
        </p:txBody>
      </p:sp>
      <p:sp>
        <p:nvSpPr>
          <p:cNvPr id="13" name="Text 15">
            <a:extLst>
              <a:ext uri="{FF2B5EF4-FFF2-40B4-BE49-F238E27FC236}">
                <a16:creationId xmlns:a16="http://schemas.microsoft.com/office/drawing/2014/main" id="{E01A7005-B256-B586-D37A-DB22859AA048}"/>
              </a:ext>
            </a:extLst>
          </p:cNvPr>
          <p:cNvSpPr/>
          <p:nvPr/>
        </p:nvSpPr>
        <p:spPr>
          <a:xfrm>
            <a:off x="593635" y="1843202"/>
            <a:ext cx="10743836" cy="3452696"/>
          </a:xfrm>
          <a:prstGeom prst="rect">
            <a:avLst/>
          </a:prstGeom>
          <a:noFill/>
          <a:ln/>
        </p:spPr>
        <p:txBody>
          <a:bodyPr wrap="square" lIns="1016" tIns="1016" rIns="1016" bIns="1016" rtlCol="0" anchor="ctr">
            <a:normAutofit/>
          </a:bodyPr>
          <a:lstStyle/>
          <a:p>
            <a:pPr marL="0" indent="0" algn="l">
              <a:buNone/>
            </a:pPr>
            <a:r>
              <a:rPr lang="vi-VN" sz="1600">
                <a:solidFill>
                  <a:srgbClr val="252B33"/>
                </a:solidFill>
                <a:latin typeface="Arial" pitchFamily="34" charset="0"/>
                <a:ea typeface="Arial" pitchFamily="34" charset="-122"/>
                <a:cs typeface="Arial" pitchFamily="34" charset="-120"/>
              </a:rPr>
              <a:t>Dự án duy trì rà soát danh mục rủi ro định kỳ trong các cuộc họp hàng tuần, trong đó ưu tiên cao nhất cho tiến độ nhánh đường găng, tính toàn vẹn dữ liệu giao dịch và rủi ro ảnh hưởng đến ngày nghiệm thu. </a:t>
            </a:r>
          </a:p>
          <a:p>
            <a:pPr marL="0" indent="0" algn="l">
              <a:buNone/>
            </a:pPr>
            <a:endParaRPr lang="vi-VN" sz="1600">
              <a:solidFill>
                <a:srgbClr val="252B33"/>
              </a:solidFill>
              <a:latin typeface="Arial" pitchFamily="34" charset="0"/>
              <a:ea typeface="Arial" pitchFamily="34" charset="-122"/>
              <a:cs typeface="Arial" pitchFamily="34" charset="-120"/>
            </a:endParaRPr>
          </a:p>
          <a:p>
            <a:pPr marL="0" indent="0" algn="l">
              <a:buNone/>
            </a:pPr>
            <a:r>
              <a:rPr lang="vi-VN" sz="1600">
                <a:solidFill>
                  <a:srgbClr val="252B33"/>
                </a:solidFill>
                <a:latin typeface="Arial" pitchFamily="34" charset="0"/>
                <a:ea typeface="Arial" pitchFamily="34" charset="-122"/>
                <a:cs typeface="Arial" pitchFamily="34" charset="-120"/>
              </a:rPr>
              <a:t>Từng đầu mối chịu trách nhiệm theo dõi sát dấu hiệu kích hoạt, cập nhật hành động ứng phó và điểm rủi ro mục tiêu sau xử lý; rủi ro chỉ được đóng khi nguy cơ đã qua hoặc nguyên nhân được triệt tiêu hoàn toàn. </a:t>
            </a:r>
          </a:p>
          <a:p>
            <a:pPr marL="0" indent="0" algn="l">
              <a:buNone/>
            </a:pPr>
            <a:endParaRPr lang="vi-VN" sz="1600">
              <a:solidFill>
                <a:srgbClr val="252B33"/>
              </a:solidFill>
              <a:latin typeface="Arial" pitchFamily="34" charset="0"/>
              <a:ea typeface="Arial" pitchFamily="34" charset="-122"/>
              <a:cs typeface="Arial" pitchFamily="34" charset="-120"/>
            </a:endParaRPr>
          </a:p>
          <a:p>
            <a:pPr marL="0" indent="0" algn="l">
              <a:buNone/>
            </a:pPr>
            <a:r>
              <a:rPr lang="vi-VN" sz="1600">
                <a:solidFill>
                  <a:srgbClr val="252B33"/>
                </a:solidFill>
                <a:latin typeface="Arial" pitchFamily="34" charset="0"/>
                <a:ea typeface="Arial" pitchFamily="34" charset="-122"/>
                <a:cs typeface="Arial" pitchFamily="34" charset="-120"/>
              </a:rPr>
              <a:t>Đồng thời, nhóm thiết lập quỹ dự phòng 50 triệu đồng (chiếm 5% tổng ngân sách), khoản này được kiểm soát chặt chẽ và chỉ giải ngân khi rủi ro thực tế phát sinh có sự phê duyệt của PM.</a:t>
            </a:r>
          </a:p>
        </p:txBody>
      </p:sp>
    </p:spTree>
    <p:extLst>
      <p:ext uri="{BB962C8B-B14F-4D97-AF65-F5344CB8AC3E}">
        <p14:creationId xmlns:p14="http://schemas.microsoft.com/office/powerpoint/2010/main" val="23393804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8018E784-B67E-D2D0-D08E-0A7539DCCCE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23FE7BA-EAED-FF4B-3D56-8351C336C956}"/>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27D62EC0-90DF-90D9-EE31-DE7CE780061D}"/>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D25A52D8-246D-AB55-4BAB-8E9DBDEDC864}"/>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2FDE788A-A79C-6D38-8FC2-722493631031}"/>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7" name="Text 5">
            <a:extLst>
              <a:ext uri="{FF2B5EF4-FFF2-40B4-BE49-F238E27FC236}">
                <a16:creationId xmlns:a16="http://schemas.microsoft.com/office/drawing/2014/main" id="{51BBB838-4F39-A638-A04C-E4DBA0FADA47}"/>
              </a:ext>
            </a:extLst>
          </p:cNvPr>
          <p:cNvSpPr/>
          <p:nvPr/>
        </p:nvSpPr>
        <p:spPr>
          <a:xfrm>
            <a:off x="5549346" y="6565392"/>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9" name="Text 7">
            <a:extLst>
              <a:ext uri="{FF2B5EF4-FFF2-40B4-BE49-F238E27FC236}">
                <a16:creationId xmlns:a16="http://schemas.microsoft.com/office/drawing/2014/main" id="{B0BEC8F7-5315-87EF-621E-CF26D9E34934}"/>
              </a:ext>
            </a:extLst>
          </p:cNvPr>
          <p:cNvSpPr/>
          <p:nvPr/>
        </p:nvSpPr>
        <p:spPr>
          <a:xfrm>
            <a:off x="11274552" y="6446520"/>
            <a:ext cx="457200" cy="201168"/>
          </a:xfrm>
          <a:prstGeom prst="rect">
            <a:avLst/>
          </a:prstGeom>
          <a:noFill/>
          <a:ln/>
        </p:spPr>
        <p:txBody>
          <a:bodyPr wrap="square" lIns="0" tIns="0" rIns="0" bIns="0" rtlCol="0" anchor="ctr">
            <a:normAutofit/>
          </a:bodyPr>
          <a:lstStyle/>
          <a:p>
            <a:pPr marL="0" indent="0" algn="r">
              <a:buNone/>
            </a:pPr>
            <a:r>
              <a:rPr lang="en-US" sz="850" b="1" dirty="0">
                <a:solidFill>
                  <a:srgbClr val="B00020"/>
                </a:solidFill>
                <a:latin typeface="Arial" pitchFamily="34" charset="0"/>
                <a:ea typeface="Arial" pitchFamily="34" charset="-122"/>
                <a:cs typeface="Arial" pitchFamily="34" charset="-120"/>
              </a:rPr>
              <a:t>04</a:t>
            </a:r>
            <a:endParaRPr lang="en-US" sz="850" dirty="0"/>
          </a:p>
        </p:txBody>
      </p:sp>
      <p:sp>
        <p:nvSpPr>
          <p:cNvPr id="10" name="Text 8">
            <a:extLst>
              <a:ext uri="{FF2B5EF4-FFF2-40B4-BE49-F238E27FC236}">
                <a16:creationId xmlns:a16="http://schemas.microsoft.com/office/drawing/2014/main" id="{5ED2E561-0768-0365-6919-4E8DD38E49E9}"/>
              </a:ext>
            </a:extLst>
          </p:cNvPr>
          <p:cNvSpPr/>
          <p:nvPr/>
        </p:nvSpPr>
        <p:spPr>
          <a:xfrm>
            <a:off x="640080" y="503615"/>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IV. BÁO CÁO KHẢO SÁT</a:t>
            </a:r>
            <a:endParaRPr lang="en-US" sz="2700" dirty="0"/>
          </a:p>
        </p:txBody>
      </p:sp>
      <p:sp>
        <p:nvSpPr>
          <p:cNvPr id="12" name="Shape 10">
            <a:extLst>
              <a:ext uri="{FF2B5EF4-FFF2-40B4-BE49-F238E27FC236}">
                <a16:creationId xmlns:a16="http://schemas.microsoft.com/office/drawing/2014/main" id="{ACC200E9-23DB-DCC2-D0E6-2686561FC674}"/>
              </a:ext>
            </a:extLst>
          </p:cNvPr>
          <p:cNvSpPr/>
          <p:nvPr/>
        </p:nvSpPr>
        <p:spPr>
          <a:xfrm>
            <a:off x="658368" y="1011143"/>
            <a:ext cx="3907770" cy="0"/>
          </a:xfrm>
          <a:prstGeom prst="line">
            <a:avLst/>
          </a:prstGeom>
          <a:noFill/>
          <a:ln w="25400">
            <a:solidFill>
              <a:srgbClr val="D6A62C"/>
            </a:solidFill>
            <a:prstDash val="solid"/>
          </a:ln>
        </p:spPr>
        <p:txBody>
          <a:bodyPr/>
          <a:lstStyle/>
          <a:p>
            <a:endParaRPr lang="vi-VN"/>
          </a:p>
        </p:txBody>
      </p:sp>
      <p:sp>
        <p:nvSpPr>
          <p:cNvPr id="15" name="Text 14">
            <a:extLst>
              <a:ext uri="{FF2B5EF4-FFF2-40B4-BE49-F238E27FC236}">
                <a16:creationId xmlns:a16="http://schemas.microsoft.com/office/drawing/2014/main" id="{6CBCC7EC-D3D7-3F84-EB07-8C6DE7D8F685}"/>
              </a:ext>
            </a:extLst>
          </p:cNvPr>
          <p:cNvSpPr/>
          <p:nvPr/>
        </p:nvSpPr>
        <p:spPr>
          <a:xfrm>
            <a:off x="593635" y="1388516"/>
            <a:ext cx="4038449" cy="328781"/>
          </a:xfrm>
          <a:prstGeom prst="rect">
            <a:avLst/>
          </a:prstGeom>
          <a:noFill/>
          <a:ln/>
        </p:spPr>
        <p:txBody>
          <a:bodyPr wrap="square" lIns="1016" tIns="1016" rIns="1016" bIns="1016" rtlCol="0" anchor="ctr">
            <a:normAutofit/>
          </a:bodyPr>
          <a:lstStyle/>
          <a:p>
            <a:pPr marL="0" indent="0" algn="l">
              <a:buNone/>
            </a:pPr>
            <a:r>
              <a:rPr lang="vi-VN" sz="1400" b="1">
                <a:solidFill>
                  <a:srgbClr val="B00020"/>
                </a:solidFill>
                <a:latin typeface="Arial" pitchFamily="34" charset="0"/>
                <a:ea typeface="Arial" pitchFamily="34" charset="-122"/>
                <a:cs typeface="Arial" pitchFamily="34" charset="-120"/>
              </a:rPr>
              <a:t>Khảo sát hiện trạng</a:t>
            </a:r>
            <a:endParaRPr lang="en-US" sz="1400" dirty="0"/>
          </a:p>
        </p:txBody>
      </p:sp>
      <p:graphicFrame>
        <p:nvGraphicFramePr>
          <p:cNvPr id="8" name="Bảng 7">
            <a:extLst>
              <a:ext uri="{FF2B5EF4-FFF2-40B4-BE49-F238E27FC236}">
                <a16:creationId xmlns:a16="http://schemas.microsoft.com/office/drawing/2014/main" id="{1584EF2D-4F43-FB50-EBCE-6BB83529AE52}"/>
              </a:ext>
            </a:extLst>
          </p:cNvPr>
          <p:cNvGraphicFramePr>
            <a:graphicFrameLocks noGrp="1"/>
          </p:cNvGraphicFramePr>
          <p:nvPr>
            <p:extLst>
              <p:ext uri="{D42A27DB-BD31-4B8C-83A1-F6EECF244321}">
                <p14:modId xmlns:p14="http://schemas.microsoft.com/office/powerpoint/2010/main" val="3398234656"/>
              </p:ext>
            </p:extLst>
          </p:nvPr>
        </p:nvGraphicFramePr>
        <p:xfrm>
          <a:off x="593635" y="1884553"/>
          <a:ext cx="4853486" cy="2787142"/>
        </p:xfrm>
        <a:graphic>
          <a:graphicData uri="http://schemas.openxmlformats.org/drawingml/2006/table">
            <a:tbl>
              <a:tblPr firstRow="1" firstCol="1" bandRow="1"/>
              <a:tblGrid>
                <a:gridCol w="821871">
                  <a:extLst>
                    <a:ext uri="{9D8B030D-6E8A-4147-A177-3AD203B41FA5}">
                      <a16:colId xmlns:a16="http://schemas.microsoft.com/office/drawing/2014/main" val="3037586868"/>
                    </a:ext>
                  </a:extLst>
                </a:gridCol>
                <a:gridCol w="1386205">
                  <a:extLst>
                    <a:ext uri="{9D8B030D-6E8A-4147-A177-3AD203B41FA5}">
                      <a16:colId xmlns:a16="http://schemas.microsoft.com/office/drawing/2014/main" val="1896451056"/>
                    </a:ext>
                  </a:extLst>
                </a:gridCol>
                <a:gridCol w="2645410">
                  <a:extLst>
                    <a:ext uri="{9D8B030D-6E8A-4147-A177-3AD203B41FA5}">
                      <a16:colId xmlns:a16="http://schemas.microsoft.com/office/drawing/2014/main" val="1940180026"/>
                    </a:ext>
                  </a:extLst>
                </a:gridCol>
              </a:tblGrid>
              <a:tr h="0">
                <a:tc>
                  <a:txBody>
                    <a:bodyPr/>
                    <a:lstStyle/>
                    <a:p>
                      <a:pPr algn="ctr">
                        <a:lnSpc>
                          <a:spcPct val="122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Đối tượng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Khối lượng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Nội dung thu thập</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extLst>
                  <a:ext uri="{0D108BD9-81ED-4DB2-BD59-A6C34878D82A}">
                    <a16:rowId xmlns:a16="http://schemas.microsoft.com/office/drawing/2014/main" val="1744282942"/>
                  </a:ext>
                </a:extLst>
              </a:tr>
              <a:tr h="0">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Cư dân/người nhận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30 phiếu BM01</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Thói quen nhận hàng, giờ thuận tiện, vị trí, phí, mức sẵn sàng sử dụng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843019575"/>
                  </a:ext>
                </a:extLst>
              </a:tr>
              <a:tr h="0">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Bưu tá</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biên bản BM02</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Quy trình giao, liên hệ người nhận, hẹn lại, COD và ngoại lệ</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3008671513"/>
                  </a:ext>
                </a:extLst>
              </a:tr>
              <a:tr h="0">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Lễ tân/bảo vệ</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biên bản BM02</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Gửi nhờ, xác minh người nhận, trách nhiệm giữ hàng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4041829798"/>
                  </a:ext>
                </a:extLst>
              </a:tr>
              <a:tr h="0">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Quản lý/vận hành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BM02 + 1 BM04</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Điều kiện vị trí, điện, mạng, an ninh, thẩm quyền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4232045290"/>
                  </a:ext>
                </a:extLst>
              </a:tr>
              <a:tr h="0">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Quan sát hiện trường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BM03 - 41 lượt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Cách giao thực tế, thời gian chờ, hẹn lại, gửi nhờ</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964687795"/>
                  </a:ext>
                </a:extLst>
              </a:tr>
            </a:tbl>
          </a:graphicData>
        </a:graphic>
      </p:graphicFrame>
      <p:pic>
        <p:nvPicPr>
          <p:cNvPr id="11" name="Picture 4">
            <a:extLst>
              <a:ext uri="{FF2B5EF4-FFF2-40B4-BE49-F238E27FC236}">
                <a16:creationId xmlns:a16="http://schemas.microsoft.com/office/drawing/2014/main" id="{F39C4FB3-F9D3-5193-C46E-F23B9302145C}"/>
              </a:ext>
            </a:extLst>
          </p:cNvPr>
          <p:cNvPicPr>
            <a:picLocks noChangeAspect="1"/>
          </p:cNvPicPr>
          <p:nvPr/>
        </p:nvPicPr>
        <p:blipFill>
          <a:blip r:embed="rId3"/>
          <a:stretch>
            <a:fillRect/>
          </a:stretch>
        </p:blipFill>
        <p:spPr>
          <a:xfrm>
            <a:off x="5731002" y="1882775"/>
            <a:ext cx="5543550" cy="2788920"/>
          </a:xfrm>
          <a:prstGeom prst="rect">
            <a:avLst/>
          </a:prstGeom>
        </p:spPr>
      </p:pic>
      <p:sp>
        <p:nvSpPr>
          <p:cNvPr id="16" name="Text 15">
            <a:extLst>
              <a:ext uri="{FF2B5EF4-FFF2-40B4-BE49-F238E27FC236}">
                <a16:creationId xmlns:a16="http://schemas.microsoft.com/office/drawing/2014/main" id="{2B4059AC-95FD-4B92-10D6-E135E65E3658}"/>
              </a:ext>
            </a:extLst>
          </p:cNvPr>
          <p:cNvSpPr/>
          <p:nvPr/>
        </p:nvSpPr>
        <p:spPr>
          <a:xfrm>
            <a:off x="593635" y="4792151"/>
            <a:ext cx="10781935" cy="1773241"/>
          </a:xfrm>
          <a:prstGeom prst="rect">
            <a:avLst/>
          </a:prstGeom>
          <a:noFill/>
          <a:ln/>
        </p:spPr>
        <p:txBody>
          <a:bodyPr wrap="square" lIns="1016" tIns="1016" rIns="1016" bIns="1016" rtlCol="0" anchor="ctr">
            <a:normAutofit/>
          </a:bodyPr>
          <a:lstStyle/>
          <a:p>
            <a:pPr marL="0" indent="0" algn="l">
              <a:buNone/>
            </a:pPr>
            <a:r>
              <a:rPr lang="vi-VN" sz="1400">
                <a:solidFill>
                  <a:srgbClr val="252B33"/>
                </a:solidFill>
                <a:latin typeface="Arial" pitchFamily="34" charset="0"/>
                <a:ea typeface="Arial" pitchFamily="34" charset="-122"/>
                <a:cs typeface="Arial" pitchFamily="34" charset="-120"/>
              </a:rPr>
              <a:t>Các điểm nổi bật gồm:</a:t>
            </a:r>
          </a:p>
          <a:p>
            <a:pPr marL="0" indent="0" algn="l">
              <a:buNone/>
            </a:pPr>
            <a:r>
              <a:rPr lang="vi-VN" sz="1400">
                <a:solidFill>
                  <a:srgbClr val="252B33"/>
                </a:solidFill>
                <a:latin typeface="Arial" pitchFamily="34" charset="0"/>
                <a:ea typeface="Arial" pitchFamily="34" charset="-122"/>
                <a:cs typeface="Arial" pitchFamily="34" charset="-120"/>
              </a:rPr>
              <a:t>- 56,7% người trả lời từng phải đổi giờ/hẹn lại lịch giao nhận hàng; </a:t>
            </a:r>
          </a:p>
          <a:p>
            <a:pPr marL="0" indent="0" algn="l">
              <a:buNone/>
            </a:pPr>
            <a:r>
              <a:rPr lang="vi-VN" sz="1400">
                <a:solidFill>
                  <a:srgbClr val="252B33"/>
                </a:solidFill>
                <a:latin typeface="Arial" pitchFamily="34" charset="0"/>
                <a:ea typeface="Arial" pitchFamily="34" charset="-122"/>
                <a:cs typeface="Arial" pitchFamily="34" charset="-120"/>
              </a:rPr>
              <a:t>- 76,7% ưu tiên khung 17:00-22:00; </a:t>
            </a:r>
          </a:p>
          <a:p>
            <a:pPr marL="0" indent="0" algn="l">
              <a:buNone/>
            </a:pPr>
            <a:r>
              <a:rPr lang="vi-VN" sz="1400">
                <a:solidFill>
                  <a:srgbClr val="252B33"/>
                </a:solidFill>
                <a:latin typeface="Arial" pitchFamily="34" charset="0"/>
                <a:ea typeface="Arial" pitchFamily="34" charset="-122"/>
                <a:cs typeface="Arial" pitchFamily="34" charset="-120"/>
              </a:rPr>
              <a:t>- 83,3% có xu hướng sử dụng tủ nếu thuận tiện; </a:t>
            </a:r>
          </a:p>
          <a:p>
            <a:pPr marL="0" indent="0" algn="l">
              <a:buNone/>
            </a:pPr>
            <a:r>
              <a:rPr lang="vi-VN" sz="1400">
                <a:solidFill>
                  <a:srgbClr val="252B33"/>
                </a:solidFill>
                <a:latin typeface="Arial" pitchFamily="34" charset="0"/>
                <a:ea typeface="Arial" pitchFamily="34" charset="-122"/>
                <a:cs typeface="Arial" pitchFamily="34" charset="-120"/>
              </a:rPr>
              <a:t>- 60,0% ưu tiên vị trí gần sảnh/khối đế và 83,3% chấp nhận khoảng cách đi bộ không quá 5 phút. Các yếu tố được quan tâm nhiều gồm an toàn hàng hóa, vị trí và khả năng thao tác dễ dàng.</a:t>
            </a:r>
          </a:p>
        </p:txBody>
      </p:sp>
      <p:sp>
        <p:nvSpPr>
          <p:cNvPr id="13" name="Text 15">
            <a:extLst>
              <a:ext uri="{FF2B5EF4-FFF2-40B4-BE49-F238E27FC236}">
                <a16:creationId xmlns:a16="http://schemas.microsoft.com/office/drawing/2014/main" id="{0AC25369-D9F9-E1E9-F3EB-DAC52995AE9A}"/>
              </a:ext>
            </a:extLst>
          </p:cNvPr>
          <p:cNvSpPr/>
          <p:nvPr/>
        </p:nvSpPr>
        <p:spPr>
          <a:xfrm>
            <a:off x="3351975" y="1366279"/>
            <a:ext cx="8083889" cy="402336"/>
          </a:xfrm>
          <a:prstGeom prst="rect">
            <a:avLst/>
          </a:prstGeom>
          <a:noFill/>
          <a:ln/>
        </p:spPr>
        <p:txBody>
          <a:bodyPr wrap="square" lIns="1016" tIns="1016" rIns="1016" bIns="1016" rtlCol="0" anchor="ctr">
            <a:normAutofit fontScale="92500"/>
          </a:bodyPr>
          <a:lstStyle/>
          <a:p>
            <a:pPr marL="0" indent="0" algn="l">
              <a:buNone/>
            </a:pPr>
            <a:r>
              <a:rPr lang="vi-VN" sz="1400">
                <a:solidFill>
                  <a:srgbClr val="252B33"/>
                </a:solidFill>
                <a:latin typeface="Arial" pitchFamily="34" charset="0"/>
                <a:ea typeface="Arial" pitchFamily="34" charset="-122"/>
                <a:cs typeface="Arial" pitchFamily="34" charset="-120"/>
              </a:rPr>
              <a:t>Mục đích chính của đợt khảo sát là tìm hiểu các bất cập trong khâu giao nhận hiện tại, đồng thời đánh giá tính khả thi (về nhu cầu người dùng lẫn hạ tầng kỹ thuật) để triển khai tủ giao nhận thông minh (Smartbox).</a:t>
            </a:r>
          </a:p>
        </p:txBody>
      </p:sp>
    </p:spTree>
    <p:extLst>
      <p:ext uri="{BB962C8B-B14F-4D97-AF65-F5344CB8AC3E}">
        <p14:creationId xmlns:p14="http://schemas.microsoft.com/office/powerpoint/2010/main" val="1728420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E6435367-52C0-2545-C9CA-2228A53C576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3D6D539-2E90-B899-7A7C-5CA085E36D13}"/>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9276B710-9977-EE8A-C72C-93905532FA0D}"/>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51D0D71F-50A0-D832-E64A-F57523908BEF}"/>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59E5A804-48DA-8D7E-A561-FA4EC07B37BB}"/>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7" name="Text 5">
            <a:extLst>
              <a:ext uri="{FF2B5EF4-FFF2-40B4-BE49-F238E27FC236}">
                <a16:creationId xmlns:a16="http://schemas.microsoft.com/office/drawing/2014/main" id="{6897F091-F2E1-DFE9-0263-5A0425F96916}"/>
              </a:ext>
            </a:extLst>
          </p:cNvPr>
          <p:cNvSpPr/>
          <p:nvPr/>
        </p:nvSpPr>
        <p:spPr>
          <a:xfrm>
            <a:off x="5549346" y="6565392"/>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10" name="Text 8">
            <a:extLst>
              <a:ext uri="{FF2B5EF4-FFF2-40B4-BE49-F238E27FC236}">
                <a16:creationId xmlns:a16="http://schemas.microsoft.com/office/drawing/2014/main" id="{66AFA386-8368-6739-460A-CF88CBA06C3E}"/>
              </a:ext>
            </a:extLst>
          </p:cNvPr>
          <p:cNvSpPr/>
          <p:nvPr/>
        </p:nvSpPr>
        <p:spPr>
          <a:xfrm>
            <a:off x="640080" y="503615"/>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IV. BÁO CÁO KHẢO SÁT</a:t>
            </a:r>
            <a:endParaRPr lang="en-US" sz="2700" dirty="0"/>
          </a:p>
        </p:txBody>
      </p:sp>
      <p:sp>
        <p:nvSpPr>
          <p:cNvPr id="12" name="Shape 10">
            <a:extLst>
              <a:ext uri="{FF2B5EF4-FFF2-40B4-BE49-F238E27FC236}">
                <a16:creationId xmlns:a16="http://schemas.microsoft.com/office/drawing/2014/main" id="{AD9ED512-8358-480B-5FBA-28C818AC5040}"/>
              </a:ext>
            </a:extLst>
          </p:cNvPr>
          <p:cNvSpPr/>
          <p:nvPr/>
        </p:nvSpPr>
        <p:spPr>
          <a:xfrm>
            <a:off x="658368" y="1011143"/>
            <a:ext cx="1920240" cy="0"/>
          </a:xfrm>
          <a:prstGeom prst="line">
            <a:avLst/>
          </a:prstGeom>
          <a:noFill/>
          <a:ln w="25400">
            <a:solidFill>
              <a:srgbClr val="D6A62C"/>
            </a:solidFill>
            <a:prstDash val="solid"/>
          </a:ln>
        </p:spPr>
        <p:txBody>
          <a:bodyPr/>
          <a:lstStyle/>
          <a:p>
            <a:endParaRPr lang="vi-VN"/>
          </a:p>
        </p:txBody>
      </p:sp>
      <p:sp>
        <p:nvSpPr>
          <p:cNvPr id="15" name="Text 14">
            <a:extLst>
              <a:ext uri="{FF2B5EF4-FFF2-40B4-BE49-F238E27FC236}">
                <a16:creationId xmlns:a16="http://schemas.microsoft.com/office/drawing/2014/main" id="{F5164FC3-A1CE-4BFB-D592-B0E170CE77C8}"/>
              </a:ext>
            </a:extLst>
          </p:cNvPr>
          <p:cNvSpPr/>
          <p:nvPr/>
        </p:nvSpPr>
        <p:spPr>
          <a:xfrm>
            <a:off x="593635" y="1388516"/>
            <a:ext cx="9100094" cy="328781"/>
          </a:xfrm>
          <a:prstGeom prst="rect">
            <a:avLst/>
          </a:prstGeom>
          <a:noFill/>
          <a:ln/>
        </p:spPr>
        <p:txBody>
          <a:bodyPr wrap="square" lIns="1016" tIns="1016" rIns="1016" bIns="1016" rtlCol="0" anchor="ctr">
            <a:normAutofit/>
          </a:bodyPr>
          <a:lstStyle/>
          <a:p>
            <a:pPr marL="0" indent="0" algn="l">
              <a:buNone/>
            </a:pPr>
            <a:r>
              <a:rPr lang="vi-VN" sz="1400" b="1">
                <a:solidFill>
                  <a:srgbClr val="B00020"/>
                </a:solidFill>
                <a:latin typeface="Arial" pitchFamily="34" charset="0"/>
                <a:ea typeface="Arial" pitchFamily="34" charset="-122"/>
                <a:cs typeface="Arial" pitchFamily="34" charset="-120"/>
              </a:rPr>
              <a:t>Quy trình hiện tại rút ra từ khảo sát và vấn đề cần giải quyết</a:t>
            </a:r>
            <a:endParaRPr lang="en-US" sz="1400" dirty="0"/>
          </a:p>
        </p:txBody>
      </p:sp>
      <p:sp>
        <p:nvSpPr>
          <p:cNvPr id="16" name="Text 15">
            <a:extLst>
              <a:ext uri="{FF2B5EF4-FFF2-40B4-BE49-F238E27FC236}">
                <a16:creationId xmlns:a16="http://schemas.microsoft.com/office/drawing/2014/main" id="{F9E179ED-7F04-9E94-ED61-EB6D7884019F}"/>
              </a:ext>
            </a:extLst>
          </p:cNvPr>
          <p:cNvSpPr/>
          <p:nvPr/>
        </p:nvSpPr>
        <p:spPr>
          <a:xfrm>
            <a:off x="6738066" y="1226686"/>
            <a:ext cx="4993686" cy="4809443"/>
          </a:xfrm>
          <a:prstGeom prst="rect">
            <a:avLst/>
          </a:prstGeom>
          <a:noFill/>
          <a:ln/>
        </p:spPr>
        <p:txBody>
          <a:bodyPr wrap="square" lIns="1016" tIns="1016" rIns="1016" bIns="1016" rtlCol="0" anchor="ctr">
            <a:normAutofit/>
          </a:bodyPr>
          <a:lstStyle/>
          <a:p>
            <a:pPr marL="0" indent="0" algn="l">
              <a:buNone/>
            </a:pPr>
            <a:r>
              <a:rPr lang="vi-VN" sz="1400">
                <a:solidFill>
                  <a:srgbClr val="252B33"/>
                </a:solidFill>
                <a:latin typeface="Arial" pitchFamily="34" charset="0"/>
                <a:ea typeface="Arial" pitchFamily="34" charset="-122"/>
                <a:cs typeface="Arial" pitchFamily="34" charset="-120"/>
              </a:rPr>
              <a:t>Các điểm nghẽn, vấn đề tồn tại cần giải quyết:</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 Khó đồng bộ giờ giao với thời gian người nhận có mặt; một số lượt phải gọi nhiều lần hoặc hẹn lại.</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 Việc gửi nhờ phụ thuộc quy định của từng tòa/đầu mối và làm phát sinh trách nhiệm giữ hàng.</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 Người nhận cần biết rõ kiện nào đang chờ, vị trí tủ, hạn nhận và số tiền phải trả.</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 COD phải được tách khỏi phí dịch vụ; hệ thống phải tránh tình trạng ghi nhận thanh toán lặp.</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 Lỗi tủ/mạng/xác thực/thanh toán phải chuyển sang trạng thái chờ xử lý, không tự coi giao dịch hoàn tất.</a:t>
            </a:r>
          </a:p>
        </p:txBody>
      </p:sp>
      <p:graphicFrame>
        <p:nvGraphicFramePr>
          <p:cNvPr id="6" name="Bảng 5">
            <a:extLst>
              <a:ext uri="{FF2B5EF4-FFF2-40B4-BE49-F238E27FC236}">
                <a16:creationId xmlns:a16="http://schemas.microsoft.com/office/drawing/2014/main" id="{425E3CED-7770-0569-160E-0672EAB5CFC1}"/>
              </a:ext>
            </a:extLst>
          </p:cNvPr>
          <p:cNvGraphicFramePr>
            <a:graphicFrameLocks noGrp="1"/>
          </p:cNvGraphicFramePr>
          <p:nvPr>
            <p:extLst>
              <p:ext uri="{D42A27DB-BD31-4B8C-83A1-F6EECF244321}">
                <p14:modId xmlns:p14="http://schemas.microsoft.com/office/powerpoint/2010/main" val="2642786344"/>
              </p:ext>
            </p:extLst>
          </p:nvPr>
        </p:nvGraphicFramePr>
        <p:xfrm>
          <a:off x="435229" y="2041957"/>
          <a:ext cx="5471795" cy="3547853"/>
        </p:xfrm>
        <a:graphic>
          <a:graphicData uri="http://schemas.openxmlformats.org/drawingml/2006/table">
            <a:tbl>
              <a:tblPr firstRow="1" firstCol="1" bandRow="1"/>
              <a:tblGrid>
                <a:gridCol w="539750">
                  <a:extLst>
                    <a:ext uri="{9D8B030D-6E8A-4147-A177-3AD203B41FA5}">
                      <a16:colId xmlns:a16="http://schemas.microsoft.com/office/drawing/2014/main" val="2144059915"/>
                    </a:ext>
                  </a:extLst>
                </a:gridCol>
                <a:gridCol w="4932045">
                  <a:extLst>
                    <a:ext uri="{9D8B030D-6E8A-4147-A177-3AD203B41FA5}">
                      <a16:colId xmlns:a16="http://schemas.microsoft.com/office/drawing/2014/main" val="2862951229"/>
                    </a:ext>
                  </a:extLst>
                </a:gridCol>
              </a:tblGrid>
              <a:tr h="468496">
                <a:tc>
                  <a:txBody>
                    <a:bodyPr/>
                    <a:lstStyle/>
                    <a:p>
                      <a:pPr algn="ctr">
                        <a:lnSpc>
                          <a:spcPct val="122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Bước</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Quy trình hiện tại</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extLst>
                  <a:ext uri="{0D108BD9-81ED-4DB2-BD59-A6C34878D82A}">
                    <a16:rowId xmlns:a16="http://schemas.microsoft.com/office/drawing/2014/main" val="1349043112"/>
                  </a:ext>
                </a:extLst>
              </a:tr>
              <a:tr h="431000">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Bưu tá đến khu vực tòa, gọi/nhắn cho người nhận và xác nhận điểm giao.</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4222026907"/>
                  </a:ext>
                </a:extLst>
              </a:tr>
              <a:tr h="739119">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Nếu người nhận có mặt, giao trực tiếp; với đơn COD, người nhận thanh toán cho bưu tá/đơn vị vận chuyển.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1585309536"/>
                  </a:ext>
                </a:extLst>
              </a:tr>
              <a:tr h="739119">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Nếu người nhận vắng, bưu tá hẹn lại hoặc gửi lễ tân/điểm tập kết khi được phép.</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3912704955"/>
                  </a:ext>
                </a:extLst>
              </a:tr>
              <a:tr h="431000">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Người nhận lấy hàng gửi nhờ sau khi được đối chiếu thông tin phù hợp.</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2574260863"/>
                  </a:ext>
                </a:extLst>
              </a:tr>
              <a:tr h="739119">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Bưu tá cập nhật trạng thái trên ứng dụng của đơn vị; nhầm/mất/hàng tồn chuyển sang đầu mối vận hành.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3440919505"/>
                  </a:ext>
                </a:extLst>
              </a:tr>
            </a:tbl>
          </a:graphicData>
        </a:graphic>
      </p:graphicFrame>
    </p:spTree>
    <p:extLst>
      <p:ext uri="{BB962C8B-B14F-4D97-AF65-F5344CB8AC3E}">
        <p14:creationId xmlns:p14="http://schemas.microsoft.com/office/powerpoint/2010/main" val="32505408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88F092AA-A0F8-3D8F-274A-591CB2BB83A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E786B05-328D-C071-9E93-46E10FD653DD}"/>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9B2BFA6B-79CE-06BB-040F-3D273DFE6947}"/>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FAF0D503-C8DB-3163-EFDB-2AD6C62589D7}"/>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16664CA3-C361-D017-E093-5DA3590DC1D2}"/>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7" name="Text 5">
            <a:extLst>
              <a:ext uri="{FF2B5EF4-FFF2-40B4-BE49-F238E27FC236}">
                <a16:creationId xmlns:a16="http://schemas.microsoft.com/office/drawing/2014/main" id="{D62E0212-9391-67F4-937C-EB46513D6F32}"/>
              </a:ext>
            </a:extLst>
          </p:cNvPr>
          <p:cNvSpPr/>
          <p:nvPr/>
        </p:nvSpPr>
        <p:spPr>
          <a:xfrm>
            <a:off x="5549346" y="6565392"/>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9" name="Text 7">
            <a:extLst>
              <a:ext uri="{FF2B5EF4-FFF2-40B4-BE49-F238E27FC236}">
                <a16:creationId xmlns:a16="http://schemas.microsoft.com/office/drawing/2014/main" id="{8009978C-ACAB-0E70-A569-60E73EA9E9FB}"/>
              </a:ext>
            </a:extLst>
          </p:cNvPr>
          <p:cNvSpPr/>
          <p:nvPr/>
        </p:nvSpPr>
        <p:spPr>
          <a:xfrm>
            <a:off x="11274552" y="6446520"/>
            <a:ext cx="457200" cy="201168"/>
          </a:xfrm>
          <a:prstGeom prst="rect">
            <a:avLst/>
          </a:prstGeom>
          <a:noFill/>
          <a:ln/>
        </p:spPr>
        <p:txBody>
          <a:bodyPr wrap="square" lIns="0" tIns="0" rIns="0" bIns="0" rtlCol="0" anchor="ctr">
            <a:normAutofit/>
          </a:bodyPr>
          <a:lstStyle/>
          <a:p>
            <a:pPr marL="0" indent="0" algn="r">
              <a:buNone/>
            </a:pPr>
            <a:r>
              <a:rPr lang="en-US" sz="850" b="1" dirty="0">
                <a:solidFill>
                  <a:srgbClr val="B00020"/>
                </a:solidFill>
                <a:latin typeface="Arial" pitchFamily="34" charset="0"/>
                <a:ea typeface="Arial" pitchFamily="34" charset="-122"/>
                <a:cs typeface="Arial" pitchFamily="34" charset="-120"/>
              </a:rPr>
              <a:t>04</a:t>
            </a:r>
            <a:endParaRPr lang="en-US" sz="850" dirty="0"/>
          </a:p>
        </p:txBody>
      </p:sp>
      <p:sp>
        <p:nvSpPr>
          <p:cNvPr id="10" name="Text 8">
            <a:extLst>
              <a:ext uri="{FF2B5EF4-FFF2-40B4-BE49-F238E27FC236}">
                <a16:creationId xmlns:a16="http://schemas.microsoft.com/office/drawing/2014/main" id="{1BF0C795-923B-8A2D-C145-DFDEC7363596}"/>
              </a:ext>
            </a:extLst>
          </p:cNvPr>
          <p:cNvSpPr/>
          <p:nvPr/>
        </p:nvSpPr>
        <p:spPr>
          <a:xfrm>
            <a:off x="640080" y="503615"/>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IV. BÁO CÁO KHẢO SÁT</a:t>
            </a:r>
            <a:endParaRPr lang="en-US" sz="2700" dirty="0"/>
          </a:p>
        </p:txBody>
      </p:sp>
      <p:sp>
        <p:nvSpPr>
          <p:cNvPr id="12" name="Shape 10">
            <a:extLst>
              <a:ext uri="{FF2B5EF4-FFF2-40B4-BE49-F238E27FC236}">
                <a16:creationId xmlns:a16="http://schemas.microsoft.com/office/drawing/2014/main" id="{CA5B7A88-011C-30E1-629E-298026777204}"/>
              </a:ext>
            </a:extLst>
          </p:cNvPr>
          <p:cNvSpPr/>
          <p:nvPr/>
        </p:nvSpPr>
        <p:spPr>
          <a:xfrm>
            <a:off x="658368" y="1011143"/>
            <a:ext cx="1920240" cy="0"/>
          </a:xfrm>
          <a:prstGeom prst="line">
            <a:avLst/>
          </a:prstGeom>
          <a:noFill/>
          <a:ln w="25400">
            <a:solidFill>
              <a:srgbClr val="D6A62C"/>
            </a:solidFill>
            <a:prstDash val="solid"/>
          </a:ln>
        </p:spPr>
        <p:txBody>
          <a:bodyPr/>
          <a:lstStyle/>
          <a:p>
            <a:endParaRPr lang="vi-VN"/>
          </a:p>
        </p:txBody>
      </p:sp>
      <p:sp>
        <p:nvSpPr>
          <p:cNvPr id="15" name="Text 14">
            <a:extLst>
              <a:ext uri="{FF2B5EF4-FFF2-40B4-BE49-F238E27FC236}">
                <a16:creationId xmlns:a16="http://schemas.microsoft.com/office/drawing/2014/main" id="{74AD9CC8-CD33-E2DB-9C64-033207F3FC09}"/>
              </a:ext>
            </a:extLst>
          </p:cNvPr>
          <p:cNvSpPr/>
          <p:nvPr/>
        </p:nvSpPr>
        <p:spPr>
          <a:xfrm>
            <a:off x="593635" y="1388516"/>
            <a:ext cx="5132251" cy="328781"/>
          </a:xfrm>
          <a:prstGeom prst="rect">
            <a:avLst/>
          </a:prstGeom>
          <a:noFill/>
          <a:ln/>
        </p:spPr>
        <p:txBody>
          <a:bodyPr wrap="square" lIns="1016" tIns="1016" rIns="1016" bIns="1016" rtlCol="0" anchor="ctr">
            <a:normAutofit/>
          </a:bodyPr>
          <a:lstStyle/>
          <a:p>
            <a:pPr marL="0" indent="0" algn="l">
              <a:buNone/>
            </a:pPr>
            <a:r>
              <a:rPr lang="vi-VN" sz="1400" b="1">
                <a:solidFill>
                  <a:srgbClr val="B00020"/>
                </a:solidFill>
                <a:latin typeface="Arial" pitchFamily="34" charset="0"/>
                <a:ea typeface="Arial" pitchFamily="34" charset="-122"/>
                <a:cs typeface="Arial" pitchFamily="34" charset="-120"/>
              </a:rPr>
              <a:t>Quy trình mới đề xuất cho hệ thống Smartbox</a:t>
            </a:r>
            <a:endParaRPr lang="en-US" sz="1400" dirty="0"/>
          </a:p>
        </p:txBody>
      </p:sp>
      <p:sp>
        <p:nvSpPr>
          <p:cNvPr id="16" name="Text 15">
            <a:extLst>
              <a:ext uri="{FF2B5EF4-FFF2-40B4-BE49-F238E27FC236}">
                <a16:creationId xmlns:a16="http://schemas.microsoft.com/office/drawing/2014/main" id="{FD07CA3A-5D5A-AD5F-A762-54A16A45D14F}"/>
              </a:ext>
            </a:extLst>
          </p:cNvPr>
          <p:cNvSpPr/>
          <p:nvPr/>
        </p:nvSpPr>
        <p:spPr>
          <a:xfrm>
            <a:off x="7227923" y="1228729"/>
            <a:ext cx="3649980" cy="4809443"/>
          </a:xfrm>
          <a:prstGeom prst="rect">
            <a:avLst/>
          </a:prstGeom>
          <a:noFill/>
          <a:ln/>
        </p:spPr>
        <p:txBody>
          <a:bodyPr wrap="square" lIns="1016" tIns="1016" rIns="1016" bIns="1016" rtlCol="0" anchor="ctr">
            <a:normAutofit/>
          </a:bodyPr>
          <a:lstStyle/>
          <a:p>
            <a:pPr marL="0" indent="0" algn="l">
              <a:buNone/>
            </a:pPr>
            <a:r>
              <a:rPr lang="vi-VN" sz="1400">
                <a:solidFill>
                  <a:srgbClr val="252B33"/>
                </a:solidFill>
                <a:latin typeface="Arial" pitchFamily="34" charset="0"/>
                <a:ea typeface="Arial" pitchFamily="34" charset="-122"/>
                <a:cs typeface="Arial" pitchFamily="34" charset="-120"/>
              </a:rPr>
              <a:t>Hệ thống thay đổi trọng tâm từ giao nhận đồng thời sang giao nhận không đồng thời có kiểm soát. </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Trạng thái tủ, giao dịch và thanh toán trở thành dữ liệu trung tâm để truy vết.</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Các trường hợp lỗi được xử lý như ngoại lệ thay vì bỏ qua hoặc tự động hoàn tất.</a:t>
            </a:r>
          </a:p>
        </p:txBody>
      </p:sp>
      <p:graphicFrame>
        <p:nvGraphicFramePr>
          <p:cNvPr id="8" name="Bảng 7">
            <a:extLst>
              <a:ext uri="{FF2B5EF4-FFF2-40B4-BE49-F238E27FC236}">
                <a16:creationId xmlns:a16="http://schemas.microsoft.com/office/drawing/2014/main" id="{90AE5704-2ED0-2B72-485A-A7C4DA83F3BE}"/>
              </a:ext>
            </a:extLst>
          </p:cNvPr>
          <p:cNvGraphicFramePr>
            <a:graphicFrameLocks noGrp="1"/>
          </p:cNvGraphicFramePr>
          <p:nvPr>
            <p:extLst>
              <p:ext uri="{D42A27DB-BD31-4B8C-83A1-F6EECF244321}">
                <p14:modId xmlns:p14="http://schemas.microsoft.com/office/powerpoint/2010/main" val="1355280947"/>
              </p:ext>
            </p:extLst>
          </p:nvPr>
        </p:nvGraphicFramePr>
        <p:xfrm>
          <a:off x="716281" y="2094668"/>
          <a:ext cx="6069104" cy="3659375"/>
        </p:xfrm>
        <a:graphic>
          <a:graphicData uri="http://schemas.openxmlformats.org/drawingml/2006/table">
            <a:tbl>
              <a:tblPr firstRow="1" firstCol="1" bandRow="1"/>
              <a:tblGrid>
                <a:gridCol w="598670">
                  <a:extLst>
                    <a:ext uri="{9D8B030D-6E8A-4147-A177-3AD203B41FA5}">
                      <a16:colId xmlns:a16="http://schemas.microsoft.com/office/drawing/2014/main" val="3414044701"/>
                    </a:ext>
                  </a:extLst>
                </a:gridCol>
                <a:gridCol w="5470434">
                  <a:extLst>
                    <a:ext uri="{9D8B030D-6E8A-4147-A177-3AD203B41FA5}">
                      <a16:colId xmlns:a16="http://schemas.microsoft.com/office/drawing/2014/main" val="1121259937"/>
                    </a:ext>
                  </a:extLst>
                </a:gridCol>
              </a:tblGrid>
              <a:tr h="483223">
                <a:tc>
                  <a:txBody>
                    <a:bodyPr/>
                    <a:lstStyle/>
                    <a:p>
                      <a:pPr algn="ctr">
                        <a:lnSpc>
                          <a:spcPct val="122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Bước</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tc>
                  <a:txBody>
                    <a:bodyPr/>
                    <a:lstStyle/>
                    <a:p>
                      <a:pPr algn="ctr">
                        <a:lnSpc>
                          <a:spcPct val="122000"/>
                        </a:lnSpc>
                        <a:spcAft>
                          <a:spcPts val="4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Quy trình đề xuất Smartbox</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AF7"/>
                    </a:solidFill>
                  </a:tcPr>
                </a:tc>
                <a:extLst>
                  <a:ext uri="{0D108BD9-81ED-4DB2-BD59-A6C34878D82A}">
                    <a16:rowId xmlns:a16="http://schemas.microsoft.com/office/drawing/2014/main" val="2578260721"/>
                  </a:ext>
                </a:extLst>
              </a:tr>
              <a:tr h="444548">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Bưu tá khai báo kiện/người nhận; hệ thống chọn ngăn phù hợp còn khả dụng.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506053640"/>
                  </a:ext>
                </a:extLst>
              </a:tr>
              <a:tr h="762352">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Bưu tá đặt hàng vào ngăn; giao dịch chỉ chuyển sang “đã gửi” khi có xác nhận đóng cửa.</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2233139470"/>
                  </a:ext>
                </a:extLst>
              </a:tr>
              <a:tr h="762352">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Hệ thống phát hành OTP/QR có hạn dùng và thông báo vị trí, hạn nhận, COD/phí, kênh hỗ trợ.</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919140192"/>
                  </a:ext>
                </a:extLst>
              </a:tr>
              <a:tr h="444548">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Người nhận xác thực; thanh toán nếu có; mở đúng ngăn; xác nhận đã lấy hàng.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8FAFC"/>
                    </a:solidFill>
                  </a:tcPr>
                </a:tc>
                <a:extLst>
                  <a:ext uri="{0D108BD9-81ED-4DB2-BD59-A6C34878D82A}">
                    <a16:rowId xmlns:a16="http://schemas.microsoft.com/office/drawing/2014/main" val="2620790029"/>
                  </a:ext>
                </a:extLst>
              </a:tr>
              <a:tr h="762352">
                <a:tc>
                  <a:txBody>
                    <a:bodyPr/>
                    <a:lstStyle/>
                    <a:p>
                      <a:pPr algn="ct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nSpc>
                          <a:spcPct val="105000"/>
                        </a:lnSpc>
                        <a:spcAft>
                          <a:spcPts val="4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Hệ thống ghi audit log, cập nhật trạng thái ngăn/giao dịch; ngoại lệ chuyển “chờ xử lý” để vận hành can thiệp.</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44450" marB="4445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553234599"/>
                  </a:ext>
                </a:extLst>
              </a:tr>
            </a:tbl>
          </a:graphicData>
        </a:graphic>
      </p:graphicFrame>
    </p:spTree>
    <p:extLst>
      <p:ext uri="{BB962C8B-B14F-4D97-AF65-F5344CB8AC3E}">
        <p14:creationId xmlns:p14="http://schemas.microsoft.com/office/powerpoint/2010/main" val="512158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BB20937A-0D36-E936-9C62-C9F1EE196D5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249CE42-A355-8A01-0614-69E128800CBB}"/>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D20DFACD-AC4C-7C10-945A-85439F400259}"/>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D0ED3678-9FE8-D688-15CB-E826E759931B}"/>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E51BA7AE-DFA8-8990-B52F-17A238E6D9D9}"/>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7" name="Text 5">
            <a:extLst>
              <a:ext uri="{FF2B5EF4-FFF2-40B4-BE49-F238E27FC236}">
                <a16:creationId xmlns:a16="http://schemas.microsoft.com/office/drawing/2014/main" id="{659FAFAA-76C8-195E-9E4A-56E9D2B5F403}"/>
              </a:ext>
            </a:extLst>
          </p:cNvPr>
          <p:cNvSpPr/>
          <p:nvPr/>
        </p:nvSpPr>
        <p:spPr>
          <a:xfrm>
            <a:off x="5549346" y="6565392"/>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9" name="Text 7">
            <a:extLst>
              <a:ext uri="{FF2B5EF4-FFF2-40B4-BE49-F238E27FC236}">
                <a16:creationId xmlns:a16="http://schemas.microsoft.com/office/drawing/2014/main" id="{664CFDA1-43DA-3C4A-F2FF-88F786A4807E}"/>
              </a:ext>
            </a:extLst>
          </p:cNvPr>
          <p:cNvSpPr/>
          <p:nvPr/>
        </p:nvSpPr>
        <p:spPr>
          <a:xfrm>
            <a:off x="11274552" y="6446520"/>
            <a:ext cx="457200" cy="201168"/>
          </a:xfrm>
          <a:prstGeom prst="rect">
            <a:avLst/>
          </a:prstGeom>
          <a:noFill/>
          <a:ln/>
        </p:spPr>
        <p:txBody>
          <a:bodyPr wrap="square" lIns="0" tIns="0" rIns="0" bIns="0" rtlCol="0" anchor="ctr">
            <a:normAutofit/>
          </a:bodyPr>
          <a:lstStyle/>
          <a:p>
            <a:pPr marL="0" indent="0" algn="r">
              <a:buNone/>
            </a:pPr>
            <a:r>
              <a:rPr lang="en-US" sz="850" b="1" dirty="0">
                <a:solidFill>
                  <a:srgbClr val="B00020"/>
                </a:solidFill>
                <a:latin typeface="Arial" pitchFamily="34" charset="0"/>
                <a:ea typeface="Arial" pitchFamily="34" charset="-122"/>
                <a:cs typeface="Arial" pitchFamily="34" charset="-120"/>
              </a:rPr>
              <a:t>04</a:t>
            </a:r>
            <a:endParaRPr lang="en-US" sz="850" dirty="0"/>
          </a:p>
        </p:txBody>
      </p:sp>
      <p:sp>
        <p:nvSpPr>
          <p:cNvPr id="10" name="Text 8">
            <a:extLst>
              <a:ext uri="{FF2B5EF4-FFF2-40B4-BE49-F238E27FC236}">
                <a16:creationId xmlns:a16="http://schemas.microsoft.com/office/drawing/2014/main" id="{102AA370-58DA-8FF1-B00B-B2FADCCAD1C5}"/>
              </a:ext>
            </a:extLst>
          </p:cNvPr>
          <p:cNvSpPr/>
          <p:nvPr/>
        </p:nvSpPr>
        <p:spPr>
          <a:xfrm>
            <a:off x="640080" y="503615"/>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V. PHÂN TÍCH VÀ THIẾT KẾ HỆ THỐNG</a:t>
            </a:r>
            <a:endParaRPr lang="en-US" sz="2700" dirty="0"/>
          </a:p>
        </p:txBody>
      </p:sp>
      <p:sp>
        <p:nvSpPr>
          <p:cNvPr id="12" name="Shape 10">
            <a:extLst>
              <a:ext uri="{FF2B5EF4-FFF2-40B4-BE49-F238E27FC236}">
                <a16:creationId xmlns:a16="http://schemas.microsoft.com/office/drawing/2014/main" id="{1F0F5A01-375A-694A-C1B4-A3C28D147DEC}"/>
              </a:ext>
            </a:extLst>
          </p:cNvPr>
          <p:cNvSpPr/>
          <p:nvPr/>
        </p:nvSpPr>
        <p:spPr>
          <a:xfrm>
            <a:off x="658368" y="1011143"/>
            <a:ext cx="1920240" cy="0"/>
          </a:xfrm>
          <a:prstGeom prst="line">
            <a:avLst/>
          </a:prstGeom>
          <a:noFill/>
          <a:ln w="25400">
            <a:solidFill>
              <a:srgbClr val="D6A62C"/>
            </a:solidFill>
            <a:prstDash val="solid"/>
          </a:ln>
        </p:spPr>
        <p:txBody>
          <a:bodyPr/>
          <a:lstStyle/>
          <a:p>
            <a:endParaRPr lang="vi-VN"/>
          </a:p>
        </p:txBody>
      </p:sp>
      <p:sp>
        <p:nvSpPr>
          <p:cNvPr id="15" name="Text 14">
            <a:extLst>
              <a:ext uri="{FF2B5EF4-FFF2-40B4-BE49-F238E27FC236}">
                <a16:creationId xmlns:a16="http://schemas.microsoft.com/office/drawing/2014/main" id="{C82DF3FA-DF9C-24F8-7184-7EE6D5F79840}"/>
              </a:ext>
            </a:extLst>
          </p:cNvPr>
          <p:cNvSpPr/>
          <p:nvPr/>
        </p:nvSpPr>
        <p:spPr>
          <a:xfrm>
            <a:off x="593635" y="1252441"/>
            <a:ext cx="4038449" cy="328781"/>
          </a:xfrm>
          <a:prstGeom prst="rect">
            <a:avLst/>
          </a:prstGeom>
          <a:noFill/>
          <a:ln/>
        </p:spPr>
        <p:txBody>
          <a:bodyPr wrap="square" lIns="1016" tIns="1016" rIns="1016" bIns="1016" rtlCol="0" anchor="ctr">
            <a:normAutofit/>
          </a:bodyPr>
          <a:lstStyle/>
          <a:p>
            <a:pPr marL="0" indent="0" algn="l">
              <a:buNone/>
            </a:pPr>
            <a:r>
              <a:rPr lang="vi-VN" sz="1400" b="1">
                <a:solidFill>
                  <a:srgbClr val="B00020"/>
                </a:solidFill>
                <a:latin typeface="Arial" pitchFamily="34" charset="0"/>
                <a:ea typeface="Arial" pitchFamily="34" charset="-122"/>
                <a:cs typeface="Arial" pitchFamily="34" charset="-120"/>
              </a:rPr>
              <a:t>Phạm vi phân tích và thiết kế</a:t>
            </a:r>
            <a:endParaRPr lang="en-US" sz="1400" dirty="0"/>
          </a:p>
        </p:txBody>
      </p:sp>
      <p:sp>
        <p:nvSpPr>
          <p:cNvPr id="16" name="Text 15">
            <a:extLst>
              <a:ext uri="{FF2B5EF4-FFF2-40B4-BE49-F238E27FC236}">
                <a16:creationId xmlns:a16="http://schemas.microsoft.com/office/drawing/2014/main" id="{DF3E629A-E2CA-5B25-AB94-4B2DC49C8F2A}"/>
              </a:ext>
            </a:extLst>
          </p:cNvPr>
          <p:cNvSpPr/>
          <p:nvPr/>
        </p:nvSpPr>
        <p:spPr>
          <a:xfrm>
            <a:off x="888637" y="1869035"/>
            <a:ext cx="7928792" cy="3973286"/>
          </a:xfrm>
          <a:prstGeom prst="rect">
            <a:avLst/>
          </a:prstGeom>
          <a:noFill/>
          <a:ln/>
        </p:spPr>
        <p:txBody>
          <a:bodyPr wrap="square" lIns="1016" tIns="1016" rIns="1016" bIns="1016" rtlCol="0" anchor="ctr">
            <a:normAutofit/>
          </a:bodyPr>
          <a:lstStyle/>
          <a:p>
            <a:pPr marL="0" indent="0" algn="l">
              <a:buNone/>
            </a:pPr>
            <a:r>
              <a:rPr lang="vi-VN" sz="1600">
                <a:solidFill>
                  <a:srgbClr val="252B33"/>
                </a:solidFill>
                <a:latin typeface="Arial" pitchFamily="34" charset="0"/>
                <a:ea typeface="Arial" pitchFamily="34" charset="-122"/>
                <a:cs typeface="Arial" pitchFamily="34" charset="-120"/>
              </a:rPr>
              <a:t>Hệ thống Smartbox được phân tích cho ba nhóm người dùng chính: Bưu tá (Shipper), Cư dân (Resident) và Quản trị viên (Admin). </a:t>
            </a:r>
          </a:p>
          <a:p>
            <a:pPr marL="0" indent="0" algn="l">
              <a:buNone/>
            </a:pPr>
            <a:endParaRPr lang="vi-VN" sz="1600">
              <a:solidFill>
                <a:srgbClr val="252B33"/>
              </a:solidFill>
              <a:latin typeface="Arial" pitchFamily="34" charset="0"/>
              <a:ea typeface="Arial" pitchFamily="34" charset="-122"/>
              <a:cs typeface="Arial" pitchFamily="34" charset="-120"/>
            </a:endParaRPr>
          </a:p>
          <a:p>
            <a:pPr marL="0" indent="0" algn="l">
              <a:buNone/>
            </a:pPr>
            <a:r>
              <a:rPr lang="vi-VN" sz="1600">
                <a:solidFill>
                  <a:srgbClr val="252B33"/>
                </a:solidFill>
                <a:latin typeface="Arial" pitchFamily="34" charset="0"/>
                <a:ea typeface="Arial" pitchFamily="34" charset="-122"/>
                <a:cs typeface="Arial" pitchFamily="34" charset="-120"/>
              </a:rPr>
              <a:t>Nhóm xác định năm ca sử dụng chính gồm: Đăng nhập; Quản lý Giao hàng TMĐT; Nhận hàng &amp; Thanh toán; Thuê tủ cá nhân; và Quản lý Trạm tủ &amp; Biểu phí. </a:t>
            </a:r>
          </a:p>
          <a:p>
            <a:pPr marL="0" indent="0" algn="l">
              <a:buNone/>
            </a:pPr>
            <a:endParaRPr lang="vi-VN" sz="1600">
              <a:solidFill>
                <a:srgbClr val="252B33"/>
              </a:solidFill>
              <a:latin typeface="Arial" pitchFamily="34" charset="0"/>
              <a:ea typeface="Arial" pitchFamily="34" charset="-122"/>
              <a:cs typeface="Arial" pitchFamily="34" charset="-120"/>
            </a:endParaRPr>
          </a:p>
          <a:p>
            <a:pPr marL="0" indent="0" algn="l">
              <a:buNone/>
            </a:pPr>
            <a:r>
              <a:rPr lang="vi-VN" sz="1600">
                <a:solidFill>
                  <a:srgbClr val="252B33"/>
                </a:solidFill>
                <a:latin typeface="Arial" pitchFamily="34" charset="0"/>
                <a:ea typeface="Arial" pitchFamily="34" charset="-122"/>
                <a:cs typeface="Arial" pitchFamily="34" charset="-120"/>
              </a:rPr>
              <a:t>Hệ thống được mô hình hóa theo hướng đối tượng bằng Use Case, lớp phân tích Boundary-Control-Entity, Sequence Diagram, lớp thiết kế chi tiết và lược đồ cơ sở dữ liệu quan hệ.</a:t>
            </a:r>
          </a:p>
          <a:p>
            <a:pPr marL="0" indent="0" algn="l">
              <a:buNone/>
            </a:pPr>
            <a:endParaRPr lang="vi-VN" sz="1600">
              <a:solidFill>
                <a:srgbClr val="252B33"/>
              </a:solidFill>
              <a:latin typeface="Arial" pitchFamily="34" charset="0"/>
              <a:ea typeface="Arial" pitchFamily="34" charset="-122"/>
              <a:cs typeface="Arial" pitchFamily="34" charset="-120"/>
            </a:endParaRPr>
          </a:p>
        </p:txBody>
      </p:sp>
    </p:spTree>
    <p:extLst>
      <p:ext uri="{BB962C8B-B14F-4D97-AF65-F5344CB8AC3E}">
        <p14:creationId xmlns:p14="http://schemas.microsoft.com/office/powerpoint/2010/main" val="108570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004F3ADD-9D6F-32ED-DE5D-132732FA969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430EC41-D67D-F5A7-459C-BEFDD02FABD4}"/>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16A1422B-DDFC-5A8B-CF27-663A0EF6442B}"/>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075AD3A2-F453-6F3A-7B91-B7BD19629DA4}"/>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9A266388-7F2A-471C-690D-9ADABF88131E}"/>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7" name="Text 5">
            <a:extLst>
              <a:ext uri="{FF2B5EF4-FFF2-40B4-BE49-F238E27FC236}">
                <a16:creationId xmlns:a16="http://schemas.microsoft.com/office/drawing/2014/main" id="{66DFEF4A-F936-D0D7-9133-B667559DEF30}"/>
              </a:ext>
            </a:extLst>
          </p:cNvPr>
          <p:cNvSpPr/>
          <p:nvPr/>
        </p:nvSpPr>
        <p:spPr>
          <a:xfrm>
            <a:off x="5549346" y="6565392"/>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9" name="Text 7">
            <a:extLst>
              <a:ext uri="{FF2B5EF4-FFF2-40B4-BE49-F238E27FC236}">
                <a16:creationId xmlns:a16="http://schemas.microsoft.com/office/drawing/2014/main" id="{45DCD56A-9C31-54C4-BA45-B014687ADCB5}"/>
              </a:ext>
            </a:extLst>
          </p:cNvPr>
          <p:cNvSpPr/>
          <p:nvPr/>
        </p:nvSpPr>
        <p:spPr>
          <a:xfrm>
            <a:off x="11274552" y="6446520"/>
            <a:ext cx="457200" cy="201168"/>
          </a:xfrm>
          <a:prstGeom prst="rect">
            <a:avLst/>
          </a:prstGeom>
          <a:noFill/>
          <a:ln/>
        </p:spPr>
        <p:txBody>
          <a:bodyPr wrap="square" lIns="0" tIns="0" rIns="0" bIns="0" rtlCol="0" anchor="ctr">
            <a:normAutofit/>
          </a:bodyPr>
          <a:lstStyle/>
          <a:p>
            <a:pPr marL="0" indent="0" algn="r">
              <a:buNone/>
            </a:pPr>
            <a:r>
              <a:rPr lang="en-US" sz="850" b="1" dirty="0">
                <a:solidFill>
                  <a:srgbClr val="B00020"/>
                </a:solidFill>
                <a:latin typeface="Arial" pitchFamily="34" charset="0"/>
                <a:ea typeface="Arial" pitchFamily="34" charset="-122"/>
                <a:cs typeface="Arial" pitchFamily="34" charset="-120"/>
              </a:rPr>
              <a:t>04</a:t>
            </a:r>
            <a:endParaRPr lang="en-US" sz="850" dirty="0"/>
          </a:p>
        </p:txBody>
      </p:sp>
      <p:sp>
        <p:nvSpPr>
          <p:cNvPr id="10" name="Text 8">
            <a:extLst>
              <a:ext uri="{FF2B5EF4-FFF2-40B4-BE49-F238E27FC236}">
                <a16:creationId xmlns:a16="http://schemas.microsoft.com/office/drawing/2014/main" id="{4736E08A-06E3-E12C-0BA4-D111E672635E}"/>
              </a:ext>
            </a:extLst>
          </p:cNvPr>
          <p:cNvSpPr/>
          <p:nvPr/>
        </p:nvSpPr>
        <p:spPr>
          <a:xfrm>
            <a:off x="640080" y="503615"/>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V. PHÂN TÍCH VÀ THIẾT KẾ HỆ THỐNG</a:t>
            </a:r>
            <a:endParaRPr lang="en-US" sz="2700" dirty="0"/>
          </a:p>
        </p:txBody>
      </p:sp>
      <p:sp>
        <p:nvSpPr>
          <p:cNvPr id="12" name="Shape 10">
            <a:extLst>
              <a:ext uri="{FF2B5EF4-FFF2-40B4-BE49-F238E27FC236}">
                <a16:creationId xmlns:a16="http://schemas.microsoft.com/office/drawing/2014/main" id="{3249F930-C22B-5AA5-99AB-C08B796BCE5B}"/>
              </a:ext>
            </a:extLst>
          </p:cNvPr>
          <p:cNvSpPr/>
          <p:nvPr/>
        </p:nvSpPr>
        <p:spPr>
          <a:xfrm>
            <a:off x="658368" y="1011143"/>
            <a:ext cx="1920240" cy="0"/>
          </a:xfrm>
          <a:prstGeom prst="line">
            <a:avLst/>
          </a:prstGeom>
          <a:noFill/>
          <a:ln w="25400">
            <a:solidFill>
              <a:srgbClr val="D6A62C"/>
            </a:solidFill>
            <a:prstDash val="solid"/>
          </a:ln>
        </p:spPr>
        <p:txBody>
          <a:bodyPr/>
          <a:lstStyle/>
          <a:p>
            <a:endParaRPr lang="vi-VN"/>
          </a:p>
        </p:txBody>
      </p:sp>
      <p:sp>
        <p:nvSpPr>
          <p:cNvPr id="15" name="Text 14">
            <a:extLst>
              <a:ext uri="{FF2B5EF4-FFF2-40B4-BE49-F238E27FC236}">
                <a16:creationId xmlns:a16="http://schemas.microsoft.com/office/drawing/2014/main" id="{0368C3AC-F93D-9F76-5BA1-DD9169C913D9}"/>
              </a:ext>
            </a:extLst>
          </p:cNvPr>
          <p:cNvSpPr/>
          <p:nvPr/>
        </p:nvSpPr>
        <p:spPr>
          <a:xfrm>
            <a:off x="863271" y="1252441"/>
            <a:ext cx="4038449" cy="328781"/>
          </a:xfrm>
          <a:prstGeom prst="rect">
            <a:avLst/>
          </a:prstGeom>
          <a:noFill/>
          <a:ln/>
        </p:spPr>
        <p:txBody>
          <a:bodyPr wrap="square" lIns="1016" tIns="1016" rIns="1016" bIns="1016" rtlCol="0" anchor="ctr">
            <a:normAutofit/>
          </a:bodyPr>
          <a:lstStyle/>
          <a:p>
            <a:pPr marL="0" indent="0" algn="l">
              <a:buNone/>
            </a:pPr>
            <a:r>
              <a:rPr lang="vi-VN" sz="1400" b="1">
                <a:solidFill>
                  <a:srgbClr val="B00020"/>
                </a:solidFill>
                <a:latin typeface="Arial" pitchFamily="34" charset="0"/>
                <a:ea typeface="Arial" pitchFamily="34" charset="-122"/>
                <a:cs typeface="Arial" pitchFamily="34" charset="-120"/>
              </a:rPr>
              <a:t>Phân tích chức năng và các nghiệp vụ cốt lõi</a:t>
            </a:r>
            <a:endParaRPr lang="en-US" sz="1400" dirty="0"/>
          </a:p>
        </p:txBody>
      </p:sp>
      <p:graphicFrame>
        <p:nvGraphicFramePr>
          <p:cNvPr id="6" name="Bảng 5">
            <a:extLst>
              <a:ext uri="{FF2B5EF4-FFF2-40B4-BE49-F238E27FC236}">
                <a16:creationId xmlns:a16="http://schemas.microsoft.com/office/drawing/2014/main" id="{53D6ECB4-60C7-FE92-82F8-F6FF7BFE8538}"/>
              </a:ext>
            </a:extLst>
          </p:cNvPr>
          <p:cNvGraphicFramePr>
            <a:graphicFrameLocks noGrp="1"/>
          </p:cNvGraphicFramePr>
          <p:nvPr>
            <p:extLst>
              <p:ext uri="{D42A27DB-BD31-4B8C-83A1-F6EECF244321}">
                <p14:modId xmlns:p14="http://schemas.microsoft.com/office/powerpoint/2010/main" val="2564355975"/>
              </p:ext>
            </p:extLst>
          </p:nvPr>
        </p:nvGraphicFramePr>
        <p:xfrm>
          <a:off x="197684" y="1917027"/>
          <a:ext cx="5515574" cy="4186907"/>
        </p:xfrm>
        <a:graphic>
          <a:graphicData uri="http://schemas.openxmlformats.org/drawingml/2006/table">
            <a:tbl>
              <a:tblPr firstRow="1" firstCol="1" bandRow="1"/>
              <a:tblGrid>
                <a:gridCol w="992377">
                  <a:extLst>
                    <a:ext uri="{9D8B030D-6E8A-4147-A177-3AD203B41FA5}">
                      <a16:colId xmlns:a16="http://schemas.microsoft.com/office/drawing/2014/main" val="2548302911"/>
                    </a:ext>
                  </a:extLst>
                </a:gridCol>
                <a:gridCol w="2093237">
                  <a:extLst>
                    <a:ext uri="{9D8B030D-6E8A-4147-A177-3AD203B41FA5}">
                      <a16:colId xmlns:a16="http://schemas.microsoft.com/office/drawing/2014/main" val="1150933491"/>
                    </a:ext>
                  </a:extLst>
                </a:gridCol>
                <a:gridCol w="2429960">
                  <a:extLst>
                    <a:ext uri="{9D8B030D-6E8A-4147-A177-3AD203B41FA5}">
                      <a16:colId xmlns:a16="http://schemas.microsoft.com/office/drawing/2014/main" val="611529703"/>
                    </a:ext>
                  </a:extLst>
                </a:gridCol>
              </a:tblGrid>
              <a:tr h="666519">
                <a:tc>
                  <a:txBody>
                    <a:bodyPr/>
                    <a:lstStyle/>
                    <a:p>
                      <a:pPr algn="ctr">
                        <a:lnSpc>
                          <a:spcPct val="102000"/>
                        </a:lnSpc>
                        <a:spcAft>
                          <a:spcPts val="12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Actor</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D9EAF7"/>
                    </a:solidFill>
                  </a:tcPr>
                </a:tc>
                <a:tc>
                  <a:txBody>
                    <a:bodyPr/>
                    <a:lstStyle/>
                    <a:p>
                      <a:pPr algn="ctr">
                        <a:lnSpc>
                          <a:spcPct val="102000"/>
                        </a:lnSpc>
                        <a:spcAft>
                          <a:spcPts val="12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Use Case /nghiệp vụ chính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D9EAF7"/>
                    </a:solidFill>
                  </a:tcPr>
                </a:tc>
                <a:tc>
                  <a:txBody>
                    <a:bodyPr/>
                    <a:lstStyle/>
                    <a:p>
                      <a:pPr algn="ctr">
                        <a:lnSpc>
                          <a:spcPct val="102000"/>
                        </a:lnSpc>
                        <a:spcAft>
                          <a:spcPts val="12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Kết quả nghiệp vụ cần đạt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D9EAF7"/>
                    </a:solidFill>
                  </a:tcPr>
                </a:tc>
                <a:extLst>
                  <a:ext uri="{0D108BD9-81ED-4DB2-BD59-A6C34878D82A}">
                    <a16:rowId xmlns:a16="http://schemas.microsoft.com/office/drawing/2014/main" val="2031912049"/>
                  </a:ext>
                </a:extLst>
              </a:tr>
              <a:tr h="1251968">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Bưu tá (Shipper)</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Đăng nhập; Quản lý Giao hàng TMĐT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Chọn trạm/ngăn trống; khai báo người nhận và COD; tạo giao dịch; cất hàng; ghi nhận thời gian gửi; sinh OTP/QR và chuyển ngăn sang trạng thái đang sử dụng.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4192165068"/>
                  </a:ext>
                </a:extLst>
              </a:tr>
              <a:tr h="1251968">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Cư dân (Resident)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Đăng nhập; Nhận hàng &amp; Thanh toán; Thuê tủ cá nhân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Xác thực OTP/QR; tính COD và phí lưu bãi nếu có; thanh toán; mở tủ và hoàn tất nhận hàng; hoặc chủ động thuê ngăn, thanh toán phí thuê và tạo giao dịch tự thuê.</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1539048483"/>
                  </a:ext>
                </a:extLst>
              </a:tr>
              <a:tr h="1016452">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Quản trị viên (Admin)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Đăng nhập; Quản lý Trạm tủ &amp; Biểu phí</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Theo dõi/cập nhật thông tin trạm và trạng thái vận hành; cấu hình phí dịch vụ và phí lưu bãi quá hạn theo loại ngăn.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2310310348"/>
                  </a:ext>
                </a:extLst>
              </a:tr>
            </a:tbl>
          </a:graphicData>
        </a:graphic>
      </p:graphicFrame>
      <p:pic>
        <p:nvPicPr>
          <p:cNvPr id="8" name="Picture 1">
            <a:extLst>
              <a:ext uri="{FF2B5EF4-FFF2-40B4-BE49-F238E27FC236}">
                <a16:creationId xmlns:a16="http://schemas.microsoft.com/office/drawing/2014/main" id="{E0165A99-5842-F4D4-81FA-FB4DE7349B4A}"/>
              </a:ext>
            </a:extLst>
          </p:cNvPr>
          <p:cNvPicPr>
            <a:picLocks noChangeAspect="1"/>
          </p:cNvPicPr>
          <p:nvPr/>
        </p:nvPicPr>
        <p:blipFill>
          <a:blip r:embed="rId3"/>
          <a:stretch>
            <a:fillRect/>
          </a:stretch>
        </p:blipFill>
        <p:spPr>
          <a:xfrm>
            <a:off x="6524680" y="1609011"/>
            <a:ext cx="4967605" cy="4589145"/>
          </a:xfrm>
          <a:prstGeom prst="rect">
            <a:avLst/>
          </a:prstGeom>
        </p:spPr>
      </p:pic>
      <p:sp>
        <p:nvSpPr>
          <p:cNvPr id="13" name="Text 15">
            <a:extLst>
              <a:ext uri="{FF2B5EF4-FFF2-40B4-BE49-F238E27FC236}">
                <a16:creationId xmlns:a16="http://schemas.microsoft.com/office/drawing/2014/main" id="{6E2CA9BF-4561-243A-034F-91A3D68EAB68}"/>
              </a:ext>
            </a:extLst>
          </p:cNvPr>
          <p:cNvSpPr/>
          <p:nvPr/>
        </p:nvSpPr>
        <p:spPr>
          <a:xfrm>
            <a:off x="7186505" y="6392407"/>
            <a:ext cx="3883442" cy="181750"/>
          </a:xfrm>
          <a:prstGeom prst="rect">
            <a:avLst/>
          </a:prstGeom>
          <a:noFill/>
          <a:ln/>
        </p:spPr>
        <p:txBody>
          <a:bodyPr wrap="square" lIns="1016" tIns="1016" rIns="1016" bIns="1016" rtlCol="0" anchor="ctr">
            <a:normAutofit fontScale="92500" lnSpcReduction="10000"/>
          </a:bodyPr>
          <a:lstStyle/>
          <a:p>
            <a:pPr marL="0" indent="0" algn="l">
              <a:buNone/>
            </a:pPr>
            <a:r>
              <a:rPr lang="vi-VN" sz="1400" i="1">
                <a:solidFill>
                  <a:srgbClr val="252B33"/>
                </a:solidFill>
                <a:latin typeface="Arial" pitchFamily="34" charset="0"/>
                <a:ea typeface="Arial" pitchFamily="34" charset="-122"/>
                <a:cs typeface="Arial" pitchFamily="34" charset="-120"/>
              </a:rPr>
              <a:t>Sơ đồ Use Case tổng quát của hệ thống Smartbox</a:t>
            </a:r>
          </a:p>
        </p:txBody>
      </p:sp>
    </p:spTree>
    <p:extLst>
      <p:ext uri="{BB962C8B-B14F-4D97-AF65-F5344CB8AC3E}">
        <p14:creationId xmlns:p14="http://schemas.microsoft.com/office/powerpoint/2010/main" val="1016854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352CE934-39B8-BCD4-FFD2-295CFD0A42F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F637C21-D7B6-E871-37E1-5FB138DEAD98}"/>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9A71BF6C-EEB1-F429-589E-F6E4AB6D95B6}"/>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48F416E4-AB45-5AD7-1F22-0457B353DD9E}"/>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66B7A168-66B1-0400-91F7-CAAFD16973EB}"/>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7" name="Text 5">
            <a:extLst>
              <a:ext uri="{FF2B5EF4-FFF2-40B4-BE49-F238E27FC236}">
                <a16:creationId xmlns:a16="http://schemas.microsoft.com/office/drawing/2014/main" id="{12A51E3B-36C2-497A-DFE4-E9508AD792C4}"/>
              </a:ext>
            </a:extLst>
          </p:cNvPr>
          <p:cNvSpPr/>
          <p:nvPr/>
        </p:nvSpPr>
        <p:spPr>
          <a:xfrm>
            <a:off x="5549346" y="6565392"/>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10" name="Text 8">
            <a:extLst>
              <a:ext uri="{FF2B5EF4-FFF2-40B4-BE49-F238E27FC236}">
                <a16:creationId xmlns:a16="http://schemas.microsoft.com/office/drawing/2014/main" id="{1B3F41C9-A6D0-72A6-CF3F-8E3386B61859}"/>
              </a:ext>
            </a:extLst>
          </p:cNvPr>
          <p:cNvSpPr/>
          <p:nvPr/>
        </p:nvSpPr>
        <p:spPr>
          <a:xfrm>
            <a:off x="640080" y="503615"/>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V. PHÂN TÍCH VÀ THIẾT KẾ HỆ THỐNG</a:t>
            </a:r>
            <a:endParaRPr lang="en-US" sz="2700" dirty="0"/>
          </a:p>
        </p:txBody>
      </p:sp>
      <p:sp>
        <p:nvSpPr>
          <p:cNvPr id="12" name="Shape 10">
            <a:extLst>
              <a:ext uri="{FF2B5EF4-FFF2-40B4-BE49-F238E27FC236}">
                <a16:creationId xmlns:a16="http://schemas.microsoft.com/office/drawing/2014/main" id="{18F55BE0-77A2-7CD2-779C-178FF9834389}"/>
              </a:ext>
            </a:extLst>
          </p:cNvPr>
          <p:cNvSpPr/>
          <p:nvPr/>
        </p:nvSpPr>
        <p:spPr>
          <a:xfrm>
            <a:off x="658368" y="1011143"/>
            <a:ext cx="1920240" cy="0"/>
          </a:xfrm>
          <a:prstGeom prst="line">
            <a:avLst/>
          </a:prstGeom>
          <a:noFill/>
          <a:ln w="25400">
            <a:solidFill>
              <a:srgbClr val="D6A62C"/>
            </a:solidFill>
            <a:prstDash val="solid"/>
          </a:ln>
        </p:spPr>
        <p:txBody>
          <a:bodyPr/>
          <a:lstStyle/>
          <a:p>
            <a:endParaRPr lang="vi-VN"/>
          </a:p>
        </p:txBody>
      </p:sp>
      <p:sp>
        <p:nvSpPr>
          <p:cNvPr id="15" name="Text 14">
            <a:extLst>
              <a:ext uri="{FF2B5EF4-FFF2-40B4-BE49-F238E27FC236}">
                <a16:creationId xmlns:a16="http://schemas.microsoft.com/office/drawing/2014/main" id="{E4679662-E21A-A209-918B-D9F6B0928942}"/>
              </a:ext>
            </a:extLst>
          </p:cNvPr>
          <p:cNvSpPr/>
          <p:nvPr/>
        </p:nvSpPr>
        <p:spPr>
          <a:xfrm>
            <a:off x="593635" y="1252441"/>
            <a:ext cx="4038449" cy="328781"/>
          </a:xfrm>
          <a:prstGeom prst="rect">
            <a:avLst/>
          </a:prstGeom>
          <a:noFill/>
          <a:ln/>
        </p:spPr>
        <p:txBody>
          <a:bodyPr wrap="square" lIns="1016" tIns="1016" rIns="1016" bIns="1016" rtlCol="0" anchor="ctr">
            <a:normAutofit/>
          </a:bodyPr>
          <a:lstStyle/>
          <a:p>
            <a:pPr marL="0" indent="0" algn="l">
              <a:buNone/>
            </a:pPr>
            <a:r>
              <a:rPr lang="vi-VN" sz="1400" b="1">
                <a:solidFill>
                  <a:srgbClr val="B00020"/>
                </a:solidFill>
                <a:latin typeface="Arial" pitchFamily="34" charset="0"/>
                <a:ea typeface="Arial" pitchFamily="34" charset="-122"/>
                <a:cs typeface="Arial" pitchFamily="34" charset="-120"/>
              </a:rPr>
              <a:t>Phân tích cấu trúc và hành vi hệ thống</a:t>
            </a:r>
            <a:endParaRPr lang="en-US" sz="1400" dirty="0"/>
          </a:p>
        </p:txBody>
      </p:sp>
      <p:sp>
        <p:nvSpPr>
          <p:cNvPr id="13" name="Text 15">
            <a:extLst>
              <a:ext uri="{FF2B5EF4-FFF2-40B4-BE49-F238E27FC236}">
                <a16:creationId xmlns:a16="http://schemas.microsoft.com/office/drawing/2014/main" id="{3EF07CF1-DE9C-8661-3B21-39F6710EB640}"/>
              </a:ext>
            </a:extLst>
          </p:cNvPr>
          <p:cNvSpPr/>
          <p:nvPr/>
        </p:nvSpPr>
        <p:spPr>
          <a:xfrm>
            <a:off x="658368" y="1822519"/>
            <a:ext cx="5126970" cy="3983225"/>
          </a:xfrm>
          <a:prstGeom prst="rect">
            <a:avLst/>
          </a:prstGeom>
          <a:noFill/>
          <a:ln/>
        </p:spPr>
        <p:txBody>
          <a:bodyPr wrap="square" lIns="1016" tIns="1016" rIns="1016" bIns="1016" rtlCol="0" anchor="ctr">
            <a:normAutofit/>
          </a:bodyPr>
          <a:lstStyle/>
          <a:p>
            <a:pPr marL="0" indent="0" algn="l">
              <a:buNone/>
            </a:pPr>
            <a:r>
              <a:rPr lang="vi-VN" sz="1400">
                <a:solidFill>
                  <a:srgbClr val="252B33"/>
                </a:solidFill>
                <a:latin typeface="Arial" pitchFamily="34" charset="0"/>
                <a:ea typeface="Arial" pitchFamily="34" charset="-122"/>
                <a:cs typeface="Arial" pitchFamily="34" charset="-120"/>
              </a:rPr>
              <a:t>Nhóm phân tách trách nhiệm bên trong hệ thống bằng mô hình Boundary–Control–Entity. </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Boundary là lớp tương tác với người dùng, ví dụ Form_DangNhap hoặc Form_GiaoHang.</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Control chứa logic điều phối nghiệp vụ, ví dụ Ctrl_XacThuc hoặc Ctrl_GiaoHang.</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Entity là dữ liệu nghiệp vụ tồn tại lâu dài như KhachHang, NganTu, GiaoDich và ThanhToan. </a:t>
            </a:r>
          </a:p>
        </p:txBody>
      </p:sp>
      <p:graphicFrame>
        <p:nvGraphicFramePr>
          <p:cNvPr id="11" name="Bảng 10">
            <a:extLst>
              <a:ext uri="{FF2B5EF4-FFF2-40B4-BE49-F238E27FC236}">
                <a16:creationId xmlns:a16="http://schemas.microsoft.com/office/drawing/2014/main" id="{CADED1E5-F0CC-96AA-07C3-12330F1FACEA}"/>
              </a:ext>
            </a:extLst>
          </p:cNvPr>
          <p:cNvGraphicFramePr>
            <a:graphicFrameLocks noGrp="1"/>
          </p:cNvGraphicFramePr>
          <p:nvPr>
            <p:extLst>
              <p:ext uri="{D42A27DB-BD31-4B8C-83A1-F6EECF244321}">
                <p14:modId xmlns:p14="http://schemas.microsoft.com/office/powerpoint/2010/main" val="1611617851"/>
              </p:ext>
            </p:extLst>
          </p:nvPr>
        </p:nvGraphicFramePr>
        <p:xfrm>
          <a:off x="6172200" y="1259927"/>
          <a:ext cx="5902570" cy="5094459"/>
        </p:xfrm>
        <a:graphic>
          <a:graphicData uri="http://schemas.openxmlformats.org/drawingml/2006/table">
            <a:tbl>
              <a:tblPr firstRow="1" firstCol="1" bandRow="1"/>
              <a:tblGrid>
                <a:gridCol w="930492">
                  <a:extLst>
                    <a:ext uri="{9D8B030D-6E8A-4147-A177-3AD203B41FA5}">
                      <a16:colId xmlns:a16="http://schemas.microsoft.com/office/drawing/2014/main" val="1246563273"/>
                    </a:ext>
                  </a:extLst>
                </a:gridCol>
                <a:gridCol w="1670779">
                  <a:extLst>
                    <a:ext uri="{9D8B030D-6E8A-4147-A177-3AD203B41FA5}">
                      <a16:colId xmlns:a16="http://schemas.microsoft.com/office/drawing/2014/main" val="866271847"/>
                    </a:ext>
                  </a:extLst>
                </a:gridCol>
                <a:gridCol w="1792996">
                  <a:extLst>
                    <a:ext uri="{9D8B030D-6E8A-4147-A177-3AD203B41FA5}">
                      <a16:colId xmlns:a16="http://schemas.microsoft.com/office/drawing/2014/main" val="2067417057"/>
                    </a:ext>
                  </a:extLst>
                </a:gridCol>
                <a:gridCol w="1508303">
                  <a:extLst>
                    <a:ext uri="{9D8B030D-6E8A-4147-A177-3AD203B41FA5}">
                      <a16:colId xmlns:a16="http://schemas.microsoft.com/office/drawing/2014/main" val="2812349100"/>
                    </a:ext>
                  </a:extLst>
                </a:gridCol>
              </a:tblGrid>
              <a:tr h="421738">
                <a:tc>
                  <a:txBody>
                    <a:bodyPr/>
                    <a:lstStyle/>
                    <a:p>
                      <a:pPr>
                        <a:lnSpc>
                          <a:spcPct val="102000"/>
                        </a:lnSpc>
                        <a:spcAft>
                          <a:spcPts val="12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Use Case</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D9EAF7"/>
                    </a:solidFill>
                  </a:tcPr>
                </a:tc>
                <a:tc>
                  <a:txBody>
                    <a:bodyPr/>
                    <a:lstStyle/>
                    <a:p>
                      <a:pPr>
                        <a:lnSpc>
                          <a:spcPct val="102000"/>
                        </a:lnSpc>
                        <a:spcAft>
                          <a:spcPts val="12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Boundary</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D9EAF7"/>
                    </a:solidFill>
                  </a:tcPr>
                </a:tc>
                <a:tc>
                  <a:txBody>
                    <a:bodyPr/>
                    <a:lstStyle/>
                    <a:p>
                      <a:pPr>
                        <a:lnSpc>
                          <a:spcPct val="102000"/>
                        </a:lnSpc>
                        <a:spcAft>
                          <a:spcPts val="12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Control</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D9EAF7"/>
                    </a:solidFill>
                  </a:tcPr>
                </a:tc>
                <a:tc>
                  <a:txBody>
                    <a:bodyPr/>
                    <a:lstStyle/>
                    <a:p>
                      <a:pPr>
                        <a:lnSpc>
                          <a:spcPct val="102000"/>
                        </a:lnSpc>
                        <a:spcAft>
                          <a:spcPts val="12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Entity chính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D9EAF7"/>
                    </a:solidFill>
                  </a:tcPr>
                </a:tc>
                <a:extLst>
                  <a:ext uri="{0D108BD9-81ED-4DB2-BD59-A6C34878D82A}">
                    <a16:rowId xmlns:a16="http://schemas.microsoft.com/office/drawing/2014/main" val="1462515796"/>
                  </a:ext>
                </a:extLst>
              </a:tr>
              <a:tr h="421738">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Đăng nhập</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Form_DangNhap</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Ctrl_XacThuc</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KhachHang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2097906086"/>
                  </a:ext>
                </a:extLst>
              </a:tr>
              <a:tr h="742242">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Giao hàng TMĐT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Form_GiaoHang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Ctrl_GiaoHang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NganTu, GiaoDich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1279304710"/>
                  </a:ext>
                </a:extLst>
              </a:tr>
              <a:tr h="1383249">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Nhận hàng &amp; Thanh toán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Form_NhanHang, Form_ThanhToan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Ctrl_NhanHangVaThanhToan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GiaoDich, LoaiNganTu, ThanhToan, NganTu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3399984242"/>
                  </a:ext>
                </a:extLst>
              </a:tr>
              <a:tr h="1062746">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Thuê tủ cá nhân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Form_ThueTu, Form_ThanhToan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Ctrl_ThueTuCaNhan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LoaiNganTu, ThanhToan, GiaoDich, NganTu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2074724419"/>
                  </a:ext>
                </a:extLst>
              </a:tr>
              <a:tr h="1062746">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Quản lý Trạm tủ &amp; Biểu phí</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Form_QuanLyTramTu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Ctrl_QuanTriHeThong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TramTu, LoaiNganTu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3599231366"/>
                  </a:ext>
                </a:extLst>
              </a:tr>
            </a:tbl>
          </a:graphicData>
        </a:graphic>
      </p:graphicFrame>
    </p:spTree>
    <p:extLst>
      <p:ext uri="{BB962C8B-B14F-4D97-AF65-F5344CB8AC3E}">
        <p14:creationId xmlns:p14="http://schemas.microsoft.com/office/powerpoint/2010/main" val="12312871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9E8ADF56-0995-D186-96A1-4E845DF1978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4FC5186-2D3D-E27B-B048-CE006B157CA9}"/>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E99E0589-050D-F447-5584-DBC65AF9B969}"/>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C8A7698E-6016-56B7-E224-BE03ADA938D3}"/>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A4AA64B6-BBB5-B591-951D-41CF4A645C8B}"/>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7" name="Text 5">
            <a:extLst>
              <a:ext uri="{FF2B5EF4-FFF2-40B4-BE49-F238E27FC236}">
                <a16:creationId xmlns:a16="http://schemas.microsoft.com/office/drawing/2014/main" id="{56E0B833-4996-6ECF-678A-E9848A3B9FF6}"/>
              </a:ext>
            </a:extLst>
          </p:cNvPr>
          <p:cNvSpPr/>
          <p:nvPr/>
        </p:nvSpPr>
        <p:spPr>
          <a:xfrm>
            <a:off x="5549346" y="6565392"/>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9" name="Text 7">
            <a:extLst>
              <a:ext uri="{FF2B5EF4-FFF2-40B4-BE49-F238E27FC236}">
                <a16:creationId xmlns:a16="http://schemas.microsoft.com/office/drawing/2014/main" id="{64D38BEE-07F6-2B51-1535-3382F4961008}"/>
              </a:ext>
            </a:extLst>
          </p:cNvPr>
          <p:cNvSpPr/>
          <p:nvPr/>
        </p:nvSpPr>
        <p:spPr>
          <a:xfrm>
            <a:off x="11274552" y="6446520"/>
            <a:ext cx="457200" cy="201168"/>
          </a:xfrm>
          <a:prstGeom prst="rect">
            <a:avLst/>
          </a:prstGeom>
          <a:noFill/>
          <a:ln/>
        </p:spPr>
        <p:txBody>
          <a:bodyPr wrap="square" lIns="0" tIns="0" rIns="0" bIns="0" rtlCol="0" anchor="ctr">
            <a:normAutofit/>
          </a:bodyPr>
          <a:lstStyle/>
          <a:p>
            <a:pPr marL="0" indent="0" algn="r">
              <a:buNone/>
            </a:pPr>
            <a:r>
              <a:rPr lang="en-US" sz="850" b="1" dirty="0">
                <a:solidFill>
                  <a:srgbClr val="B00020"/>
                </a:solidFill>
                <a:latin typeface="Arial" pitchFamily="34" charset="0"/>
                <a:ea typeface="Arial" pitchFamily="34" charset="-122"/>
                <a:cs typeface="Arial" pitchFamily="34" charset="-120"/>
              </a:rPr>
              <a:t>04</a:t>
            </a:r>
            <a:endParaRPr lang="en-US" sz="850" dirty="0"/>
          </a:p>
        </p:txBody>
      </p:sp>
      <p:sp>
        <p:nvSpPr>
          <p:cNvPr id="10" name="Text 8">
            <a:extLst>
              <a:ext uri="{FF2B5EF4-FFF2-40B4-BE49-F238E27FC236}">
                <a16:creationId xmlns:a16="http://schemas.microsoft.com/office/drawing/2014/main" id="{5F3CCFDE-02C9-F0D3-D8F1-CC5B5673C04E}"/>
              </a:ext>
            </a:extLst>
          </p:cNvPr>
          <p:cNvSpPr/>
          <p:nvPr/>
        </p:nvSpPr>
        <p:spPr>
          <a:xfrm>
            <a:off x="640080" y="503615"/>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V. PHÂN TÍCH VÀ THIẾT KẾ HỆ THỐNG</a:t>
            </a:r>
            <a:endParaRPr lang="en-US" sz="2700" dirty="0"/>
          </a:p>
        </p:txBody>
      </p:sp>
      <p:sp>
        <p:nvSpPr>
          <p:cNvPr id="12" name="Shape 10">
            <a:extLst>
              <a:ext uri="{FF2B5EF4-FFF2-40B4-BE49-F238E27FC236}">
                <a16:creationId xmlns:a16="http://schemas.microsoft.com/office/drawing/2014/main" id="{09E968CA-3A5C-C1D7-170C-B989A88143C8}"/>
              </a:ext>
            </a:extLst>
          </p:cNvPr>
          <p:cNvSpPr/>
          <p:nvPr/>
        </p:nvSpPr>
        <p:spPr>
          <a:xfrm>
            <a:off x="658368" y="1011143"/>
            <a:ext cx="1920240" cy="0"/>
          </a:xfrm>
          <a:prstGeom prst="line">
            <a:avLst/>
          </a:prstGeom>
          <a:noFill/>
          <a:ln w="25400">
            <a:solidFill>
              <a:srgbClr val="D6A62C"/>
            </a:solidFill>
            <a:prstDash val="solid"/>
          </a:ln>
        </p:spPr>
        <p:txBody>
          <a:bodyPr/>
          <a:lstStyle/>
          <a:p>
            <a:endParaRPr lang="vi-VN"/>
          </a:p>
        </p:txBody>
      </p:sp>
      <p:sp>
        <p:nvSpPr>
          <p:cNvPr id="15" name="Text 14">
            <a:extLst>
              <a:ext uri="{FF2B5EF4-FFF2-40B4-BE49-F238E27FC236}">
                <a16:creationId xmlns:a16="http://schemas.microsoft.com/office/drawing/2014/main" id="{CDE5D265-5191-9633-6277-55A5E2E1EB38}"/>
              </a:ext>
            </a:extLst>
          </p:cNvPr>
          <p:cNvSpPr/>
          <p:nvPr/>
        </p:nvSpPr>
        <p:spPr>
          <a:xfrm>
            <a:off x="593635" y="1121809"/>
            <a:ext cx="4038449" cy="328781"/>
          </a:xfrm>
          <a:prstGeom prst="rect">
            <a:avLst/>
          </a:prstGeom>
          <a:noFill/>
          <a:ln/>
        </p:spPr>
        <p:txBody>
          <a:bodyPr wrap="square" lIns="1016" tIns="1016" rIns="1016" bIns="1016" rtlCol="0" anchor="ctr">
            <a:normAutofit/>
          </a:bodyPr>
          <a:lstStyle/>
          <a:p>
            <a:pPr marL="0" indent="0" algn="l">
              <a:buNone/>
            </a:pPr>
            <a:r>
              <a:rPr lang="vi-VN" sz="1400" b="1">
                <a:solidFill>
                  <a:srgbClr val="B00020"/>
                </a:solidFill>
                <a:latin typeface="Arial" pitchFamily="34" charset="0"/>
                <a:ea typeface="Arial" pitchFamily="34" charset="-122"/>
                <a:cs typeface="Arial" pitchFamily="34" charset="-120"/>
              </a:rPr>
              <a:t>Thiết kế lớp chi tiết</a:t>
            </a:r>
            <a:endParaRPr lang="en-US" sz="1400" dirty="0"/>
          </a:p>
        </p:txBody>
      </p:sp>
      <p:sp>
        <p:nvSpPr>
          <p:cNvPr id="13" name="Text 15">
            <a:extLst>
              <a:ext uri="{FF2B5EF4-FFF2-40B4-BE49-F238E27FC236}">
                <a16:creationId xmlns:a16="http://schemas.microsoft.com/office/drawing/2014/main" id="{1F29FBDF-4342-7FAA-B36C-1C2B83F884BE}"/>
              </a:ext>
            </a:extLst>
          </p:cNvPr>
          <p:cNvSpPr/>
          <p:nvPr/>
        </p:nvSpPr>
        <p:spPr>
          <a:xfrm>
            <a:off x="658368" y="1570044"/>
            <a:ext cx="10817352" cy="990276"/>
          </a:xfrm>
          <a:prstGeom prst="rect">
            <a:avLst/>
          </a:prstGeom>
          <a:noFill/>
          <a:ln/>
        </p:spPr>
        <p:txBody>
          <a:bodyPr wrap="square" lIns="1016" tIns="1016" rIns="1016" bIns="1016" rtlCol="0" anchor="ctr">
            <a:normAutofit/>
          </a:bodyPr>
          <a:lstStyle/>
          <a:p>
            <a:pPr marL="0" indent="0" algn="l">
              <a:buNone/>
            </a:pPr>
            <a:r>
              <a:rPr lang="vi-VN" sz="1400">
                <a:solidFill>
                  <a:srgbClr val="252B33"/>
                </a:solidFill>
                <a:latin typeface="Arial" pitchFamily="34" charset="0"/>
                <a:ea typeface="Arial" pitchFamily="34" charset="-122"/>
                <a:cs typeface="Arial" pitchFamily="34" charset="-120"/>
              </a:rPr>
              <a:t>Thiết kế xác định sáu lớp thực thể trường cửu: KhachHang, TramTu, LoaiNganTu, NganTu, GiaoDich và ThanhToan. KhachHang quản lý định danh và vai trò; TramTu, LoaiNganTu, NganTu phản ánh cấu trúc và trạng thái hạ tầng tủ; GiaoDich và ThanhToan lưu vết vòng đời nghiệp vụ và dòng tiền. Trong đó GiaoDich và NganTu là hai lớp trung tâm vì hầu hết nghiệp vụ giao, nhận và thuê đều phụ thuộc vào cấp phát ngăn và chuyển trạng thái giao dịch.</a:t>
            </a:r>
          </a:p>
        </p:txBody>
      </p:sp>
      <p:pic>
        <p:nvPicPr>
          <p:cNvPr id="6" name="Picture 2">
            <a:extLst>
              <a:ext uri="{FF2B5EF4-FFF2-40B4-BE49-F238E27FC236}">
                <a16:creationId xmlns:a16="http://schemas.microsoft.com/office/drawing/2014/main" id="{A519AAB3-43BA-1E10-A0A8-53BBD879643D}"/>
              </a:ext>
            </a:extLst>
          </p:cNvPr>
          <p:cNvPicPr>
            <a:picLocks noChangeAspect="1"/>
          </p:cNvPicPr>
          <p:nvPr/>
        </p:nvPicPr>
        <p:blipFill>
          <a:blip r:embed="rId3"/>
          <a:stretch>
            <a:fillRect/>
          </a:stretch>
        </p:blipFill>
        <p:spPr>
          <a:xfrm>
            <a:off x="771738" y="2733265"/>
            <a:ext cx="3860346" cy="3621120"/>
          </a:xfrm>
          <a:prstGeom prst="rect">
            <a:avLst/>
          </a:prstGeom>
        </p:spPr>
      </p:pic>
      <p:graphicFrame>
        <p:nvGraphicFramePr>
          <p:cNvPr id="8" name="Bảng 7">
            <a:extLst>
              <a:ext uri="{FF2B5EF4-FFF2-40B4-BE49-F238E27FC236}">
                <a16:creationId xmlns:a16="http://schemas.microsoft.com/office/drawing/2014/main" id="{39D9DA04-B574-FFDD-8215-8D0C9723B8A3}"/>
              </a:ext>
            </a:extLst>
          </p:cNvPr>
          <p:cNvGraphicFramePr>
            <a:graphicFrameLocks noGrp="1"/>
          </p:cNvGraphicFramePr>
          <p:nvPr>
            <p:extLst>
              <p:ext uri="{D42A27DB-BD31-4B8C-83A1-F6EECF244321}">
                <p14:modId xmlns:p14="http://schemas.microsoft.com/office/powerpoint/2010/main" val="4092429539"/>
              </p:ext>
            </p:extLst>
          </p:nvPr>
        </p:nvGraphicFramePr>
        <p:xfrm>
          <a:off x="5351099" y="2733265"/>
          <a:ext cx="5736002" cy="3621120"/>
        </p:xfrm>
        <a:graphic>
          <a:graphicData uri="http://schemas.openxmlformats.org/drawingml/2006/table">
            <a:tbl>
              <a:tblPr firstRow="1" firstCol="1" bandRow="1"/>
              <a:tblGrid>
                <a:gridCol w="1166059">
                  <a:extLst>
                    <a:ext uri="{9D8B030D-6E8A-4147-A177-3AD203B41FA5}">
                      <a16:colId xmlns:a16="http://schemas.microsoft.com/office/drawing/2014/main" val="3762263667"/>
                    </a:ext>
                  </a:extLst>
                </a:gridCol>
                <a:gridCol w="1264670">
                  <a:extLst>
                    <a:ext uri="{9D8B030D-6E8A-4147-A177-3AD203B41FA5}">
                      <a16:colId xmlns:a16="http://schemas.microsoft.com/office/drawing/2014/main" val="1219647454"/>
                    </a:ext>
                  </a:extLst>
                </a:gridCol>
                <a:gridCol w="3305273">
                  <a:extLst>
                    <a:ext uri="{9D8B030D-6E8A-4147-A177-3AD203B41FA5}">
                      <a16:colId xmlns:a16="http://schemas.microsoft.com/office/drawing/2014/main" val="2096134655"/>
                    </a:ext>
                  </a:extLst>
                </a:gridCol>
              </a:tblGrid>
              <a:tr h="369510">
                <a:tc>
                  <a:txBody>
                    <a:bodyPr/>
                    <a:lstStyle/>
                    <a:p>
                      <a:pPr>
                        <a:lnSpc>
                          <a:spcPct val="102000"/>
                        </a:lnSpc>
                        <a:spcAft>
                          <a:spcPts val="12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Quan hệ chính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D9EAF7"/>
                    </a:solidFill>
                  </a:tcPr>
                </a:tc>
                <a:tc>
                  <a:txBody>
                    <a:bodyPr/>
                    <a:lstStyle/>
                    <a:p>
                      <a:pPr>
                        <a:lnSpc>
                          <a:spcPct val="102000"/>
                        </a:lnSpc>
                        <a:spcAft>
                          <a:spcPts val="12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Bội số</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D9EAF7"/>
                    </a:solidFill>
                  </a:tcPr>
                </a:tc>
                <a:tc>
                  <a:txBody>
                    <a:bodyPr/>
                    <a:lstStyle/>
                    <a:p>
                      <a:pPr>
                        <a:lnSpc>
                          <a:spcPct val="102000"/>
                        </a:lnSpc>
                        <a:spcAft>
                          <a:spcPts val="12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Ý nghĩa</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D9EAF7"/>
                    </a:solidFill>
                  </a:tcPr>
                </a:tc>
                <a:extLst>
                  <a:ext uri="{0D108BD9-81ED-4DB2-BD59-A6C34878D82A}">
                    <a16:rowId xmlns:a16="http://schemas.microsoft.com/office/drawing/2014/main" val="289134082"/>
                  </a:ext>
                </a:extLst>
              </a:tr>
              <a:tr h="650322">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TramTu - NganTu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 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Một trạm chứa nhiều ngăn.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4068441259"/>
                  </a:ext>
                </a:extLst>
              </a:tr>
              <a:tr h="650322">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LoaiNganTu - NganTu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 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Một loại kích thước/biểu phí áp dụng cho nhiều ngăn.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2809666764"/>
                  </a:ext>
                </a:extLst>
              </a:tr>
              <a:tr h="650322">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NganTu - GiaoDich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 N theo thời gian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Một ngăn có thể phục vụ nhiều giao dịch ở các thời điểm khác nhau.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898326844"/>
                  </a:ext>
                </a:extLst>
              </a:tr>
              <a:tr h="650322">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KhachHang - GiaoDich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 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Một tài khoản có thể khởi tạo nhiều giao dịch.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2658765257"/>
                  </a:ext>
                </a:extLst>
              </a:tr>
              <a:tr h="650322">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GiaoDich - ThanhToan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 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Một giao dịch có thể phát sinh nhiều lần ghi nhận thanh toán.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3947141091"/>
                  </a:ext>
                </a:extLst>
              </a:tr>
            </a:tbl>
          </a:graphicData>
        </a:graphic>
      </p:graphicFrame>
    </p:spTree>
    <p:extLst>
      <p:ext uri="{BB962C8B-B14F-4D97-AF65-F5344CB8AC3E}">
        <p14:creationId xmlns:p14="http://schemas.microsoft.com/office/powerpoint/2010/main" val="26797651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C6CF6155-A0B4-05BC-D985-8741B559C0B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D5C1894-C24F-7381-8826-9278BF688301}"/>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112CC34B-D3EC-5434-A9EE-47AC8225A469}"/>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A3C50455-F9AA-BB57-F6A7-1D61928431C8}"/>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F52F5365-38CA-225B-2369-98E307AFEC92}"/>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7" name="Text 5">
            <a:extLst>
              <a:ext uri="{FF2B5EF4-FFF2-40B4-BE49-F238E27FC236}">
                <a16:creationId xmlns:a16="http://schemas.microsoft.com/office/drawing/2014/main" id="{F7F4B810-7FDB-A269-3072-9FFFA56A26E8}"/>
              </a:ext>
            </a:extLst>
          </p:cNvPr>
          <p:cNvSpPr/>
          <p:nvPr/>
        </p:nvSpPr>
        <p:spPr>
          <a:xfrm>
            <a:off x="5549346" y="6565392"/>
            <a:ext cx="2377440" cy="237744"/>
          </a:xfrm>
          <a:prstGeom prst="rect">
            <a:avLst/>
          </a:prstGeom>
          <a:noFill/>
          <a:ln/>
        </p:spPr>
        <p:txBody>
          <a:bodyPr wrap="square" lIns="0" tIns="0" rIns="0" bIns="0" rtlCol="0" anchor="ctr">
            <a:normAutofit/>
          </a:bodyPr>
          <a:lstStyle/>
          <a:p>
            <a:pPr marL="0" indent="0">
              <a:buNone/>
            </a:pPr>
            <a:r>
              <a:rPr lang="en-US" sz="850" dirty="0">
                <a:solidFill>
                  <a:srgbClr val="6B7280"/>
                </a:solidFill>
                <a:latin typeface="Arial" pitchFamily="34" charset="0"/>
                <a:ea typeface="Arial" pitchFamily="34" charset="-122"/>
                <a:cs typeface="Arial" pitchFamily="34" charset="-120"/>
              </a:rPr>
              <a:t>Nhóm 05 · CNTT2026_N05</a:t>
            </a:r>
            <a:endParaRPr lang="en-US" sz="850" dirty="0"/>
          </a:p>
        </p:txBody>
      </p:sp>
      <p:sp>
        <p:nvSpPr>
          <p:cNvPr id="9" name="Text 7">
            <a:extLst>
              <a:ext uri="{FF2B5EF4-FFF2-40B4-BE49-F238E27FC236}">
                <a16:creationId xmlns:a16="http://schemas.microsoft.com/office/drawing/2014/main" id="{76E61D54-6DD9-6F72-E507-857943465D3B}"/>
              </a:ext>
            </a:extLst>
          </p:cNvPr>
          <p:cNvSpPr/>
          <p:nvPr/>
        </p:nvSpPr>
        <p:spPr>
          <a:xfrm>
            <a:off x="11274552" y="6446520"/>
            <a:ext cx="457200" cy="201168"/>
          </a:xfrm>
          <a:prstGeom prst="rect">
            <a:avLst/>
          </a:prstGeom>
          <a:noFill/>
          <a:ln/>
        </p:spPr>
        <p:txBody>
          <a:bodyPr wrap="square" lIns="0" tIns="0" rIns="0" bIns="0" rtlCol="0" anchor="ctr">
            <a:normAutofit/>
          </a:bodyPr>
          <a:lstStyle/>
          <a:p>
            <a:pPr marL="0" indent="0" algn="r">
              <a:buNone/>
            </a:pPr>
            <a:r>
              <a:rPr lang="en-US" sz="850" b="1" dirty="0">
                <a:solidFill>
                  <a:srgbClr val="B00020"/>
                </a:solidFill>
                <a:latin typeface="Arial" pitchFamily="34" charset="0"/>
                <a:ea typeface="Arial" pitchFamily="34" charset="-122"/>
                <a:cs typeface="Arial" pitchFamily="34" charset="-120"/>
              </a:rPr>
              <a:t>04</a:t>
            </a:r>
            <a:endParaRPr lang="en-US" sz="850" dirty="0"/>
          </a:p>
        </p:txBody>
      </p:sp>
      <p:sp>
        <p:nvSpPr>
          <p:cNvPr id="10" name="Text 8">
            <a:extLst>
              <a:ext uri="{FF2B5EF4-FFF2-40B4-BE49-F238E27FC236}">
                <a16:creationId xmlns:a16="http://schemas.microsoft.com/office/drawing/2014/main" id="{A7644501-2038-BDA6-20E7-092A5D756292}"/>
              </a:ext>
            </a:extLst>
          </p:cNvPr>
          <p:cNvSpPr/>
          <p:nvPr/>
        </p:nvSpPr>
        <p:spPr>
          <a:xfrm>
            <a:off x="640080" y="503615"/>
            <a:ext cx="6400800" cy="402336"/>
          </a:xfrm>
          <a:prstGeom prst="rect">
            <a:avLst/>
          </a:prstGeom>
          <a:noFill/>
          <a:ln/>
        </p:spPr>
        <p:txBody>
          <a:bodyPr wrap="square" lIns="0" tIns="0" rIns="0" bIns="0" rtlCol="0" anchor="ctr">
            <a:normAutofit lnSpcReduction="10000"/>
          </a:bodyPr>
          <a:lstStyle/>
          <a:p>
            <a:pPr marL="0" indent="0">
              <a:buNone/>
            </a:pPr>
            <a:r>
              <a:rPr lang="en-US" sz="2700" b="1">
                <a:solidFill>
                  <a:srgbClr val="121D33"/>
                </a:solidFill>
                <a:latin typeface="Arial" pitchFamily="34" charset="0"/>
                <a:ea typeface="Arial" pitchFamily="34" charset="-122"/>
                <a:cs typeface="Arial" pitchFamily="34" charset="-120"/>
              </a:rPr>
              <a:t>V. PHÂN TÍCH VÀ THIẾT KẾ HỆ THỐNG</a:t>
            </a:r>
            <a:endParaRPr lang="en-US" sz="2700" dirty="0"/>
          </a:p>
        </p:txBody>
      </p:sp>
      <p:sp>
        <p:nvSpPr>
          <p:cNvPr id="12" name="Shape 10">
            <a:extLst>
              <a:ext uri="{FF2B5EF4-FFF2-40B4-BE49-F238E27FC236}">
                <a16:creationId xmlns:a16="http://schemas.microsoft.com/office/drawing/2014/main" id="{EAC730F3-B0F1-0F2A-56C0-3973AFFA8E46}"/>
              </a:ext>
            </a:extLst>
          </p:cNvPr>
          <p:cNvSpPr/>
          <p:nvPr/>
        </p:nvSpPr>
        <p:spPr>
          <a:xfrm>
            <a:off x="658368" y="1011143"/>
            <a:ext cx="1920240" cy="0"/>
          </a:xfrm>
          <a:prstGeom prst="line">
            <a:avLst/>
          </a:prstGeom>
          <a:noFill/>
          <a:ln w="25400">
            <a:solidFill>
              <a:srgbClr val="D6A62C"/>
            </a:solidFill>
            <a:prstDash val="solid"/>
          </a:ln>
        </p:spPr>
        <p:txBody>
          <a:bodyPr/>
          <a:lstStyle/>
          <a:p>
            <a:endParaRPr lang="vi-VN"/>
          </a:p>
        </p:txBody>
      </p:sp>
      <p:sp>
        <p:nvSpPr>
          <p:cNvPr id="15" name="Text 14">
            <a:extLst>
              <a:ext uri="{FF2B5EF4-FFF2-40B4-BE49-F238E27FC236}">
                <a16:creationId xmlns:a16="http://schemas.microsoft.com/office/drawing/2014/main" id="{2B14F56F-530A-51F5-A480-71931EA1D001}"/>
              </a:ext>
            </a:extLst>
          </p:cNvPr>
          <p:cNvSpPr/>
          <p:nvPr/>
        </p:nvSpPr>
        <p:spPr>
          <a:xfrm>
            <a:off x="593635" y="1252441"/>
            <a:ext cx="4038449" cy="328781"/>
          </a:xfrm>
          <a:prstGeom prst="rect">
            <a:avLst/>
          </a:prstGeom>
          <a:noFill/>
          <a:ln/>
        </p:spPr>
        <p:txBody>
          <a:bodyPr wrap="square" lIns="1016" tIns="1016" rIns="1016" bIns="1016" rtlCol="0" anchor="ctr">
            <a:normAutofit/>
          </a:bodyPr>
          <a:lstStyle/>
          <a:p>
            <a:pPr marL="0" indent="0" algn="l">
              <a:buNone/>
            </a:pPr>
            <a:r>
              <a:rPr lang="vi-VN" sz="1400" b="1">
                <a:solidFill>
                  <a:srgbClr val="B00020"/>
                </a:solidFill>
                <a:latin typeface="Arial" pitchFamily="34" charset="0"/>
                <a:ea typeface="Arial" pitchFamily="34" charset="-122"/>
                <a:cs typeface="Arial" pitchFamily="34" charset="-120"/>
              </a:rPr>
              <a:t>Thiết kế cơ sở dữ liệu</a:t>
            </a:r>
            <a:endParaRPr lang="en-US" sz="1400" dirty="0"/>
          </a:p>
        </p:txBody>
      </p:sp>
      <p:sp>
        <p:nvSpPr>
          <p:cNvPr id="13" name="Text 15">
            <a:extLst>
              <a:ext uri="{FF2B5EF4-FFF2-40B4-BE49-F238E27FC236}">
                <a16:creationId xmlns:a16="http://schemas.microsoft.com/office/drawing/2014/main" id="{C6D00025-285C-2357-5E40-B775F7A92FF5}"/>
              </a:ext>
            </a:extLst>
          </p:cNvPr>
          <p:cNvSpPr/>
          <p:nvPr/>
        </p:nvSpPr>
        <p:spPr>
          <a:xfrm>
            <a:off x="658368" y="1570044"/>
            <a:ext cx="10817352" cy="990276"/>
          </a:xfrm>
          <a:prstGeom prst="rect">
            <a:avLst/>
          </a:prstGeom>
          <a:noFill/>
          <a:ln/>
        </p:spPr>
        <p:txBody>
          <a:bodyPr wrap="square" lIns="1016" tIns="1016" rIns="1016" bIns="1016" rtlCol="0" anchor="ctr">
            <a:normAutofit/>
          </a:bodyPr>
          <a:lstStyle/>
          <a:p>
            <a:pPr marL="0" indent="0" algn="l">
              <a:buNone/>
            </a:pPr>
            <a:r>
              <a:rPr lang="vi-VN" sz="1400">
                <a:solidFill>
                  <a:srgbClr val="252B33"/>
                </a:solidFill>
                <a:latin typeface="Arial" pitchFamily="34" charset="0"/>
                <a:ea typeface="Arial" pitchFamily="34" charset="-122"/>
                <a:cs typeface="Arial" pitchFamily="34" charset="-120"/>
              </a:rPr>
              <a:t>Sáu lớp thực thể được ánh xạ thành sáu bảng quan hệ: KhachHang_Nhom5, TramTu_Nhom5, LoaiNganTu_Nhom5, NganTu_Nhom5, GiaoDich_Nhom5 và ThanhToan_Nhom5. Lược đồ sử dụng khóa chính/khóa ngoại để duy trì các liên kết 1-N, đồng thời bảo đảm các ràng buộc toàn vẹn cần thiết cho cấp ngăn, theo dõi giao dịch và thanh toán.</a:t>
            </a:r>
          </a:p>
        </p:txBody>
      </p:sp>
      <p:pic>
        <p:nvPicPr>
          <p:cNvPr id="11" name="Picture 3">
            <a:extLst>
              <a:ext uri="{FF2B5EF4-FFF2-40B4-BE49-F238E27FC236}">
                <a16:creationId xmlns:a16="http://schemas.microsoft.com/office/drawing/2014/main" id="{A279531A-9823-393F-D9AA-99BBAB698E76}"/>
              </a:ext>
            </a:extLst>
          </p:cNvPr>
          <p:cNvPicPr>
            <a:picLocks noChangeAspect="1"/>
          </p:cNvPicPr>
          <p:nvPr/>
        </p:nvPicPr>
        <p:blipFill>
          <a:blip r:embed="rId3"/>
          <a:stretch>
            <a:fillRect/>
          </a:stretch>
        </p:blipFill>
        <p:spPr>
          <a:xfrm>
            <a:off x="481288" y="2560320"/>
            <a:ext cx="5579745" cy="3820795"/>
          </a:xfrm>
          <a:prstGeom prst="rect">
            <a:avLst/>
          </a:prstGeom>
        </p:spPr>
      </p:pic>
      <p:graphicFrame>
        <p:nvGraphicFramePr>
          <p:cNvPr id="14" name="Bảng 13">
            <a:extLst>
              <a:ext uri="{FF2B5EF4-FFF2-40B4-BE49-F238E27FC236}">
                <a16:creationId xmlns:a16="http://schemas.microsoft.com/office/drawing/2014/main" id="{476C1FF9-5454-7C6F-CB4D-68969108A1B0}"/>
              </a:ext>
            </a:extLst>
          </p:cNvPr>
          <p:cNvGraphicFramePr>
            <a:graphicFrameLocks noGrp="1"/>
          </p:cNvGraphicFramePr>
          <p:nvPr>
            <p:extLst>
              <p:ext uri="{D42A27DB-BD31-4B8C-83A1-F6EECF244321}">
                <p14:modId xmlns:p14="http://schemas.microsoft.com/office/powerpoint/2010/main" val="2958080514"/>
              </p:ext>
            </p:extLst>
          </p:nvPr>
        </p:nvGraphicFramePr>
        <p:xfrm>
          <a:off x="6470760" y="2560320"/>
          <a:ext cx="5204170" cy="3820795"/>
        </p:xfrm>
        <a:graphic>
          <a:graphicData uri="http://schemas.openxmlformats.org/drawingml/2006/table">
            <a:tbl>
              <a:tblPr firstRow="1" firstCol="1" bandRow="1"/>
              <a:tblGrid>
                <a:gridCol w="1670502">
                  <a:extLst>
                    <a:ext uri="{9D8B030D-6E8A-4147-A177-3AD203B41FA5}">
                      <a16:colId xmlns:a16="http://schemas.microsoft.com/office/drawing/2014/main" val="3148558745"/>
                    </a:ext>
                  </a:extLst>
                </a:gridCol>
                <a:gridCol w="3533668">
                  <a:extLst>
                    <a:ext uri="{9D8B030D-6E8A-4147-A177-3AD203B41FA5}">
                      <a16:colId xmlns:a16="http://schemas.microsoft.com/office/drawing/2014/main" val="1546592211"/>
                    </a:ext>
                  </a:extLst>
                </a:gridCol>
              </a:tblGrid>
              <a:tr h="436803">
                <a:tc>
                  <a:txBody>
                    <a:bodyPr/>
                    <a:lstStyle/>
                    <a:p>
                      <a:pPr>
                        <a:lnSpc>
                          <a:spcPct val="102000"/>
                        </a:lnSpc>
                        <a:spcAft>
                          <a:spcPts val="12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Bảng dữ liệu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D9EAF7"/>
                    </a:solidFill>
                  </a:tcPr>
                </a:tc>
                <a:tc>
                  <a:txBody>
                    <a:bodyPr/>
                    <a:lstStyle/>
                    <a:p>
                      <a:pPr>
                        <a:lnSpc>
                          <a:spcPct val="102000"/>
                        </a:lnSpc>
                        <a:spcAft>
                          <a:spcPts val="12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Nội dung quản lý chính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rgbClr val="D9EAF7"/>
                    </a:solidFill>
                  </a:tcPr>
                </a:tc>
                <a:extLst>
                  <a:ext uri="{0D108BD9-81ED-4DB2-BD59-A6C34878D82A}">
                    <a16:rowId xmlns:a16="http://schemas.microsoft.com/office/drawing/2014/main" val="676011679"/>
                  </a:ext>
                </a:extLst>
              </a:tr>
              <a:tr h="536075">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KhachHang_Nhom5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Tài khoản, số điện thoại, email, mật khẩu và loại tài khoản.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1600172060"/>
                  </a:ext>
                </a:extLst>
              </a:tr>
              <a:tr h="436803">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TramTu_Nhom5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Mã trạm, tên trạm, địa chỉ và trạng thái vận hành.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3058994537"/>
                  </a:ext>
                </a:extLst>
              </a:tr>
              <a:tr h="436803">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LoaiNganTu_Nhom5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Kích thước ngăn, phí dịch vụ và phí lưu bãi quá hạn.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2947021422"/>
                  </a:ext>
                </a:extLst>
              </a:tr>
              <a:tr h="436803">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NganTu_Nhom5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Mã ngăn, trạm, loại kích thước và trạng thái ngăn.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2677754452"/>
                  </a:ext>
                </a:extLst>
              </a:tr>
              <a:tr h="768754">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GiaoDich_Nhom5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Loại giao dịch, người nhận, OTP/QR, hạn dùng, thời gian gửi/nhận, COD, tổng tiền và trạng thái.</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2289768151"/>
                  </a:ext>
                </a:extLst>
              </a:tr>
              <a:tr h="768754">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ThanhToan_Nhom5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tc>
                  <a:txBody>
                    <a:bodyPr/>
                    <a:lstStyle/>
                    <a:p>
                      <a:pPr>
                        <a:lnSpc>
                          <a:spcPct val="102000"/>
                        </a:lnSpc>
                        <a:spcAft>
                          <a:spcPts val="12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Giao dịch liên quan, số tiền, phương thức, trạng thái và thời gian thanh toán.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34925" marB="34925" anchor="ctr">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1905896496"/>
                  </a:ext>
                </a:extLst>
              </a:tr>
            </a:tbl>
          </a:graphicData>
        </a:graphic>
      </p:graphicFrame>
    </p:spTree>
    <p:extLst>
      <p:ext uri="{BB962C8B-B14F-4D97-AF65-F5344CB8AC3E}">
        <p14:creationId xmlns:p14="http://schemas.microsoft.com/office/powerpoint/2010/main" val="41158117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58B3B891-DC6B-81C9-37DB-2F9F9D3EE6D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63FA176-1B77-2908-B01A-195B3F3AF5AA}"/>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83D17876-40E9-F7A6-B92E-D73BB48465D9}"/>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A72F9051-E719-8AAE-509C-250B8826D582}"/>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362037D2-61A0-0F2D-2B12-F2698993A2CC}"/>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9" name="Text 7">
            <a:extLst>
              <a:ext uri="{FF2B5EF4-FFF2-40B4-BE49-F238E27FC236}">
                <a16:creationId xmlns:a16="http://schemas.microsoft.com/office/drawing/2014/main" id="{46994CE0-F791-D7DD-BD10-29D359CB6AA8}"/>
              </a:ext>
            </a:extLst>
          </p:cNvPr>
          <p:cNvSpPr/>
          <p:nvPr/>
        </p:nvSpPr>
        <p:spPr>
          <a:xfrm>
            <a:off x="11274552" y="6446520"/>
            <a:ext cx="457200" cy="201168"/>
          </a:xfrm>
          <a:prstGeom prst="rect">
            <a:avLst/>
          </a:prstGeom>
          <a:noFill/>
          <a:ln/>
        </p:spPr>
        <p:txBody>
          <a:bodyPr wrap="square" lIns="0" tIns="0" rIns="0" bIns="0" rtlCol="0" anchor="ctr">
            <a:normAutofit/>
          </a:bodyPr>
          <a:lstStyle/>
          <a:p>
            <a:pPr marL="0" indent="0" algn="r">
              <a:buNone/>
            </a:pPr>
            <a:r>
              <a:rPr lang="en-US" sz="850" b="1" dirty="0">
                <a:solidFill>
                  <a:srgbClr val="B00020"/>
                </a:solidFill>
                <a:latin typeface="Arial" pitchFamily="34" charset="0"/>
                <a:ea typeface="Arial" pitchFamily="34" charset="-122"/>
                <a:cs typeface="Arial" pitchFamily="34" charset="-120"/>
              </a:rPr>
              <a:t>04</a:t>
            </a:r>
            <a:endParaRPr lang="en-US" sz="850" dirty="0"/>
          </a:p>
        </p:txBody>
      </p:sp>
      <p:sp>
        <p:nvSpPr>
          <p:cNvPr id="10" name="Text 8">
            <a:extLst>
              <a:ext uri="{FF2B5EF4-FFF2-40B4-BE49-F238E27FC236}">
                <a16:creationId xmlns:a16="http://schemas.microsoft.com/office/drawing/2014/main" id="{45A64E39-4B02-63F3-2F70-64213524A3E9}"/>
              </a:ext>
            </a:extLst>
          </p:cNvPr>
          <p:cNvSpPr/>
          <p:nvPr/>
        </p:nvSpPr>
        <p:spPr>
          <a:xfrm>
            <a:off x="640079" y="503615"/>
            <a:ext cx="7108485" cy="402336"/>
          </a:xfrm>
          <a:prstGeom prst="rect">
            <a:avLst/>
          </a:prstGeom>
          <a:noFill/>
          <a:ln/>
        </p:spPr>
        <p:txBody>
          <a:bodyPr wrap="square" lIns="0" tIns="0" rIns="0" bIns="0" rtlCol="0" anchor="ctr">
            <a:normAutofit lnSpcReduction="10000"/>
          </a:bodyPr>
          <a:lstStyle/>
          <a:p>
            <a:pPr marL="0" indent="0">
              <a:buNone/>
            </a:pPr>
            <a:r>
              <a:rPr lang="vi-VN" sz="2700" b="1">
                <a:solidFill>
                  <a:srgbClr val="121D33"/>
                </a:solidFill>
                <a:latin typeface="Arial" pitchFamily="34" charset="0"/>
                <a:ea typeface="Arial" pitchFamily="34" charset="-122"/>
                <a:cs typeface="Arial" pitchFamily="34" charset="-120"/>
              </a:rPr>
              <a:t>VI. Kết quả thực hiện dự án &amp; Kết luận</a:t>
            </a:r>
          </a:p>
        </p:txBody>
      </p:sp>
      <p:sp>
        <p:nvSpPr>
          <p:cNvPr id="12" name="Shape 10">
            <a:extLst>
              <a:ext uri="{FF2B5EF4-FFF2-40B4-BE49-F238E27FC236}">
                <a16:creationId xmlns:a16="http://schemas.microsoft.com/office/drawing/2014/main" id="{86818551-4799-1765-BB2E-1BE12F144131}"/>
              </a:ext>
            </a:extLst>
          </p:cNvPr>
          <p:cNvSpPr/>
          <p:nvPr/>
        </p:nvSpPr>
        <p:spPr>
          <a:xfrm>
            <a:off x="658367" y="940803"/>
            <a:ext cx="6240663" cy="0"/>
          </a:xfrm>
          <a:prstGeom prst="line">
            <a:avLst/>
          </a:prstGeom>
          <a:noFill/>
          <a:ln w="25400">
            <a:solidFill>
              <a:srgbClr val="D6A62C"/>
            </a:solidFill>
            <a:prstDash val="solid"/>
          </a:ln>
        </p:spPr>
        <p:txBody>
          <a:bodyPr/>
          <a:lstStyle/>
          <a:p>
            <a:endParaRPr lang="vi-VN"/>
          </a:p>
        </p:txBody>
      </p:sp>
      <p:graphicFrame>
        <p:nvGraphicFramePr>
          <p:cNvPr id="11" name="Bảng 10">
            <a:extLst>
              <a:ext uri="{FF2B5EF4-FFF2-40B4-BE49-F238E27FC236}">
                <a16:creationId xmlns:a16="http://schemas.microsoft.com/office/drawing/2014/main" id="{6B24BF85-BC57-ED01-C92C-891AABBC24A4}"/>
              </a:ext>
            </a:extLst>
          </p:cNvPr>
          <p:cNvGraphicFramePr>
            <a:graphicFrameLocks noGrp="1"/>
          </p:cNvGraphicFramePr>
          <p:nvPr>
            <p:extLst>
              <p:ext uri="{D42A27DB-BD31-4B8C-83A1-F6EECF244321}">
                <p14:modId xmlns:p14="http://schemas.microsoft.com/office/powerpoint/2010/main" val="3880730062"/>
              </p:ext>
            </p:extLst>
          </p:nvPr>
        </p:nvGraphicFramePr>
        <p:xfrm>
          <a:off x="892629" y="1117831"/>
          <a:ext cx="10668000" cy="5535404"/>
        </p:xfrm>
        <a:graphic>
          <a:graphicData uri="http://schemas.openxmlformats.org/drawingml/2006/table">
            <a:tbl>
              <a:tblPr firstRow="1" firstCol="1" bandRow="1"/>
              <a:tblGrid>
                <a:gridCol w="745125">
                  <a:extLst>
                    <a:ext uri="{9D8B030D-6E8A-4147-A177-3AD203B41FA5}">
                      <a16:colId xmlns:a16="http://schemas.microsoft.com/office/drawing/2014/main" val="1936897407"/>
                    </a:ext>
                  </a:extLst>
                </a:gridCol>
                <a:gridCol w="2048875">
                  <a:extLst>
                    <a:ext uri="{9D8B030D-6E8A-4147-A177-3AD203B41FA5}">
                      <a16:colId xmlns:a16="http://schemas.microsoft.com/office/drawing/2014/main" val="4031319412"/>
                    </a:ext>
                  </a:extLst>
                </a:gridCol>
                <a:gridCol w="1908628">
                  <a:extLst>
                    <a:ext uri="{9D8B030D-6E8A-4147-A177-3AD203B41FA5}">
                      <a16:colId xmlns:a16="http://schemas.microsoft.com/office/drawing/2014/main" val="3317152575"/>
                    </a:ext>
                  </a:extLst>
                </a:gridCol>
                <a:gridCol w="1182914">
                  <a:extLst>
                    <a:ext uri="{9D8B030D-6E8A-4147-A177-3AD203B41FA5}">
                      <a16:colId xmlns:a16="http://schemas.microsoft.com/office/drawing/2014/main" val="1507913860"/>
                    </a:ext>
                  </a:extLst>
                </a:gridCol>
                <a:gridCol w="1219200">
                  <a:extLst>
                    <a:ext uri="{9D8B030D-6E8A-4147-A177-3AD203B41FA5}">
                      <a16:colId xmlns:a16="http://schemas.microsoft.com/office/drawing/2014/main" val="1229148763"/>
                    </a:ext>
                  </a:extLst>
                </a:gridCol>
                <a:gridCol w="3563258">
                  <a:extLst>
                    <a:ext uri="{9D8B030D-6E8A-4147-A177-3AD203B41FA5}">
                      <a16:colId xmlns:a16="http://schemas.microsoft.com/office/drawing/2014/main" val="1038370320"/>
                    </a:ext>
                  </a:extLst>
                </a:gridCol>
              </a:tblGrid>
              <a:tr h="307689">
                <a:tc>
                  <a:txBody>
                    <a:bodyPr/>
                    <a:lstStyle/>
                    <a:p>
                      <a:pPr algn="ctr">
                        <a:lnSpc>
                          <a:spcPct val="150000"/>
                        </a:lnSpc>
                        <a:spcAft>
                          <a:spcPts val="10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50000"/>
                        </a:lnSpc>
                        <a:spcAft>
                          <a:spcPts val="10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Công việc</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50000"/>
                        </a:lnSpc>
                        <a:spcAft>
                          <a:spcPts val="10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Phụ trách chính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50000"/>
                        </a:lnSpc>
                        <a:spcAft>
                          <a:spcPts val="10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Trạng thái</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50000"/>
                        </a:lnSpc>
                        <a:spcAft>
                          <a:spcPts val="10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Tiến độ</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50000"/>
                        </a:lnSpc>
                        <a:spcAft>
                          <a:spcPts val="10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Kết quả/Ghi chú</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extLst>
                  <a:ext uri="{0D108BD9-81ED-4DB2-BD59-A6C34878D82A}">
                    <a16:rowId xmlns:a16="http://schemas.microsoft.com/office/drawing/2014/main" val="1870018048"/>
                  </a:ext>
                </a:extLst>
              </a:tr>
              <a:tr h="382430">
                <a:tc>
                  <a:txBody>
                    <a:bodyPr/>
                    <a:lstStyle/>
                    <a:p>
                      <a:pPr algn="ct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Báo cáo khảo sát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Nguyễn Trọng Hiếu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Hoàn thành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Đã hoàn thiện khảo sát hiện trạng, AS-IS/TO-BE và tổng hợp kết quả.</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3896093"/>
                  </a:ext>
                </a:extLst>
              </a:tr>
              <a:tr h="382430">
                <a:tc>
                  <a:txBody>
                    <a:bodyPr/>
                    <a:lstStyle/>
                    <a:p>
                      <a:pPr algn="ct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Phân tích và thiết kế hệ thống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Nguyễn Trọng Hiếu (chủ trì); cả nhóm hỗ trợ</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Hoàn thành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Đã chốt actor/use case, luồng nghiệp vụ, mô hình lớp và thiết kế CSDL.</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6907397"/>
                  </a:ext>
                </a:extLst>
              </a:tr>
              <a:tr h="382430">
                <a:tc>
                  <a:txBody>
                    <a:bodyPr/>
                    <a:lstStyle/>
                    <a:p>
                      <a:pPr algn="ct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3</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Kế hoạch tổng quan &amp; tổ chức quản trị</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Hoàng Đàm Khánh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Hoàn thành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Đã xác định mục tiêu, stakeholder, nguyên tắc điều hành và cơ chế Gate.</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1328736"/>
                  </a:ext>
                </a:extLst>
              </a:tr>
              <a:tr h="382430">
                <a:tc>
                  <a:txBody>
                    <a:bodyPr/>
                    <a:lstStyle/>
                    <a:p>
                      <a:pPr algn="ct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4</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Kế hoạch vòng đời &amp; triển khai dự án CNTT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Nguyễn Trọng Hiếu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Hoàn thành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Đã xác định 6 giai đoạn và điều kiện chuyển giai đoạn.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4160818"/>
                  </a:ext>
                </a:extLst>
              </a:tr>
              <a:tr h="382430">
                <a:tc>
                  <a:txBody>
                    <a:bodyPr/>
                    <a:lstStyle/>
                    <a:p>
                      <a:pPr algn="ct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Kế hoạch quản lý phạm vi</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Nguyễn Hồng Dương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Hoàn thành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Đã chốt IN/OUT, deliverable, WBS và nguyên tắc kiểm soát thay đổi.</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3691709"/>
                  </a:ext>
                </a:extLst>
              </a:tr>
              <a:tr h="581644">
                <a:tc>
                  <a:txBody>
                    <a:bodyPr/>
                    <a:lstStyle/>
                    <a:p>
                      <a:pPr algn="ct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6</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Kế hoạch quản lý thời gian &amp; PERT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Nguyễn Hồng Dương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Hoàn thành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Đã xác định các công việc/giai đoạn chính, số ngày dự kiến, trình tự thực hiện, quan hệ phụ thuộc và đường găng. </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02413825"/>
                  </a:ext>
                </a:extLst>
              </a:tr>
              <a:tr h="382430">
                <a:tc>
                  <a:txBody>
                    <a:bodyPr/>
                    <a:lstStyle/>
                    <a:p>
                      <a:pPr algn="ct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7</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Kế hoạch quản lý chi phí</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Phạm Đức Anh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Hoàn thành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Đã xác định tổng ngân sách và phân bổ chi phí theo các giai đoạn/nhóm công việc. </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52898"/>
                  </a:ext>
                </a:extLst>
              </a:tr>
              <a:tr h="382430">
                <a:tc>
                  <a:txBody>
                    <a:bodyPr/>
                    <a:lstStyle/>
                    <a:p>
                      <a:pPr algn="ct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8</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Kế hoạch quản lý chất lượng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Nguyễn Trọng Hiếu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Hoàn thành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Đã xác định metric, QA, QC, kiểm thử 4 mức và tiêu chí nghiệm thu.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66371491"/>
                  </a:ext>
                </a:extLst>
              </a:tr>
              <a:tr h="382430">
                <a:tc>
                  <a:txBody>
                    <a:bodyPr/>
                    <a:lstStyle/>
                    <a:p>
                      <a:pPr algn="ct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9</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Kế hoạch quản lý nguồn nhân lực</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Hoàng Đàm Khánh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Hoàn thành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Đã phân vai trò, RACI, workload và nguyên tắc phối hợp/xử lý quá tải.</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7025030"/>
                  </a:ext>
                </a:extLst>
              </a:tr>
              <a:tr h="382430">
                <a:tc>
                  <a:txBody>
                    <a:bodyPr/>
                    <a:lstStyle/>
                    <a:p>
                      <a:pPr algn="ct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Kế hoạch quản lý rủi ro</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Phạm Đức Anh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Hoàn thành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Đã lập Risk Register, P/I/E, trigger, ứng phó và residual risk mục tiêu.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5245175"/>
                  </a:ext>
                </a:extLst>
              </a:tr>
              <a:tr h="980073">
                <a:tc>
                  <a:txBody>
                    <a:bodyPr/>
                    <a:lstStyle/>
                    <a:p>
                      <a:pPr algn="ct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11</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Hoàn thiện Tôn chỉ dự án &amp; WBS (file Excel)</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Cả nhóm</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Hoàn thành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Đã hoàn thành Tôn chỉ dự án, xác định mục tiêu, phạm vi, thời gian, ngân sách, vai trò và 19 gói công việc WBS chính. Các gói đã có mô tả, ước lượng thời gian và người phụ trách.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7354" marR="27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2755907"/>
                  </a:ext>
                </a:extLst>
              </a:tr>
            </a:tbl>
          </a:graphicData>
        </a:graphic>
      </p:graphicFrame>
    </p:spTree>
    <p:extLst>
      <p:ext uri="{BB962C8B-B14F-4D97-AF65-F5344CB8AC3E}">
        <p14:creationId xmlns:p14="http://schemas.microsoft.com/office/powerpoint/2010/main" val="35039771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a:extLst>
            <a:ext uri="{FF2B5EF4-FFF2-40B4-BE49-F238E27FC236}">
              <a16:creationId xmlns:a16="http://schemas.microsoft.com/office/drawing/2014/main" id="{E0D329DB-C375-A7CD-9BE8-399903A2720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A3FCBE-B196-BC19-1910-2D8CC31C7AD8}"/>
              </a:ext>
            </a:extLst>
          </p:cNvPr>
          <p:cNvSpPr/>
          <p:nvPr/>
        </p:nvSpPr>
        <p:spPr>
          <a:xfrm>
            <a:off x="0" y="0"/>
            <a:ext cx="12191695" cy="146304"/>
          </a:xfrm>
          <a:prstGeom prst="rect">
            <a:avLst/>
          </a:prstGeom>
          <a:solidFill>
            <a:srgbClr val="B00020"/>
          </a:solidFill>
          <a:ln w="12700">
            <a:solidFill>
              <a:srgbClr val="B00020"/>
            </a:solidFill>
            <a:prstDash val="solid"/>
          </a:ln>
        </p:spPr>
        <p:txBody>
          <a:bodyPr/>
          <a:lstStyle/>
          <a:p>
            <a:endParaRPr lang="vi-VN"/>
          </a:p>
        </p:txBody>
      </p:sp>
      <p:sp>
        <p:nvSpPr>
          <p:cNvPr id="3" name="Shape 1">
            <a:extLst>
              <a:ext uri="{FF2B5EF4-FFF2-40B4-BE49-F238E27FC236}">
                <a16:creationId xmlns:a16="http://schemas.microsoft.com/office/drawing/2014/main" id="{BB89345C-DFDC-3967-9524-6025B03B4178}"/>
              </a:ext>
            </a:extLst>
          </p:cNvPr>
          <p:cNvSpPr/>
          <p:nvPr/>
        </p:nvSpPr>
        <p:spPr>
          <a:xfrm>
            <a:off x="0" y="146304"/>
            <a:ext cx="12191695" cy="36576"/>
          </a:xfrm>
          <a:prstGeom prst="rect">
            <a:avLst/>
          </a:prstGeom>
          <a:solidFill>
            <a:srgbClr val="D6A62C"/>
          </a:solidFill>
          <a:ln w="12700">
            <a:solidFill>
              <a:srgbClr val="D6A62C"/>
            </a:solidFill>
            <a:prstDash val="solid"/>
          </a:ln>
        </p:spPr>
        <p:txBody>
          <a:bodyPr/>
          <a:lstStyle/>
          <a:p>
            <a:endParaRPr lang="vi-VN"/>
          </a:p>
        </p:txBody>
      </p:sp>
      <p:sp>
        <p:nvSpPr>
          <p:cNvPr id="4" name="Shape 2">
            <a:extLst>
              <a:ext uri="{FF2B5EF4-FFF2-40B4-BE49-F238E27FC236}">
                <a16:creationId xmlns:a16="http://schemas.microsoft.com/office/drawing/2014/main" id="{9FFCFCF7-7723-F10E-8976-9F9E62F11B16}"/>
              </a:ext>
            </a:extLst>
          </p:cNvPr>
          <p:cNvSpPr/>
          <p:nvPr/>
        </p:nvSpPr>
        <p:spPr>
          <a:xfrm>
            <a:off x="9235440" y="320040"/>
            <a:ext cx="2240280" cy="2240280"/>
          </a:xfrm>
          <a:prstGeom prst="arc">
            <a:avLst/>
          </a:prstGeom>
          <a:solidFill>
            <a:srgbClr val="F8F5EF">
              <a:alpha val="0"/>
            </a:srgbClr>
          </a:solidFill>
          <a:ln w="12700">
            <a:solidFill>
              <a:srgbClr val="F6E4B7">
                <a:alpha val="70000"/>
              </a:srgbClr>
            </a:solidFill>
            <a:prstDash val="solid"/>
          </a:ln>
        </p:spPr>
        <p:txBody>
          <a:bodyPr/>
          <a:lstStyle/>
          <a:p>
            <a:endParaRPr lang="vi-VN"/>
          </a:p>
        </p:txBody>
      </p:sp>
      <p:sp>
        <p:nvSpPr>
          <p:cNvPr id="5" name="Shape 3">
            <a:extLst>
              <a:ext uri="{FF2B5EF4-FFF2-40B4-BE49-F238E27FC236}">
                <a16:creationId xmlns:a16="http://schemas.microsoft.com/office/drawing/2014/main" id="{45B3FE8F-3AA5-B97B-654B-B257225DE4A1}"/>
              </a:ext>
            </a:extLst>
          </p:cNvPr>
          <p:cNvSpPr/>
          <p:nvPr/>
        </p:nvSpPr>
        <p:spPr>
          <a:xfrm>
            <a:off x="9528048" y="612648"/>
            <a:ext cx="1664208" cy="1664208"/>
          </a:xfrm>
          <a:prstGeom prst="arc">
            <a:avLst/>
          </a:prstGeom>
          <a:solidFill>
            <a:srgbClr val="F8F5EF">
              <a:alpha val="0"/>
            </a:srgbClr>
          </a:solidFill>
          <a:ln w="10160">
            <a:solidFill>
              <a:srgbClr val="B00020">
                <a:alpha val="15000"/>
              </a:srgbClr>
            </a:solidFill>
            <a:prstDash val="solid"/>
          </a:ln>
        </p:spPr>
        <p:txBody>
          <a:bodyPr/>
          <a:lstStyle/>
          <a:p>
            <a:endParaRPr lang="vi-VN"/>
          </a:p>
        </p:txBody>
      </p:sp>
      <p:sp>
        <p:nvSpPr>
          <p:cNvPr id="9" name="Text 7">
            <a:extLst>
              <a:ext uri="{FF2B5EF4-FFF2-40B4-BE49-F238E27FC236}">
                <a16:creationId xmlns:a16="http://schemas.microsoft.com/office/drawing/2014/main" id="{0E31EB47-3B86-A7BB-A238-E4190DDD177E}"/>
              </a:ext>
            </a:extLst>
          </p:cNvPr>
          <p:cNvSpPr/>
          <p:nvPr/>
        </p:nvSpPr>
        <p:spPr>
          <a:xfrm>
            <a:off x="11274552" y="6446520"/>
            <a:ext cx="457200" cy="201168"/>
          </a:xfrm>
          <a:prstGeom prst="rect">
            <a:avLst/>
          </a:prstGeom>
          <a:noFill/>
          <a:ln/>
        </p:spPr>
        <p:txBody>
          <a:bodyPr wrap="square" lIns="0" tIns="0" rIns="0" bIns="0" rtlCol="0" anchor="ctr">
            <a:normAutofit/>
          </a:bodyPr>
          <a:lstStyle/>
          <a:p>
            <a:pPr marL="0" indent="0" algn="r">
              <a:buNone/>
            </a:pPr>
            <a:r>
              <a:rPr lang="en-US" sz="850" b="1" dirty="0">
                <a:solidFill>
                  <a:srgbClr val="B00020"/>
                </a:solidFill>
                <a:latin typeface="Arial" pitchFamily="34" charset="0"/>
                <a:ea typeface="Arial" pitchFamily="34" charset="-122"/>
                <a:cs typeface="Arial" pitchFamily="34" charset="-120"/>
              </a:rPr>
              <a:t>04</a:t>
            </a:r>
            <a:endParaRPr lang="en-US" sz="850" dirty="0"/>
          </a:p>
        </p:txBody>
      </p:sp>
      <p:sp>
        <p:nvSpPr>
          <p:cNvPr id="10" name="Text 8">
            <a:extLst>
              <a:ext uri="{FF2B5EF4-FFF2-40B4-BE49-F238E27FC236}">
                <a16:creationId xmlns:a16="http://schemas.microsoft.com/office/drawing/2014/main" id="{74EE056C-31CA-0E05-79D8-386EBFB6DEB4}"/>
              </a:ext>
            </a:extLst>
          </p:cNvPr>
          <p:cNvSpPr/>
          <p:nvPr/>
        </p:nvSpPr>
        <p:spPr>
          <a:xfrm>
            <a:off x="640079" y="503615"/>
            <a:ext cx="7108485" cy="402336"/>
          </a:xfrm>
          <a:prstGeom prst="rect">
            <a:avLst/>
          </a:prstGeom>
          <a:noFill/>
          <a:ln/>
        </p:spPr>
        <p:txBody>
          <a:bodyPr wrap="square" lIns="0" tIns="0" rIns="0" bIns="0" rtlCol="0" anchor="ctr">
            <a:normAutofit lnSpcReduction="10000"/>
          </a:bodyPr>
          <a:lstStyle/>
          <a:p>
            <a:pPr marL="0" indent="0">
              <a:buNone/>
            </a:pPr>
            <a:r>
              <a:rPr lang="vi-VN" sz="2700" b="1">
                <a:solidFill>
                  <a:srgbClr val="121D33"/>
                </a:solidFill>
                <a:latin typeface="Arial" pitchFamily="34" charset="0"/>
                <a:ea typeface="Arial" pitchFamily="34" charset="-122"/>
                <a:cs typeface="Arial" pitchFamily="34" charset="-120"/>
              </a:rPr>
              <a:t>VI. Kết quả thực hiện dư án &amp; Kết luận</a:t>
            </a:r>
          </a:p>
        </p:txBody>
      </p:sp>
      <p:sp>
        <p:nvSpPr>
          <p:cNvPr id="12" name="Shape 10">
            <a:extLst>
              <a:ext uri="{FF2B5EF4-FFF2-40B4-BE49-F238E27FC236}">
                <a16:creationId xmlns:a16="http://schemas.microsoft.com/office/drawing/2014/main" id="{20DC251C-7E72-9CCC-F1F8-B12CE8579429}"/>
              </a:ext>
            </a:extLst>
          </p:cNvPr>
          <p:cNvSpPr/>
          <p:nvPr/>
        </p:nvSpPr>
        <p:spPr>
          <a:xfrm>
            <a:off x="658368" y="1011143"/>
            <a:ext cx="6223078" cy="0"/>
          </a:xfrm>
          <a:prstGeom prst="line">
            <a:avLst/>
          </a:prstGeom>
          <a:noFill/>
          <a:ln w="25400">
            <a:solidFill>
              <a:srgbClr val="D6A62C"/>
            </a:solidFill>
            <a:prstDash val="solid"/>
          </a:ln>
        </p:spPr>
        <p:txBody>
          <a:bodyPr/>
          <a:lstStyle/>
          <a:p>
            <a:endParaRPr lang="vi-VN"/>
          </a:p>
        </p:txBody>
      </p:sp>
      <p:graphicFrame>
        <p:nvGraphicFramePr>
          <p:cNvPr id="6" name="Bảng 5">
            <a:extLst>
              <a:ext uri="{FF2B5EF4-FFF2-40B4-BE49-F238E27FC236}">
                <a16:creationId xmlns:a16="http://schemas.microsoft.com/office/drawing/2014/main" id="{AD3B2DCF-9E76-C7A5-A4A4-50084B311884}"/>
              </a:ext>
            </a:extLst>
          </p:cNvPr>
          <p:cNvGraphicFramePr>
            <a:graphicFrameLocks noGrp="1"/>
          </p:cNvGraphicFramePr>
          <p:nvPr>
            <p:extLst>
              <p:ext uri="{D42A27DB-BD31-4B8C-83A1-F6EECF244321}">
                <p14:modId xmlns:p14="http://schemas.microsoft.com/office/powerpoint/2010/main" val="4201564004"/>
              </p:ext>
            </p:extLst>
          </p:nvPr>
        </p:nvGraphicFramePr>
        <p:xfrm>
          <a:off x="1226457" y="1226687"/>
          <a:ext cx="10048095" cy="5219834"/>
        </p:xfrm>
        <a:graphic>
          <a:graphicData uri="http://schemas.openxmlformats.org/drawingml/2006/table">
            <a:tbl>
              <a:tblPr firstRow="1" firstCol="1" bandRow="1"/>
              <a:tblGrid>
                <a:gridCol w="701827">
                  <a:extLst>
                    <a:ext uri="{9D8B030D-6E8A-4147-A177-3AD203B41FA5}">
                      <a16:colId xmlns:a16="http://schemas.microsoft.com/office/drawing/2014/main" val="3730268911"/>
                    </a:ext>
                  </a:extLst>
                </a:gridCol>
                <a:gridCol w="1918002">
                  <a:extLst>
                    <a:ext uri="{9D8B030D-6E8A-4147-A177-3AD203B41FA5}">
                      <a16:colId xmlns:a16="http://schemas.microsoft.com/office/drawing/2014/main" val="2363194598"/>
                    </a:ext>
                  </a:extLst>
                </a:gridCol>
                <a:gridCol w="1981200">
                  <a:extLst>
                    <a:ext uri="{9D8B030D-6E8A-4147-A177-3AD203B41FA5}">
                      <a16:colId xmlns:a16="http://schemas.microsoft.com/office/drawing/2014/main" val="3346461941"/>
                    </a:ext>
                  </a:extLst>
                </a:gridCol>
                <a:gridCol w="1335314">
                  <a:extLst>
                    <a:ext uri="{9D8B030D-6E8A-4147-A177-3AD203B41FA5}">
                      <a16:colId xmlns:a16="http://schemas.microsoft.com/office/drawing/2014/main" val="2683643005"/>
                    </a:ext>
                  </a:extLst>
                </a:gridCol>
                <a:gridCol w="1095829">
                  <a:extLst>
                    <a:ext uri="{9D8B030D-6E8A-4147-A177-3AD203B41FA5}">
                      <a16:colId xmlns:a16="http://schemas.microsoft.com/office/drawing/2014/main" val="923765539"/>
                    </a:ext>
                  </a:extLst>
                </a:gridCol>
                <a:gridCol w="3015923">
                  <a:extLst>
                    <a:ext uri="{9D8B030D-6E8A-4147-A177-3AD203B41FA5}">
                      <a16:colId xmlns:a16="http://schemas.microsoft.com/office/drawing/2014/main" val="268434904"/>
                    </a:ext>
                  </a:extLst>
                </a:gridCol>
              </a:tblGrid>
              <a:tr h="570777">
                <a:tc>
                  <a:txBody>
                    <a:bodyPr/>
                    <a:lstStyle/>
                    <a:p>
                      <a:pPr algn="ctr">
                        <a:lnSpc>
                          <a:spcPct val="150000"/>
                        </a:lnSpc>
                        <a:spcAft>
                          <a:spcPts val="10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50000"/>
                        </a:lnSpc>
                        <a:spcAft>
                          <a:spcPts val="10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Công việc</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50000"/>
                        </a:lnSpc>
                        <a:spcAft>
                          <a:spcPts val="10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Phụ trách chính</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50000"/>
                        </a:lnSpc>
                        <a:spcAft>
                          <a:spcPts val="10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Trạng thái</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50000"/>
                        </a:lnSpc>
                        <a:spcAft>
                          <a:spcPts val="10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Tiến độ</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algn="ctr">
                        <a:lnSpc>
                          <a:spcPct val="150000"/>
                        </a:lnSpc>
                        <a:spcAft>
                          <a:spcPts val="1000"/>
                        </a:spcAft>
                        <a:buNone/>
                      </a:pPr>
                      <a:r>
                        <a:rPr lang="en-US"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Kết quả/Ghi chú</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extLst>
                  <a:ext uri="{0D108BD9-81ED-4DB2-BD59-A6C34878D82A}">
                    <a16:rowId xmlns:a16="http://schemas.microsoft.com/office/drawing/2014/main" val="401633839"/>
                  </a:ext>
                </a:extLst>
              </a:tr>
              <a:tr h="1659112">
                <a:tc>
                  <a:txBody>
                    <a:bodyPr/>
                    <a:lstStyle/>
                    <a:p>
                      <a:pPr algn="ct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12</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Hoàn thiện bảng Kế hoạch thời gian &amp; Dự toán kinh phí (file Excel)</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Cả nhóm</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Đang hoàn thiện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D4B4"/>
                    </a:solid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D4B4"/>
                    </a:solid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Đã xác định thời gian và chi phí ở mức giai đoạn và các gói WBS chính; đã có tổng ngân sách, chi phí nhân công, hạ tầng/thiết bị, chi khác và dự phòng. Chưa chi tiết đầy đủ nguồn lực, số lượng, đơn giá và chi phí đến từng công việc nhỏ.</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6964024"/>
                  </a:ext>
                </a:extLst>
              </a:tr>
              <a:tr h="1659112">
                <a:tc>
                  <a:txBody>
                    <a:bodyPr/>
                    <a:lstStyle/>
                    <a:p>
                      <a:pPr algn="ct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13</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Hoàn thiện kế hoạch trên MS Project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Cả nhóm</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Đang hoàn thiện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D4B4"/>
                    </a:solid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D4B4"/>
                    </a:solid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Đã xây dựng khung dự án gồm 6 giai đoạn, các gói WBS chính và các mốc/Gate. Chưa nhập và gán đầy đủ công việc chi tiết, thời lượng, trình tự, nguồn lực và chi phí cho từng công việc nên file MS Project chưa phải baseline cuối cùng.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5885739"/>
                  </a:ext>
                </a:extLst>
              </a:tr>
              <a:tr h="443611">
                <a:tc>
                  <a:txBody>
                    <a:bodyPr/>
                    <a:lstStyle/>
                    <a:p>
                      <a:pPr algn="ct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14</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Development - phát triển hệ thống</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Cả nhóm; Nguyễn Trọng Hiếu điều phối kỹ thuật</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Chưa bắt đầu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Theo baseline dự kiến thực hiện 21/11/2026 - 15/01/2027.</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7604709"/>
                  </a:ext>
                </a:extLst>
              </a:tr>
              <a:tr h="443611">
                <a:tc>
                  <a:txBody>
                    <a:bodyPr/>
                    <a:lstStyle/>
                    <a:p>
                      <a:pPr algn="ct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15</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Testing - kiểm thử 4 mức</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Nguyễn Trọng Hiếu / Phạm Đức Anh; cả nhóm thực hiện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Chưa bắt đầu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Theo baseline dự kiến thực hiện 16/01/2027 - 05/02/2027.</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4369192"/>
                  </a:ext>
                </a:extLst>
              </a:tr>
              <a:tr h="443611">
                <a:tc>
                  <a:txBody>
                    <a:bodyPr/>
                    <a:lstStyle/>
                    <a:p>
                      <a:pPr algn="ct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16</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Deployment, nghiệm thu &amp; đóng dự án</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Hoàng Đàm Khánh; cả nhóm hỗ trợ</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Chưa bắt đầu</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a:lnSpc>
                          <a:spcPct val="115000"/>
                        </a:lnSpc>
                        <a:spcAft>
                          <a:spcPts val="1000"/>
                        </a:spcAf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nSpc>
                          <a:spcPct val="115000"/>
                        </a:lnSpc>
                        <a:spcAft>
                          <a:spcPts val="1000"/>
                        </a:spcAft>
                        <a:buNone/>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Theo baseline dự kiến thực hiện 06/02/2027 - 26/02/2027.</a:t>
                      </a:r>
                      <a:endParaRPr lang="vi-V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1301" marR="4130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0949831"/>
                  </a:ext>
                </a:extLst>
              </a:tr>
            </a:tbl>
          </a:graphicData>
        </a:graphic>
      </p:graphicFrame>
    </p:spTree>
    <p:extLst>
      <p:ext uri="{BB962C8B-B14F-4D97-AF65-F5344CB8AC3E}">
        <p14:creationId xmlns:p14="http://schemas.microsoft.com/office/powerpoint/2010/main" val="12454536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3E3A5-93FC-8667-75EB-81E356D712BC}"/>
            </a:ext>
          </a:extLst>
        </p:cNvPr>
        <p:cNvGrpSpPr/>
        <p:nvPr/>
      </p:nvGrpSpPr>
      <p:grpSpPr>
        <a:xfrm>
          <a:off x="0" y="0"/>
          <a:ext cx="0" cy="0"/>
          <a:chOff x="0" y="0"/>
          <a:chExt cx="0" cy="0"/>
        </a:xfrm>
      </p:grpSpPr>
      <p:pic>
        <p:nvPicPr>
          <p:cNvPr id="2" name="Image 0" descr="Nền công nghệ đỏ phong cách HUST">
            <a:extLst>
              <a:ext uri="{FF2B5EF4-FFF2-40B4-BE49-F238E27FC236}">
                <a16:creationId xmlns:a16="http://schemas.microsoft.com/office/drawing/2014/main" id="{1E761A4B-EAE9-8B97-4631-D688CE850006}"/>
              </a:ext>
            </a:extLst>
          </p:cNvPr>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EFDFE74A-A741-3279-0179-6AD6F09070CB}"/>
              </a:ext>
            </a:extLst>
          </p:cNvPr>
          <p:cNvSpPr/>
          <p:nvPr/>
        </p:nvSpPr>
        <p:spPr>
          <a:xfrm>
            <a:off x="685800" y="621792"/>
            <a:ext cx="7863840" cy="384048"/>
          </a:xfrm>
          <a:prstGeom prst="rect">
            <a:avLst/>
          </a:prstGeom>
          <a:noFill/>
          <a:ln/>
        </p:spPr>
        <p:txBody>
          <a:bodyPr wrap="square" lIns="0" tIns="0" rIns="0" bIns="0" rtlCol="0" anchor="ctr">
            <a:normAutofit lnSpcReduction="10000"/>
          </a:bodyPr>
          <a:lstStyle/>
          <a:p>
            <a:pPr marL="0" indent="0">
              <a:buNone/>
            </a:pPr>
            <a:r>
              <a:rPr lang="en-US" sz="2700" b="1">
                <a:solidFill>
                  <a:srgbClr val="FFFFFF"/>
                </a:solidFill>
                <a:latin typeface="Arial" pitchFamily="34" charset="0"/>
                <a:ea typeface="Arial" pitchFamily="34" charset="-122"/>
                <a:cs typeface="Arial" pitchFamily="34" charset="-120"/>
              </a:rPr>
              <a:t>VI. Kết quả thực hiện dư án &amp; Kết </a:t>
            </a:r>
            <a:r>
              <a:rPr lang="en-US" sz="2700" b="1" dirty="0">
                <a:solidFill>
                  <a:srgbClr val="FFFFFF"/>
                </a:solidFill>
                <a:latin typeface="Arial" pitchFamily="34" charset="0"/>
                <a:ea typeface="Arial" pitchFamily="34" charset="-122"/>
                <a:cs typeface="Arial" pitchFamily="34" charset="-120"/>
              </a:rPr>
              <a:t>luận</a:t>
            </a:r>
            <a:endParaRPr lang="en-US" sz="2700" dirty="0"/>
          </a:p>
        </p:txBody>
      </p:sp>
      <p:sp>
        <p:nvSpPr>
          <p:cNvPr id="4" name="Shape 1">
            <a:extLst>
              <a:ext uri="{FF2B5EF4-FFF2-40B4-BE49-F238E27FC236}">
                <a16:creationId xmlns:a16="http://schemas.microsoft.com/office/drawing/2014/main" id="{BFA9E13B-C809-4199-8F79-728B87414182}"/>
              </a:ext>
            </a:extLst>
          </p:cNvPr>
          <p:cNvSpPr/>
          <p:nvPr/>
        </p:nvSpPr>
        <p:spPr>
          <a:xfrm>
            <a:off x="685800" y="1124712"/>
            <a:ext cx="2011680" cy="0"/>
          </a:xfrm>
          <a:prstGeom prst="line">
            <a:avLst/>
          </a:prstGeom>
          <a:noFill/>
          <a:ln w="38100">
            <a:solidFill>
              <a:srgbClr val="D6A62C"/>
            </a:solidFill>
            <a:prstDash val="solid"/>
          </a:ln>
        </p:spPr>
        <p:txBody>
          <a:bodyPr/>
          <a:lstStyle/>
          <a:p>
            <a:endParaRPr lang="vi-VN"/>
          </a:p>
        </p:txBody>
      </p:sp>
      <p:sp>
        <p:nvSpPr>
          <p:cNvPr id="24" name="Shape 21">
            <a:extLst>
              <a:ext uri="{FF2B5EF4-FFF2-40B4-BE49-F238E27FC236}">
                <a16:creationId xmlns:a16="http://schemas.microsoft.com/office/drawing/2014/main" id="{6FE8B9E2-CA38-CB1A-1A8C-9884C75C3F33}"/>
              </a:ext>
            </a:extLst>
          </p:cNvPr>
          <p:cNvSpPr/>
          <p:nvPr/>
        </p:nvSpPr>
        <p:spPr>
          <a:xfrm>
            <a:off x="777240" y="1540308"/>
            <a:ext cx="10378440" cy="3809374"/>
          </a:xfrm>
          <a:prstGeom prst="roundRect">
            <a:avLst>
              <a:gd name="adj" fmla="val 9231"/>
            </a:avLst>
          </a:prstGeom>
          <a:solidFill>
            <a:srgbClr val="FFFFFF">
              <a:alpha val="95000"/>
            </a:srgbClr>
          </a:solidFill>
          <a:ln w="12700">
            <a:solidFill>
              <a:srgbClr val="FFFFFF">
                <a:alpha val="20000"/>
              </a:srgbClr>
            </a:solidFill>
            <a:prstDash val="solid"/>
          </a:ln>
          <a:effectLst>
            <a:outerShdw blurRad="25400" dist="12700" dir="2700000" algn="bl" rotWithShape="0">
              <a:srgbClr val="000000">
                <a:alpha val="10000"/>
              </a:srgbClr>
            </a:outerShdw>
          </a:effectLst>
        </p:spPr>
        <p:txBody>
          <a:bodyPr/>
          <a:lstStyle/>
          <a:p>
            <a:endParaRPr lang="vi-VN"/>
          </a:p>
        </p:txBody>
      </p:sp>
      <p:sp>
        <p:nvSpPr>
          <p:cNvPr id="25" name="Text 22">
            <a:extLst>
              <a:ext uri="{FF2B5EF4-FFF2-40B4-BE49-F238E27FC236}">
                <a16:creationId xmlns:a16="http://schemas.microsoft.com/office/drawing/2014/main" id="{601999AC-6834-86FC-C5A4-861D90ED37F6}"/>
              </a:ext>
            </a:extLst>
          </p:cNvPr>
          <p:cNvSpPr/>
          <p:nvPr/>
        </p:nvSpPr>
        <p:spPr>
          <a:xfrm>
            <a:off x="1060703" y="1577353"/>
            <a:ext cx="2096153" cy="707809"/>
          </a:xfrm>
          <a:prstGeom prst="rect">
            <a:avLst/>
          </a:prstGeom>
          <a:noFill/>
          <a:ln/>
        </p:spPr>
        <p:txBody>
          <a:bodyPr wrap="square" lIns="0" tIns="0" rIns="0" bIns="0" rtlCol="0" anchor="ctr"/>
          <a:lstStyle/>
          <a:p>
            <a:pPr marL="0" indent="0">
              <a:buNone/>
            </a:pPr>
            <a:r>
              <a:rPr lang="en-US" sz="2800" b="1" dirty="0">
                <a:solidFill>
                  <a:srgbClr val="B00020"/>
                </a:solidFill>
                <a:latin typeface="Arial" pitchFamily="34" charset="0"/>
                <a:ea typeface="Arial" pitchFamily="34" charset="-122"/>
                <a:cs typeface="Arial" pitchFamily="34" charset="-120"/>
              </a:rPr>
              <a:t>Kết luận</a:t>
            </a:r>
            <a:endParaRPr lang="en-US" sz="2800" dirty="0"/>
          </a:p>
        </p:txBody>
      </p:sp>
      <p:sp>
        <p:nvSpPr>
          <p:cNvPr id="27" name="Text 24">
            <a:extLst>
              <a:ext uri="{FF2B5EF4-FFF2-40B4-BE49-F238E27FC236}">
                <a16:creationId xmlns:a16="http://schemas.microsoft.com/office/drawing/2014/main" id="{7D84128D-2E9A-F891-10DD-611240AA78BE}"/>
              </a:ext>
            </a:extLst>
          </p:cNvPr>
          <p:cNvSpPr/>
          <p:nvPr/>
        </p:nvSpPr>
        <p:spPr>
          <a:xfrm>
            <a:off x="4438108" y="5928530"/>
            <a:ext cx="1897380" cy="908521"/>
          </a:xfrm>
          <a:prstGeom prst="rect">
            <a:avLst/>
          </a:prstGeom>
          <a:noFill/>
          <a:ln/>
        </p:spPr>
        <p:txBody>
          <a:bodyPr wrap="square" lIns="0" tIns="0" rIns="0" bIns="0" rtlCol="0" anchor="ctr"/>
          <a:lstStyle/>
          <a:p>
            <a:pPr marL="0" indent="0" algn="r">
              <a:buNone/>
            </a:pPr>
            <a:r>
              <a:rPr lang="en-US" sz="2800" b="1" dirty="0">
                <a:solidFill>
                  <a:srgbClr val="FFE2A6"/>
                </a:solidFill>
                <a:latin typeface="Arial" pitchFamily="34" charset="0"/>
                <a:ea typeface="Arial" pitchFamily="34" charset="-122"/>
                <a:cs typeface="Arial" pitchFamily="34" charset="-120"/>
              </a:rPr>
              <a:t>Q&amp;A</a:t>
            </a:r>
            <a:endParaRPr lang="en-US" sz="2800" dirty="0"/>
          </a:p>
        </p:txBody>
      </p:sp>
      <p:sp>
        <p:nvSpPr>
          <p:cNvPr id="28" name="Text 25">
            <a:extLst>
              <a:ext uri="{FF2B5EF4-FFF2-40B4-BE49-F238E27FC236}">
                <a16:creationId xmlns:a16="http://schemas.microsoft.com/office/drawing/2014/main" id="{BE4A9EDC-E2F1-91CB-431D-67187A468026}"/>
              </a:ext>
            </a:extLst>
          </p:cNvPr>
          <p:cNvSpPr/>
          <p:nvPr/>
        </p:nvSpPr>
        <p:spPr>
          <a:xfrm>
            <a:off x="2697480" y="5349682"/>
            <a:ext cx="6751320" cy="758050"/>
          </a:xfrm>
          <a:prstGeom prst="rect">
            <a:avLst/>
          </a:prstGeom>
          <a:noFill/>
          <a:ln/>
        </p:spPr>
        <p:txBody>
          <a:bodyPr wrap="square" lIns="0" tIns="0" rIns="0" bIns="0" rtlCol="0" anchor="ctr"/>
          <a:lstStyle/>
          <a:p>
            <a:pPr marL="0" indent="0">
              <a:buNone/>
            </a:pPr>
            <a:r>
              <a:rPr lang="en-US" sz="2800" b="1" dirty="0">
                <a:solidFill>
                  <a:srgbClr val="FFE2A6"/>
                </a:solidFill>
                <a:latin typeface="Arial" pitchFamily="34" charset="0"/>
                <a:ea typeface="Arial" pitchFamily="34" charset="-122"/>
                <a:cs typeface="Arial" pitchFamily="34" charset="-120"/>
              </a:rPr>
              <a:t>Nhóm 05 · Xin cảm ơn cô và </a:t>
            </a:r>
            <a:r>
              <a:rPr lang="en-US" sz="2800" b="1">
                <a:solidFill>
                  <a:srgbClr val="FFE2A6"/>
                </a:solidFill>
                <a:latin typeface="Arial" pitchFamily="34" charset="0"/>
                <a:ea typeface="Arial" pitchFamily="34" charset="-122"/>
                <a:cs typeface="Arial" pitchFamily="34" charset="-120"/>
              </a:rPr>
              <a:t>các bạn !</a:t>
            </a:r>
            <a:endParaRPr lang="en-US" sz="2800" b="1" dirty="0"/>
          </a:p>
        </p:txBody>
      </p:sp>
      <p:sp>
        <p:nvSpPr>
          <p:cNvPr id="6" name="Text 15">
            <a:extLst>
              <a:ext uri="{FF2B5EF4-FFF2-40B4-BE49-F238E27FC236}">
                <a16:creationId xmlns:a16="http://schemas.microsoft.com/office/drawing/2014/main" id="{9B61D2E6-93C2-4254-705D-866A2812D89C}"/>
              </a:ext>
            </a:extLst>
          </p:cNvPr>
          <p:cNvSpPr/>
          <p:nvPr/>
        </p:nvSpPr>
        <p:spPr>
          <a:xfrm>
            <a:off x="967155" y="2117535"/>
            <a:ext cx="10188526" cy="2999588"/>
          </a:xfrm>
          <a:prstGeom prst="rect">
            <a:avLst/>
          </a:prstGeom>
          <a:noFill/>
          <a:ln/>
        </p:spPr>
        <p:txBody>
          <a:bodyPr wrap="square" lIns="1016" tIns="1016" rIns="1016" bIns="1016" rtlCol="0" anchor="ctr">
            <a:normAutofit/>
          </a:bodyPr>
          <a:lstStyle/>
          <a:p>
            <a:pPr marL="0" indent="0" algn="l">
              <a:buNone/>
            </a:pPr>
            <a:r>
              <a:rPr lang="vi-VN" sz="1400">
                <a:solidFill>
                  <a:srgbClr val="252B33"/>
                </a:solidFill>
                <a:latin typeface="Arial" pitchFamily="34" charset="0"/>
                <a:ea typeface="Arial" pitchFamily="34" charset="-122"/>
                <a:cs typeface="Arial" pitchFamily="34" charset="-120"/>
              </a:rPr>
              <a:t>Dự án đã xác định rõ phạm vi khả thi khi tập trung trọng tâm vào phần mềm, CSDL và hệ thống mô phỏng, loại trừ hoàn toàn các rủi ro từ phần cứng thực tế. </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Hệ thống kế hoạch quản trị được xây dựng đồng bộ, liên kết chặt chẽ giữa tiến độ, chi phí, chất lượng và rủi ro với baseline cùng phân công trách nhiệm minh bạch. </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Nhóm đã hoàn thành xong khâu khảo sát và thiết kế kỹ thuật, sẵn sàng cho các giai đoạn phát triển, kiểm thử và nghiệm thu bản demo theo đúng cam kết.</a:t>
            </a:r>
          </a:p>
          <a:p>
            <a:pPr marL="0" indent="0" algn="l">
              <a:buNone/>
            </a:pPr>
            <a:endParaRPr lang="vi-VN" sz="1400">
              <a:solidFill>
                <a:srgbClr val="252B33"/>
              </a:solidFill>
              <a:latin typeface="Arial" pitchFamily="34" charset="0"/>
              <a:ea typeface="Arial" pitchFamily="34" charset="-122"/>
              <a:cs typeface="Arial" pitchFamily="34" charset="-120"/>
            </a:endParaRPr>
          </a:p>
          <a:p>
            <a:pPr marL="0" indent="0" algn="l">
              <a:buNone/>
            </a:pPr>
            <a:r>
              <a:rPr lang="vi-VN" sz="1400">
                <a:solidFill>
                  <a:srgbClr val="252B33"/>
                </a:solidFill>
                <a:latin typeface="Arial" pitchFamily="34" charset="0"/>
                <a:ea typeface="Arial" pitchFamily="34" charset="-122"/>
                <a:cs typeface="Arial" pitchFamily="34" charset="-120"/>
              </a:rPr>
              <a:t>Qua đề tài này, nhóm nhận ra quản trị dự án không chỉ là lên lịch rồi giao việc. Điểm khó và giá trị nhất là khi có bất kỳ thay đổi nào xảy ra, ta phải kiểm soát được tác động dây chuyền lên cả tiến độ, chi phí, nhân sự lẫn rủi ro, nhằm giữ cho toàn bộ dự án luôn đi đúng hướng.</a:t>
            </a:r>
          </a:p>
        </p:txBody>
      </p:sp>
    </p:spTree>
    <p:extLst>
      <p:ext uri="{BB962C8B-B14F-4D97-AF65-F5344CB8AC3E}">
        <p14:creationId xmlns:p14="http://schemas.microsoft.com/office/powerpoint/2010/main" val="3978078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BB4CB8C644074DA8C0D9544B46C45A" ma:contentTypeVersion="10" ma:contentTypeDescription="Create a new document." ma:contentTypeScope="" ma:versionID="6cd6a6fc9d500661ae2c712001574a63">
  <xsd:schema xmlns:xsd="http://www.w3.org/2001/XMLSchema" xmlns:xs="http://www.w3.org/2001/XMLSchema" xmlns:p="http://schemas.microsoft.com/office/2006/metadata/properties" xmlns:ns2="6ab11da6-c5b9-49cb-ad83-ae21ec205006" xmlns:ns3="8620256f-1d2f-43d2-8d17-c8c02a124848" targetNamespace="http://schemas.microsoft.com/office/2006/metadata/properties" ma:root="true" ma:fieldsID="5a8690fc04d69f1d5e321c6403e17232" ns2:_="" ns3:_="">
    <xsd:import namespace="6ab11da6-c5b9-49cb-ad83-ae21ec205006"/>
    <xsd:import namespace="8620256f-1d2f-43d2-8d17-c8c02a12484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b11da6-c5b9-49cb-ad83-ae21ec2050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546fe6cf-c6c6-432e-bc3b-e1a865b2857d"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8620256f-1d2f-43d2-8d17-c8c02a124848"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cc5c2c83-07ff-4f8e-b7a6-caccdf7c6711}" ma:internalName="TaxCatchAll" ma:showField="CatchAllData" ma:web="8620256f-1d2f-43d2-8d17-c8c02a12484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ab11da6-c5b9-49cb-ad83-ae21ec205006">
      <Terms xmlns="http://schemas.microsoft.com/office/infopath/2007/PartnerControls"/>
    </lcf76f155ced4ddcb4097134ff3c332f>
    <TaxCatchAll xmlns="8620256f-1d2f-43d2-8d17-c8c02a124848" xsi:nil="true"/>
  </documentManagement>
</p:properties>
</file>

<file path=customXml/itemProps1.xml><?xml version="1.0" encoding="utf-8"?>
<ds:datastoreItem xmlns:ds="http://schemas.openxmlformats.org/officeDocument/2006/customXml" ds:itemID="{C7A477A5-75E8-4375-8EF8-5D4EBC3267BA}"/>
</file>

<file path=customXml/itemProps2.xml><?xml version="1.0" encoding="utf-8"?>
<ds:datastoreItem xmlns:ds="http://schemas.openxmlformats.org/officeDocument/2006/customXml" ds:itemID="{2AB0223F-587F-4956-B976-55B9209DC08A}"/>
</file>

<file path=customXml/itemProps3.xml><?xml version="1.0" encoding="utf-8"?>
<ds:datastoreItem xmlns:ds="http://schemas.openxmlformats.org/officeDocument/2006/customXml" ds:itemID="{F83F9F1B-AC6A-4E2E-BEAA-057FDF3414C6}"/>
</file>

<file path=docProps/app.xml><?xml version="1.0" encoding="utf-8"?>
<Properties xmlns="http://schemas.openxmlformats.org/officeDocument/2006/extended-properties" xmlns:vt="http://schemas.openxmlformats.org/officeDocument/2006/docPropsVTypes">
  <TotalTime>690</TotalTime>
  <Words>7997</Words>
  <Application>Microsoft Office PowerPoint</Application>
  <PresentationFormat>Màn hình rộng</PresentationFormat>
  <Paragraphs>1102</Paragraphs>
  <Slides>32</Slides>
  <Notes>32</Notes>
  <HiddenSlides>0</HiddenSlides>
  <MMClips>0</MMClips>
  <ScaleCrop>false</ScaleCrop>
  <HeadingPairs>
    <vt:vector size="6" baseType="variant">
      <vt:variant>
        <vt:lpstr>Phông được Dùng</vt:lpstr>
      </vt:variant>
      <vt:variant>
        <vt:i4>2</vt:i4>
      </vt:variant>
      <vt:variant>
        <vt:lpstr>Chủ đề</vt:lpstr>
      </vt:variant>
      <vt:variant>
        <vt:i4>1</vt:i4>
      </vt:variant>
      <vt:variant>
        <vt:lpstr>Tiêu đề Bản chiếu</vt:lpstr>
      </vt:variant>
      <vt:variant>
        <vt:i4>32</vt:i4>
      </vt:variant>
    </vt:vector>
  </HeadingPairs>
  <TitlesOfParts>
    <vt:vector size="35" baseType="lpstr">
      <vt:lpstr>Arial</vt:lpstr>
      <vt:lpstr>Times New Roman</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Hanoi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Quản lý dự án triển khai hệ thống Smartbox</dc:title>
  <dc:subject>Báo cáo môn học Quản trị dự án CNTT</dc:subject>
  <dc:creator>Nhóm 05 - B2CQ CNTT K69(01)</dc:creator>
  <cp:lastModifiedBy>duong nguyen</cp:lastModifiedBy>
  <cp:revision>203</cp:revision>
  <dcterms:created xsi:type="dcterms:W3CDTF">2026-09-15T07:58:07Z</dcterms:created>
  <dcterms:modified xsi:type="dcterms:W3CDTF">2026-09-19T01:01:25Z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0x01010007BB4CB8C644074DA8C0D9544B46C45A</vt:lpwstr>
  </property>
</Properties>
</file>