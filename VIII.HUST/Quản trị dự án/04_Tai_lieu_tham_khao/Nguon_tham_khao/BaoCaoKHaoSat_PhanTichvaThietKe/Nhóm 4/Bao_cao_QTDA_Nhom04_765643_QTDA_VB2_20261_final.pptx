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18.xml" ContentType="application/vnd.openxmlformats-officedocument.presentationml.notesSlide+xml"/>
  <Override PartName="/ppt/notesSlides/notesSlide8.xml" ContentType="application/vnd.openxmlformats-officedocument.presentationml.notesSlide+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app.xml" ContentType="application/vnd.openxmlformats-officedocument.extended-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06" d="100"/>
          <a:sy n="106" d="100"/>
        </p:scale>
        <p:origin x="756"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customXml" Target="../customXml/item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28" Type="http://schemas.openxmlformats.org/officeDocument/2006/relationships/customXml" Target="../customXml/item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customXml" Target="../customXml/item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endParaRPr lang="zh-CN"/>
          </a:p>
        </p:txBody>
      </p:sp>
      <p:sp>
        <p:nvSpPr>
          <p:cNvPr id="3" name="Date Placeholder 2"/>
          <p:cNvSpPr>
            <a:spLocks noGrp="1"/>
          </p:cNvSpPr>
          <p:nvPr>
            <p:ph type="dt" sz="half" idx="1"/>
          </p:nvPr>
        </p:nvSpPr>
        <p:spPr>
          <a:xfrm>
            <a:off x="3884613" y="0"/>
            <a:ext cx="2971800" cy="457200"/>
          </a:xfrm>
          <a:prstGeom prst="rect">
            <a:avLst/>
          </a:prstGeom>
        </p:spPr>
        <p:txBody>
          <a:bodyPr/>
          <a:lstStyle/>
          <a:p>
            <a:endParaRPr lang="zh-CN"/>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endParaRPr lang="zh-CN"/>
          </a:p>
        </p:txBody>
      </p:sp>
      <p:sp>
        <p:nvSpPr>
          <p:cNvPr id="6" name="Footer Placeholder 5"/>
          <p:cNvSpPr>
            <a:spLocks noGrp="1"/>
          </p:cNvSpPr>
          <p:nvPr>
            <p:ph type="ftr" sz="quarter" idx="4"/>
          </p:nvPr>
        </p:nvSpPr>
        <p:spPr>
          <a:xfrm>
            <a:off x="0" y="8685213"/>
            <a:ext cx="2971800" cy="457200"/>
          </a:xfrm>
          <a:prstGeom prst="rect">
            <a:avLst/>
          </a:prstGeom>
        </p:spPr>
        <p:txBody>
          <a:bodyPr/>
          <a:lstStyle/>
          <a:p>
            <a:endParaRPr lang="zh-CN"/>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endParaRPr lang="zh-CN"/>
          </a:p>
        </p:txBody>
      </p:sp>
    </p:spTree>
  </p:cSld>
  <p:clrMap bg1="lt1" tx1="dk1" bg2="lt2" tx2="dk2" accent1="accent1" accent2="accent2" accent3="accent3" accent4="accent4" accent5="accent5" accent6="accent6" hlink="hlink" folHlink="folHlink"/>
  <p:hf/>
  <p:notesStyle>
    <a:lvl1pPr marL="0" algn="l">
      <a:defRPr lang="zh-CN" sz="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sz="quarter" idx="3"/>
          </p:nvPr>
        </p:nvSpPr>
        <p:spPr/>
        <p:txBody>
          <a:bodyPr/>
          <a:lstStyle/>
          <a:p>
            <a:r>
              <a:rPr lang="vi-VN" dirty="0"/>
              <a:t>Kính chào thầy cô và các bạn, nhóm 04 xin trình bày dự án xây dựng hệ thống quản lý bán hàng cho cửa hàng điện tử quy mô vừa và nhỏ. Dự án được mô phỏng cho Cửa hàng Điện tử Lãng Lãng, với thời gian thực hiện từ tháng 09/2026 đến tháng 02/2027. Trọng tâm của bài trình bày là cách nhóm tổ chức quản trị dự án, từ mục tiêu, phạm vi, nhân lực, tiến độ, kinh phí đến kiểm soát chất lượng và rủi ro. Hai con số cần nhớ ngay từ đầu là tổng ngân sách 200 triệu đồng và thời lượng 6 tháng triển khai.</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sz="quarter" idx="3"/>
          </p:nvPr>
        </p:nvSpPr>
        <p:spPr/>
        <p:txBody>
          <a:bodyPr/>
          <a:lstStyle/>
          <a:p>
            <a:r>
              <a:rPr lang="vi-VN" dirty="0"/>
              <a:t>Ở phần này, nhóm giới thiệu nhanh các nội dung sẽ trình bày. Bài báo cáo đi từ tên dự án và nhóm thực hiện, sau đó lần lượt làm rõ mục tiêu, ý nghĩa, yêu cầu và tính khả thi. Tiếp theo là các chức năng của hệ thống, nguồn nhân lực, thời gian, kinh phí và kết quả thực hiện. Phần cuối cùng là kết luận và hướng phát triển tiếp theo của dự án.</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vi-VN" dirty="0"/>
              <a:t>Trước hết, nhóm tóm tắt các thông tin nền của dự án. Dự án có mã CNTT2026_N04, do nhóm 04 thực hiện và được mô phỏng cho cửa hàng điện tử Lãng Lãng. Về quản trị, đây là một bài toán vừa đủ cho học phần nhưng vẫn có đầy đủ yếu tố của một dự án thật như ngân sách, thời gian, nhân sự, nghiệm thu và rủi ro. Cách tiếp cận Agile/Scrum giúp chia việc theo Sprint, theo dõi tiến độ thường xuyên và phản ứng kịp thời khi yêu cầu thay đổi.</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sz="quarter" idx="3"/>
          </p:nvPr>
        </p:nvSpPr>
        <p:spPr/>
        <p:txBody>
          <a:bodyPr/>
          <a:lstStyle/>
          <a:p>
            <a:r>
              <a:rPr lang="vi-VN" dirty="0"/>
              <a:t>Bối cảnh của dự án đến từ nhu cầu số hóa hoạt động bán lẻ điện tử. Với cửa hàng vừa và nhỏ, hàng hóa có giá trị cao, nhiều mã sản phẩm và thường gắn với Serial hoặc IMEI, nên sai lệch dữ liệu có thể gây ảnh hưởng trực tiếp đến bán hàng và bảo hành. Các công cụ thủ công như sổ giấy, Excel hoặc nhắn tin rời rạc giúp cửa hàng vận hành ban đầu nhưng khó kiểm soát khi số lượng đơn và mã hàng tăng lên. Vì vậy, dự án có ý nghĩa thực tiễn là xây dựng một hệ thống tập trung, dễ dùng và phù hợp ngân sách.</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vi-VN" dirty="0"/>
              <a:t>Ở hiện trạng ban đầu, dữ liệu của cửa hàng bị phân tán qua nhiều kênh như sổ giấy, Excel, điện thoại và Zalo hoặc Facebook. Cửa hàng có khoảng 180 đến 250 mã hàng, mỗi ngày xử lý 15 đến 30 đơn, lúc cao điểm có thể lên 35 đến 40 đơn. Khi không có mã khách hàng, mã đơn hàng và dữ liệu tồn kho tập trung, nhân viên mất thời gian tra cứu và dễ nhập trùng. Đây là cơ sở để nhóm ưu tiên các chức năng khách hàng, đơn hàng, tồn kho và báo cáo.</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sz="quarter" idx="3"/>
          </p:nvPr>
        </p:nvSpPr>
        <p:spPr/>
        <p:txBody>
          <a:bodyPr/>
          <a:lstStyle/>
          <a:p>
            <a:r>
              <a:rPr lang="vi-VN" dirty="0"/>
              <a:t>Kết quả khảo sát định lượng giúp biến nhận định ban đầu thành yêu cầu có căn cứ. Có 80% nhân viên phản ánh vấn đề nhập liệu lặp lại và 80% gặp khó khi tìm lại đơn hàng cũ. Ở phía khách hàng, 83,3% muốn biết tình trạng còn hàng trước khi đến cửa hàng và 60% từng phải chờ kiểm tra tồn kho. Những tỷ lệ này cho thấy hệ thống mới cần giảm nhập liệu thủ công, tăng tốc tra cứu và cập nhật tồn kho kịp thời.</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vi-VN" dirty="0"/>
              <a:t>Mục tiêu của dự án có hai lớp: mục tiêu học phần và mục tiêu thực tiễn. Về học phần, nhóm áp dụng kiến thức quản trị dự án công nghệ thông tin như lập kế hoạch, phân công, WBS, rủi ro và kiểm soát chất lượng. Về thực tiễn, nhóm xây dựng hệ thống quản lý bán hàng phù hợp cửa hàng điện tử, có khả năng hỗ trợ bán hàng, kho, khách hàng và báo cáo. Ý nghĩa của dự án là giúp giảm sai sót vận hành, chuẩn hóa dữ liệu và nâng cao trải nghiệm cả nhân viên lẫn khách hàng.</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vi-VN" dirty="0"/>
              <a:t>Ở phần phạm vi, nhóm làm rõ những gì sẽ bàn giao và những gì chưa thực hiện trong phiên bản này. Sản phẩm bàn giao gồm tài liệu quản lý dự án, đặc tả yêu cầu, thiết kế hệ thống, phần mềm và báo cáo tổng kết. Các tích hợp lớn như thanh toán điện tử quốc tế, logistics bên thứ ba, kế toán tổng thể hoặc nhân sự tiền lương được loại khỏi phạm vi để tránh trôi tiến độ. Việc chốt phạm vi ngay từ đầu giúp kiểm soát kỳ vọng và xử lý thay đổi qua yêu cầu thay đổi chính thức.</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vi-VN" dirty="0"/>
              <a:t>Các chức năng được nhóm gom theo luồng nghiệp vụ chính của cửa hàng. Nhóm người dùng và phân quyền đảm bảo mỗi vai trò như quản lý, sale, kho hoặc kế toán chỉ thao tác đúng phạm vi trách nhiệm. Nhóm khách hàng, sản phẩm, kho và Serial/IMEI giải quyết các vấn đề thường gặp trong bán lẻ điện tử, nhất là tra cứu lịch sử mua và quản lý bảo hành. Nhóm đơn hàng, thanh toán và báo cáo giúp quản lý theo dõi doanh thu, tồn kho và mặt hàng bán chạy để ra quyết định nhanh hơn.</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vi-VN" dirty="0"/>
              <a:t>Ngoài chức năng, hệ thống cần đáp ứng các yêu cầu phi chức năng để vận hành được trong thực tế. Vì người dùng quen quy trình thủ công, giao diện phải dễ học, thao tác nhanh và hạn chế nhập liệu dư thừa. Hệ thống cần tìm kiếm tốt với quy mô 180 đến 250 mã hàng, khoảng 15 đến 30 đơn mỗi ngày và cao điểm 35 đến 40 đơn, đồng thời có phân quyền, sao lưu và nhật ký thao tác. Kiến trúc tách lớp gồm giao diện, API nghiệp vụ và cơ sở dữ liệu tập trung giúp nhóm dễ phát triển, kiểm thử và mở rộng về sau.</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vi-VN" dirty="0"/>
              <a:t>Tính khả thi được đánh giá từ bốn góc nhìn là nhu cầu, kỹ thuật, tài chính và vận hành. Về nhu cầu, các số liệu khảo sát cho thấy cửa hàng thật sự cần quản lý tập trung hơn. Về kỹ thuật, nhóm có đủ vai trò chính từ phân tích nghiệp vụ, lập trình, cơ sở dữ liệu đến kiểm thử, tuy vẫn phải kiểm soát kỹ phần cơ sở dữ liệu và luồng Serial/IMEI. Về tài chính và vận hành, ngân sách 200 triệu đồng và cách làm Agile/Scrum là khả thi nếu nhóm giữ phạm vi hẹp và kiểm soát thay đổi chặt chẽ.</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vi-VN" dirty="0"/>
              <a:t>Dự án nhỏ nhưng vẫn có nhiều bên liên quan với kỳ vọng khác nhau. Nhà trường và giảng viên hướng dẫn quan tâm đến chất lượng học thuật, tiến độ, sản phẩm và tính minh bạch của đề tài. Cửa hàng mô phỏng cung cấp yêu cầu nghiệp vụ, tham gia phản hồi và cần một hệ thống dễ sử dụng sau khi bàn giao. Nhóm phát triển phải duy trì nhịp trao đổi đều đặn để tránh hiểu sai yêu cầu, đặc biệt ở các buổi tổng kết Sprint và giai đoạn UAT.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vi-VN" dirty="0"/>
              <a:t>Nguồn nhân lực của dự án gồm 4 thành viên, mỗi người gắn với một vai trò chính trong vòng đời phát triển phần mềm. Dương Đức Duy giữ vai trò giám đốc dự án, tập trung vào kế hoạch, tiến độ, rủi ro, nguồn lực và tổng kết. Nguyễn Long Quyền phụ trách xử lý phía máy chủ và cơ sở dữ liệu, Nguyễn Hữu Đại phụ trách phân tích nghiệp vụ và UI/UX, còn Phạm Trường Giang phụ trách giao diện và kiểm thử. Cách phân vai này giúp trách nhiệm rõ ràng nhưng vẫn cần đào tạo chéo để giảm phụ thuộc cá nhân.</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sz="quarter" idx="3"/>
          </p:nvPr>
        </p:nvSpPr>
        <p:spPr/>
        <p:txBody>
          <a:bodyPr/>
          <a:lstStyle/>
          <a:p>
            <a:r>
              <a:rPr lang="vi-VN" dirty="0"/>
              <a:t>Kế hoạch thời gian trải dài 6 tháng, từ tháng 09/2026 đến tháng 02/2027. Giai đoạn đầu tập trung khởi tạo, khảo sát và đặc tả yêu cầu để tránh xây sai bài toán. Giai đoạn giữa gồm phân tích, thiết kế và lập trình các module chính như kho, bán hàng và bảo hành. Giai đoạn cuối dành cho kiểm thử Beta, triển khai, đào tạo và tổng kết, đây là lúc nhóm cần kiểm soát lỗi nghiêm trọng và chuẩn bị nghiệm thu.</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vi-VN" dirty="0"/>
              <a:t>WBS là công cụ quan trọng để biến phạm vi dự án thành các đầu việc có thể quản lý. Báo cáo chia dự án thành 6 nhóm công việc lớn với 50 đầu việc cụ thể. Tổng khối lượng ước tính theo ngày công là 179,5 ngày công, trong khi tổng thời lượng theo nhóm việc là 155 ngày. Hai con số này không mâu thuẫn, vì ngày công phản ánh nỗ lực của nhân sự còn thời lượng phản ánh lịch thực hiện theo các giai đoạn.</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vi-VN" dirty="0"/>
              <a:t>Về kinh phí, tổng ngân sách của đề tài là 200 triệu đồng. Phần lớn ngân sách, tương đương 171 triệu đồng, được phân cho thuê khoán chuyên môn và nhân công dự án, chiếm 85,5%. Phần còn lại 29 triệu đồng dùng cho vật tư, khảo sát, in ấn và các chi phí hỗ trợ khác. Khi trình bày phần này, cần nhấn mạnh rằng quản trị tài chính không chỉ là phân bổ ngân sách mà còn là lưu chứng từ, bảng chấm công và biên bản để quyết toán minh bạch.</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vi-VN" dirty="0"/>
              <a:t>Kế hoạch đảm bảo chất lượng được đặt ở cả mức tài liệu, mã nguồn và sản phẩm phần mềm. Nhóm đặt mục tiêu đáp ứng 100% yêu cầu nghiệp vụ ưu tiên cao và không còn lỗi nghiêm trọng tại thời điểm bàn giao Beta. Với cách làm theo Sprint, nhóm cũng theo dõi tỷ lệ hoàn thành các câu chuyện người dùng đã cam kết để phát hiện trễ tiến độ sớm. Giai đoạn UAT có ý nghĩa đặc biệt vì nó kiểm tra khả năng sử dụng thật của nhân viên cửa hàng, không chỉ kiểm tra đúng sai kỹ thuật.</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vi-VN" dirty="0"/>
              <a:t>Các rủi ro chính xoay quanh phạm vi, dữ liệu, nhân sự, kỹ thuật và người dùng cuối. Rủi ro mở rộng phạm vi được kiểm soát bằng SRS và yêu cầu thay đổi chính thức, còn rủi ro chuyển đổi dữ liệu cần mẫu Excel chuẩn và giai đoạn chạy song song. Với đội chỉ có 4 người, đào tạo chéo và lưu tài liệu là biện pháp quan trọng để tránh phụ thuộc cá nhân. Riêng luồng Serial/IMEI cần kiểm thử kỹ vì chỉ cần sai cập nhật tồn kho hoặc bảo hành là ảnh hưởng trực tiếp đến vận hành cửa hàng.</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vi-VN" dirty="0"/>
              <a:t>Kết quả thực hiện được trình bày theo đầu ra và tiêu chí nghiệm thu, thay vì khẳng định vượt quá nội dung báo cáo. Nhóm dự kiến bàn giao tài liệu quản lý dự án, SRS, tài liệu thiết kế hệ thống, phiên bản phần mềm Beta, hướng dẫn sử dụng và báo cáo tổng kết. Các đầu ra này bao phủ cả khía cạnh quản trị dự án lẫn phát triển phần mềm. Khi đánh giá kết quả, cần xem sản phẩm có đáp ứng đúng phạm vi, đúng yêu cầu ưu tiên và có đủ cơ sở nghiệm thu hay không.</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vi-VN" dirty="0"/>
              <a:t>Tóm lại, dự án có tính khả thi nếu nhóm kiểm soát tốt phạm vi, dữ liệu, nhân sự và UAT. Bài học lớn nhất là phải khảo sát kỹ trước khi thiết kế, vì một yêu cầu hiểu sai có thể kéo theo thiết kế lại cơ sở dữ liệu và giao diện. Với hướng phát triển tiếp theo, hệ thống có thể mở rộng sang mô hình SaaS, thanh toán trực tuyến, logistics, đa chi nhánh hoặc bảo hành ngoài. Tuy nhiên, phiên bản đầu nên hoàn thiện chắc các luồng bán hàng, kho, khách hàng và báo cáo trước khi mở rộng.</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ppt169_solar_cheapest_power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ppt169_solar_cheapest_power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9/19/2026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55" r:id="rId1"/>
  </p:sldLayoutIdLst>
  <p:txStyles>
    <p:titleStyle>
      <a:lvl1pPr algn="ctr" defTabSz="457200" rtl="0" eaLnBrk="1" latinLnBrk="0" hangingPunct="1">
        <a:spcBef>
          <a:spcPct val="0"/>
        </a:spcBef>
        <a:buNone/>
        <a:defRPr sz="33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18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7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6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45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35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125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1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9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700" kern="1200">
          <a:solidFill>
            <a:schemeClr val="tx1"/>
          </a:solidFill>
          <a:latin typeface="+mn-lt"/>
          <a:ea typeface="+mn-ea"/>
          <a:cs typeface="+mn-cs"/>
        </a:defRPr>
      </a:lvl2pPr>
      <a:lvl3pPr marL="914400" algn="l" defTabSz="457200" rtl="0" eaLnBrk="1" latinLnBrk="0" hangingPunct="1">
        <a:defRPr sz="1600" kern="1200">
          <a:solidFill>
            <a:schemeClr val="tx1"/>
          </a:solidFill>
          <a:latin typeface="+mn-lt"/>
          <a:ea typeface="+mn-ea"/>
          <a:cs typeface="+mn-cs"/>
        </a:defRPr>
      </a:lvl3pPr>
      <a:lvl4pPr marL="1371600" algn="l" defTabSz="457200" rtl="0" eaLnBrk="1" latinLnBrk="0" hangingPunct="1">
        <a:defRPr sz="1450" kern="1200">
          <a:solidFill>
            <a:schemeClr val="tx1"/>
          </a:solidFill>
          <a:latin typeface="+mn-lt"/>
          <a:ea typeface="+mn-ea"/>
          <a:cs typeface="+mn-cs"/>
        </a:defRPr>
      </a:lvl4pPr>
      <a:lvl5pPr marL="1828800" algn="l" defTabSz="457200" rtl="0" eaLnBrk="1" latinLnBrk="0" hangingPunct="1">
        <a:defRPr sz="1350" kern="1200">
          <a:solidFill>
            <a:schemeClr val="tx1"/>
          </a:solidFill>
          <a:latin typeface="+mn-lt"/>
          <a:ea typeface="+mn-ea"/>
          <a:cs typeface="+mn-cs"/>
        </a:defRPr>
      </a:lvl5pPr>
      <a:lvl6pPr marL="2286000" algn="l" defTabSz="457200" rtl="0" eaLnBrk="1" latinLnBrk="0" hangingPunct="1">
        <a:defRPr sz="1250" kern="1200">
          <a:solidFill>
            <a:schemeClr val="tx1"/>
          </a:solidFill>
          <a:latin typeface="+mn-lt"/>
          <a:ea typeface="+mn-ea"/>
          <a:cs typeface="+mn-cs"/>
        </a:defRPr>
      </a:lvl6pPr>
      <a:lvl7pPr marL="2743200" algn="l" defTabSz="457200" rtl="0" eaLnBrk="1" latinLnBrk="0" hangingPunct="1">
        <a:defRPr sz="1100" kern="1200">
          <a:solidFill>
            <a:schemeClr val="tx1"/>
          </a:solidFill>
          <a:latin typeface="+mn-lt"/>
          <a:ea typeface="+mn-ea"/>
          <a:cs typeface="+mn-cs"/>
        </a:defRPr>
      </a:lvl7pPr>
      <a:lvl8pPr marL="3200400" algn="l" defTabSz="457200" rtl="0" eaLnBrk="1" latinLnBrk="0" hangingPunct="1">
        <a:defRPr sz="1000" kern="1200">
          <a:solidFill>
            <a:schemeClr val="tx1"/>
          </a:solidFill>
          <a:latin typeface="+mn-lt"/>
          <a:ea typeface="+mn-ea"/>
          <a:cs typeface="+mn-cs"/>
        </a:defRPr>
      </a:lvl8pPr>
      <a:lvl9pPr marL="3657600" algn="l" defTabSz="457200" rtl="0" eaLnBrk="1" latinLnBrk="0" hangingPunct="1">
        <a:defRPr sz="9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bg-fill"/>
          <p:cNvSpPr/>
          <p:nvPr/>
        </p:nvSpPr>
        <p:spPr>
          <a:xfrm>
            <a:off x="-9525" y="-9525"/>
            <a:ext cx="12211050" cy="6877050"/>
          </a:xfrm>
          <a:prstGeom prst="rect">
            <a:avLst/>
          </a:prstGeom>
          <a:solidFill>
            <a:srgbClr val="FFFFFF"/>
          </a:solidFill>
          <a:ln>
            <a:noFill/>
          </a:ln>
        </p:spPr>
      </p:sp>
      <p:grpSp>
        <p:nvGrpSpPr>
          <p:cNvPr id="5" name="top-rule"/>
          <p:cNvGrpSpPr/>
          <p:nvPr/>
        </p:nvGrpSpPr>
        <p:grpSpPr>
          <a:xfrm>
            <a:off x="685800" y="723900"/>
            <a:ext cx="10820400" cy="38100"/>
            <a:chOff x="685800" y="723900"/>
            <a:chExt cx="10820400" cy="38100"/>
          </a:xfrm>
        </p:grpSpPr>
        <p:sp>
          <p:nvSpPr>
            <p:cNvPr id="3" name="Rectangle 3"/>
            <p:cNvSpPr/>
            <p:nvPr/>
          </p:nvSpPr>
          <p:spPr>
            <a:xfrm>
              <a:off x="685800" y="723900"/>
              <a:ext cx="10820400" cy="38100"/>
            </a:xfrm>
            <a:prstGeom prst="rect">
              <a:avLst/>
            </a:prstGeom>
            <a:solidFill>
              <a:srgbClr val="E8E8E8"/>
            </a:solidFill>
            <a:ln>
              <a:noFill/>
            </a:ln>
          </p:spPr>
        </p:sp>
        <p:sp>
          <p:nvSpPr>
            <p:cNvPr id="4" name="Rectangle 4"/>
            <p:cNvSpPr/>
            <p:nvPr/>
          </p:nvSpPr>
          <p:spPr>
            <a:xfrm>
              <a:off x="685800" y="723900"/>
              <a:ext cx="541020" cy="38100"/>
            </a:xfrm>
            <a:prstGeom prst="rect">
              <a:avLst/>
            </a:prstGeom>
            <a:solidFill>
              <a:srgbClr val="C8102E"/>
            </a:solidFill>
            <a:ln>
              <a:noFill/>
            </a:ln>
          </p:spPr>
        </p:sp>
      </p:grpSp>
      <p:grpSp>
        <p:nvGrpSpPr>
          <p:cNvPr id="9" name="title"/>
          <p:cNvGrpSpPr/>
          <p:nvPr/>
        </p:nvGrpSpPr>
        <p:grpSpPr>
          <a:xfrm>
            <a:off x="654558" y="1025842"/>
            <a:ext cx="8470167" cy="1565529"/>
            <a:chOff x="654558" y="1025842"/>
            <a:chExt cx="8470167" cy="1565529"/>
          </a:xfrm>
        </p:grpSpPr>
        <p:sp>
          <p:nvSpPr>
            <p:cNvPr id="6" name="TextBox 6"/>
            <p:cNvSpPr txBox="1"/>
            <p:nvPr/>
          </p:nvSpPr>
          <p:spPr>
            <a:xfrm>
              <a:off x="654558" y="1025842"/>
              <a:ext cx="8334836" cy="557403"/>
            </a:xfrm>
            <a:prstGeom prst="rect">
              <a:avLst/>
            </a:prstGeom>
            <a:noFill/>
            <a:ln>
              <a:noFill/>
            </a:ln>
          </p:spPr>
          <p:txBody>
            <a:bodyPr wrap="none" lIns="0" tIns="0" rIns="0" bIns="0" anchor="t" anchorCtr="0">
              <a:spAutoFit/>
            </a:bodyPr>
            <a:lstStyle/>
            <a:p>
              <a:pPr algn="l"/>
              <a:r>
                <a:rPr lang="vi-VN" sz="2850" b="1" dirty="0">
                  <a:solidFill>
                    <a:srgbClr val="111111"/>
                  </a:solidFill>
                  <a:latin typeface="Arial"/>
                  <a:ea typeface="Arial"/>
                  <a:cs typeface="Arial"/>
                </a:rPr>
                <a:t>Quản lý dự án xây dựng hệ thống quản lý bán</a:t>
              </a:r>
            </a:p>
          </p:txBody>
        </p:sp>
        <p:sp>
          <p:nvSpPr>
            <p:cNvPr id="7" name="TextBox 7"/>
            <p:cNvSpPr txBox="1"/>
            <p:nvPr/>
          </p:nvSpPr>
          <p:spPr>
            <a:xfrm>
              <a:off x="654558" y="1525333"/>
              <a:ext cx="8470167" cy="557403"/>
            </a:xfrm>
            <a:prstGeom prst="rect">
              <a:avLst/>
            </a:prstGeom>
            <a:noFill/>
            <a:ln>
              <a:noFill/>
            </a:ln>
          </p:spPr>
          <p:txBody>
            <a:bodyPr wrap="none" lIns="0" tIns="0" rIns="0" bIns="0" anchor="t" anchorCtr="0">
              <a:spAutoFit/>
            </a:bodyPr>
            <a:lstStyle/>
            <a:p>
              <a:pPr algn="l"/>
              <a:r>
                <a:rPr lang="vi-VN" sz="2850" b="1" dirty="0">
                  <a:solidFill>
                    <a:srgbClr val="111111"/>
                  </a:solidFill>
                  <a:latin typeface="Arial"/>
                  <a:ea typeface="Arial"/>
                  <a:cs typeface="Arial"/>
                </a:rPr>
                <a:t>hàng cho cửa hàng điện tử quy mô vừa và nhỏ</a:t>
              </a:r>
            </a:p>
          </p:txBody>
        </p:sp>
        <p:sp>
          <p:nvSpPr>
            <p:cNvPr id="8" name="TextBox 8"/>
            <p:cNvSpPr txBox="1"/>
            <p:nvPr/>
          </p:nvSpPr>
          <p:spPr>
            <a:xfrm>
              <a:off x="677418" y="2268664"/>
              <a:ext cx="5206123" cy="322707"/>
            </a:xfrm>
            <a:prstGeom prst="rect">
              <a:avLst/>
            </a:prstGeom>
            <a:noFill/>
            <a:ln>
              <a:noFill/>
            </a:ln>
          </p:spPr>
          <p:txBody>
            <a:bodyPr wrap="none" lIns="0" tIns="0" rIns="0" bIns="0" anchor="t" anchorCtr="0">
              <a:spAutoFit/>
            </a:bodyPr>
            <a:lstStyle/>
            <a:p>
              <a:pPr algn="l"/>
              <a:r>
                <a:rPr lang="vi-VN" sz="1650" dirty="0">
                  <a:solidFill>
                    <a:srgbClr val="6E6E6E"/>
                  </a:solidFill>
                  <a:latin typeface="Arial"/>
                  <a:ea typeface="Arial"/>
                  <a:cs typeface="Arial"/>
                </a:rPr>
                <a:t>Trường hợp mô phỏng: Cửa hàng Điện tử Lãng Lãng</a:t>
              </a:r>
            </a:p>
          </p:txBody>
        </p:sp>
      </p:grpSp>
      <p:grpSp>
        <p:nvGrpSpPr>
          <p:cNvPr id="13" name="footer"/>
          <p:cNvGrpSpPr/>
          <p:nvPr/>
        </p:nvGrpSpPr>
        <p:grpSpPr>
          <a:xfrm>
            <a:off x="680085" y="6286500"/>
            <a:ext cx="10831830" cy="327184"/>
            <a:chOff x="680085" y="6286500"/>
            <a:chExt cx="10831830" cy="327184"/>
          </a:xfrm>
        </p:grpSpPr>
        <p:sp>
          <p:nvSpPr>
            <p:cNvPr id="10" name="Freeform 10"/>
            <p:cNvSpPr/>
            <p:nvPr/>
          </p:nvSpPr>
          <p:spPr>
            <a:xfrm>
              <a:off x="685800" y="6286500"/>
              <a:ext cx="10820400" cy="9525"/>
            </a:xfrm>
            <a:custGeom>
              <a:avLst/>
              <a:gdLst/>
              <a:ahLst/>
              <a:cxnLst/>
              <a:rect l="l" t="t" r="r" b="b"/>
              <a:pathLst>
                <a:path w="10820400" h="9525">
                  <a:moveTo>
                    <a:pt x="0" y="0"/>
                  </a:moveTo>
                  <a:lnTo>
                    <a:pt x="10820400" y="0"/>
                  </a:lnTo>
                </a:path>
              </a:pathLst>
            </a:custGeom>
            <a:noFill/>
            <a:ln w="9525">
              <a:solidFill>
                <a:srgbClr val="E8E8E8"/>
              </a:solidFill>
            </a:ln>
          </p:spPr>
        </p:sp>
        <p:sp>
          <p:nvSpPr>
            <p:cNvPr id="11" name="TextBox 11"/>
            <p:cNvSpPr txBox="1"/>
            <p:nvPr/>
          </p:nvSpPr>
          <p:spPr>
            <a:xfrm>
              <a:off x="680085" y="6393656"/>
              <a:ext cx="2914269" cy="220028"/>
            </a:xfrm>
            <a:prstGeom prst="rect">
              <a:avLst/>
            </a:prstGeom>
            <a:noFill/>
            <a:ln>
              <a:noFill/>
            </a:ln>
          </p:spPr>
          <p:txBody>
            <a:bodyPr wrap="none" lIns="0" tIns="0" rIns="0" bIns="0" anchor="t" anchorCtr="0">
              <a:spAutoFit/>
            </a:bodyPr>
            <a:lstStyle/>
            <a:p>
              <a:pPr algn="l"/>
              <a:r>
                <a:rPr lang="vi-VN" sz="1120" dirty="0">
                  <a:solidFill>
                    <a:srgbClr val="6E6E6E"/>
                  </a:solidFill>
                  <a:latin typeface="Arial"/>
                  <a:ea typeface="Arial"/>
                  <a:cs typeface="Arial"/>
                </a:rPr>
                <a:t>Nhóm 04 | Lớp 765643-QTDA-VB2-20261</a:t>
              </a:r>
            </a:p>
          </p:txBody>
        </p:sp>
        <p:sp>
          <p:nvSpPr>
            <p:cNvPr id="12" name="TextBox 12"/>
            <p:cNvSpPr txBox="1"/>
            <p:nvPr/>
          </p:nvSpPr>
          <p:spPr>
            <a:xfrm>
              <a:off x="11332764" y="6393656"/>
              <a:ext cx="179151" cy="220028"/>
            </a:xfrm>
            <a:prstGeom prst="rect">
              <a:avLst/>
            </a:prstGeom>
            <a:noFill/>
            <a:ln>
              <a:noFill/>
            </a:ln>
          </p:spPr>
          <p:txBody>
            <a:bodyPr wrap="none" lIns="0" tIns="0" rIns="0" bIns="0" anchor="t" anchorCtr="0">
              <a:spAutoFit/>
            </a:bodyPr>
            <a:lstStyle/>
            <a:p>
              <a:pPr algn="r"/>
              <a:r>
                <a:rPr lang="vi-VN" sz="1120" dirty="0">
                  <a:solidFill>
                    <a:srgbClr val="6E6E6E"/>
                  </a:solidFill>
                  <a:latin typeface="Arial"/>
                  <a:ea typeface="Arial"/>
                  <a:cs typeface="Arial"/>
                </a:rPr>
                <a:t>01</a:t>
              </a:r>
            </a:p>
          </p:txBody>
        </p:sp>
      </p:grpSp>
      <p:grpSp>
        <p:nvGrpSpPr>
          <p:cNvPr id="18" name="hero-left"/>
          <p:cNvGrpSpPr/>
          <p:nvPr/>
        </p:nvGrpSpPr>
        <p:grpSpPr>
          <a:xfrm>
            <a:off x="647700" y="2927032"/>
            <a:ext cx="4459534" cy="1903857"/>
            <a:chOff x="647700" y="2927032"/>
            <a:chExt cx="4459534" cy="1903857"/>
          </a:xfrm>
        </p:grpSpPr>
        <p:sp>
          <p:nvSpPr>
            <p:cNvPr id="14" name="TextBox 14"/>
            <p:cNvSpPr txBox="1"/>
            <p:nvPr/>
          </p:nvSpPr>
          <p:spPr>
            <a:xfrm>
              <a:off x="647700" y="2927032"/>
              <a:ext cx="2843416" cy="904875"/>
            </a:xfrm>
            <a:prstGeom prst="rect">
              <a:avLst/>
            </a:prstGeom>
            <a:noFill/>
            <a:ln>
              <a:noFill/>
            </a:ln>
          </p:spPr>
          <p:txBody>
            <a:bodyPr wrap="none" lIns="0" tIns="0" rIns="0" bIns="0" anchor="t" anchorCtr="0">
              <a:spAutoFit/>
            </a:bodyPr>
            <a:lstStyle/>
            <a:p>
              <a:pPr algn="l"/>
              <a:r>
                <a:rPr lang="vi-VN" sz="4650" b="1" dirty="0">
                  <a:solidFill>
                    <a:srgbClr val="111111"/>
                  </a:solidFill>
                  <a:latin typeface="Arial Black"/>
                  <a:ea typeface="Arial Black"/>
                  <a:cs typeface="Arial Black"/>
                </a:rPr>
                <a:t>Nhóm 04</a:t>
              </a:r>
            </a:p>
          </p:txBody>
        </p:sp>
        <p:sp>
          <p:nvSpPr>
            <p:cNvPr id="15" name="TextBox 15"/>
            <p:cNvSpPr txBox="1"/>
            <p:nvPr/>
          </p:nvSpPr>
          <p:spPr>
            <a:xfrm>
              <a:off x="655320" y="3662362"/>
              <a:ext cx="4451914" cy="440055"/>
            </a:xfrm>
            <a:prstGeom prst="rect">
              <a:avLst/>
            </a:prstGeom>
            <a:noFill/>
            <a:ln>
              <a:noFill/>
            </a:ln>
          </p:spPr>
          <p:txBody>
            <a:bodyPr wrap="none" lIns="0" tIns="0" rIns="0" bIns="0" anchor="t" anchorCtr="0">
              <a:spAutoFit/>
            </a:bodyPr>
            <a:lstStyle/>
            <a:p>
              <a:pPr algn="l"/>
              <a:r>
                <a:rPr lang="vi-VN" sz="2250" b="1" dirty="0">
                  <a:solidFill>
                    <a:srgbClr val="C8102E"/>
                  </a:solidFill>
                  <a:latin typeface="Arial"/>
                  <a:ea typeface="Arial"/>
                  <a:cs typeface="Arial"/>
                </a:rPr>
                <a:t>Lớp 765643-QTDA-VB2-20261</a:t>
              </a:r>
            </a:p>
          </p:txBody>
        </p:sp>
        <p:sp>
          <p:nvSpPr>
            <p:cNvPr id="16" name="TextBox 16"/>
            <p:cNvSpPr txBox="1"/>
            <p:nvPr/>
          </p:nvSpPr>
          <p:spPr>
            <a:xfrm>
              <a:off x="657606" y="4139565"/>
              <a:ext cx="3819913" cy="352044"/>
            </a:xfrm>
            <a:prstGeom prst="rect">
              <a:avLst/>
            </a:prstGeom>
            <a:noFill/>
            <a:ln>
              <a:noFill/>
            </a:ln>
          </p:spPr>
          <p:txBody>
            <a:bodyPr wrap="none" lIns="0" tIns="0" rIns="0" bIns="0" anchor="t" anchorCtr="0">
              <a:spAutoFit/>
            </a:bodyPr>
            <a:lstStyle/>
            <a:p>
              <a:pPr algn="l"/>
              <a:r>
                <a:rPr lang="vi-VN" sz="1800" dirty="0">
                  <a:solidFill>
                    <a:srgbClr val="6E6E6E"/>
                  </a:solidFill>
                  <a:latin typeface="Arial"/>
                  <a:ea typeface="Arial"/>
                  <a:cs typeface="Arial"/>
                </a:rPr>
                <a:t>Quản trị dự án Công nghệ thông tin</a:t>
              </a:r>
            </a:p>
          </p:txBody>
        </p:sp>
        <p:sp>
          <p:nvSpPr>
            <p:cNvPr id="17" name="TextBox 17"/>
            <p:cNvSpPr txBox="1"/>
            <p:nvPr/>
          </p:nvSpPr>
          <p:spPr>
            <a:xfrm>
              <a:off x="658368" y="4508182"/>
              <a:ext cx="2480216" cy="322707"/>
            </a:xfrm>
            <a:prstGeom prst="rect">
              <a:avLst/>
            </a:prstGeom>
            <a:noFill/>
            <a:ln>
              <a:noFill/>
            </a:ln>
          </p:spPr>
          <p:txBody>
            <a:bodyPr wrap="none" lIns="0" tIns="0" rIns="0" bIns="0" anchor="t" anchorCtr="0">
              <a:spAutoFit/>
            </a:bodyPr>
            <a:lstStyle/>
            <a:p>
              <a:pPr algn="l"/>
              <a:r>
                <a:rPr lang="vi-VN" sz="1650" dirty="0">
                  <a:solidFill>
                    <a:srgbClr val="6E6E6E"/>
                  </a:solidFill>
                  <a:latin typeface="Arial"/>
                  <a:ea typeface="Arial"/>
                  <a:cs typeface="Arial"/>
                </a:rPr>
                <a:t>GVHD: ThS. Lê Thị Hoa</a:t>
              </a:r>
            </a:p>
          </p:txBody>
        </p:sp>
      </p:grpSp>
      <p:sp>
        <p:nvSpPr>
          <p:cNvPr id="19" name="Freeform 19"/>
          <p:cNvSpPr/>
          <p:nvPr/>
        </p:nvSpPr>
        <p:spPr>
          <a:xfrm>
            <a:off x="5905500" y="3000375"/>
            <a:ext cx="9525" cy="2095500"/>
          </a:xfrm>
          <a:custGeom>
            <a:avLst/>
            <a:gdLst/>
            <a:ahLst/>
            <a:cxnLst/>
            <a:rect l="l" t="t" r="r" b="b"/>
            <a:pathLst>
              <a:path w="9525" h="2095500">
                <a:moveTo>
                  <a:pt x="0" y="0"/>
                </a:moveTo>
                <a:lnTo>
                  <a:pt x="0" y="2095500"/>
                </a:lnTo>
              </a:path>
            </a:pathLst>
          </a:custGeom>
          <a:noFill/>
          <a:ln w="9525">
            <a:solidFill>
              <a:srgbClr val="E8E8E8"/>
            </a:solidFill>
          </a:ln>
        </p:spPr>
      </p:sp>
      <p:grpSp>
        <p:nvGrpSpPr>
          <p:cNvPr id="24" name="hero-right"/>
          <p:cNvGrpSpPr/>
          <p:nvPr/>
        </p:nvGrpSpPr>
        <p:grpSpPr>
          <a:xfrm>
            <a:off x="7344060" y="2853185"/>
            <a:ext cx="3469502" cy="1957443"/>
            <a:chOff x="6445758" y="4246245"/>
            <a:chExt cx="3469502" cy="1957443"/>
          </a:xfrm>
        </p:grpSpPr>
        <p:sp>
          <p:nvSpPr>
            <p:cNvPr id="22" name="TextBox 22"/>
            <p:cNvSpPr txBox="1"/>
            <p:nvPr/>
          </p:nvSpPr>
          <p:spPr>
            <a:xfrm>
              <a:off x="6445758" y="4246245"/>
              <a:ext cx="1724831" cy="369332"/>
            </a:xfrm>
            <a:prstGeom prst="rect">
              <a:avLst/>
            </a:prstGeom>
            <a:noFill/>
            <a:ln>
              <a:noFill/>
            </a:ln>
          </p:spPr>
          <p:txBody>
            <a:bodyPr wrap="none" lIns="0" tIns="0" rIns="0" bIns="0" anchor="t" anchorCtr="0">
              <a:spAutoFit/>
            </a:bodyPr>
            <a:lstStyle/>
            <a:p>
              <a:pPr algn="l"/>
              <a:r>
                <a:rPr lang="en-US" sz="2400" b="1" dirty="0">
                  <a:solidFill>
                    <a:srgbClr val="111111"/>
                  </a:solidFill>
                  <a:latin typeface="Arial"/>
                  <a:ea typeface="Arial"/>
                  <a:cs typeface="Arial"/>
                </a:rPr>
                <a:t>Thành </a:t>
              </a:r>
              <a:r>
                <a:rPr lang="en-US" sz="2400" b="1" dirty="0" err="1">
                  <a:solidFill>
                    <a:srgbClr val="111111"/>
                  </a:solidFill>
                  <a:latin typeface="Arial"/>
                  <a:ea typeface="Arial"/>
                  <a:cs typeface="Arial"/>
                </a:rPr>
                <a:t>viên</a:t>
              </a:r>
              <a:r>
                <a:rPr lang="en-US" sz="2400" b="1" dirty="0">
                  <a:solidFill>
                    <a:srgbClr val="111111"/>
                  </a:solidFill>
                  <a:latin typeface="Arial"/>
                  <a:ea typeface="Arial"/>
                  <a:cs typeface="Arial"/>
                </a:rPr>
                <a:t>:</a:t>
              </a:r>
              <a:endParaRPr lang="vi-VN" sz="2400" b="1" dirty="0">
                <a:solidFill>
                  <a:srgbClr val="111111"/>
                </a:solidFill>
                <a:latin typeface="Arial"/>
                <a:ea typeface="Arial"/>
                <a:cs typeface="Arial"/>
              </a:endParaRPr>
            </a:p>
          </p:txBody>
        </p:sp>
        <p:sp>
          <p:nvSpPr>
            <p:cNvPr id="23" name="TextBox 23"/>
            <p:cNvSpPr txBox="1"/>
            <p:nvPr/>
          </p:nvSpPr>
          <p:spPr>
            <a:xfrm>
              <a:off x="6449568" y="4727258"/>
              <a:ext cx="3465692" cy="1476430"/>
            </a:xfrm>
            <a:prstGeom prst="rect">
              <a:avLst/>
            </a:prstGeom>
            <a:noFill/>
            <a:ln>
              <a:noFill/>
            </a:ln>
          </p:spPr>
          <p:txBody>
            <a:bodyPr wrap="none" lIns="0" tIns="0" rIns="0" bIns="0" anchor="t" anchorCtr="0">
              <a:spAutoFit/>
            </a:bodyPr>
            <a:lstStyle/>
            <a:p>
              <a:pPr marL="285750" indent="-285750" algn="l">
                <a:lnSpc>
                  <a:spcPct val="150000"/>
                </a:lnSpc>
                <a:buFont typeface="Arial" panose="020B0604020202020204" pitchFamily="34" charset="0"/>
                <a:buChar char="•"/>
              </a:pPr>
              <a:r>
                <a:rPr lang="en-US" sz="1650" dirty="0" err="1">
                  <a:solidFill>
                    <a:srgbClr val="6E6E6E"/>
                  </a:solidFill>
                  <a:latin typeface="Arial"/>
                  <a:ea typeface="Arial"/>
                  <a:cs typeface="Arial"/>
                </a:rPr>
                <a:t>Dương</a:t>
              </a:r>
              <a:r>
                <a:rPr lang="en-US" sz="1650" dirty="0">
                  <a:solidFill>
                    <a:srgbClr val="6E6E6E"/>
                  </a:solidFill>
                  <a:latin typeface="Arial"/>
                  <a:ea typeface="Arial"/>
                  <a:cs typeface="Arial"/>
                </a:rPr>
                <a:t> </a:t>
              </a:r>
              <a:r>
                <a:rPr lang="en-US" sz="1650" dirty="0" err="1">
                  <a:solidFill>
                    <a:srgbClr val="6E6E6E"/>
                  </a:solidFill>
                  <a:latin typeface="Arial"/>
                  <a:ea typeface="Arial"/>
                  <a:cs typeface="Arial"/>
                </a:rPr>
                <a:t>Đức</a:t>
              </a:r>
              <a:r>
                <a:rPr lang="en-US" sz="1650" dirty="0">
                  <a:solidFill>
                    <a:srgbClr val="6E6E6E"/>
                  </a:solidFill>
                  <a:latin typeface="Arial"/>
                  <a:ea typeface="Arial"/>
                  <a:cs typeface="Arial"/>
                </a:rPr>
                <a:t> Duy - 202490037</a:t>
              </a:r>
            </a:p>
            <a:p>
              <a:pPr marL="285750" indent="-285750" algn="l">
                <a:lnSpc>
                  <a:spcPct val="150000"/>
                </a:lnSpc>
                <a:buFont typeface="Arial" panose="020B0604020202020204" pitchFamily="34" charset="0"/>
                <a:buChar char="•"/>
              </a:pPr>
              <a:r>
                <a:rPr lang="en-US" sz="1650" dirty="0" err="1">
                  <a:solidFill>
                    <a:srgbClr val="6E6E6E"/>
                  </a:solidFill>
                  <a:latin typeface="Arial"/>
                  <a:ea typeface="Arial"/>
                  <a:cs typeface="Arial"/>
                </a:rPr>
                <a:t>Nguyễn</a:t>
              </a:r>
              <a:r>
                <a:rPr lang="en-US" sz="1650" dirty="0">
                  <a:solidFill>
                    <a:srgbClr val="6E6E6E"/>
                  </a:solidFill>
                  <a:latin typeface="Arial"/>
                  <a:ea typeface="Arial"/>
                  <a:cs typeface="Arial"/>
                </a:rPr>
                <a:t> Long </a:t>
              </a:r>
              <a:r>
                <a:rPr lang="en-US" sz="1650" dirty="0" err="1">
                  <a:solidFill>
                    <a:srgbClr val="6E6E6E"/>
                  </a:solidFill>
                  <a:latin typeface="Arial"/>
                  <a:ea typeface="Arial"/>
                  <a:cs typeface="Arial"/>
                </a:rPr>
                <a:t>Quyền</a:t>
              </a:r>
              <a:r>
                <a:rPr lang="en-US" sz="1650" dirty="0">
                  <a:solidFill>
                    <a:srgbClr val="6E6E6E"/>
                  </a:solidFill>
                  <a:latin typeface="Arial"/>
                  <a:ea typeface="Arial"/>
                  <a:cs typeface="Arial"/>
                </a:rPr>
                <a:t> - 202490079</a:t>
              </a:r>
            </a:p>
            <a:p>
              <a:pPr marL="285750" indent="-285750" algn="l">
                <a:lnSpc>
                  <a:spcPct val="150000"/>
                </a:lnSpc>
                <a:buFont typeface="Arial" panose="020B0604020202020204" pitchFamily="34" charset="0"/>
                <a:buChar char="•"/>
              </a:pPr>
              <a:r>
                <a:rPr lang="en-US" sz="1650" dirty="0" err="1">
                  <a:solidFill>
                    <a:srgbClr val="6E6E6E"/>
                  </a:solidFill>
                  <a:latin typeface="Arial"/>
                  <a:ea typeface="Arial"/>
                  <a:cs typeface="Arial"/>
                </a:rPr>
                <a:t>Nguyễn</a:t>
              </a:r>
              <a:r>
                <a:rPr lang="en-US" sz="1650" dirty="0">
                  <a:solidFill>
                    <a:srgbClr val="6E6E6E"/>
                  </a:solidFill>
                  <a:latin typeface="Arial"/>
                  <a:ea typeface="Arial"/>
                  <a:cs typeface="Arial"/>
                </a:rPr>
                <a:t> </a:t>
              </a:r>
              <a:r>
                <a:rPr lang="en-US" sz="1650" dirty="0" err="1">
                  <a:solidFill>
                    <a:srgbClr val="6E6E6E"/>
                  </a:solidFill>
                  <a:latin typeface="Arial"/>
                  <a:ea typeface="Arial"/>
                  <a:cs typeface="Arial"/>
                </a:rPr>
                <a:t>Hữu</a:t>
              </a:r>
              <a:r>
                <a:rPr lang="en-US" sz="1650" dirty="0">
                  <a:solidFill>
                    <a:srgbClr val="6E6E6E"/>
                  </a:solidFill>
                  <a:latin typeface="Arial"/>
                  <a:ea typeface="Arial"/>
                  <a:cs typeface="Arial"/>
                </a:rPr>
                <a:t> </a:t>
              </a:r>
              <a:r>
                <a:rPr lang="en-US" sz="1650" dirty="0" err="1">
                  <a:solidFill>
                    <a:srgbClr val="6E6E6E"/>
                  </a:solidFill>
                  <a:latin typeface="Arial"/>
                  <a:ea typeface="Arial"/>
                  <a:cs typeface="Arial"/>
                </a:rPr>
                <a:t>Đại</a:t>
              </a:r>
              <a:r>
                <a:rPr lang="en-US" sz="1650" dirty="0">
                  <a:solidFill>
                    <a:srgbClr val="6E6E6E"/>
                  </a:solidFill>
                  <a:latin typeface="Arial"/>
                  <a:ea typeface="Arial"/>
                  <a:cs typeface="Arial"/>
                </a:rPr>
                <a:t> - 202490041</a:t>
              </a:r>
            </a:p>
            <a:p>
              <a:pPr marL="285750" indent="-285750" algn="l">
                <a:lnSpc>
                  <a:spcPct val="150000"/>
                </a:lnSpc>
                <a:buFont typeface="Arial" panose="020B0604020202020204" pitchFamily="34" charset="0"/>
                <a:buChar char="•"/>
              </a:pPr>
              <a:r>
                <a:rPr lang="en-US" sz="1650" dirty="0" err="1">
                  <a:solidFill>
                    <a:srgbClr val="6E6E6E"/>
                  </a:solidFill>
                  <a:latin typeface="Arial"/>
                  <a:ea typeface="Arial"/>
                  <a:cs typeface="Arial"/>
                </a:rPr>
                <a:t>Phạm</a:t>
              </a:r>
              <a:r>
                <a:rPr lang="en-US" sz="1650" dirty="0">
                  <a:solidFill>
                    <a:srgbClr val="6E6E6E"/>
                  </a:solidFill>
                  <a:latin typeface="Arial"/>
                  <a:ea typeface="Arial"/>
                  <a:cs typeface="Arial"/>
                </a:rPr>
                <a:t> </a:t>
              </a:r>
              <a:r>
                <a:rPr lang="en-US" sz="1650" dirty="0" err="1">
                  <a:solidFill>
                    <a:srgbClr val="6E6E6E"/>
                  </a:solidFill>
                  <a:latin typeface="Arial"/>
                  <a:ea typeface="Arial"/>
                  <a:cs typeface="Arial"/>
                </a:rPr>
                <a:t>Trường</a:t>
              </a:r>
              <a:r>
                <a:rPr lang="en-US" sz="1650" dirty="0">
                  <a:solidFill>
                    <a:srgbClr val="6E6E6E"/>
                  </a:solidFill>
                  <a:latin typeface="Arial"/>
                  <a:ea typeface="Arial"/>
                  <a:cs typeface="Arial"/>
                </a:rPr>
                <a:t> Giang - 202490044</a:t>
              </a:r>
              <a:endParaRPr lang="vi-VN" sz="1650" dirty="0">
                <a:solidFill>
                  <a:srgbClr val="6E6E6E"/>
                </a:solidFill>
                <a:latin typeface="Arial"/>
                <a:ea typeface="Arial"/>
                <a:cs typeface="Arial"/>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bg-fill"/>
          <p:cNvSpPr/>
          <p:nvPr/>
        </p:nvSpPr>
        <p:spPr>
          <a:xfrm>
            <a:off x="-9525" y="-9525"/>
            <a:ext cx="12211050" cy="6877050"/>
          </a:xfrm>
          <a:prstGeom prst="rect">
            <a:avLst/>
          </a:prstGeom>
          <a:solidFill>
            <a:srgbClr val="FFFFFF"/>
          </a:solidFill>
          <a:ln>
            <a:noFill/>
          </a:ln>
        </p:spPr>
      </p:sp>
      <p:grpSp>
        <p:nvGrpSpPr>
          <p:cNvPr id="5" name="top-rule"/>
          <p:cNvGrpSpPr/>
          <p:nvPr/>
        </p:nvGrpSpPr>
        <p:grpSpPr>
          <a:xfrm>
            <a:off x="685800" y="723900"/>
            <a:ext cx="10820400" cy="38100"/>
            <a:chOff x="685800" y="723900"/>
            <a:chExt cx="10820400" cy="38100"/>
          </a:xfrm>
        </p:grpSpPr>
        <p:sp>
          <p:nvSpPr>
            <p:cNvPr id="3" name="Rectangle 3"/>
            <p:cNvSpPr/>
            <p:nvPr/>
          </p:nvSpPr>
          <p:spPr>
            <a:xfrm>
              <a:off x="685800" y="723900"/>
              <a:ext cx="10820400" cy="38100"/>
            </a:xfrm>
            <a:prstGeom prst="rect">
              <a:avLst/>
            </a:prstGeom>
            <a:solidFill>
              <a:srgbClr val="E8E8E8"/>
            </a:solidFill>
            <a:ln>
              <a:noFill/>
            </a:ln>
          </p:spPr>
        </p:sp>
        <p:sp>
          <p:nvSpPr>
            <p:cNvPr id="4" name="Rectangle 4"/>
            <p:cNvSpPr/>
            <p:nvPr/>
          </p:nvSpPr>
          <p:spPr>
            <a:xfrm>
              <a:off x="685800" y="723900"/>
              <a:ext cx="1082040" cy="38100"/>
            </a:xfrm>
            <a:prstGeom prst="rect">
              <a:avLst/>
            </a:prstGeom>
            <a:solidFill>
              <a:srgbClr val="C8102E"/>
            </a:solidFill>
            <a:ln>
              <a:noFill/>
            </a:ln>
          </p:spPr>
        </p:sp>
      </p:grpSp>
      <p:grpSp>
        <p:nvGrpSpPr>
          <p:cNvPr id="8" name="title"/>
          <p:cNvGrpSpPr/>
          <p:nvPr/>
        </p:nvGrpSpPr>
        <p:grpSpPr>
          <a:xfrm>
            <a:off x="652272" y="977265"/>
            <a:ext cx="3701333" cy="1193482"/>
            <a:chOff x="652272" y="977265"/>
            <a:chExt cx="3701333" cy="1193482"/>
          </a:xfrm>
        </p:grpSpPr>
        <p:sp>
          <p:nvSpPr>
            <p:cNvPr id="6" name="TextBox 6"/>
            <p:cNvSpPr txBox="1"/>
            <p:nvPr/>
          </p:nvSpPr>
          <p:spPr>
            <a:xfrm>
              <a:off x="652272" y="977265"/>
              <a:ext cx="3701333" cy="645414"/>
            </a:xfrm>
            <a:prstGeom prst="rect">
              <a:avLst/>
            </a:prstGeom>
            <a:noFill/>
            <a:ln>
              <a:noFill/>
            </a:ln>
          </p:spPr>
          <p:txBody>
            <a:bodyPr wrap="none" lIns="0" tIns="0" rIns="0" bIns="0" anchor="t" anchorCtr="0">
              <a:spAutoFit/>
            </a:bodyPr>
            <a:lstStyle/>
            <a:p>
              <a:pPr algn="l"/>
              <a:r>
                <a:rPr lang="vi-VN" sz="3300" b="1" dirty="0">
                  <a:solidFill>
                    <a:srgbClr val="111111"/>
                  </a:solidFill>
                  <a:latin typeface="Arial"/>
                  <a:ea typeface="Arial"/>
                  <a:cs typeface="Arial"/>
                </a:rPr>
                <a:t>Mục lục trình bày</a:t>
              </a:r>
            </a:p>
          </p:txBody>
        </p:sp>
        <p:sp>
          <p:nvSpPr>
            <p:cNvPr id="7" name="TextBox 7"/>
            <p:cNvSpPr txBox="1"/>
            <p:nvPr/>
          </p:nvSpPr>
          <p:spPr>
            <a:xfrm>
              <a:off x="677418" y="1848040"/>
              <a:ext cx="3431865" cy="322707"/>
            </a:xfrm>
            <a:prstGeom prst="rect">
              <a:avLst/>
            </a:prstGeom>
            <a:noFill/>
            <a:ln>
              <a:noFill/>
            </a:ln>
          </p:spPr>
          <p:txBody>
            <a:bodyPr wrap="none" lIns="0" tIns="0" rIns="0" bIns="0" anchor="t" anchorCtr="0">
              <a:spAutoFit/>
            </a:bodyPr>
            <a:lstStyle/>
            <a:p>
              <a:pPr algn="l"/>
              <a:r>
                <a:rPr lang="vi-VN" sz="1650" dirty="0">
                  <a:solidFill>
                    <a:srgbClr val="6E6E6E"/>
                  </a:solidFill>
                  <a:latin typeface="Arial"/>
                  <a:ea typeface="Arial"/>
                  <a:cs typeface="Arial"/>
                </a:rPr>
                <a:t>Các phần chính trong bài trình bày</a:t>
              </a:r>
            </a:p>
          </p:txBody>
        </p:sp>
      </p:grpSp>
      <p:grpSp>
        <p:nvGrpSpPr>
          <p:cNvPr id="12" name="footer"/>
          <p:cNvGrpSpPr/>
          <p:nvPr/>
        </p:nvGrpSpPr>
        <p:grpSpPr>
          <a:xfrm>
            <a:off x="680085" y="6286500"/>
            <a:ext cx="10831830" cy="327184"/>
            <a:chOff x="680085" y="6286500"/>
            <a:chExt cx="10831830" cy="327184"/>
          </a:xfrm>
        </p:grpSpPr>
        <p:sp>
          <p:nvSpPr>
            <p:cNvPr id="9" name="Freeform 9"/>
            <p:cNvSpPr/>
            <p:nvPr/>
          </p:nvSpPr>
          <p:spPr>
            <a:xfrm>
              <a:off x="685800" y="6286500"/>
              <a:ext cx="10820400" cy="9525"/>
            </a:xfrm>
            <a:custGeom>
              <a:avLst/>
              <a:gdLst/>
              <a:ahLst/>
              <a:cxnLst/>
              <a:rect l="l" t="t" r="r" b="b"/>
              <a:pathLst>
                <a:path w="10820400" h="9525">
                  <a:moveTo>
                    <a:pt x="0" y="0"/>
                  </a:moveTo>
                  <a:lnTo>
                    <a:pt x="10820400" y="0"/>
                  </a:lnTo>
                </a:path>
              </a:pathLst>
            </a:custGeom>
            <a:noFill/>
            <a:ln w="9525">
              <a:solidFill>
                <a:srgbClr val="E8E8E8"/>
              </a:solidFill>
            </a:ln>
          </p:spPr>
        </p:sp>
        <p:sp>
          <p:nvSpPr>
            <p:cNvPr id="10" name="TextBox 10"/>
            <p:cNvSpPr txBox="1"/>
            <p:nvPr/>
          </p:nvSpPr>
          <p:spPr>
            <a:xfrm>
              <a:off x="680085" y="6393656"/>
              <a:ext cx="2914269" cy="220028"/>
            </a:xfrm>
            <a:prstGeom prst="rect">
              <a:avLst/>
            </a:prstGeom>
            <a:noFill/>
            <a:ln>
              <a:noFill/>
            </a:ln>
          </p:spPr>
          <p:txBody>
            <a:bodyPr wrap="none" lIns="0" tIns="0" rIns="0" bIns="0" anchor="t" anchorCtr="0">
              <a:spAutoFit/>
            </a:bodyPr>
            <a:lstStyle/>
            <a:p>
              <a:pPr algn="l"/>
              <a:r>
                <a:rPr lang="vi-VN" sz="1120" dirty="0">
                  <a:solidFill>
                    <a:srgbClr val="6E6E6E"/>
                  </a:solidFill>
                  <a:latin typeface="Arial"/>
                  <a:ea typeface="Arial"/>
                  <a:cs typeface="Arial"/>
                </a:rPr>
                <a:t>Nhóm 04 | Lớp 765643-QTDA-VB2-20261</a:t>
              </a:r>
            </a:p>
          </p:txBody>
        </p:sp>
        <p:sp>
          <p:nvSpPr>
            <p:cNvPr id="11" name="TextBox 11"/>
            <p:cNvSpPr txBox="1"/>
            <p:nvPr/>
          </p:nvSpPr>
          <p:spPr>
            <a:xfrm>
              <a:off x="11332764" y="6393656"/>
              <a:ext cx="179151" cy="220028"/>
            </a:xfrm>
            <a:prstGeom prst="rect">
              <a:avLst/>
            </a:prstGeom>
            <a:noFill/>
            <a:ln>
              <a:noFill/>
            </a:ln>
          </p:spPr>
          <p:txBody>
            <a:bodyPr wrap="none" lIns="0" tIns="0" rIns="0" bIns="0" anchor="t" anchorCtr="0">
              <a:spAutoFit/>
            </a:bodyPr>
            <a:lstStyle/>
            <a:p>
              <a:pPr algn="r"/>
              <a:r>
                <a:rPr lang="vi-VN" sz="1120" dirty="0">
                  <a:solidFill>
                    <a:srgbClr val="6E6E6E"/>
                  </a:solidFill>
                  <a:latin typeface="Arial"/>
                  <a:ea typeface="Arial"/>
                  <a:cs typeface="Arial"/>
                </a:rPr>
                <a:t>02</a:t>
              </a:r>
            </a:p>
          </p:txBody>
        </p:sp>
      </p:grpSp>
      <p:grpSp>
        <p:nvGrpSpPr>
          <p:cNvPr id="16" name="agenda-1"/>
          <p:cNvGrpSpPr/>
          <p:nvPr/>
        </p:nvGrpSpPr>
        <p:grpSpPr>
          <a:xfrm>
            <a:off x="876300" y="2384734"/>
            <a:ext cx="3159282" cy="360045"/>
            <a:chOff x="876300" y="2085975"/>
            <a:chExt cx="3159282" cy="360045"/>
          </a:xfrm>
        </p:grpSpPr>
        <p:sp>
          <p:nvSpPr>
            <p:cNvPr id="13" name="Rectangle 13"/>
            <p:cNvSpPr/>
            <p:nvPr/>
          </p:nvSpPr>
          <p:spPr>
            <a:xfrm>
              <a:off x="876300" y="2085975"/>
              <a:ext cx="457200" cy="323850"/>
            </a:xfrm>
            <a:prstGeom prst="rect">
              <a:avLst/>
            </a:prstGeom>
            <a:solidFill>
              <a:srgbClr val="F5F5F5"/>
            </a:solidFill>
            <a:ln w="9525">
              <a:solidFill>
                <a:srgbClr val="E8E8E8"/>
              </a:solidFill>
            </a:ln>
          </p:spPr>
        </p:sp>
        <p:sp>
          <p:nvSpPr>
            <p:cNvPr id="14" name="TextBox 14"/>
            <p:cNvSpPr txBox="1"/>
            <p:nvPr/>
          </p:nvSpPr>
          <p:spPr>
            <a:xfrm>
              <a:off x="1015324" y="2193131"/>
              <a:ext cx="179151" cy="220028"/>
            </a:xfrm>
            <a:prstGeom prst="rect">
              <a:avLst/>
            </a:prstGeom>
            <a:noFill/>
            <a:ln>
              <a:noFill/>
            </a:ln>
          </p:spPr>
          <p:txBody>
            <a:bodyPr wrap="none" lIns="0" tIns="0" rIns="0" bIns="0" anchor="t" anchorCtr="0">
              <a:spAutoFit/>
            </a:bodyPr>
            <a:lstStyle/>
            <a:p>
              <a:pPr algn="ctr"/>
              <a:r>
                <a:rPr lang="vi-VN" sz="1120" b="1" dirty="0">
                  <a:solidFill>
                    <a:srgbClr val="C8102E"/>
                  </a:solidFill>
                  <a:latin typeface="Arial"/>
                  <a:ea typeface="Arial"/>
                  <a:cs typeface="Arial"/>
                </a:rPr>
                <a:t>01</a:t>
              </a:r>
            </a:p>
          </p:txBody>
        </p:sp>
        <p:sp>
          <p:nvSpPr>
            <p:cNvPr id="15" name="TextBox 15"/>
            <p:cNvSpPr txBox="1"/>
            <p:nvPr/>
          </p:nvSpPr>
          <p:spPr>
            <a:xfrm>
              <a:off x="1554480" y="2152650"/>
              <a:ext cx="2481102" cy="293370"/>
            </a:xfrm>
            <a:prstGeom prst="rect">
              <a:avLst/>
            </a:prstGeom>
            <a:noFill/>
            <a:ln>
              <a:noFill/>
            </a:ln>
          </p:spPr>
          <p:txBody>
            <a:bodyPr wrap="none" lIns="0" tIns="0" rIns="0" bIns="0" anchor="t" anchorCtr="0">
              <a:spAutoFit/>
            </a:bodyPr>
            <a:lstStyle/>
            <a:p>
              <a:pPr algn="l"/>
              <a:r>
                <a:rPr lang="vi-VN" sz="1500" dirty="0">
                  <a:solidFill>
                    <a:srgbClr val="1A1A1A"/>
                  </a:solidFill>
                  <a:latin typeface="Arial"/>
                  <a:ea typeface="Arial"/>
                  <a:cs typeface="Arial"/>
                </a:rPr>
                <a:t>Tên dự án, nhóm thực hiện.</a:t>
              </a:r>
            </a:p>
          </p:txBody>
        </p:sp>
      </p:grpSp>
      <p:grpSp>
        <p:nvGrpSpPr>
          <p:cNvPr id="20" name="agenda-2"/>
          <p:cNvGrpSpPr/>
          <p:nvPr/>
        </p:nvGrpSpPr>
        <p:grpSpPr>
          <a:xfrm>
            <a:off x="876300" y="2975284"/>
            <a:ext cx="4045956" cy="360045"/>
            <a:chOff x="876300" y="2676525"/>
            <a:chExt cx="4045956" cy="360045"/>
          </a:xfrm>
        </p:grpSpPr>
        <p:sp>
          <p:nvSpPr>
            <p:cNvPr id="17" name="Rectangle 17"/>
            <p:cNvSpPr/>
            <p:nvPr/>
          </p:nvSpPr>
          <p:spPr>
            <a:xfrm>
              <a:off x="876300" y="2676525"/>
              <a:ext cx="457200" cy="323850"/>
            </a:xfrm>
            <a:prstGeom prst="rect">
              <a:avLst/>
            </a:prstGeom>
            <a:solidFill>
              <a:srgbClr val="F5F5F5"/>
            </a:solidFill>
            <a:ln w="9525">
              <a:solidFill>
                <a:srgbClr val="E8E8E8"/>
              </a:solidFill>
            </a:ln>
          </p:spPr>
        </p:sp>
        <p:sp>
          <p:nvSpPr>
            <p:cNvPr id="18" name="TextBox 18"/>
            <p:cNvSpPr txBox="1"/>
            <p:nvPr/>
          </p:nvSpPr>
          <p:spPr>
            <a:xfrm>
              <a:off x="1015324" y="2783681"/>
              <a:ext cx="179151" cy="220028"/>
            </a:xfrm>
            <a:prstGeom prst="rect">
              <a:avLst/>
            </a:prstGeom>
            <a:noFill/>
            <a:ln>
              <a:noFill/>
            </a:ln>
          </p:spPr>
          <p:txBody>
            <a:bodyPr wrap="none" lIns="0" tIns="0" rIns="0" bIns="0" anchor="t" anchorCtr="0">
              <a:spAutoFit/>
            </a:bodyPr>
            <a:lstStyle/>
            <a:p>
              <a:pPr algn="ctr"/>
              <a:r>
                <a:rPr lang="vi-VN" sz="1120" b="1" dirty="0">
                  <a:solidFill>
                    <a:srgbClr val="C8102E"/>
                  </a:solidFill>
                  <a:latin typeface="Arial"/>
                  <a:ea typeface="Arial"/>
                  <a:cs typeface="Arial"/>
                </a:rPr>
                <a:t>02</a:t>
              </a:r>
            </a:p>
          </p:txBody>
        </p:sp>
        <p:sp>
          <p:nvSpPr>
            <p:cNvPr id="19" name="TextBox 19"/>
            <p:cNvSpPr txBox="1"/>
            <p:nvPr/>
          </p:nvSpPr>
          <p:spPr>
            <a:xfrm>
              <a:off x="1554480" y="2743200"/>
              <a:ext cx="3367776" cy="293370"/>
            </a:xfrm>
            <a:prstGeom prst="rect">
              <a:avLst/>
            </a:prstGeom>
            <a:noFill/>
            <a:ln>
              <a:noFill/>
            </a:ln>
          </p:spPr>
          <p:txBody>
            <a:bodyPr wrap="none" lIns="0" tIns="0" rIns="0" bIns="0" anchor="t" anchorCtr="0">
              <a:spAutoFit/>
            </a:bodyPr>
            <a:lstStyle/>
            <a:p>
              <a:pPr algn="l"/>
              <a:r>
                <a:rPr lang="vi-VN" sz="1500" dirty="0">
                  <a:solidFill>
                    <a:srgbClr val="1A1A1A"/>
                  </a:solidFill>
                  <a:latin typeface="Arial"/>
                  <a:ea typeface="Arial"/>
                  <a:cs typeface="Arial"/>
                </a:rPr>
                <a:t>Mục tiêu, ý nghĩa, yêu cầu của dự án.</a:t>
              </a:r>
            </a:p>
          </p:txBody>
        </p:sp>
      </p:grpSp>
      <p:grpSp>
        <p:nvGrpSpPr>
          <p:cNvPr id="24" name="agenda-3"/>
          <p:cNvGrpSpPr/>
          <p:nvPr/>
        </p:nvGrpSpPr>
        <p:grpSpPr>
          <a:xfrm>
            <a:off x="876300" y="3565834"/>
            <a:ext cx="2754615" cy="360045"/>
            <a:chOff x="876300" y="3267075"/>
            <a:chExt cx="2754615" cy="360045"/>
          </a:xfrm>
        </p:grpSpPr>
        <p:sp>
          <p:nvSpPr>
            <p:cNvPr id="21" name="Rectangle 21"/>
            <p:cNvSpPr/>
            <p:nvPr/>
          </p:nvSpPr>
          <p:spPr>
            <a:xfrm>
              <a:off x="876300" y="3267075"/>
              <a:ext cx="457200" cy="323850"/>
            </a:xfrm>
            <a:prstGeom prst="rect">
              <a:avLst/>
            </a:prstGeom>
            <a:solidFill>
              <a:srgbClr val="F5F5F5"/>
            </a:solidFill>
            <a:ln w="9525">
              <a:solidFill>
                <a:srgbClr val="E8E8E8"/>
              </a:solidFill>
            </a:ln>
          </p:spPr>
        </p:sp>
        <p:sp>
          <p:nvSpPr>
            <p:cNvPr id="22" name="TextBox 22"/>
            <p:cNvSpPr txBox="1"/>
            <p:nvPr/>
          </p:nvSpPr>
          <p:spPr>
            <a:xfrm>
              <a:off x="1015324" y="3374231"/>
              <a:ext cx="179151" cy="220028"/>
            </a:xfrm>
            <a:prstGeom prst="rect">
              <a:avLst/>
            </a:prstGeom>
            <a:noFill/>
            <a:ln>
              <a:noFill/>
            </a:ln>
          </p:spPr>
          <p:txBody>
            <a:bodyPr wrap="none" lIns="0" tIns="0" rIns="0" bIns="0" anchor="t" anchorCtr="0">
              <a:spAutoFit/>
            </a:bodyPr>
            <a:lstStyle/>
            <a:p>
              <a:pPr algn="ctr"/>
              <a:r>
                <a:rPr lang="vi-VN" sz="1120" b="1" dirty="0">
                  <a:solidFill>
                    <a:srgbClr val="C8102E"/>
                  </a:solidFill>
                  <a:latin typeface="Arial"/>
                  <a:ea typeface="Arial"/>
                  <a:cs typeface="Arial"/>
                </a:rPr>
                <a:t>03</a:t>
              </a:r>
            </a:p>
          </p:txBody>
        </p:sp>
        <p:sp>
          <p:nvSpPr>
            <p:cNvPr id="23" name="TextBox 23"/>
            <p:cNvSpPr txBox="1"/>
            <p:nvPr/>
          </p:nvSpPr>
          <p:spPr>
            <a:xfrm>
              <a:off x="1554480" y="3333750"/>
              <a:ext cx="2076435" cy="293370"/>
            </a:xfrm>
            <a:prstGeom prst="rect">
              <a:avLst/>
            </a:prstGeom>
            <a:noFill/>
            <a:ln>
              <a:noFill/>
            </a:ln>
          </p:spPr>
          <p:txBody>
            <a:bodyPr wrap="none" lIns="0" tIns="0" rIns="0" bIns="0" anchor="t" anchorCtr="0">
              <a:spAutoFit/>
            </a:bodyPr>
            <a:lstStyle/>
            <a:p>
              <a:pPr algn="l"/>
              <a:r>
                <a:rPr lang="vi-VN" sz="1500" dirty="0">
                  <a:solidFill>
                    <a:srgbClr val="1A1A1A"/>
                  </a:solidFill>
                  <a:latin typeface="Arial"/>
                  <a:ea typeface="Arial"/>
                  <a:cs typeface="Arial"/>
                </a:rPr>
                <a:t>Tính khả thi của dự án.</a:t>
              </a:r>
            </a:p>
          </p:txBody>
        </p:sp>
      </p:grpSp>
      <p:grpSp>
        <p:nvGrpSpPr>
          <p:cNvPr id="28" name="agenda-4"/>
          <p:cNvGrpSpPr/>
          <p:nvPr/>
        </p:nvGrpSpPr>
        <p:grpSpPr>
          <a:xfrm>
            <a:off x="876300" y="4156384"/>
            <a:ext cx="3047144" cy="360045"/>
            <a:chOff x="876300" y="3857625"/>
            <a:chExt cx="3047144" cy="360045"/>
          </a:xfrm>
        </p:grpSpPr>
        <p:sp>
          <p:nvSpPr>
            <p:cNvPr id="25" name="Rectangle 25"/>
            <p:cNvSpPr/>
            <p:nvPr/>
          </p:nvSpPr>
          <p:spPr>
            <a:xfrm>
              <a:off x="876300" y="3857625"/>
              <a:ext cx="457200" cy="323850"/>
            </a:xfrm>
            <a:prstGeom prst="rect">
              <a:avLst/>
            </a:prstGeom>
            <a:solidFill>
              <a:srgbClr val="F5F5F5"/>
            </a:solidFill>
            <a:ln w="9525">
              <a:solidFill>
                <a:srgbClr val="E8E8E8"/>
              </a:solidFill>
            </a:ln>
          </p:spPr>
        </p:sp>
        <p:sp>
          <p:nvSpPr>
            <p:cNvPr id="26" name="TextBox 26"/>
            <p:cNvSpPr txBox="1"/>
            <p:nvPr/>
          </p:nvSpPr>
          <p:spPr>
            <a:xfrm>
              <a:off x="1015324" y="3964781"/>
              <a:ext cx="179151" cy="220028"/>
            </a:xfrm>
            <a:prstGeom prst="rect">
              <a:avLst/>
            </a:prstGeom>
            <a:noFill/>
            <a:ln>
              <a:noFill/>
            </a:ln>
          </p:spPr>
          <p:txBody>
            <a:bodyPr wrap="none" lIns="0" tIns="0" rIns="0" bIns="0" anchor="t" anchorCtr="0">
              <a:spAutoFit/>
            </a:bodyPr>
            <a:lstStyle/>
            <a:p>
              <a:pPr algn="ctr"/>
              <a:r>
                <a:rPr lang="vi-VN" sz="1120" b="1" dirty="0">
                  <a:solidFill>
                    <a:srgbClr val="C8102E"/>
                  </a:solidFill>
                  <a:latin typeface="Arial"/>
                  <a:ea typeface="Arial"/>
                  <a:cs typeface="Arial"/>
                </a:rPr>
                <a:t>04</a:t>
              </a:r>
            </a:p>
          </p:txBody>
        </p:sp>
        <p:sp>
          <p:nvSpPr>
            <p:cNvPr id="27" name="TextBox 27"/>
            <p:cNvSpPr txBox="1"/>
            <p:nvPr/>
          </p:nvSpPr>
          <p:spPr>
            <a:xfrm>
              <a:off x="1554480" y="3924300"/>
              <a:ext cx="2368964" cy="293370"/>
            </a:xfrm>
            <a:prstGeom prst="rect">
              <a:avLst/>
            </a:prstGeom>
            <a:noFill/>
            <a:ln>
              <a:noFill/>
            </a:ln>
          </p:spPr>
          <p:txBody>
            <a:bodyPr wrap="none" lIns="0" tIns="0" rIns="0" bIns="0" anchor="t" anchorCtr="0">
              <a:spAutoFit/>
            </a:bodyPr>
            <a:lstStyle/>
            <a:p>
              <a:pPr algn="l"/>
              <a:r>
                <a:rPr lang="vi-VN" sz="1500" dirty="0">
                  <a:solidFill>
                    <a:srgbClr val="1A1A1A"/>
                  </a:solidFill>
                  <a:latin typeface="Arial"/>
                  <a:ea typeface="Arial"/>
                  <a:cs typeface="Arial"/>
                </a:rPr>
                <a:t>Các chức năng của dự án.</a:t>
              </a:r>
            </a:p>
          </p:txBody>
        </p:sp>
      </p:grpSp>
      <p:grpSp>
        <p:nvGrpSpPr>
          <p:cNvPr id="32" name="agenda-5"/>
          <p:cNvGrpSpPr/>
          <p:nvPr/>
        </p:nvGrpSpPr>
        <p:grpSpPr>
          <a:xfrm>
            <a:off x="876300" y="4746934"/>
            <a:ext cx="3114523" cy="360045"/>
            <a:chOff x="876300" y="4448175"/>
            <a:chExt cx="3114523" cy="360045"/>
          </a:xfrm>
        </p:grpSpPr>
        <p:sp>
          <p:nvSpPr>
            <p:cNvPr id="29" name="Rectangle 29"/>
            <p:cNvSpPr/>
            <p:nvPr/>
          </p:nvSpPr>
          <p:spPr>
            <a:xfrm>
              <a:off x="876300" y="4448175"/>
              <a:ext cx="457200" cy="323850"/>
            </a:xfrm>
            <a:prstGeom prst="rect">
              <a:avLst/>
            </a:prstGeom>
            <a:solidFill>
              <a:srgbClr val="F5F5F5"/>
            </a:solidFill>
            <a:ln w="9525">
              <a:solidFill>
                <a:srgbClr val="E8E8E8"/>
              </a:solidFill>
            </a:ln>
          </p:spPr>
        </p:sp>
        <p:sp>
          <p:nvSpPr>
            <p:cNvPr id="30" name="TextBox 30"/>
            <p:cNvSpPr txBox="1"/>
            <p:nvPr/>
          </p:nvSpPr>
          <p:spPr>
            <a:xfrm>
              <a:off x="1015324" y="4555331"/>
              <a:ext cx="179151" cy="220028"/>
            </a:xfrm>
            <a:prstGeom prst="rect">
              <a:avLst/>
            </a:prstGeom>
            <a:noFill/>
            <a:ln>
              <a:noFill/>
            </a:ln>
          </p:spPr>
          <p:txBody>
            <a:bodyPr wrap="none" lIns="0" tIns="0" rIns="0" bIns="0" anchor="t" anchorCtr="0">
              <a:spAutoFit/>
            </a:bodyPr>
            <a:lstStyle/>
            <a:p>
              <a:pPr algn="ctr"/>
              <a:r>
                <a:rPr lang="vi-VN" sz="1120" b="1" dirty="0">
                  <a:solidFill>
                    <a:srgbClr val="C8102E"/>
                  </a:solidFill>
                  <a:latin typeface="Arial"/>
                  <a:ea typeface="Arial"/>
                  <a:cs typeface="Arial"/>
                </a:rPr>
                <a:t>05</a:t>
              </a:r>
            </a:p>
          </p:txBody>
        </p:sp>
        <p:sp>
          <p:nvSpPr>
            <p:cNvPr id="31" name="TextBox 31"/>
            <p:cNvSpPr txBox="1"/>
            <p:nvPr/>
          </p:nvSpPr>
          <p:spPr>
            <a:xfrm>
              <a:off x="1554480" y="4514850"/>
              <a:ext cx="2436343" cy="293370"/>
            </a:xfrm>
            <a:prstGeom prst="rect">
              <a:avLst/>
            </a:prstGeom>
            <a:noFill/>
            <a:ln>
              <a:noFill/>
            </a:ln>
          </p:spPr>
          <p:txBody>
            <a:bodyPr wrap="none" lIns="0" tIns="0" rIns="0" bIns="0" anchor="t" anchorCtr="0">
              <a:spAutoFit/>
            </a:bodyPr>
            <a:lstStyle/>
            <a:p>
              <a:pPr algn="l"/>
              <a:r>
                <a:rPr lang="vi-VN" sz="1500" dirty="0">
                  <a:solidFill>
                    <a:srgbClr val="1A1A1A"/>
                  </a:solidFill>
                  <a:latin typeface="Arial"/>
                  <a:ea typeface="Arial"/>
                  <a:cs typeface="Arial"/>
                </a:rPr>
                <a:t>Nguồn nhân lực của dự án.</a:t>
              </a:r>
            </a:p>
          </p:txBody>
        </p:sp>
      </p:grpSp>
      <p:grpSp>
        <p:nvGrpSpPr>
          <p:cNvPr id="36" name="agenda-6"/>
          <p:cNvGrpSpPr/>
          <p:nvPr/>
        </p:nvGrpSpPr>
        <p:grpSpPr>
          <a:xfrm>
            <a:off x="6162675" y="2384734"/>
            <a:ext cx="3023969" cy="360045"/>
            <a:chOff x="6162675" y="2085975"/>
            <a:chExt cx="3023969" cy="360045"/>
          </a:xfrm>
        </p:grpSpPr>
        <p:sp>
          <p:nvSpPr>
            <p:cNvPr id="33" name="Rectangle 33"/>
            <p:cNvSpPr/>
            <p:nvPr/>
          </p:nvSpPr>
          <p:spPr>
            <a:xfrm>
              <a:off x="6162675" y="2085975"/>
              <a:ext cx="457200" cy="323850"/>
            </a:xfrm>
            <a:prstGeom prst="rect">
              <a:avLst/>
            </a:prstGeom>
            <a:solidFill>
              <a:srgbClr val="F5F5F5"/>
            </a:solidFill>
            <a:ln w="9525">
              <a:solidFill>
                <a:srgbClr val="E8E8E8"/>
              </a:solidFill>
            </a:ln>
          </p:spPr>
        </p:sp>
        <p:sp>
          <p:nvSpPr>
            <p:cNvPr id="34" name="TextBox 34"/>
            <p:cNvSpPr txBox="1"/>
            <p:nvPr/>
          </p:nvSpPr>
          <p:spPr>
            <a:xfrm>
              <a:off x="6301699" y="2193131"/>
              <a:ext cx="179151" cy="220028"/>
            </a:xfrm>
            <a:prstGeom prst="rect">
              <a:avLst/>
            </a:prstGeom>
            <a:noFill/>
            <a:ln>
              <a:noFill/>
            </a:ln>
          </p:spPr>
          <p:txBody>
            <a:bodyPr wrap="none" lIns="0" tIns="0" rIns="0" bIns="0" anchor="t" anchorCtr="0">
              <a:spAutoFit/>
            </a:bodyPr>
            <a:lstStyle/>
            <a:p>
              <a:pPr algn="ctr"/>
              <a:r>
                <a:rPr lang="vi-VN" sz="1120" b="1" dirty="0">
                  <a:solidFill>
                    <a:srgbClr val="C8102E"/>
                  </a:solidFill>
                  <a:latin typeface="Arial"/>
                  <a:ea typeface="Arial"/>
                  <a:cs typeface="Arial"/>
                </a:rPr>
                <a:t>06</a:t>
              </a:r>
            </a:p>
          </p:txBody>
        </p:sp>
        <p:sp>
          <p:nvSpPr>
            <p:cNvPr id="35" name="TextBox 35"/>
            <p:cNvSpPr txBox="1"/>
            <p:nvPr/>
          </p:nvSpPr>
          <p:spPr>
            <a:xfrm>
              <a:off x="6840855" y="2152650"/>
              <a:ext cx="2345789" cy="293370"/>
            </a:xfrm>
            <a:prstGeom prst="rect">
              <a:avLst/>
            </a:prstGeom>
            <a:noFill/>
            <a:ln>
              <a:noFill/>
            </a:ln>
          </p:spPr>
          <p:txBody>
            <a:bodyPr wrap="none" lIns="0" tIns="0" rIns="0" bIns="0" anchor="t" anchorCtr="0">
              <a:spAutoFit/>
            </a:bodyPr>
            <a:lstStyle/>
            <a:p>
              <a:pPr algn="l"/>
              <a:r>
                <a:rPr lang="vi-VN" sz="1500" dirty="0">
                  <a:solidFill>
                    <a:srgbClr val="1A1A1A"/>
                  </a:solidFill>
                  <a:latin typeface="Arial"/>
                  <a:ea typeface="Arial"/>
                  <a:cs typeface="Arial"/>
                </a:rPr>
                <a:t>Thời gian thực hiện dự án.</a:t>
              </a:r>
            </a:p>
          </p:txBody>
        </p:sp>
      </p:grpSp>
      <p:grpSp>
        <p:nvGrpSpPr>
          <p:cNvPr id="40" name="agenda-7"/>
          <p:cNvGrpSpPr/>
          <p:nvPr/>
        </p:nvGrpSpPr>
        <p:grpSpPr>
          <a:xfrm>
            <a:off x="6162675" y="2975284"/>
            <a:ext cx="1766600" cy="360045"/>
            <a:chOff x="6162675" y="2676525"/>
            <a:chExt cx="1766600" cy="360045"/>
          </a:xfrm>
        </p:grpSpPr>
        <p:sp>
          <p:nvSpPr>
            <p:cNvPr id="37" name="Rectangle 37"/>
            <p:cNvSpPr/>
            <p:nvPr/>
          </p:nvSpPr>
          <p:spPr>
            <a:xfrm>
              <a:off x="6162675" y="2676525"/>
              <a:ext cx="457200" cy="323850"/>
            </a:xfrm>
            <a:prstGeom prst="rect">
              <a:avLst/>
            </a:prstGeom>
            <a:solidFill>
              <a:srgbClr val="F5F5F5"/>
            </a:solidFill>
            <a:ln w="9525">
              <a:solidFill>
                <a:srgbClr val="E8E8E8"/>
              </a:solidFill>
            </a:ln>
          </p:spPr>
        </p:sp>
        <p:sp>
          <p:nvSpPr>
            <p:cNvPr id="38" name="TextBox 38"/>
            <p:cNvSpPr txBox="1"/>
            <p:nvPr/>
          </p:nvSpPr>
          <p:spPr>
            <a:xfrm>
              <a:off x="6301699" y="2783681"/>
              <a:ext cx="179151" cy="220028"/>
            </a:xfrm>
            <a:prstGeom prst="rect">
              <a:avLst/>
            </a:prstGeom>
            <a:noFill/>
            <a:ln>
              <a:noFill/>
            </a:ln>
          </p:spPr>
          <p:txBody>
            <a:bodyPr wrap="none" lIns="0" tIns="0" rIns="0" bIns="0" anchor="t" anchorCtr="0">
              <a:spAutoFit/>
            </a:bodyPr>
            <a:lstStyle/>
            <a:p>
              <a:pPr algn="ctr"/>
              <a:r>
                <a:rPr lang="vi-VN" sz="1120" b="1" dirty="0">
                  <a:solidFill>
                    <a:srgbClr val="C8102E"/>
                  </a:solidFill>
                  <a:latin typeface="Arial"/>
                  <a:ea typeface="Arial"/>
                  <a:cs typeface="Arial"/>
                </a:rPr>
                <a:t>07</a:t>
              </a:r>
            </a:p>
          </p:txBody>
        </p:sp>
        <p:sp>
          <p:nvSpPr>
            <p:cNvPr id="39" name="TextBox 39"/>
            <p:cNvSpPr txBox="1"/>
            <p:nvPr/>
          </p:nvSpPr>
          <p:spPr>
            <a:xfrm>
              <a:off x="6840855" y="2743200"/>
              <a:ext cx="1088420" cy="293370"/>
            </a:xfrm>
            <a:prstGeom prst="rect">
              <a:avLst/>
            </a:prstGeom>
            <a:noFill/>
            <a:ln>
              <a:noFill/>
            </a:ln>
          </p:spPr>
          <p:txBody>
            <a:bodyPr wrap="none" lIns="0" tIns="0" rIns="0" bIns="0" anchor="t" anchorCtr="0">
              <a:spAutoFit/>
            </a:bodyPr>
            <a:lstStyle/>
            <a:p>
              <a:pPr algn="l"/>
              <a:r>
                <a:rPr lang="vi-VN" sz="1500" dirty="0">
                  <a:solidFill>
                    <a:srgbClr val="1A1A1A"/>
                  </a:solidFill>
                  <a:latin typeface="Arial"/>
                  <a:ea typeface="Arial"/>
                  <a:cs typeface="Arial"/>
                </a:rPr>
                <a:t>Số kinh phí.</a:t>
              </a:r>
            </a:p>
          </p:txBody>
        </p:sp>
      </p:grpSp>
      <p:grpSp>
        <p:nvGrpSpPr>
          <p:cNvPr id="44" name="agenda-8"/>
          <p:cNvGrpSpPr/>
          <p:nvPr/>
        </p:nvGrpSpPr>
        <p:grpSpPr>
          <a:xfrm>
            <a:off x="6162675" y="3565834"/>
            <a:ext cx="2889670" cy="360045"/>
            <a:chOff x="6162675" y="3267075"/>
            <a:chExt cx="2889670" cy="360045"/>
          </a:xfrm>
        </p:grpSpPr>
        <p:sp>
          <p:nvSpPr>
            <p:cNvPr id="41" name="Rectangle 41"/>
            <p:cNvSpPr/>
            <p:nvPr/>
          </p:nvSpPr>
          <p:spPr>
            <a:xfrm>
              <a:off x="6162675" y="3267075"/>
              <a:ext cx="457200" cy="323850"/>
            </a:xfrm>
            <a:prstGeom prst="rect">
              <a:avLst/>
            </a:prstGeom>
            <a:solidFill>
              <a:srgbClr val="F5F5F5"/>
            </a:solidFill>
            <a:ln w="9525">
              <a:solidFill>
                <a:srgbClr val="E8E8E8"/>
              </a:solidFill>
            </a:ln>
          </p:spPr>
        </p:sp>
        <p:sp>
          <p:nvSpPr>
            <p:cNvPr id="42" name="TextBox 42"/>
            <p:cNvSpPr txBox="1"/>
            <p:nvPr/>
          </p:nvSpPr>
          <p:spPr>
            <a:xfrm>
              <a:off x="6301699" y="3374231"/>
              <a:ext cx="179151" cy="220028"/>
            </a:xfrm>
            <a:prstGeom prst="rect">
              <a:avLst/>
            </a:prstGeom>
            <a:noFill/>
            <a:ln>
              <a:noFill/>
            </a:ln>
          </p:spPr>
          <p:txBody>
            <a:bodyPr wrap="none" lIns="0" tIns="0" rIns="0" bIns="0" anchor="t" anchorCtr="0">
              <a:spAutoFit/>
            </a:bodyPr>
            <a:lstStyle/>
            <a:p>
              <a:pPr algn="ctr"/>
              <a:r>
                <a:rPr lang="vi-VN" sz="1120" b="1" dirty="0">
                  <a:solidFill>
                    <a:srgbClr val="C8102E"/>
                  </a:solidFill>
                  <a:latin typeface="Arial"/>
                  <a:ea typeface="Arial"/>
                  <a:cs typeface="Arial"/>
                </a:rPr>
                <a:t>08</a:t>
              </a:r>
            </a:p>
          </p:txBody>
        </p:sp>
        <p:sp>
          <p:nvSpPr>
            <p:cNvPr id="43" name="TextBox 43"/>
            <p:cNvSpPr txBox="1"/>
            <p:nvPr/>
          </p:nvSpPr>
          <p:spPr>
            <a:xfrm>
              <a:off x="6840855" y="3333750"/>
              <a:ext cx="2211490" cy="293370"/>
            </a:xfrm>
            <a:prstGeom prst="rect">
              <a:avLst/>
            </a:prstGeom>
            <a:noFill/>
            <a:ln>
              <a:noFill/>
            </a:ln>
          </p:spPr>
          <p:txBody>
            <a:bodyPr wrap="none" lIns="0" tIns="0" rIns="0" bIns="0" anchor="t" anchorCtr="0">
              <a:spAutoFit/>
            </a:bodyPr>
            <a:lstStyle/>
            <a:p>
              <a:pPr algn="l"/>
              <a:r>
                <a:rPr lang="vi-VN" sz="1500" dirty="0">
                  <a:solidFill>
                    <a:srgbClr val="1A1A1A"/>
                  </a:solidFill>
                  <a:latin typeface="Arial"/>
                  <a:ea typeface="Arial"/>
                  <a:cs typeface="Arial"/>
                </a:rPr>
                <a:t>Kết quả thực hiện dự án.</a:t>
              </a:r>
            </a:p>
          </p:txBody>
        </p:sp>
      </p:grpSp>
      <p:grpSp>
        <p:nvGrpSpPr>
          <p:cNvPr id="48" name="agenda-9"/>
          <p:cNvGrpSpPr/>
          <p:nvPr/>
        </p:nvGrpSpPr>
        <p:grpSpPr>
          <a:xfrm>
            <a:off x="6162675" y="4156384"/>
            <a:ext cx="1496964" cy="360045"/>
            <a:chOff x="6162675" y="3857625"/>
            <a:chExt cx="1496964" cy="360045"/>
          </a:xfrm>
        </p:grpSpPr>
        <p:sp>
          <p:nvSpPr>
            <p:cNvPr id="45" name="Rectangle 45"/>
            <p:cNvSpPr/>
            <p:nvPr/>
          </p:nvSpPr>
          <p:spPr>
            <a:xfrm>
              <a:off x="6162675" y="3857625"/>
              <a:ext cx="457200" cy="323850"/>
            </a:xfrm>
            <a:prstGeom prst="rect">
              <a:avLst/>
            </a:prstGeom>
            <a:solidFill>
              <a:srgbClr val="F5F5F5"/>
            </a:solidFill>
            <a:ln w="9525">
              <a:solidFill>
                <a:srgbClr val="E8E8E8"/>
              </a:solidFill>
            </a:ln>
          </p:spPr>
        </p:sp>
        <p:sp>
          <p:nvSpPr>
            <p:cNvPr id="46" name="TextBox 46"/>
            <p:cNvSpPr txBox="1"/>
            <p:nvPr/>
          </p:nvSpPr>
          <p:spPr>
            <a:xfrm>
              <a:off x="6301699" y="3964781"/>
              <a:ext cx="179151" cy="220028"/>
            </a:xfrm>
            <a:prstGeom prst="rect">
              <a:avLst/>
            </a:prstGeom>
            <a:noFill/>
            <a:ln>
              <a:noFill/>
            </a:ln>
          </p:spPr>
          <p:txBody>
            <a:bodyPr wrap="none" lIns="0" tIns="0" rIns="0" bIns="0" anchor="t" anchorCtr="0">
              <a:spAutoFit/>
            </a:bodyPr>
            <a:lstStyle/>
            <a:p>
              <a:pPr algn="ctr"/>
              <a:r>
                <a:rPr lang="vi-VN" sz="1120" b="1" dirty="0">
                  <a:solidFill>
                    <a:srgbClr val="C8102E"/>
                  </a:solidFill>
                  <a:latin typeface="Arial"/>
                  <a:ea typeface="Arial"/>
                  <a:cs typeface="Arial"/>
                </a:rPr>
                <a:t>09</a:t>
              </a:r>
            </a:p>
          </p:txBody>
        </p:sp>
        <p:sp>
          <p:nvSpPr>
            <p:cNvPr id="47" name="TextBox 47"/>
            <p:cNvSpPr txBox="1"/>
            <p:nvPr/>
          </p:nvSpPr>
          <p:spPr>
            <a:xfrm>
              <a:off x="6840855" y="3924300"/>
              <a:ext cx="818784" cy="293370"/>
            </a:xfrm>
            <a:prstGeom prst="rect">
              <a:avLst/>
            </a:prstGeom>
            <a:noFill/>
            <a:ln>
              <a:noFill/>
            </a:ln>
          </p:spPr>
          <p:txBody>
            <a:bodyPr wrap="none" lIns="0" tIns="0" rIns="0" bIns="0" anchor="t" anchorCtr="0">
              <a:spAutoFit/>
            </a:bodyPr>
            <a:lstStyle/>
            <a:p>
              <a:pPr algn="l"/>
              <a:r>
                <a:rPr lang="vi-VN" sz="1500" dirty="0">
                  <a:solidFill>
                    <a:srgbClr val="1A1A1A"/>
                  </a:solidFill>
                  <a:latin typeface="Arial"/>
                  <a:ea typeface="Arial"/>
                  <a:cs typeface="Arial"/>
                </a:rPr>
                <a:t>Kết luận.</a:t>
              </a:r>
            </a:p>
          </p:txBody>
        </p:sp>
      </p:grpSp>
      <p:sp>
        <p:nvSpPr>
          <p:cNvPr id="49" name="Freeform 49"/>
          <p:cNvSpPr/>
          <p:nvPr/>
        </p:nvSpPr>
        <p:spPr>
          <a:xfrm>
            <a:off x="5829300" y="2394259"/>
            <a:ext cx="9525" cy="2905125"/>
          </a:xfrm>
          <a:custGeom>
            <a:avLst/>
            <a:gdLst/>
            <a:ahLst/>
            <a:cxnLst/>
            <a:rect l="l" t="t" r="r" b="b"/>
            <a:pathLst>
              <a:path w="9525" h="2905125">
                <a:moveTo>
                  <a:pt x="0" y="0"/>
                </a:moveTo>
                <a:lnTo>
                  <a:pt x="0" y="2905125"/>
                </a:lnTo>
              </a:path>
            </a:pathLst>
          </a:custGeom>
          <a:noFill/>
          <a:ln w="9525">
            <a:solidFill>
              <a:srgbClr val="E8E8E8"/>
            </a:solidFill>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bg-fill"/>
          <p:cNvSpPr/>
          <p:nvPr/>
        </p:nvSpPr>
        <p:spPr>
          <a:xfrm>
            <a:off x="-9525" y="-9525"/>
            <a:ext cx="12211050" cy="6877050"/>
          </a:xfrm>
          <a:prstGeom prst="rect">
            <a:avLst/>
          </a:prstGeom>
          <a:solidFill>
            <a:srgbClr val="FFFFFF"/>
          </a:solidFill>
          <a:ln>
            <a:noFill/>
          </a:ln>
        </p:spPr>
      </p:sp>
      <p:grpSp>
        <p:nvGrpSpPr>
          <p:cNvPr id="5" name="top-rule"/>
          <p:cNvGrpSpPr/>
          <p:nvPr/>
        </p:nvGrpSpPr>
        <p:grpSpPr>
          <a:xfrm>
            <a:off x="685800" y="723900"/>
            <a:ext cx="10820400" cy="38100"/>
            <a:chOff x="685800" y="723900"/>
            <a:chExt cx="10820400" cy="38100"/>
          </a:xfrm>
        </p:grpSpPr>
        <p:sp>
          <p:nvSpPr>
            <p:cNvPr id="3" name="Rectangle 3"/>
            <p:cNvSpPr/>
            <p:nvPr/>
          </p:nvSpPr>
          <p:spPr>
            <a:xfrm>
              <a:off x="685800" y="723900"/>
              <a:ext cx="10820400" cy="38100"/>
            </a:xfrm>
            <a:prstGeom prst="rect">
              <a:avLst/>
            </a:prstGeom>
            <a:solidFill>
              <a:srgbClr val="E8E8E8"/>
            </a:solidFill>
            <a:ln>
              <a:noFill/>
            </a:ln>
          </p:spPr>
        </p:sp>
        <p:sp>
          <p:nvSpPr>
            <p:cNvPr id="4" name="Rectangle 4"/>
            <p:cNvSpPr/>
            <p:nvPr/>
          </p:nvSpPr>
          <p:spPr>
            <a:xfrm>
              <a:off x="685800" y="723900"/>
              <a:ext cx="1623060" cy="38100"/>
            </a:xfrm>
            <a:prstGeom prst="rect">
              <a:avLst/>
            </a:prstGeom>
            <a:solidFill>
              <a:srgbClr val="C8102E"/>
            </a:solidFill>
            <a:ln>
              <a:noFill/>
            </a:ln>
          </p:spPr>
        </p:sp>
      </p:grpSp>
      <p:grpSp>
        <p:nvGrpSpPr>
          <p:cNvPr id="8" name="title"/>
          <p:cNvGrpSpPr/>
          <p:nvPr/>
        </p:nvGrpSpPr>
        <p:grpSpPr>
          <a:xfrm>
            <a:off x="652272" y="977265"/>
            <a:ext cx="6035007" cy="1193482"/>
            <a:chOff x="652272" y="977265"/>
            <a:chExt cx="6035007" cy="1193482"/>
          </a:xfrm>
        </p:grpSpPr>
        <p:sp>
          <p:nvSpPr>
            <p:cNvPr id="6" name="TextBox 6"/>
            <p:cNvSpPr txBox="1"/>
            <p:nvPr/>
          </p:nvSpPr>
          <p:spPr>
            <a:xfrm>
              <a:off x="652272" y="977265"/>
              <a:ext cx="5453881" cy="645414"/>
            </a:xfrm>
            <a:prstGeom prst="rect">
              <a:avLst/>
            </a:prstGeom>
            <a:noFill/>
            <a:ln>
              <a:noFill/>
            </a:ln>
          </p:spPr>
          <p:txBody>
            <a:bodyPr wrap="none" lIns="0" tIns="0" rIns="0" bIns="0" anchor="t" anchorCtr="0">
              <a:spAutoFit/>
            </a:bodyPr>
            <a:lstStyle/>
            <a:p>
              <a:pPr algn="l"/>
              <a:r>
                <a:rPr lang="vi-VN" sz="3300" b="1" dirty="0">
                  <a:solidFill>
                    <a:srgbClr val="111111"/>
                  </a:solidFill>
                  <a:latin typeface="Arial"/>
                  <a:ea typeface="Arial"/>
                  <a:cs typeface="Arial"/>
                </a:rPr>
                <a:t>Thông tin chung về dự án</a:t>
              </a:r>
            </a:p>
          </p:txBody>
        </p:sp>
        <p:sp>
          <p:nvSpPr>
            <p:cNvPr id="7" name="TextBox 7"/>
            <p:cNvSpPr txBox="1"/>
            <p:nvPr/>
          </p:nvSpPr>
          <p:spPr>
            <a:xfrm>
              <a:off x="677418" y="1848040"/>
              <a:ext cx="6009861" cy="322707"/>
            </a:xfrm>
            <a:prstGeom prst="rect">
              <a:avLst/>
            </a:prstGeom>
            <a:noFill/>
            <a:ln>
              <a:noFill/>
            </a:ln>
          </p:spPr>
          <p:txBody>
            <a:bodyPr wrap="none" lIns="0" tIns="0" rIns="0" bIns="0" anchor="t" anchorCtr="0">
              <a:spAutoFit/>
            </a:bodyPr>
            <a:lstStyle/>
            <a:p>
              <a:pPr algn="l"/>
              <a:r>
                <a:rPr lang="vi-VN" sz="1650" dirty="0">
                  <a:solidFill>
                    <a:srgbClr val="6E6E6E"/>
                  </a:solidFill>
                  <a:latin typeface="Arial"/>
                  <a:ea typeface="Arial"/>
                  <a:cs typeface="Arial"/>
                </a:rPr>
                <a:t>Mã số CNTT2026_N04, ngân sách khoán chi 200 triệu VNĐ</a:t>
              </a:r>
            </a:p>
          </p:txBody>
        </p:sp>
      </p:grpSp>
      <p:grpSp>
        <p:nvGrpSpPr>
          <p:cNvPr id="12" name="footer"/>
          <p:cNvGrpSpPr/>
          <p:nvPr/>
        </p:nvGrpSpPr>
        <p:grpSpPr>
          <a:xfrm>
            <a:off x="680085" y="6286500"/>
            <a:ext cx="10831830" cy="327184"/>
            <a:chOff x="680085" y="6286500"/>
            <a:chExt cx="10831830" cy="327184"/>
          </a:xfrm>
        </p:grpSpPr>
        <p:sp>
          <p:nvSpPr>
            <p:cNvPr id="9" name="Freeform 9"/>
            <p:cNvSpPr/>
            <p:nvPr/>
          </p:nvSpPr>
          <p:spPr>
            <a:xfrm>
              <a:off x="685800" y="6286500"/>
              <a:ext cx="10820400" cy="9525"/>
            </a:xfrm>
            <a:custGeom>
              <a:avLst/>
              <a:gdLst/>
              <a:ahLst/>
              <a:cxnLst/>
              <a:rect l="l" t="t" r="r" b="b"/>
              <a:pathLst>
                <a:path w="10820400" h="9525">
                  <a:moveTo>
                    <a:pt x="0" y="0"/>
                  </a:moveTo>
                  <a:lnTo>
                    <a:pt x="10820400" y="0"/>
                  </a:lnTo>
                </a:path>
              </a:pathLst>
            </a:custGeom>
            <a:noFill/>
            <a:ln w="9525">
              <a:solidFill>
                <a:srgbClr val="E8E8E8"/>
              </a:solidFill>
            </a:ln>
          </p:spPr>
        </p:sp>
        <p:sp>
          <p:nvSpPr>
            <p:cNvPr id="10" name="TextBox 10"/>
            <p:cNvSpPr txBox="1"/>
            <p:nvPr/>
          </p:nvSpPr>
          <p:spPr>
            <a:xfrm>
              <a:off x="680085" y="6393656"/>
              <a:ext cx="2914269" cy="220028"/>
            </a:xfrm>
            <a:prstGeom prst="rect">
              <a:avLst/>
            </a:prstGeom>
            <a:noFill/>
            <a:ln>
              <a:noFill/>
            </a:ln>
          </p:spPr>
          <p:txBody>
            <a:bodyPr wrap="none" lIns="0" tIns="0" rIns="0" bIns="0" anchor="t" anchorCtr="0">
              <a:spAutoFit/>
            </a:bodyPr>
            <a:lstStyle/>
            <a:p>
              <a:pPr algn="l"/>
              <a:r>
                <a:rPr lang="vi-VN" sz="1120" dirty="0">
                  <a:solidFill>
                    <a:srgbClr val="6E6E6E"/>
                  </a:solidFill>
                  <a:latin typeface="Arial"/>
                  <a:ea typeface="Arial"/>
                  <a:cs typeface="Arial"/>
                </a:rPr>
                <a:t>Nhóm 04 | Lớp 765643-QTDA-VB2-20261</a:t>
              </a:r>
            </a:p>
          </p:txBody>
        </p:sp>
        <p:sp>
          <p:nvSpPr>
            <p:cNvPr id="11" name="TextBox 11"/>
            <p:cNvSpPr txBox="1"/>
            <p:nvPr/>
          </p:nvSpPr>
          <p:spPr>
            <a:xfrm>
              <a:off x="11332764" y="6393656"/>
              <a:ext cx="179151" cy="220028"/>
            </a:xfrm>
            <a:prstGeom prst="rect">
              <a:avLst/>
            </a:prstGeom>
            <a:noFill/>
            <a:ln>
              <a:noFill/>
            </a:ln>
          </p:spPr>
          <p:txBody>
            <a:bodyPr wrap="none" lIns="0" tIns="0" rIns="0" bIns="0" anchor="t" anchorCtr="0">
              <a:spAutoFit/>
            </a:bodyPr>
            <a:lstStyle/>
            <a:p>
              <a:pPr algn="r"/>
              <a:r>
                <a:rPr lang="vi-VN" sz="1120" dirty="0">
                  <a:solidFill>
                    <a:srgbClr val="6E6E6E"/>
                  </a:solidFill>
                  <a:latin typeface="Arial"/>
                  <a:ea typeface="Arial"/>
                  <a:cs typeface="Arial"/>
                </a:rPr>
                <a:t>03</a:t>
              </a:r>
            </a:p>
          </p:txBody>
        </p:sp>
      </p:grpSp>
      <p:grpSp>
        <p:nvGrpSpPr>
          <p:cNvPr id="25" name="metrics"/>
          <p:cNvGrpSpPr/>
          <p:nvPr/>
        </p:nvGrpSpPr>
        <p:grpSpPr>
          <a:xfrm>
            <a:off x="685800" y="2266950"/>
            <a:ext cx="10287000" cy="1200150"/>
            <a:chOff x="685800" y="2266950"/>
            <a:chExt cx="10287000" cy="1200150"/>
          </a:xfrm>
        </p:grpSpPr>
        <p:sp>
          <p:nvSpPr>
            <p:cNvPr id="13" name="Rectangle 13"/>
            <p:cNvSpPr/>
            <p:nvPr/>
          </p:nvSpPr>
          <p:spPr>
            <a:xfrm>
              <a:off x="685800" y="2266950"/>
              <a:ext cx="2343150" cy="1200150"/>
            </a:xfrm>
            <a:prstGeom prst="rect">
              <a:avLst/>
            </a:prstGeom>
            <a:solidFill>
              <a:srgbClr val="F5F5F5"/>
            </a:solidFill>
            <a:ln w="9525">
              <a:solidFill>
                <a:srgbClr val="E8E8E8"/>
              </a:solidFill>
            </a:ln>
          </p:spPr>
        </p:sp>
        <p:sp>
          <p:nvSpPr>
            <p:cNvPr id="14" name="TextBox 14"/>
            <p:cNvSpPr txBox="1"/>
            <p:nvPr/>
          </p:nvSpPr>
          <p:spPr>
            <a:xfrm>
              <a:off x="879348" y="2441258"/>
              <a:ext cx="1775625" cy="616077"/>
            </a:xfrm>
            <a:prstGeom prst="rect">
              <a:avLst/>
            </a:prstGeom>
            <a:noFill/>
            <a:ln>
              <a:noFill/>
            </a:ln>
          </p:spPr>
          <p:txBody>
            <a:bodyPr wrap="none" lIns="0" tIns="0" rIns="0" bIns="0" anchor="t" anchorCtr="0">
              <a:spAutoFit/>
            </a:bodyPr>
            <a:lstStyle/>
            <a:p>
              <a:pPr algn="l"/>
              <a:r>
                <a:rPr lang="vi-VN" sz="3150" b="1" dirty="0">
                  <a:solidFill>
                    <a:srgbClr val="111111"/>
                  </a:solidFill>
                  <a:latin typeface="Arial"/>
                  <a:ea typeface="Arial"/>
                  <a:cs typeface="Arial"/>
                </a:rPr>
                <a:t>06 tháng</a:t>
              </a:r>
            </a:p>
          </p:txBody>
        </p:sp>
        <p:sp>
          <p:nvSpPr>
            <p:cNvPr id="15" name="TextBox 15"/>
            <p:cNvSpPr txBox="1"/>
            <p:nvPr/>
          </p:nvSpPr>
          <p:spPr>
            <a:xfrm>
              <a:off x="888873" y="3005614"/>
              <a:ext cx="1642041" cy="249364"/>
            </a:xfrm>
            <a:prstGeom prst="rect">
              <a:avLst/>
            </a:prstGeom>
            <a:noFill/>
            <a:ln>
              <a:noFill/>
            </a:ln>
          </p:spPr>
          <p:txBody>
            <a:bodyPr wrap="none" lIns="0" tIns="0" rIns="0" bIns="0" anchor="t" anchorCtr="0">
              <a:spAutoFit/>
            </a:bodyPr>
            <a:lstStyle/>
            <a:p>
              <a:pPr algn="l"/>
              <a:r>
                <a:rPr lang="vi-VN" sz="1280" dirty="0">
                  <a:solidFill>
                    <a:srgbClr val="6E6E6E"/>
                  </a:solidFill>
                  <a:latin typeface="Arial"/>
                  <a:ea typeface="Arial"/>
                  <a:cs typeface="Arial"/>
                </a:rPr>
                <a:t>09/2026 đến 02/2027</a:t>
              </a:r>
            </a:p>
          </p:txBody>
        </p:sp>
        <p:sp>
          <p:nvSpPr>
            <p:cNvPr id="16" name="Rectangle 16"/>
            <p:cNvSpPr/>
            <p:nvPr/>
          </p:nvSpPr>
          <p:spPr>
            <a:xfrm>
              <a:off x="3333750" y="2266950"/>
              <a:ext cx="2343150" cy="1200150"/>
            </a:xfrm>
            <a:prstGeom prst="rect">
              <a:avLst/>
            </a:prstGeom>
            <a:solidFill>
              <a:srgbClr val="F5F5F5"/>
            </a:solidFill>
            <a:ln w="9525">
              <a:solidFill>
                <a:srgbClr val="E8E8E8"/>
              </a:solidFill>
            </a:ln>
          </p:spPr>
        </p:sp>
        <p:sp>
          <p:nvSpPr>
            <p:cNvPr id="17" name="TextBox 17"/>
            <p:cNvSpPr txBox="1"/>
            <p:nvPr/>
          </p:nvSpPr>
          <p:spPr>
            <a:xfrm>
              <a:off x="3527298" y="2441258"/>
              <a:ext cx="1776304" cy="616077"/>
            </a:xfrm>
            <a:prstGeom prst="rect">
              <a:avLst/>
            </a:prstGeom>
            <a:noFill/>
            <a:ln>
              <a:noFill/>
            </a:ln>
          </p:spPr>
          <p:txBody>
            <a:bodyPr wrap="none" lIns="0" tIns="0" rIns="0" bIns="0" anchor="t" anchorCtr="0">
              <a:spAutoFit/>
            </a:bodyPr>
            <a:lstStyle/>
            <a:p>
              <a:pPr algn="l"/>
              <a:r>
                <a:rPr lang="vi-VN" sz="3150" b="1" dirty="0">
                  <a:solidFill>
                    <a:srgbClr val="C8102E"/>
                  </a:solidFill>
                  <a:latin typeface="Arial"/>
                  <a:ea typeface="Arial"/>
                  <a:cs typeface="Arial"/>
                </a:rPr>
                <a:t>200 triệu</a:t>
              </a:r>
            </a:p>
          </p:txBody>
        </p:sp>
        <p:sp>
          <p:nvSpPr>
            <p:cNvPr id="18" name="TextBox 18"/>
            <p:cNvSpPr txBox="1"/>
            <p:nvPr/>
          </p:nvSpPr>
          <p:spPr>
            <a:xfrm>
              <a:off x="3536823" y="3005614"/>
              <a:ext cx="1428414" cy="249364"/>
            </a:xfrm>
            <a:prstGeom prst="rect">
              <a:avLst/>
            </a:prstGeom>
            <a:noFill/>
            <a:ln>
              <a:noFill/>
            </a:ln>
          </p:spPr>
          <p:txBody>
            <a:bodyPr wrap="none" lIns="0" tIns="0" rIns="0" bIns="0" anchor="t" anchorCtr="0">
              <a:spAutoFit/>
            </a:bodyPr>
            <a:lstStyle/>
            <a:p>
              <a:pPr algn="l"/>
              <a:r>
                <a:rPr lang="vi-VN" sz="1280" dirty="0">
                  <a:solidFill>
                    <a:srgbClr val="6E6E6E"/>
                  </a:solidFill>
                  <a:latin typeface="Arial"/>
                  <a:ea typeface="Arial"/>
                  <a:cs typeface="Arial"/>
                </a:rPr>
                <a:t>tổng kinh phí VNĐ</a:t>
              </a:r>
            </a:p>
          </p:txBody>
        </p:sp>
        <p:sp>
          <p:nvSpPr>
            <p:cNvPr id="19" name="Rectangle 19"/>
            <p:cNvSpPr/>
            <p:nvPr/>
          </p:nvSpPr>
          <p:spPr>
            <a:xfrm>
              <a:off x="5981700" y="2266950"/>
              <a:ext cx="2343150" cy="1200150"/>
            </a:xfrm>
            <a:prstGeom prst="rect">
              <a:avLst/>
            </a:prstGeom>
            <a:solidFill>
              <a:srgbClr val="F5F5F5"/>
            </a:solidFill>
            <a:ln w="9525">
              <a:solidFill>
                <a:srgbClr val="E8E8E8"/>
              </a:solidFill>
            </a:ln>
          </p:spPr>
        </p:sp>
        <p:sp>
          <p:nvSpPr>
            <p:cNvPr id="20" name="TextBox 20"/>
            <p:cNvSpPr txBox="1"/>
            <p:nvPr/>
          </p:nvSpPr>
          <p:spPr>
            <a:xfrm>
              <a:off x="6175248" y="2441258"/>
              <a:ext cx="1775371" cy="616077"/>
            </a:xfrm>
            <a:prstGeom prst="rect">
              <a:avLst/>
            </a:prstGeom>
            <a:noFill/>
            <a:ln>
              <a:noFill/>
            </a:ln>
          </p:spPr>
          <p:txBody>
            <a:bodyPr wrap="none" lIns="0" tIns="0" rIns="0" bIns="0" anchor="t" anchorCtr="0">
              <a:spAutoFit/>
            </a:bodyPr>
            <a:lstStyle/>
            <a:p>
              <a:pPr algn="l"/>
              <a:r>
                <a:rPr lang="vi-VN" sz="3150" b="1" dirty="0">
                  <a:solidFill>
                    <a:srgbClr val="111111"/>
                  </a:solidFill>
                  <a:latin typeface="Arial"/>
                  <a:ea typeface="Arial"/>
                  <a:cs typeface="Arial"/>
                </a:rPr>
                <a:t>04 người</a:t>
              </a:r>
            </a:p>
          </p:txBody>
        </p:sp>
        <p:sp>
          <p:nvSpPr>
            <p:cNvPr id="21" name="TextBox 21"/>
            <p:cNvSpPr txBox="1"/>
            <p:nvPr/>
          </p:nvSpPr>
          <p:spPr>
            <a:xfrm>
              <a:off x="6184773" y="3005614"/>
              <a:ext cx="1450015" cy="249364"/>
            </a:xfrm>
            <a:prstGeom prst="rect">
              <a:avLst/>
            </a:prstGeom>
            <a:noFill/>
            <a:ln>
              <a:noFill/>
            </a:ln>
          </p:spPr>
          <p:txBody>
            <a:bodyPr wrap="none" lIns="0" tIns="0" rIns="0" bIns="0" anchor="t" anchorCtr="0">
              <a:spAutoFit/>
            </a:bodyPr>
            <a:lstStyle/>
            <a:p>
              <a:pPr algn="l"/>
              <a:r>
                <a:rPr lang="vi-VN" sz="1280" dirty="0">
                  <a:solidFill>
                    <a:srgbClr val="6E6E6E"/>
                  </a:solidFill>
                  <a:latin typeface="Arial"/>
                  <a:ea typeface="Arial"/>
                  <a:cs typeface="Arial"/>
                </a:rPr>
                <a:t>đội dự án sinh viên</a:t>
              </a:r>
            </a:p>
          </p:txBody>
        </p:sp>
        <p:sp>
          <p:nvSpPr>
            <p:cNvPr id="22" name="Rectangle 22"/>
            <p:cNvSpPr/>
            <p:nvPr/>
          </p:nvSpPr>
          <p:spPr>
            <a:xfrm>
              <a:off x="8629650" y="2266950"/>
              <a:ext cx="2343150" cy="1200150"/>
            </a:xfrm>
            <a:prstGeom prst="rect">
              <a:avLst/>
            </a:prstGeom>
            <a:solidFill>
              <a:srgbClr val="F5F5F5"/>
            </a:solidFill>
            <a:ln w="9525">
              <a:solidFill>
                <a:srgbClr val="E8E8E8"/>
              </a:solidFill>
            </a:ln>
          </p:spPr>
        </p:sp>
        <p:sp>
          <p:nvSpPr>
            <p:cNvPr id="23" name="TextBox 23"/>
            <p:cNvSpPr txBox="1"/>
            <p:nvPr/>
          </p:nvSpPr>
          <p:spPr>
            <a:xfrm>
              <a:off x="8823198" y="2441258"/>
              <a:ext cx="1080465" cy="616077"/>
            </a:xfrm>
            <a:prstGeom prst="rect">
              <a:avLst/>
            </a:prstGeom>
            <a:noFill/>
            <a:ln>
              <a:noFill/>
            </a:ln>
          </p:spPr>
          <p:txBody>
            <a:bodyPr wrap="none" lIns="0" tIns="0" rIns="0" bIns="0" anchor="t" anchorCtr="0">
              <a:spAutoFit/>
            </a:bodyPr>
            <a:lstStyle/>
            <a:p>
              <a:pPr algn="l"/>
              <a:r>
                <a:rPr lang="vi-VN" sz="3150" b="1" dirty="0">
                  <a:solidFill>
                    <a:srgbClr val="C8102E"/>
                  </a:solidFill>
                  <a:latin typeface="Arial"/>
                  <a:ea typeface="Arial"/>
                  <a:cs typeface="Arial"/>
                </a:rPr>
                <a:t>Agile</a:t>
              </a:r>
            </a:p>
          </p:txBody>
        </p:sp>
        <p:sp>
          <p:nvSpPr>
            <p:cNvPr id="24" name="TextBox 24"/>
            <p:cNvSpPr txBox="1"/>
            <p:nvPr/>
          </p:nvSpPr>
          <p:spPr>
            <a:xfrm>
              <a:off x="8832723" y="3005614"/>
              <a:ext cx="1187321" cy="249364"/>
            </a:xfrm>
            <a:prstGeom prst="rect">
              <a:avLst/>
            </a:prstGeom>
            <a:noFill/>
            <a:ln>
              <a:noFill/>
            </a:ln>
          </p:spPr>
          <p:txBody>
            <a:bodyPr wrap="none" lIns="0" tIns="0" rIns="0" bIns="0" anchor="t" anchorCtr="0">
              <a:spAutoFit/>
            </a:bodyPr>
            <a:lstStyle/>
            <a:p>
              <a:pPr algn="l"/>
              <a:r>
                <a:rPr lang="vi-VN" sz="1280" dirty="0">
                  <a:solidFill>
                    <a:srgbClr val="6E6E6E"/>
                  </a:solidFill>
                  <a:latin typeface="Arial"/>
                  <a:ea typeface="Arial"/>
                  <a:cs typeface="Arial"/>
                </a:rPr>
                <a:t>mô hình Scrum</a:t>
              </a:r>
            </a:p>
          </p:txBody>
        </p:sp>
      </p:grpSp>
      <p:grpSp>
        <p:nvGrpSpPr>
          <p:cNvPr id="65" name="table"/>
          <p:cNvGrpSpPr/>
          <p:nvPr/>
        </p:nvGrpSpPr>
        <p:grpSpPr>
          <a:xfrm>
            <a:off x="685800" y="3905250"/>
            <a:ext cx="10829925" cy="2143125"/>
            <a:chOff x="685800" y="3905250"/>
            <a:chExt cx="10829925" cy="2143125"/>
          </a:xfrm>
        </p:grpSpPr>
        <p:sp>
          <p:nvSpPr>
            <p:cNvPr id="26" name="Rectangle 26"/>
            <p:cNvSpPr/>
            <p:nvPr/>
          </p:nvSpPr>
          <p:spPr>
            <a:xfrm>
              <a:off x="685800" y="3905250"/>
              <a:ext cx="10820400" cy="2133600"/>
            </a:xfrm>
            <a:prstGeom prst="rect">
              <a:avLst/>
            </a:prstGeom>
            <a:solidFill>
              <a:srgbClr val="FFFFFF"/>
            </a:solidFill>
            <a:ln w="9525">
              <a:solidFill>
                <a:srgbClr val="E8E8E8"/>
              </a:solidFill>
            </a:ln>
          </p:spPr>
        </p:sp>
        <p:sp>
          <p:nvSpPr>
            <p:cNvPr id="27" name="Rectangle 27"/>
            <p:cNvSpPr/>
            <p:nvPr/>
          </p:nvSpPr>
          <p:spPr>
            <a:xfrm>
              <a:off x="685800" y="3905250"/>
              <a:ext cx="10820400" cy="533400"/>
            </a:xfrm>
            <a:prstGeom prst="rect">
              <a:avLst/>
            </a:prstGeom>
            <a:solidFill>
              <a:srgbClr val="F5F5F5"/>
            </a:solidFill>
            <a:ln>
              <a:noFill/>
            </a:ln>
          </p:spPr>
        </p:sp>
        <p:sp>
          <p:nvSpPr>
            <p:cNvPr id="28" name="Freeform 28"/>
            <p:cNvSpPr/>
            <p:nvPr/>
          </p:nvSpPr>
          <p:spPr>
            <a:xfrm>
              <a:off x="685800" y="4438650"/>
              <a:ext cx="10820400" cy="9525"/>
            </a:xfrm>
            <a:custGeom>
              <a:avLst/>
              <a:gdLst/>
              <a:ahLst/>
              <a:cxnLst/>
              <a:rect l="l" t="t" r="r" b="b"/>
              <a:pathLst>
                <a:path w="10820400" h="9525">
                  <a:moveTo>
                    <a:pt x="0" y="0"/>
                  </a:moveTo>
                  <a:lnTo>
                    <a:pt x="10820400" y="0"/>
                  </a:lnTo>
                </a:path>
              </a:pathLst>
            </a:custGeom>
            <a:noFill/>
            <a:ln w="9525">
              <a:solidFill>
                <a:srgbClr val="E8E8E8"/>
              </a:solidFill>
            </a:ln>
          </p:spPr>
        </p:sp>
        <p:sp>
          <p:nvSpPr>
            <p:cNvPr id="29" name="Freeform 29"/>
            <p:cNvSpPr/>
            <p:nvPr/>
          </p:nvSpPr>
          <p:spPr>
            <a:xfrm>
              <a:off x="685800" y="3905250"/>
              <a:ext cx="9525" cy="2133600"/>
            </a:xfrm>
            <a:custGeom>
              <a:avLst/>
              <a:gdLst/>
              <a:ahLst/>
              <a:cxnLst/>
              <a:rect l="l" t="t" r="r" b="b"/>
              <a:pathLst>
                <a:path w="9525" h="2133600">
                  <a:moveTo>
                    <a:pt x="0" y="0"/>
                  </a:moveTo>
                  <a:lnTo>
                    <a:pt x="0" y="2133600"/>
                  </a:lnTo>
                </a:path>
              </a:pathLst>
            </a:custGeom>
            <a:noFill/>
            <a:ln w="9525">
              <a:solidFill>
                <a:srgbClr val="E8E8E8"/>
              </a:solidFill>
            </a:ln>
          </p:spPr>
        </p:sp>
        <p:sp>
          <p:nvSpPr>
            <p:cNvPr id="30" name="TextBox 30"/>
            <p:cNvSpPr txBox="1"/>
            <p:nvPr/>
          </p:nvSpPr>
          <p:spPr>
            <a:xfrm>
              <a:off x="851154" y="4004310"/>
              <a:ext cx="799410" cy="234696"/>
            </a:xfrm>
            <a:prstGeom prst="rect">
              <a:avLst/>
            </a:prstGeom>
            <a:noFill/>
            <a:ln>
              <a:noFill/>
            </a:ln>
          </p:spPr>
          <p:txBody>
            <a:bodyPr wrap="none" lIns="0" tIns="0" rIns="0" bIns="0" anchor="t" anchorCtr="0">
              <a:spAutoFit/>
            </a:bodyPr>
            <a:lstStyle/>
            <a:p>
              <a:pPr algn="l"/>
              <a:r>
                <a:rPr lang="vi-VN" sz="1200" b="1" dirty="0">
                  <a:solidFill>
                    <a:srgbClr val="111111"/>
                  </a:solidFill>
                  <a:latin typeface="Arial"/>
                  <a:ea typeface="Arial"/>
                  <a:cs typeface="Arial"/>
                </a:rPr>
                <a:t>Hạng mục</a:t>
              </a:r>
            </a:p>
          </p:txBody>
        </p:sp>
        <p:sp>
          <p:nvSpPr>
            <p:cNvPr id="31" name="Freeform 31"/>
            <p:cNvSpPr/>
            <p:nvPr/>
          </p:nvSpPr>
          <p:spPr>
            <a:xfrm>
              <a:off x="3067050" y="3905250"/>
              <a:ext cx="9525" cy="2133600"/>
            </a:xfrm>
            <a:custGeom>
              <a:avLst/>
              <a:gdLst/>
              <a:ahLst/>
              <a:cxnLst/>
              <a:rect l="l" t="t" r="r" b="b"/>
              <a:pathLst>
                <a:path w="9525" h="2133600">
                  <a:moveTo>
                    <a:pt x="0" y="0"/>
                  </a:moveTo>
                  <a:lnTo>
                    <a:pt x="0" y="2133600"/>
                  </a:lnTo>
                </a:path>
              </a:pathLst>
            </a:custGeom>
            <a:noFill/>
            <a:ln w="9525">
              <a:solidFill>
                <a:srgbClr val="E8E8E8"/>
              </a:solidFill>
            </a:ln>
          </p:spPr>
        </p:sp>
        <p:sp>
          <p:nvSpPr>
            <p:cNvPr id="32" name="TextBox 32"/>
            <p:cNvSpPr txBox="1"/>
            <p:nvPr/>
          </p:nvSpPr>
          <p:spPr>
            <a:xfrm>
              <a:off x="3232404" y="4004310"/>
              <a:ext cx="1228658" cy="234696"/>
            </a:xfrm>
            <a:prstGeom prst="rect">
              <a:avLst/>
            </a:prstGeom>
            <a:noFill/>
            <a:ln>
              <a:noFill/>
            </a:ln>
          </p:spPr>
          <p:txBody>
            <a:bodyPr wrap="none" lIns="0" tIns="0" rIns="0" bIns="0" anchor="t" anchorCtr="0">
              <a:spAutoFit/>
            </a:bodyPr>
            <a:lstStyle/>
            <a:p>
              <a:pPr algn="l"/>
              <a:r>
                <a:rPr lang="vi-VN" sz="1200" b="1" dirty="0">
                  <a:solidFill>
                    <a:srgbClr val="111111"/>
                  </a:solidFill>
                  <a:latin typeface="Arial"/>
                  <a:ea typeface="Arial"/>
                  <a:cs typeface="Arial"/>
                </a:rPr>
                <a:t>Thông tin chính</a:t>
              </a:r>
            </a:p>
          </p:txBody>
        </p:sp>
        <p:sp>
          <p:nvSpPr>
            <p:cNvPr id="33" name="Freeform 33"/>
            <p:cNvSpPr/>
            <p:nvPr/>
          </p:nvSpPr>
          <p:spPr>
            <a:xfrm>
              <a:off x="6972300" y="3905250"/>
              <a:ext cx="9525" cy="2133600"/>
            </a:xfrm>
            <a:custGeom>
              <a:avLst/>
              <a:gdLst/>
              <a:ahLst/>
              <a:cxnLst/>
              <a:rect l="l" t="t" r="r" b="b"/>
              <a:pathLst>
                <a:path w="9525" h="2133600">
                  <a:moveTo>
                    <a:pt x="0" y="0"/>
                  </a:moveTo>
                  <a:lnTo>
                    <a:pt x="0" y="2133600"/>
                  </a:lnTo>
                </a:path>
              </a:pathLst>
            </a:custGeom>
            <a:noFill/>
            <a:ln w="9525">
              <a:solidFill>
                <a:srgbClr val="E8E8E8"/>
              </a:solidFill>
            </a:ln>
          </p:spPr>
        </p:sp>
        <p:sp>
          <p:nvSpPr>
            <p:cNvPr id="34" name="TextBox 34"/>
            <p:cNvSpPr txBox="1"/>
            <p:nvPr/>
          </p:nvSpPr>
          <p:spPr>
            <a:xfrm>
              <a:off x="7137654" y="4004310"/>
              <a:ext cx="1238036" cy="234696"/>
            </a:xfrm>
            <a:prstGeom prst="rect">
              <a:avLst/>
            </a:prstGeom>
            <a:noFill/>
            <a:ln>
              <a:noFill/>
            </a:ln>
          </p:spPr>
          <p:txBody>
            <a:bodyPr wrap="none" lIns="0" tIns="0" rIns="0" bIns="0" anchor="t" anchorCtr="0">
              <a:spAutoFit/>
            </a:bodyPr>
            <a:lstStyle/>
            <a:p>
              <a:pPr algn="l"/>
              <a:r>
                <a:rPr lang="vi-VN" sz="1200" b="1" dirty="0">
                  <a:solidFill>
                    <a:srgbClr val="111111"/>
                  </a:solidFill>
                  <a:latin typeface="Arial"/>
                  <a:ea typeface="Arial"/>
                  <a:cs typeface="Arial"/>
                </a:rPr>
                <a:t>Ý nghĩa quản trị</a:t>
              </a:r>
            </a:p>
          </p:txBody>
        </p:sp>
        <p:sp>
          <p:nvSpPr>
            <p:cNvPr id="35" name="Freeform 35"/>
            <p:cNvSpPr/>
            <p:nvPr/>
          </p:nvSpPr>
          <p:spPr>
            <a:xfrm>
              <a:off x="11506200" y="3905250"/>
              <a:ext cx="9525" cy="2133600"/>
            </a:xfrm>
            <a:custGeom>
              <a:avLst/>
              <a:gdLst/>
              <a:ahLst/>
              <a:cxnLst/>
              <a:rect l="l" t="t" r="r" b="b"/>
              <a:pathLst>
                <a:path w="9525" h="2133600">
                  <a:moveTo>
                    <a:pt x="0" y="0"/>
                  </a:moveTo>
                  <a:lnTo>
                    <a:pt x="0" y="2133600"/>
                  </a:lnTo>
                </a:path>
              </a:pathLst>
            </a:custGeom>
            <a:noFill/>
            <a:ln w="9525">
              <a:solidFill>
                <a:srgbClr val="E8E8E8"/>
              </a:solidFill>
            </a:ln>
          </p:spPr>
        </p:sp>
        <p:sp>
          <p:nvSpPr>
            <p:cNvPr id="36" name="Rectangle 36"/>
            <p:cNvSpPr/>
            <p:nvPr/>
          </p:nvSpPr>
          <p:spPr>
            <a:xfrm>
              <a:off x="685800" y="4438650"/>
              <a:ext cx="10820400" cy="533400"/>
            </a:xfrm>
            <a:prstGeom prst="rect">
              <a:avLst/>
            </a:prstGeom>
            <a:solidFill>
              <a:srgbClr val="FFFFFF"/>
            </a:solidFill>
            <a:ln>
              <a:noFill/>
            </a:ln>
          </p:spPr>
        </p:sp>
        <p:sp>
          <p:nvSpPr>
            <p:cNvPr id="37" name="Freeform 37"/>
            <p:cNvSpPr/>
            <p:nvPr/>
          </p:nvSpPr>
          <p:spPr>
            <a:xfrm>
              <a:off x="685800" y="4972050"/>
              <a:ext cx="10820400" cy="9525"/>
            </a:xfrm>
            <a:custGeom>
              <a:avLst/>
              <a:gdLst/>
              <a:ahLst/>
              <a:cxnLst/>
              <a:rect l="l" t="t" r="r" b="b"/>
              <a:pathLst>
                <a:path w="10820400" h="9525">
                  <a:moveTo>
                    <a:pt x="0" y="0"/>
                  </a:moveTo>
                  <a:lnTo>
                    <a:pt x="10820400" y="0"/>
                  </a:lnTo>
                </a:path>
              </a:pathLst>
            </a:custGeom>
            <a:noFill/>
            <a:ln w="9525">
              <a:solidFill>
                <a:srgbClr val="E8E8E8"/>
              </a:solidFill>
            </a:ln>
          </p:spPr>
        </p:sp>
        <p:sp>
          <p:nvSpPr>
            <p:cNvPr id="38" name="Freeform 38"/>
            <p:cNvSpPr/>
            <p:nvPr/>
          </p:nvSpPr>
          <p:spPr>
            <a:xfrm>
              <a:off x="685800" y="3905250"/>
              <a:ext cx="9525" cy="2133600"/>
            </a:xfrm>
            <a:custGeom>
              <a:avLst/>
              <a:gdLst/>
              <a:ahLst/>
              <a:cxnLst/>
              <a:rect l="l" t="t" r="r" b="b"/>
              <a:pathLst>
                <a:path w="9525" h="2133600">
                  <a:moveTo>
                    <a:pt x="0" y="0"/>
                  </a:moveTo>
                  <a:lnTo>
                    <a:pt x="0" y="2133600"/>
                  </a:lnTo>
                </a:path>
              </a:pathLst>
            </a:custGeom>
            <a:noFill/>
            <a:ln w="9525">
              <a:solidFill>
                <a:srgbClr val="E8E8E8"/>
              </a:solidFill>
            </a:ln>
          </p:spPr>
        </p:sp>
        <p:sp>
          <p:nvSpPr>
            <p:cNvPr id="39" name="TextBox 39"/>
            <p:cNvSpPr txBox="1"/>
            <p:nvPr/>
          </p:nvSpPr>
          <p:spPr>
            <a:xfrm>
              <a:off x="851154" y="4537710"/>
              <a:ext cx="1533882" cy="234696"/>
            </a:xfrm>
            <a:prstGeom prst="rect">
              <a:avLst/>
            </a:prstGeom>
            <a:noFill/>
            <a:ln>
              <a:noFill/>
            </a:ln>
          </p:spPr>
          <p:txBody>
            <a:bodyPr wrap="none" lIns="0" tIns="0" rIns="0" bIns="0" anchor="t" anchorCtr="0">
              <a:spAutoFit/>
            </a:bodyPr>
            <a:lstStyle/>
            <a:p>
              <a:pPr algn="l"/>
              <a:r>
                <a:rPr lang="vi-VN" sz="1200" b="1" dirty="0">
                  <a:solidFill>
                    <a:srgbClr val="1A1A1A"/>
                  </a:solidFill>
                  <a:latin typeface="Arial"/>
                  <a:ea typeface="Arial"/>
                  <a:cs typeface="Arial"/>
                </a:rPr>
                <a:t>Đối tượng triển khai</a:t>
              </a:r>
            </a:p>
          </p:txBody>
        </p:sp>
        <p:sp>
          <p:nvSpPr>
            <p:cNvPr id="40" name="Freeform 40"/>
            <p:cNvSpPr/>
            <p:nvPr/>
          </p:nvSpPr>
          <p:spPr>
            <a:xfrm>
              <a:off x="3067050" y="3905250"/>
              <a:ext cx="9525" cy="2133600"/>
            </a:xfrm>
            <a:custGeom>
              <a:avLst/>
              <a:gdLst/>
              <a:ahLst/>
              <a:cxnLst/>
              <a:rect l="l" t="t" r="r" b="b"/>
              <a:pathLst>
                <a:path w="9525" h="2133600">
                  <a:moveTo>
                    <a:pt x="0" y="0"/>
                  </a:moveTo>
                  <a:lnTo>
                    <a:pt x="0" y="2133600"/>
                  </a:lnTo>
                </a:path>
              </a:pathLst>
            </a:custGeom>
            <a:noFill/>
            <a:ln w="9525">
              <a:solidFill>
                <a:srgbClr val="E8E8E8"/>
              </a:solidFill>
            </a:ln>
          </p:spPr>
        </p:sp>
        <p:sp>
          <p:nvSpPr>
            <p:cNvPr id="41" name="TextBox 41"/>
            <p:cNvSpPr txBox="1"/>
            <p:nvPr/>
          </p:nvSpPr>
          <p:spPr>
            <a:xfrm>
              <a:off x="3232404" y="4537710"/>
              <a:ext cx="2100420" cy="234696"/>
            </a:xfrm>
            <a:prstGeom prst="rect">
              <a:avLst/>
            </a:prstGeom>
            <a:noFill/>
            <a:ln>
              <a:noFill/>
            </a:ln>
          </p:spPr>
          <p:txBody>
            <a:bodyPr wrap="none" lIns="0" tIns="0" rIns="0" bIns="0" anchor="t" anchorCtr="0">
              <a:spAutoFit/>
            </a:bodyPr>
            <a:lstStyle/>
            <a:p>
              <a:pPr algn="l"/>
              <a:r>
                <a:rPr lang="vi-VN" sz="1200" dirty="0">
                  <a:solidFill>
                    <a:srgbClr val="1A1A1A"/>
                  </a:solidFill>
                  <a:latin typeface="Arial"/>
                  <a:ea typeface="Arial"/>
                  <a:cs typeface="Arial"/>
                </a:rPr>
                <a:t>Cửa hàng Điện tử Lãng Lãng</a:t>
              </a:r>
            </a:p>
          </p:txBody>
        </p:sp>
        <p:sp>
          <p:nvSpPr>
            <p:cNvPr id="42" name="Freeform 42"/>
            <p:cNvSpPr/>
            <p:nvPr/>
          </p:nvSpPr>
          <p:spPr>
            <a:xfrm>
              <a:off x="6972300" y="3905250"/>
              <a:ext cx="9525" cy="2133600"/>
            </a:xfrm>
            <a:custGeom>
              <a:avLst/>
              <a:gdLst/>
              <a:ahLst/>
              <a:cxnLst/>
              <a:rect l="l" t="t" r="r" b="b"/>
              <a:pathLst>
                <a:path w="9525" h="2133600">
                  <a:moveTo>
                    <a:pt x="0" y="0"/>
                  </a:moveTo>
                  <a:lnTo>
                    <a:pt x="0" y="2133600"/>
                  </a:lnTo>
                </a:path>
              </a:pathLst>
            </a:custGeom>
            <a:noFill/>
            <a:ln w="9525">
              <a:solidFill>
                <a:srgbClr val="E8E8E8"/>
              </a:solidFill>
            </a:ln>
          </p:spPr>
        </p:sp>
        <p:sp>
          <p:nvSpPr>
            <p:cNvPr id="43" name="TextBox 43"/>
            <p:cNvSpPr txBox="1"/>
            <p:nvPr/>
          </p:nvSpPr>
          <p:spPr>
            <a:xfrm>
              <a:off x="7137654" y="4537710"/>
              <a:ext cx="3385927" cy="234696"/>
            </a:xfrm>
            <a:prstGeom prst="rect">
              <a:avLst/>
            </a:prstGeom>
            <a:noFill/>
            <a:ln>
              <a:noFill/>
            </a:ln>
          </p:spPr>
          <p:txBody>
            <a:bodyPr wrap="none" lIns="0" tIns="0" rIns="0" bIns="0" anchor="t" anchorCtr="0">
              <a:spAutoFit/>
            </a:bodyPr>
            <a:lstStyle/>
            <a:p>
              <a:pPr algn="l"/>
              <a:r>
                <a:rPr lang="vi-VN" sz="1200" dirty="0">
                  <a:solidFill>
                    <a:srgbClr val="1A1A1A"/>
                  </a:solidFill>
                  <a:latin typeface="Arial"/>
                  <a:ea typeface="Arial"/>
                  <a:cs typeface="Arial"/>
                </a:rPr>
                <a:t>Mô phỏng nghiệp vụ bán lẻ điện tử quy mô nhỏ</a:t>
              </a:r>
            </a:p>
          </p:txBody>
        </p:sp>
        <p:sp>
          <p:nvSpPr>
            <p:cNvPr id="44" name="Freeform 44"/>
            <p:cNvSpPr/>
            <p:nvPr/>
          </p:nvSpPr>
          <p:spPr>
            <a:xfrm>
              <a:off x="11506200" y="3905250"/>
              <a:ext cx="9525" cy="2133600"/>
            </a:xfrm>
            <a:custGeom>
              <a:avLst/>
              <a:gdLst/>
              <a:ahLst/>
              <a:cxnLst/>
              <a:rect l="l" t="t" r="r" b="b"/>
              <a:pathLst>
                <a:path w="9525" h="2133600">
                  <a:moveTo>
                    <a:pt x="0" y="0"/>
                  </a:moveTo>
                  <a:lnTo>
                    <a:pt x="0" y="2133600"/>
                  </a:lnTo>
                </a:path>
              </a:pathLst>
            </a:custGeom>
            <a:noFill/>
            <a:ln w="9525">
              <a:solidFill>
                <a:srgbClr val="E8E8E8"/>
              </a:solidFill>
            </a:ln>
          </p:spPr>
        </p:sp>
        <p:sp>
          <p:nvSpPr>
            <p:cNvPr id="45" name="Rectangle 45"/>
            <p:cNvSpPr/>
            <p:nvPr/>
          </p:nvSpPr>
          <p:spPr>
            <a:xfrm>
              <a:off x="685800" y="4972050"/>
              <a:ext cx="10820400" cy="533400"/>
            </a:xfrm>
            <a:prstGeom prst="rect">
              <a:avLst/>
            </a:prstGeom>
            <a:solidFill>
              <a:srgbClr val="FFFFFF"/>
            </a:solidFill>
            <a:ln>
              <a:noFill/>
            </a:ln>
          </p:spPr>
        </p:sp>
        <p:sp>
          <p:nvSpPr>
            <p:cNvPr id="46" name="Freeform 46"/>
            <p:cNvSpPr/>
            <p:nvPr/>
          </p:nvSpPr>
          <p:spPr>
            <a:xfrm>
              <a:off x="685800" y="5505450"/>
              <a:ext cx="10820400" cy="9525"/>
            </a:xfrm>
            <a:custGeom>
              <a:avLst/>
              <a:gdLst/>
              <a:ahLst/>
              <a:cxnLst/>
              <a:rect l="l" t="t" r="r" b="b"/>
              <a:pathLst>
                <a:path w="10820400" h="9525">
                  <a:moveTo>
                    <a:pt x="0" y="0"/>
                  </a:moveTo>
                  <a:lnTo>
                    <a:pt x="10820400" y="0"/>
                  </a:lnTo>
                </a:path>
              </a:pathLst>
            </a:custGeom>
            <a:noFill/>
            <a:ln w="9525">
              <a:solidFill>
                <a:srgbClr val="E8E8E8"/>
              </a:solidFill>
            </a:ln>
          </p:spPr>
        </p:sp>
        <p:sp>
          <p:nvSpPr>
            <p:cNvPr id="47" name="Freeform 47"/>
            <p:cNvSpPr/>
            <p:nvPr/>
          </p:nvSpPr>
          <p:spPr>
            <a:xfrm>
              <a:off x="685800" y="3905250"/>
              <a:ext cx="9525" cy="2133600"/>
            </a:xfrm>
            <a:custGeom>
              <a:avLst/>
              <a:gdLst/>
              <a:ahLst/>
              <a:cxnLst/>
              <a:rect l="l" t="t" r="r" b="b"/>
              <a:pathLst>
                <a:path w="9525" h="2133600">
                  <a:moveTo>
                    <a:pt x="0" y="0"/>
                  </a:moveTo>
                  <a:lnTo>
                    <a:pt x="0" y="2133600"/>
                  </a:lnTo>
                </a:path>
              </a:pathLst>
            </a:custGeom>
            <a:noFill/>
            <a:ln w="9525">
              <a:solidFill>
                <a:srgbClr val="E8E8E8"/>
              </a:solidFill>
            </a:ln>
          </p:spPr>
        </p:sp>
        <p:sp>
          <p:nvSpPr>
            <p:cNvPr id="48" name="TextBox 48"/>
            <p:cNvSpPr txBox="1"/>
            <p:nvPr/>
          </p:nvSpPr>
          <p:spPr>
            <a:xfrm>
              <a:off x="851154" y="5071110"/>
              <a:ext cx="1049608" cy="234696"/>
            </a:xfrm>
            <a:prstGeom prst="rect">
              <a:avLst/>
            </a:prstGeom>
            <a:noFill/>
            <a:ln>
              <a:noFill/>
            </a:ln>
          </p:spPr>
          <p:txBody>
            <a:bodyPr wrap="none" lIns="0" tIns="0" rIns="0" bIns="0" anchor="t" anchorCtr="0">
              <a:spAutoFit/>
            </a:bodyPr>
            <a:lstStyle/>
            <a:p>
              <a:pPr algn="l"/>
              <a:r>
                <a:rPr lang="vi-VN" sz="1200" b="1" dirty="0">
                  <a:solidFill>
                    <a:srgbClr val="1A1A1A"/>
                  </a:solidFill>
                  <a:latin typeface="Arial"/>
                  <a:ea typeface="Arial"/>
                  <a:cs typeface="Arial"/>
                </a:rPr>
                <a:t>Đơn vị chủ trì</a:t>
              </a:r>
            </a:p>
          </p:txBody>
        </p:sp>
        <p:sp>
          <p:nvSpPr>
            <p:cNvPr id="49" name="Freeform 49"/>
            <p:cNvSpPr/>
            <p:nvPr/>
          </p:nvSpPr>
          <p:spPr>
            <a:xfrm>
              <a:off x="3067050" y="3905250"/>
              <a:ext cx="9525" cy="2133600"/>
            </a:xfrm>
            <a:custGeom>
              <a:avLst/>
              <a:gdLst/>
              <a:ahLst/>
              <a:cxnLst/>
              <a:rect l="l" t="t" r="r" b="b"/>
              <a:pathLst>
                <a:path w="9525" h="2133600">
                  <a:moveTo>
                    <a:pt x="0" y="0"/>
                  </a:moveTo>
                  <a:lnTo>
                    <a:pt x="0" y="2133600"/>
                  </a:lnTo>
                </a:path>
              </a:pathLst>
            </a:custGeom>
            <a:noFill/>
            <a:ln w="9525">
              <a:solidFill>
                <a:srgbClr val="E8E8E8"/>
              </a:solidFill>
            </a:ln>
          </p:spPr>
        </p:sp>
        <p:sp>
          <p:nvSpPr>
            <p:cNvPr id="50" name="TextBox 50"/>
            <p:cNvSpPr txBox="1"/>
            <p:nvPr/>
          </p:nvSpPr>
          <p:spPr>
            <a:xfrm>
              <a:off x="3232404" y="5071110"/>
              <a:ext cx="2465016" cy="234696"/>
            </a:xfrm>
            <a:prstGeom prst="rect">
              <a:avLst/>
            </a:prstGeom>
            <a:noFill/>
            <a:ln>
              <a:noFill/>
            </a:ln>
          </p:spPr>
          <p:txBody>
            <a:bodyPr wrap="none" lIns="0" tIns="0" rIns="0" bIns="0" anchor="t" anchorCtr="0">
              <a:spAutoFit/>
            </a:bodyPr>
            <a:lstStyle/>
            <a:p>
              <a:pPr algn="l"/>
              <a:r>
                <a:rPr lang="vi-VN" sz="1200" dirty="0">
                  <a:solidFill>
                    <a:srgbClr val="1A1A1A"/>
                  </a:solidFill>
                  <a:latin typeface="Arial"/>
                  <a:ea typeface="Arial"/>
                  <a:cs typeface="Arial"/>
                </a:rPr>
                <a:t>Trường CNTT&amp;TT, ĐHBK Hà Nội</a:t>
              </a:r>
            </a:p>
          </p:txBody>
        </p:sp>
        <p:sp>
          <p:nvSpPr>
            <p:cNvPr id="51" name="Freeform 51"/>
            <p:cNvSpPr/>
            <p:nvPr/>
          </p:nvSpPr>
          <p:spPr>
            <a:xfrm>
              <a:off x="6972300" y="3905250"/>
              <a:ext cx="9525" cy="2133600"/>
            </a:xfrm>
            <a:custGeom>
              <a:avLst/>
              <a:gdLst/>
              <a:ahLst/>
              <a:cxnLst/>
              <a:rect l="l" t="t" r="r" b="b"/>
              <a:pathLst>
                <a:path w="9525" h="2133600">
                  <a:moveTo>
                    <a:pt x="0" y="0"/>
                  </a:moveTo>
                  <a:lnTo>
                    <a:pt x="0" y="2133600"/>
                  </a:lnTo>
                </a:path>
              </a:pathLst>
            </a:custGeom>
            <a:noFill/>
            <a:ln w="9525">
              <a:solidFill>
                <a:srgbClr val="E8E8E8"/>
              </a:solidFill>
            </a:ln>
          </p:spPr>
        </p:sp>
        <p:sp>
          <p:nvSpPr>
            <p:cNvPr id="52" name="TextBox 52"/>
            <p:cNvSpPr txBox="1"/>
            <p:nvPr/>
          </p:nvSpPr>
          <p:spPr>
            <a:xfrm>
              <a:off x="7137654" y="5071110"/>
              <a:ext cx="3035139" cy="234696"/>
            </a:xfrm>
            <a:prstGeom prst="rect">
              <a:avLst/>
            </a:prstGeom>
            <a:noFill/>
            <a:ln>
              <a:noFill/>
            </a:ln>
          </p:spPr>
          <p:txBody>
            <a:bodyPr wrap="none" lIns="0" tIns="0" rIns="0" bIns="0" anchor="t" anchorCtr="0">
              <a:spAutoFit/>
            </a:bodyPr>
            <a:lstStyle/>
            <a:p>
              <a:pPr algn="l"/>
              <a:r>
                <a:rPr lang="vi-VN" sz="1200" dirty="0">
                  <a:solidFill>
                    <a:srgbClr val="1A1A1A"/>
                  </a:solidFill>
                  <a:latin typeface="Arial"/>
                  <a:ea typeface="Arial"/>
                  <a:cs typeface="Arial"/>
                </a:rPr>
                <a:t>Phê duyệt đề tài, cấp kinh phí, nghiệm thu</a:t>
              </a:r>
            </a:p>
          </p:txBody>
        </p:sp>
        <p:sp>
          <p:nvSpPr>
            <p:cNvPr id="53" name="Freeform 53"/>
            <p:cNvSpPr/>
            <p:nvPr/>
          </p:nvSpPr>
          <p:spPr>
            <a:xfrm>
              <a:off x="11506200" y="3905250"/>
              <a:ext cx="9525" cy="2133600"/>
            </a:xfrm>
            <a:custGeom>
              <a:avLst/>
              <a:gdLst/>
              <a:ahLst/>
              <a:cxnLst/>
              <a:rect l="l" t="t" r="r" b="b"/>
              <a:pathLst>
                <a:path w="9525" h="2133600">
                  <a:moveTo>
                    <a:pt x="0" y="0"/>
                  </a:moveTo>
                  <a:lnTo>
                    <a:pt x="0" y="2133600"/>
                  </a:lnTo>
                </a:path>
              </a:pathLst>
            </a:custGeom>
            <a:noFill/>
            <a:ln w="9525">
              <a:solidFill>
                <a:srgbClr val="E8E8E8"/>
              </a:solidFill>
            </a:ln>
          </p:spPr>
        </p:sp>
        <p:sp>
          <p:nvSpPr>
            <p:cNvPr id="54" name="Rectangle 54"/>
            <p:cNvSpPr/>
            <p:nvPr/>
          </p:nvSpPr>
          <p:spPr>
            <a:xfrm>
              <a:off x="685800" y="5505450"/>
              <a:ext cx="10820400" cy="533400"/>
            </a:xfrm>
            <a:prstGeom prst="rect">
              <a:avLst/>
            </a:prstGeom>
            <a:solidFill>
              <a:srgbClr val="FFFFFF"/>
            </a:solidFill>
            <a:ln>
              <a:noFill/>
            </a:ln>
          </p:spPr>
        </p:sp>
        <p:sp>
          <p:nvSpPr>
            <p:cNvPr id="55" name="Freeform 55"/>
            <p:cNvSpPr/>
            <p:nvPr/>
          </p:nvSpPr>
          <p:spPr>
            <a:xfrm>
              <a:off x="685800" y="6038850"/>
              <a:ext cx="10820400" cy="9525"/>
            </a:xfrm>
            <a:custGeom>
              <a:avLst/>
              <a:gdLst/>
              <a:ahLst/>
              <a:cxnLst/>
              <a:rect l="l" t="t" r="r" b="b"/>
              <a:pathLst>
                <a:path w="10820400" h="9525">
                  <a:moveTo>
                    <a:pt x="0" y="0"/>
                  </a:moveTo>
                  <a:lnTo>
                    <a:pt x="10820400" y="0"/>
                  </a:lnTo>
                </a:path>
              </a:pathLst>
            </a:custGeom>
            <a:noFill/>
            <a:ln w="9525">
              <a:solidFill>
                <a:srgbClr val="E8E8E8"/>
              </a:solidFill>
            </a:ln>
          </p:spPr>
        </p:sp>
        <p:sp>
          <p:nvSpPr>
            <p:cNvPr id="56" name="Freeform 56"/>
            <p:cNvSpPr/>
            <p:nvPr/>
          </p:nvSpPr>
          <p:spPr>
            <a:xfrm>
              <a:off x="685800" y="3905250"/>
              <a:ext cx="9525" cy="2133600"/>
            </a:xfrm>
            <a:custGeom>
              <a:avLst/>
              <a:gdLst/>
              <a:ahLst/>
              <a:cxnLst/>
              <a:rect l="l" t="t" r="r" b="b"/>
              <a:pathLst>
                <a:path w="9525" h="2133600">
                  <a:moveTo>
                    <a:pt x="0" y="0"/>
                  </a:moveTo>
                  <a:lnTo>
                    <a:pt x="0" y="2133600"/>
                  </a:lnTo>
                </a:path>
              </a:pathLst>
            </a:custGeom>
            <a:noFill/>
            <a:ln w="9525">
              <a:solidFill>
                <a:srgbClr val="E8E8E8"/>
              </a:solidFill>
            </a:ln>
          </p:spPr>
        </p:sp>
        <p:sp>
          <p:nvSpPr>
            <p:cNvPr id="57" name="TextBox 57"/>
            <p:cNvSpPr txBox="1"/>
            <p:nvPr/>
          </p:nvSpPr>
          <p:spPr>
            <a:xfrm>
              <a:off x="851154" y="5604510"/>
              <a:ext cx="1319989" cy="234696"/>
            </a:xfrm>
            <a:prstGeom prst="rect">
              <a:avLst/>
            </a:prstGeom>
            <a:noFill/>
            <a:ln>
              <a:noFill/>
            </a:ln>
          </p:spPr>
          <p:txBody>
            <a:bodyPr wrap="none" lIns="0" tIns="0" rIns="0" bIns="0" anchor="t" anchorCtr="0">
              <a:spAutoFit/>
            </a:bodyPr>
            <a:lstStyle/>
            <a:p>
              <a:pPr algn="l"/>
              <a:r>
                <a:rPr lang="vi-VN" sz="1200" b="1" dirty="0">
                  <a:solidFill>
                    <a:srgbClr val="1A1A1A"/>
                  </a:solidFill>
                  <a:latin typeface="Arial"/>
                  <a:ea typeface="Arial"/>
                  <a:cs typeface="Arial"/>
                </a:rPr>
                <a:t>Sản phẩm đầu ra</a:t>
              </a:r>
            </a:p>
          </p:txBody>
        </p:sp>
        <p:sp>
          <p:nvSpPr>
            <p:cNvPr id="58" name="Freeform 58"/>
            <p:cNvSpPr/>
            <p:nvPr/>
          </p:nvSpPr>
          <p:spPr>
            <a:xfrm>
              <a:off x="3067050" y="3905250"/>
              <a:ext cx="9525" cy="2133600"/>
            </a:xfrm>
            <a:custGeom>
              <a:avLst/>
              <a:gdLst/>
              <a:ahLst/>
              <a:cxnLst/>
              <a:rect l="l" t="t" r="r" b="b"/>
              <a:pathLst>
                <a:path w="9525" h="2133600">
                  <a:moveTo>
                    <a:pt x="0" y="0"/>
                  </a:moveTo>
                  <a:lnTo>
                    <a:pt x="0" y="2133600"/>
                  </a:lnTo>
                </a:path>
              </a:pathLst>
            </a:custGeom>
            <a:noFill/>
            <a:ln w="9525">
              <a:solidFill>
                <a:srgbClr val="E8E8E8"/>
              </a:solidFill>
            </a:ln>
          </p:spPr>
        </p:sp>
        <p:sp>
          <p:nvSpPr>
            <p:cNvPr id="59" name="TextBox 59"/>
            <p:cNvSpPr txBox="1"/>
            <p:nvPr/>
          </p:nvSpPr>
          <p:spPr>
            <a:xfrm>
              <a:off x="3232404" y="5604510"/>
              <a:ext cx="2882406" cy="234696"/>
            </a:xfrm>
            <a:prstGeom prst="rect">
              <a:avLst/>
            </a:prstGeom>
            <a:noFill/>
            <a:ln>
              <a:noFill/>
            </a:ln>
          </p:spPr>
          <p:txBody>
            <a:bodyPr wrap="none" lIns="0" tIns="0" rIns="0" bIns="0" anchor="t" anchorCtr="0">
              <a:spAutoFit/>
            </a:bodyPr>
            <a:lstStyle/>
            <a:p>
              <a:pPr algn="l"/>
              <a:r>
                <a:rPr lang="vi-VN" sz="1200" dirty="0">
                  <a:solidFill>
                    <a:srgbClr val="1A1A1A"/>
                  </a:solidFill>
                  <a:latin typeface="Arial"/>
                  <a:ea typeface="Arial"/>
                  <a:cs typeface="Arial"/>
                </a:rPr>
                <a:t>Tài liệu quản lý dự án, thiết kế hệ thống,</a:t>
              </a:r>
            </a:p>
          </p:txBody>
        </p:sp>
        <p:sp>
          <p:nvSpPr>
            <p:cNvPr id="60" name="TextBox 60"/>
            <p:cNvSpPr txBox="1"/>
            <p:nvPr/>
          </p:nvSpPr>
          <p:spPr>
            <a:xfrm>
              <a:off x="3232404" y="5799582"/>
              <a:ext cx="775455" cy="234696"/>
            </a:xfrm>
            <a:prstGeom prst="rect">
              <a:avLst/>
            </a:prstGeom>
            <a:noFill/>
            <a:ln>
              <a:noFill/>
            </a:ln>
          </p:spPr>
          <p:txBody>
            <a:bodyPr wrap="none" lIns="0" tIns="0" rIns="0" bIns="0" anchor="t" anchorCtr="0">
              <a:spAutoFit/>
            </a:bodyPr>
            <a:lstStyle/>
            <a:p>
              <a:pPr algn="l"/>
              <a:r>
                <a:rPr lang="vi-VN" sz="1200" dirty="0">
                  <a:solidFill>
                    <a:srgbClr val="1A1A1A"/>
                  </a:solidFill>
                  <a:latin typeface="Arial"/>
                  <a:ea typeface="Arial"/>
                  <a:cs typeface="Arial"/>
                </a:rPr>
                <a:t>phần mềm</a:t>
              </a:r>
            </a:p>
          </p:txBody>
        </p:sp>
        <p:sp>
          <p:nvSpPr>
            <p:cNvPr id="61" name="Freeform 61"/>
            <p:cNvSpPr/>
            <p:nvPr/>
          </p:nvSpPr>
          <p:spPr>
            <a:xfrm>
              <a:off x="6972300" y="3905250"/>
              <a:ext cx="9525" cy="2133600"/>
            </a:xfrm>
            <a:custGeom>
              <a:avLst/>
              <a:gdLst/>
              <a:ahLst/>
              <a:cxnLst/>
              <a:rect l="l" t="t" r="r" b="b"/>
              <a:pathLst>
                <a:path w="9525" h="2133600">
                  <a:moveTo>
                    <a:pt x="0" y="0"/>
                  </a:moveTo>
                  <a:lnTo>
                    <a:pt x="0" y="2133600"/>
                  </a:lnTo>
                </a:path>
              </a:pathLst>
            </a:custGeom>
            <a:noFill/>
            <a:ln w="9525">
              <a:solidFill>
                <a:srgbClr val="E8E8E8"/>
              </a:solidFill>
            </a:ln>
          </p:spPr>
        </p:sp>
        <p:sp>
          <p:nvSpPr>
            <p:cNvPr id="62" name="TextBox 62"/>
            <p:cNvSpPr txBox="1"/>
            <p:nvPr/>
          </p:nvSpPr>
          <p:spPr>
            <a:xfrm>
              <a:off x="7137654" y="5604510"/>
              <a:ext cx="3461166" cy="234696"/>
            </a:xfrm>
            <a:prstGeom prst="rect">
              <a:avLst/>
            </a:prstGeom>
            <a:noFill/>
            <a:ln>
              <a:noFill/>
            </a:ln>
          </p:spPr>
          <p:txBody>
            <a:bodyPr wrap="none" lIns="0" tIns="0" rIns="0" bIns="0" anchor="t" anchorCtr="0">
              <a:spAutoFit/>
            </a:bodyPr>
            <a:lstStyle/>
            <a:p>
              <a:pPr algn="l"/>
              <a:r>
                <a:rPr lang="vi-VN" sz="1200" dirty="0">
                  <a:solidFill>
                    <a:srgbClr val="1A1A1A"/>
                  </a:solidFill>
                  <a:latin typeface="Arial"/>
                  <a:ea typeface="Arial"/>
                  <a:cs typeface="Arial"/>
                </a:rPr>
                <a:t>Bám vòng đời dự án CNTT từ khảo sát đến triển</a:t>
              </a:r>
            </a:p>
          </p:txBody>
        </p:sp>
        <p:sp>
          <p:nvSpPr>
            <p:cNvPr id="63" name="TextBox 63"/>
            <p:cNvSpPr txBox="1"/>
            <p:nvPr/>
          </p:nvSpPr>
          <p:spPr>
            <a:xfrm>
              <a:off x="7137654" y="5799582"/>
              <a:ext cx="308561" cy="234696"/>
            </a:xfrm>
            <a:prstGeom prst="rect">
              <a:avLst/>
            </a:prstGeom>
            <a:noFill/>
            <a:ln>
              <a:noFill/>
            </a:ln>
          </p:spPr>
          <p:txBody>
            <a:bodyPr wrap="none" lIns="0" tIns="0" rIns="0" bIns="0" anchor="t" anchorCtr="0">
              <a:spAutoFit/>
            </a:bodyPr>
            <a:lstStyle/>
            <a:p>
              <a:pPr algn="l"/>
              <a:r>
                <a:rPr lang="vi-VN" sz="1200" dirty="0">
                  <a:solidFill>
                    <a:srgbClr val="1A1A1A"/>
                  </a:solidFill>
                  <a:latin typeface="Arial"/>
                  <a:ea typeface="Arial"/>
                  <a:cs typeface="Arial"/>
                </a:rPr>
                <a:t>khai</a:t>
              </a:r>
            </a:p>
          </p:txBody>
        </p:sp>
        <p:sp>
          <p:nvSpPr>
            <p:cNvPr id="64" name="Freeform 64"/>
            <p:cNvSpPr/>
            <p:nvPr/>
          </p:nvSpPr>
          <p:spPr>
            <a:xfrm>
              <a:off x="11506200" y="3905250"/>
              <a:ext cx="9525" cy="2133600"/>
            </a:xfrm>
            <a:custGeom>
              <a:avLst/>
              <a:gdLst/>
              <a:ahLst/>
              <a:cxnLst/>
              <a:rect l="l" t="t" r="r" b="b"/>
              <a:pathLst>
                <a:path w="9525" h="2133600">
                  <a:moveTo>
                    <a:pt x="0" y="0"/>
                  </a:moveTo>
                  <a:lnTo>
                    <a:pt x="0" y="2133600"/>
                  </a:lnTo>
                </a:path>
              </a:pathLst>
            </a:custGeom>
            <a:noFill/>
            <a:ln w="9525">
              <a:solidFill>
                <a:srgbClr val="E8E8E8"/>
              </a:solidFill>
            </a:ln>
          </p:spPr>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bg-fill"/>
          <p:cNvSpPr/>
          <p:nvPr/>
        </p:nvSpPr>
        <p:spPr>
          <a:xfrm>
            <a:off x="-9525" y="-9525"/>
            <a:ext cx="12211050" cy="6877050"/>
          </a:xfrm>
          <a:prstGeom prst="rect">
            <a:avLst/>
          </a:prstGeom>
          <a:solidFill>
            <a:srgbClr val="FFFFFF"/>
          </a:solidFill>
          <a:ln>
            <a:noFill/>
          </a:ln>
        </p:spPr>
      </p:sp>
      <p:grpSp>
        <p:nvGrpSpPr>
          <p:cNvPr id="5" name="top-rule"/>
          <p:cNvGrpSpPr/>
          <p:nvPr/>
        </p:nvGrpSpPr>
        <p:grpSpPr>
          <a:xfrm>
            <a:off x="685800" y="723900"/>
            <a:ext cx="10820400" cy="38100"/>
            <a:chOff x="685800" y="723900"/>
            <a:chExt cx="10820400" cy="38100"/>
          </a:xfrm>
        </p:grpSpPr>
        <p:sp>
          <p:nvSpPr>
            <p:cNvPr id="3" name="Rectangle 3"/>
            <p:cNvSpPr/>
            <p:nvPr/>
          </p:nvSpPr>
          <p:spPr>
            <a:xfrm>
              <a:off x="685800" y="723900"/>
              <a:ext cx="10820400" cy="38100"/>
            </a:xfrm>
            <a:prstGeom prst="rect">
              <a:avLst/>
            </a:prstGeom>
            <a:solidFill>
              <a:srgbClr val="E8E8E8"/>
            </a:solidFill>
            <a:ln>
              <a:noFill/>
            </a:ln>
          </p:spPr>
        </p:sp>
        <p:sp>
          <p:nvSpPr>
            <p:cNvPr id="4" name="Rectangle 4"/>
            <p:cNvSpPr/>
            <p:nvPr/>
          </p:nvSpPr>
          <p:spPr>
            <a:xfrm>
              <a:off x="685800" y="723900"/>
              <a:ext cx="2164080" cy="38100"/>
            </a:xfrm>
            <a:prstGeom prst="rect">
              <a:avLst/>
            </a:prstGeom>
            <a:solidFill>
              <a:srgbClr val="C8102E"/>
            </a:solidFill>
            <a:ln>
              <a:noFill/>
            </a:ln>
          </p:spPr>
        </p:sp>
      </p:grpSp>
      <p:grpSp>
        <p:nvGrpSpPr>
          <p:cNvPr id="8" name="title"/>
          <p:cNvGrpSpPr/>
          <p:nvPr/>
        </p:nvGrpSpPr>
        <p:grpSpPr>
          <a:xfrm>
            <a:off x="652272" y="977265"/>
            <a:ext cx="6780101" cy="1193482"/>
            <a:chOff x="652272" y="977265"/>
            <a:chExt cx="6780101" cy="1193482"/>
          </a:xfrm>
        </p:grpSpPr>
        <p:sp>
          <p:nvSpPr>
            <p:cNvPr id="6" name="TextBox 6"/>
            <p:cNvSpPr txBox="1"/>
            <p:nvPr/>
          </p:nvSpPr>
          <p:spPr>
            <a:xfrm>
              <a:off x="652272" y="977265"/>
              <a:ext cx="5429006" cy="645414"/>
            </a:xfrm>
            <a:prstGeom prst="rect">
              <a:avLst/>
            </a:prstGeom>
            <a:noFill/>
            <a:ln>
              <a:noFill/>
            </a:ln>
          </p:spPr>
          <p:txBody>
            <a:bodyPr wrap="none" lIns="0" tIns="0" rIns="0" bIns="0" anchor="t" anchorCtr="0">
              <a:spAutoFit/>
            </a:bodyPr>
            <a:lstStyle/>
            <a:p>
              <a:pPr algn="l"/>
              <a:r>
                <a:rPr lang="vi-VN" sz="3300" b="1" dirty="0">
                  <a:solidFill>
                    <a:srgbClr val="111111"/>
                  </a:solidFill>
                  <a:latin typeface="Arial"/>
                  <a:ea typeface="Arial"/>
                  <a:cs typeface="Arial"/>
                </a:rPr>
                <a:t>Bối cảnh và tính cấp thiết</a:t>
              </a:r>
            </a:p>
          </p:txBody>
        </p:sp>
        <p:sp>
          <p:nvSpPr>
            <p:cNvPr id="7" name="TextBox 7"/>
            <p:cNvSpPr txBox="1"/>
            <p:nvPr/>
          </p:nvSpPr>
          <p:spPr>
            <a:xfrm>
              <a:off x="677418" y="1848040"/>
              <a:ext cx="6754955" cy="322707"/>
            </a:xfrm>
            <a:prstGeom prst="rect">
              <a:avLst/>
            </a:prstGeom>
            <a:noFill/>
            <a:ln>
              <a:noFill/>
            </a:ln>
          </p:spPr>
          <p:txBody>
            <a:bodyPr wrap="none" lIns="0" tIns="0" rIns="0" bIns="0" anchor="t" anchorCtr="0">
              <a:spAutoFit/>
            </a:bodyPr>
            <a:lstStyle/>
            <a:p>
              <a:pPr algn="l"/>
              <a:r>
                <a:rPr lang="vi-VN" sz="1650" dirty="0">
                  <a:solidFill>
                    <a:srgbClr val="6E6E6E"/>
                  </a:solidFill>
                  <a:latin typeface="Arial"/>
                  <a:ea typeface="Arial"/>
                  <a:cs typeface="Arial"/>
                </a:rPr>
                <a:t>Dự án xuất phát từ nhu cầu số hóa bán lẻ điện tử quy mô vừa và nhỏ</a:t>
              </a:r>
            </a:p>
          </p:txBody>
        </p:sp>
      </p:grpSp>
      <p:grpSp>
        <p:nvGrpSpPr>
          <p:cNvPr id="12" name="footer"/>
          <p:cNvGrpSpPr/>
          <p:nvPr/>
        </p:nvGrpSpPr>
        <p:grpSpPr>
          <a:xfrm>
            <a:off x="680085" y="6286500"/>
            <a:ext cx="10831830" cy="327184"/>
            <a:chOff x="680085" y="6286500"/>
            <a:chExt cx="10831830" cy="327184"/>
          </a:xfrm>
        </p:grpSpPr>
        <p:sp>
          <p:nvSpPr>
            <p:cNvPr id="9" name="Freeform 9"/>
            <p:cNvSpPr/>
            <p:nvPr/>
          </p:nvSpPr>
          <p:spPr>
            <a:xfrm>
              <a:off x="685800" y="6286500"/>
              <a:ext cx="10820400" cy="9525"/>
            </a:xfrm>
            <a:custGeom>
              <a:avLst/>
              <a:gdLst/>
              <a:ahLst/>
              <a:cxnLst/>
              <a:rect l="l" t="t" r="r" b="b"/>
              <a:pathLst>
                <a:path w="10820400" h="9525">
                  <a:moveTo>
                    <a:pt x="0" y="0"/>
                  </a:moveTo>
                  <a:lnTo>
                    <a:pt x="10820400" y="0"/>
                  </a:lnTo>
                </a:path>
              </a:pathLst>
            </a:custGeom>
            <a:noFill/>
            <a:ln w="9525">
              <a:solidFill>
                <a:srgbClr val="E8E8E8"/>
              </a:solidFill>
            </a:ln>
          </p:spPr>
        </p:sp>
        <p:sp>
          <p:nvSpPr>
            <p:cNvPr id="10" name="TextBox 10"/>
            <p:cNvSpPr txBox="1"/>
            <p:nvPr/>
          </p:nvSpPr>
          <p:spPr>
            <a:xfrm>
              <a:off x="680085" y="6393656"/>
              <a:ext cx="2914269" cy="220028"/>
            </a:xfrm>
            <a:prstGeom prst="rect">
              <a:avLst/>
            </a:prstGeom>
            <a:noFill/>
            <a:ln>
              <a:noFill/>
            </a:ln>
          </p:spPr>
          <p:txBody>
            <a:bodyPr wrap="none" lIns="0" tIns="0" rIns="0" bIns="0" anchor="t" anchorCtr="0">
              <a:spAutoFit/>
            </a:bodyPr>
            <a:lstStyle/>
            <a:p>
              <a:pPr algn="l"/>
              <a:r>
                <a:rPr lang="vi-VN" sz="1120" dirty="0">
                  <a:solidFill>
                    <a:srgbClr val="6E6E6E"/>
                  </a:solidFill>
                  <a:latin typeface="Arial"/>
                  <a:ea typeface="Arial"/>
                  <a:cs typeface="Arial"/>
                </a:rPr>
                <a:t>Nhóm 04 | Lớp 765643-QTDA-VB2-20261</a:t>
              </a:r>
            </a:p>
          </p:txBody>
        </p:sp>
        <p:sp>
          <p:nvSpPr>
            <p:cNvPr id="11" name="TextBox 11"/>
            <p:cNvSpPr txBox="1"/>
            <p:nvPr/>
          </p:nvSpPr>
          <p:spPr>
            <a:xfrm>
              <a:off x="11332764" y="6393656"/>
              <a:ext cx="179151" cy="220028"/>
            </a:xfrm>
            <a:prstGeom prst="rect">
              <a:avLst/>
            </a:prstGeom>
            <a:noFill/>
            <a:ln>
              <a:noFill/>
            </a:ln>
          </p:spPr>
          <p:txBody>
            <a:bodyPr wrap="none" lIns="0" tIns="0" rIns="0" bIns="0" anchor="t" anchorCtr="0">
              <a:spAutoFit/>
            </a:bodyPr>
            <a:lstStyle/>
            <a:p>
              <a:pPr algn="r"/>
              <a:r>
                <a:rPr lang="vi-VN" sz="1120" dirty="0">
                  <a:solidFill>
                    <a:srgbClr val="6E6E6E"/>
                  </a:solidFill>
                  <a:latin typeface="Arial"/>
                  <a:ea typeface="Arial"/>
                  <a:cs typeface="Arial"/>
                </a:rPr>
                <a:t>04</a:t>
              </a:r>
            </a:p>
          </p:txBody>
        </p:sp>
      </p:grpSp>
      <p:grpSp>
        <p:nvGrpSpPr>
          <p:cNvPr id="29" name="context-cards"/>
          <p:cNvGrpSpPr/>
          <p:nvPr/>
        </p:nvGrpSpPr>
        <p:grpSpPr>
          <a:xfrm>
            <a:off x="685800" y="2476500"/>
            <a:ext cx="9724619" cy="2381250"/>
            <a:chOff x="685800" y="2476500"/>
            <a:chExt cx="9724619" cy="2381250"/>
          </a:xfrm>
        </p:grpSpPr>
        <p:sp>
          <p:nvSpPr>
            <p:cNvPr id="13" name="Rectangle 13"/>
            <p:cNvSpPr/>
            <p:nvPr/>
          </p:nvSpPr>
          <p:spPr>
            <a:xfrm>
              <a:off x="685800" y="2476500"/>
              <a:ext cx="2952750" cy="2381250"/>
            </a:xfrm>
            <a:prstGeom prst="rect">
              <a:avLst/>
            </a:prstGeom>
            <a:solidFill>
              <a:srgbClr val="F5F5F5"/>
            </a:solidFill>
            <a:ln w="9525">
              <a:solidFill>
                <a:srgbClr val="E8E8E8"/>
              </a:solidFill>
            </a:ln>
          </p:spPr>
        </p:sp>
        <p:sp>
          <p:nvSpPr>
            <p:cNvPr id="14" name="TextBox 14"/>
            <p:cNvSpPr txBox="1"/>
            <p:nvPr/>
          </p:nvSpPr>
          <p:spPr>
            <a:xfrm>
              <a:off x="988695" y="2662238"/>
              <a:ext cx="1027235" cy="440055"/>
            </a:xfrm>
            <a:prstGeom prst="rect">
              <a:avLst/>
            </a:prstGeom>
            <a:noFill/>
            <a:ln>
              <a:noFill/>
            </a:ln>
          </p:spPr>
          <p:txBody>
            <a:bodyPr wrap="none" lIns="0" tIns="0" rIns="0" bIns="0" anchor="t" anchorCtr="0">
              <a:spAutoFit/>
            </a:bodyPr>
            <a:lstStyle/>
            <a:p>
              <a:pPr algn="l"/>
              <a:r>
                <a:rPr lang="vi-VN" sz="2250" b="1" dirty="0">
                  <a:solidFill>
                    <a:srgbClr val="C8102E"/>
                  </a:solidFill>
                  <a:latin typeface="Arial"/>
                  <a:ea typeface="Arial"/>
                  <a:cs typeface="Arial"/>
                </a:rPr>
                <a:t>Vấn đề</a:t>
              </a:r>
            </a:p>
          </p:txBody>
        </p:sp>
        <p:sp>
          <p:nvSpPr>
            <p:cNvPr id="15" name="TextBox 15"/>
            <p:cNvSpPr txBox="1"/>
            <p:nvPr/>
          </p:nvSpPr>
          <p:spPr>
            <a:xfrm>
              <a:off x="992505" y="3062802"/>
              <a:ext cx="2480023" cy="293370"/>
            </a:xfrm>
            <a:prstGeom prst="rect">
              <a:avLst/>
            </a:prstGeom>
            <a:noFill/>
            <a:ln>
              <a:noFill/>
            </a:ln>
          </p:spPr>
          <p:txBody>
            <a:bodyPr wrap="none" lIns="0" tIns="0" rIns="0" bIns="0" anchor="t" anchorCtr="0">
              <a:spAutoFit/>
            </a:bodyPr>
            <a:lstStyle/>
            <a:p>
              <a:pPr algn="l"/>
              <a:r>
                <a:rPr lang="vi-VN" sz="1500" dirty="0">
                  <a:solidFill>
                    <a:srgbClr val="1A1A1A"/>
                  </a:solidFill>
                  <a:latin typeface="Arial"/>
                  <a:ea typeface="Arial"/>
                  <a:cs typeface="Arial"/>
                </a:rPr>
                <a:t>Hàng điện tử giá trị cao cần</a:t>
              </a:r>
            </a:p>
          </p:txBody>
        </p:sp>
        <p:sp>
          <p:nvSpPr>
            <p:cNvPr id="16" name="TextBox 16"/>
            <p:cNvSpPr txBox="1"/>
            <p:nvPr/>
          </p:nvSpPr>
          <p:spPr>
            <a:xfrm>
              <a:off x="992505" y="3325692"/>
              <a:ext cx="2718033" cy="293370"/>
            </a:xfrm>
            <a:prstGeom prst="rect">
              <a:avLst/>
            </a:prstGeom>
            <a:noFill/>
            <a:ln>
              <a:noFill/>
            </a:ln>
          </p:spPr>
          <p:txBody>
            <a:bodyPr wrap="none" lIns="0" tIns="0" rIns="0" bIns="0" anchor="t" anchorCtr="0">
              <a:spAutoFit/>
            </a:bodyPr>
            <a:lstStyle/>
            <a:p>
              <a:pPr algn="l"/>
              <a:r>
                <a:rPr lang="vi-VN" sz="1500" dirty="0">
                  <a:solidFill>
                    <a:srgbClr val="1A1A1A"/>
                  </a:solidFill>
                  <a:latin typeface="Arial"/>
                  <a:ea typeface="Arial"/>
                  <a:cs typeface="Arial"/>
                </a:rPr>
                <a:t>quản lý chính xác Serial/IMEI,</a:t>
              </a:r>
            </a:p>
          </p:txBody>
        </p:sp>
        <p:sp>
          <p:nvSpPr>
            <p:cNvPr id="17" name="TextBox 17"/>
            <p:cNvSpPr txBox="1"/>
            <p:nvPr/>
          </p:nvSpPr>
          <p:spPr>
            <a:xfrm>
              <a:off x="992505" y="3588582"/>
              <a:ext cx="1901509" cy="293370"/>
            </a:xfrm>
            <a:prstGeom prst="rect">
              <a:avLst/>
            </a:prstGeom>
            <a:noFill/>
            <a:ln>
              <a:noFill/>
            </a:ln>
          </p:spPr>
          <p:txBody>
            <a:bodyPr wrap="none" lIns="0" tIns="0" rIns="0" bIns="0" anchor="t" anchorCtr="0">
              <a:spAutoFit/>
            </a:bodyPr>
            <a:lstStyle/>
            <a:p>
              <a:pPr algn="l"/>
              <a:r>
                <a:rPr lang="vi-VN" sz="1500" dirty="0">
                  <a:solidFill>
                    <a:srgbClr val="1A1A1A"/>
                  </a:solidFill>
                  <a:latin typeface="Arial"/>
                  <a:ea typeface="Arial"/>
                  <a:cs typeface="Arial"/>
                </a:rPr>
                <a:t>bảo hành và tồn kho.</a:t>
              </a:r>
            </a:p>
          </p:txBody>
        </p:sp>
        <p:sp>
          <p:nvSpPr>
            <p:cNvPr id="18" name="Rectangle 18"/>
            <p:cNvSpPr/>
            <p:nvPr/>
          </p:nvSpPr>
          <p:spPr>
            <a:xfrm>
              <a:off x="4019550" y="2476500"/>
              <a:ext cx="2952750" cy="2381250"/>
            </a:xfrm>
            <a:prstGeom prst="rect">
              <a:avLst/>
            </a:prstGeom>
            <a:solidFill>
              <a:srgbClr val="F5F5F5"/>
            </a:solidFill>
            <a:ln w="9525">
              <a:solidFill>
                <a:srgbClr val="E8E8E8"/>
              </a:solidFill>
            </a:ln>
          </p:spPr>
        </p:sp>
        <p:sp>
          <p:nvSpPr>
            <p:cNvPr id="19" name="TextBox 19"/>
            <p:cNvSpPr txBox="1"/>
            <p:nvPr/>
          </p:nvSpPr>
          <p:spPr>
            <a:xfrm>
              <a:off x="4322445" y="2662238"/>
              <a:ext cx="1044144" cy="440055"/>
            </a:xfrm>
            <a:prstGeom prst="rect">
              <a:avLst/>
            </a:prstGeom>
            <a:noFill/>
            <a:ln>
              <a:noFill/>
            </a:ln>
          </p:spPr>
          <p:txBody>
            <a:bodyPr wrap="none" lIns="0" tIns="0" rIns="0" bIns="0" anchor="t" anchorCtr="0">
              <a:spAutoFit/>
            </a:bodyPr>
            <a:lstStyle/>
            <a:p>
              <a:pPr algn="l"/>
              <a:r>
                <a:rPr lang="vi-VN" sz="2250" b="1" dirty="0">
                  <a:solidFill>
                    <a:srgbClr val="111111"/>
                  </a:solidFill>
                  <a:latin typeface="Arial"/>
                  <a:ea typeface="Arial"/>
                  <a:cs typeface="Arial"/>
                </a:rPr>
                <a:t>Hệ quả</a:t>
              </a:r>
            </a:p>
          </p:txBody>
        </p:sp>
        <p:sp>
          <p:nvSpPr>
            <p:cNvPr id="20" name="TextBox 20"/>
            <p:cNvSpPr txBox="1"/>
            <p:nvPr/>
          </p:nvSpPr>
          <p:spPr>
            <a:xfrm>
              <a:off x="4326255" y="3062802"/>
              <a:ext cx="2827774" cy="293370"/>
            </a:xfrm>
            <a:prstGeom prst="rect">
              <a:avLst/>
            </a:prstGeom>
            <a:noFill/>
            <a:ln>
              <a:noFill/>
            </a:ln>
          </p:spPr>
          <p:txBody>
            <a:bodyPr wrap="none" lIns="0" tIns="0" rIns="0" bIns="0" anchor="t" anchorCtr="0">
              <a:spAutoFit/>
            </a:bodyPr>
            <a:lstStyle/>
            <a:p>
              <a:pPr algn="l"/>
              <a:r>
                <a:rPr lang="vi-VN" sz="1500" dirty="0">
                  <a:solidFill>
                    <a:srgbClr val="1A1A1A"/>
                  </a:solidFill>
                  <a:latin typeface="Arial"/>
                  <a:ea typeface="Arial"/>
                  <a:cs typeface="Arial"/>
                </a:rPr>
                <a:t>Quy trình thủ công làm tăng sai</a:t>
              </a:r>
            </a:p>
          </p:txBody>
        </p:sp>
        <p:sp>
          <p:nvSpPr>
            <p:cNvPr id="21" name="TextBox 21"/>
            <p:cNvSpPr txBox="1"/>
            <p:nvPr/>
          </p:nvSpPr>
          <p:spPr>
            <a:xfrm>
              <a:off x="4326255" y="3325692"/>
              <a:ext cx="2776673" cy="293370"/>
            </a:xfrm>
            <a:prstGeom prst="rect">
              <a:avLst/>
            </a:prstGeom>
            <a:noFill/>
            <a:ln>
              <a:noFill/>
            </a:ln>
          </p:spPr>
          <p:txBody>
            <a:bodyPr wrap="none" lIns="0" tIns="0" rIns="0" bIns="0" anchor="t" anchorCtr="0">
              <a:spAutoFit/>
            </a:bodyPr>
            <a:lstStyle/>
            <a:p>
              <a:pPr algn="l"/>
              <a:r>
                <a:rPr lang="vi-VN" sz="1500" dirty="0">
                  <a:solidFill>
                    <a:srgbClr val="1A1A1A"/>
                  </a:solidFill>
                  <a:latin typeface="Arial"/>
                  <a:ea typeface="Arial"/>
                  <a:cs typeface="Arial"/>
                </a:rPr>
                <a:t>lệch tồn kho, chậm tra cứu đơn</a:t>
              </a:r>
            </a:p>
          </p:txBody>
        </p:sp>
        <p:sp>
          <p:nvSpPr>
            <p:cNvPr id="22" name="TextBox 22"/>
            <p:cNvSpPr txBox="1"/>
            <p:nvPr/>
          </p:nvSpPr>
          <p:spPr>
            <a:xfrm>
              <a:off x="4326255" y="3588582"/>
              <a:ext cx="2933775" cy="293370"/>
            </a:xfrm>
            <a:prstGeom prst="rect">
              <a:avLst/>
            </a:prstGeom>
            <a:noFill/>
            <a:ln>
              <a:noFill/>
            </a:ln>
          </p:spPr>
          <p:txBody>
            <a:bodyPr wrap="none" lIns="0" tIns="0" rIns="0" bIns="0" anchor="t" anchorCtr="0">
              <a:spAutoFit/>
            </a:bodyPr>
            <a:lstStyle/>
            <a:p>
              <a:pPr algn="l"/>
              <a:r>
                <a:rPr lang="vi-VN" sz="1500" dirty="0">
                  <a:solidFill>
                    <a:srgbClr val="1A1A1A"/>
                  </a:solidFill>
                  <a:latin typeface="Arial"/>
                  <a:ea typeface="Arial"/>
                  <a:cs typeface="Arial"/>
                </a:rPr>
                <a:t>và giảm trải nghiệm khách hàng.</a:t>
              </a:r>
            </a:p>
          </p:txBody>
        </p:sp>
        <p:sp>
          <p:nvSpPr>
            <p:cNvPr id="23" name="Rectangle 23"/>
            <p:cNvSpPr/>
            <p:nvPr/>
          </p:nvSpPr>
          <p:spPr>
            <a:xfrm>
              <a:off x="7353300" y="2476500"/>
              <a:ext cx="2952750" cy="2381250"/>
            </a:xfrm>
            <a:prstGeom prst="rect">
              <a:avLst/>
            </a:prstGeom>
            <a:solidFill>
              <a:srgbClr val="F5F5F5"/>
            </a:solidFill>
            <a:ln w="9525">
              <a:solidFill>
                <a:srgbClr val="E8E8E8"/>
              </a:solidFill>
            </a:ln>
          </p:spPr>
        </p:sp>
        <p:sp>
          <p:nvSpPr>
            <p:cNvPr id="24" name="TextBox 24"/>
            <p:cNvSpPr txBox="1"/>
            <p:nvPr/>
          </p:nvSpPr>
          <p:spPr>
            <a:xfrm>
              <a:off x="7656195" y="2662238"/>
              <a:ext cx="975589" cy="440055"/>
            </a:xfrm>
            <a:prstGeom prst="rect">
              <a:avLst/>
            </a:prstGeom>
            <a:noFill/>
            <a:ln>
              <a:noFill/>
            </a:ln>
          </p:spPr>
          <p:txBody>
            <a:bodyPr wrap="none" lIns="0" tIns="0" rIns="0" bIns="0" anchor="t" anchorCtr="0">
              <a:spAutoFit/>
            </a:bodyPr>
            <a:lstStyle/>
            <a:p>
              <a:pPr algn="l"/>
              <a:r>
                <a:rPr lang="vi-VN" sz="2250" b="1" dirty="0">
                  <a:solidFill>
                    <a:srgbClr val="C8102E"/>
                  </a:solidFill>
                  <a:latin typeface="Arial"/>
                  <a:ea typeface="Arial"/>
                  <a:cs typeface="Arial"/>
                </a:rPr>
                <a:t>Cơ hội</a:t>
              </a:r>
            </a:p>
          </p:txBody>
        </p:sp>
        <p:sp>
          <p:nvSpPr>
            <p:cNvPr id="25" name="TextBox 25"/>
            <p:cNvSpPr txBox="1"/>
            <p:nvPr/>
          </p:nvSpPr>
          <p:spPr>
            <a:xfrm>
              <a:off x="7660005" y="3062802"/>
              <a:ext cx="2750414" cy="293370"/>
            </a:xfrm>
            <a:prstGeom prst="rect">
              <a:avLst/>
            </a:prstGeom>
            <a:noFill/>
            <a:ln>
              <a:noFill/>
            </a:ln>
          </p:spPr>
          <p:txBody>
            <a:bodyPr wrap="none" lIns="0" tIns="0" rIns="0" bIns="0" anchor="t" anchorCtr="0">
              <a:spAutoFit/>
            </a:bodyPr>
            <a:lstStyle/>
            <a:p>
              <a:pPr algn="l"/>
              <a:r>
                <a:rPr lang="vi-VN" sz="1500" dirty="0">
                  <a:solidFill>
                    <a:srgbClr val="1A1A1A"/>
                  </a:solidFill>
                  <a:latin typeface="Arial"/>
                  <a:ea typeface="Arial"/>
                  <a:cs typeface="Arial"/>
                </a:rPr>
                <a:t>Dự án là cơ hội áp dụng lập kế</a:t>
              </a:r>
            </a:p>
          </p:txBody>
        </p:sp>
        <p:sp>
          <p:nvSpPr>
            <p:cNvPr id="26" name="TextBox 26"/>
            <p:cNvSpPr txBox="1"/>
            <p:nvPr/>
          </p:nvSpPr>
          <p:spPr>
            <a:xfrm>
              <a:off x="7660005" y="3325692"/>
              <a:ext cx="2608910" cy="293370"/>
            </a:xfrm>
            <a:prstGeom prst="rect">
              <a:avLst/>
            </a:prstGeom>
            <a:noFill/>
            <a:ln>
              <a:noFill/>
            </a:ln>
          </p:spPr>
          <p:txBody>
            <a:bodyPr wrap="none" lIns="0" tIns="0" rIns="0" bIns="0" anchor="t" anchorCtr="0">
              <a:spAutoFit/>
            </a:bodyPr>
            <a:lstStyle/>
            <a:p>
              <a:pPr algn="l"/>
              <a:r>
                <a:rPr lang="vi-VN" sz="1500" dirty="0">
                  <a:solidFill>
                    <a:srgbClr val="1A1A1A"/>
                  </a:solidFill>
                  <a:latin typeface="Arial"/>
                  <a:ea typeface="Arial"/>
                  <a:cs typeface="Arial"/>
                </a:rPr>
                <a:t>hoạch, phân bổ nguồn lực và</a:t>
              </a:r>
            </a:p>
          </p:txBody>
        </p:sp>
        <p:sp>
          <p:nvSpPr>
            <p:cNvPr id="27" name="TextBox 27"/>
            <p:cNvSpPr txBox="1"/>
            <p:nvPr/>
          </p:nvSpPr>
          <p:spPr>
            <a:xfrm>
              <a:off x="7660005" y="3588582"/>
              <a:ext cx="2339010" cy="293370"/>
            </a:xfrm>
            <a:prstGeom prst="rect">
              <a:avLst/>
            </a:prstGeom>
            <a:noFill/>
            <a:ln>
              <a:noFill/>
            </a:ln>
          </p:spPr>
          <p:txBody>
            <a:bodyPr wrap="none" lIns="0" tIns="0" rIns="0" bIns="0" anchor="t" anchorCtr="0">
              <a:spAutoFit/>
            </a:bodyPr>
            <a:lstStyle/>
            <a:p>
              <a:pPr algn="l"/>
              <a:r>
                <a:rPr lang="vi-VN" sz="1500" dirty="0">
                  <a:solidFill>
                    <a:srgbClr val="1A1A1A"/>
                  </a:solidFill>
                  <a:latin typeface="Arial"/>
                  <a:ea typeface="Arial"/>
                  <a:cs typeface="Arial"/>
                </a:rPr>
                <a:t>quản lý rủi ro vào bài toán</a:t>
              </a:r>
            </a:p>
          </p:txBody>
        </p:sp>
        <p:sp>
          <p:nvSpPr>
            <p:cNvPr id="28" name="TextBox 28"/>
            <p:cNvSpPr txBox="1"/>
            <p:nvPr/>
          </p:nvSpPr>
          <p:spPr>
            <a:xfrm>
              <a:off x="7660005" y="3851472"/>
              <a:ext cx="677530" cy="293370"/>
            </a:xfrm>
            <a:prstGeom prst="rect">
              <a:avLst/>
            </a:prstGeom>
            <a:noFill/>
            <a:ln>
              <a:noFill/>
            </a:ln>
          </p:spPr>
          <p:txBody>
            <a:bodyPr wrap="none" lIns="0" tIns="0" rIns="0" bIns="0" anchor="t" anchorCtr="0">
              <a:spAutoFit/>
            </a:bodyPr>
            <a:lstStyle/>
            <a:p>
              <a:pPr algn="l"/>
              <a:r>
                <a:rPr lang="vi-VN" sz="1500" dirty="0">
                  <a:solidFill>
                    <a:srgbClr val="1A1A1A"/>
                  </a:solidFill>
                  <a:latin typeface="Arial"/>
                  <a:ea typeface="Arial"/>
                  <a:cs typeface="Arial"/>
                </a:rPr>
                <a:t>thực tế.</a:t>
              </a: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2" name="bg-fill"/>
          <p:cNvSpPr/>
          <p:nvPr/>
        </p:nvSpPr>
        <p:spPr>
          <a:xfrm>
            <a:off x="-9525" y="-9525"/>
            <a:ext cx="12211050" cy="6877050"/>
          </a:xfrm>
          <a:prstGeom prst="rect">
            <a:avLst/>
          </a:prstGeom>
          <a:solidFill>
            <a:srgbClr val="FFFFFF"/>
          </a:solidFill>
          <a:ln>
            <a:noFill/>
          </a:ln>
        </p:spPr>
      </p:sp>
      <p:grpSp>
        <p:nvGrpSpPr>
          <p:cNvPr id="5" name="top-rule"/>
          <p:cNvGrpSpPr/>
          <p:nvPr/>
        </p:nvGrpSpPr>
        <p:grpSpPr>
          <a:xfrm>
            <a:off x="685800" y="723900"/>
            <a:ext cx="10820400" cy="38100"/>
            <a:chOff x="685800" y="723900"/>
            <a:chExt cx="10820400" cy="38100"/>
          </a:xfrm>
        </p:grpSpPr>
        <p:sp>
          <p:nvSpPr>
            <p:cNvPr id="3" name="Rectangle 3"/>
            <p:cNvSpPr/>
            <p:nvPr/>
          </p:nvSpPr>
          <p:spPr>
            <a:xfrm>
              <a:off x="685800" y="723900"/>
              <a:ext cx="10820400" cy="38100"/>
            </a:xfrm>
            <a:prstGeom prst="rect">
              <a:avLst/>
            </a:prstGeom>
            <a:solidFill>
              <a:srgbClr val="E8E8E8"/>
            </a:solidFill>
            <a:ln>
              <a:noFill/>
            </a:ln>
          </p:spPr>
        </p:sp>
        <p:sp>
          <p:nvSpPr>
            <p:cNvPr id="4" name="Rectangle 4"/>
            <p:cNvSpPr/>
            <p:nvPr/>
          </p:nvSpPr>
          <p:spPr>
            <a:xfrm>
              <a:off x="685800" y="723900"/>
              <a:ext cx="2705100" cy="38100"/>
            </a:xfrm>
            <a:prstGeom prst="rect">
              <a:avLst/>
            </a:prstGeom>
            <a:solidFill>
              <a:srgbClr val="C8102E"/>
            </a:solidFill>
            <a:ln>
              <a:noFill/>
            </a:ln>
          </p:spPr>
        </p:sp>
      </p:grpSp>
      <p:grpSp>
        <p:nvGrpSpPr>
          <p:cNvPr id="8" name="title"/>
          <p:cNvGrpSpPr/>
          <p:nvPr/>
        </p:nvGrpSpPr>
        <p:grpSpPr>
          <a:xfrm>
            <a:off x="652272" y="977265"/>
            <a:ext cx="6861109" cy="1193482"/>
            <a:chOff x="652272" y="977265"/>
            <a:chExt cx="6861109" cy="1193482"/>
          </a:xfrm>
        </p:grpSpPr>
        <p:sp>
          <p:nvSpPr>
            <p:cNvPr id="6" name="TextBox 6"/>
            <p:cNvSpPr txBox="1"/>
            <p:nvPr/>
          </p:nvSpPr>
          <p:spPr>
            <a:xfrm>
              <a:off x="652272" y="977265"/>
              <a:ext cx="6861109" cy="645414"/>
            </a:xfrm>
            <a:prstGeom prst="rect">
              <a:avLst/>
            </a:prstGeom>
            <a:noFill/>
            <a:ln>
              <a:noFill/>
            </a:ln>
          </p:spPr>
          <p:txBody>
            <a:bodyPr wrap="none" lIns="0" tIns="0" rIns="0" bIns="0" anchor="t" anchorCtr="0">
              <a:spAutoFit/>
            </a:bodyPr>
            <a:lstStyle/>
            <a:p>
              <a:pPr algn="l"/>
              <a:r>
                <a:rPr lang="vi-VN" sz="3300" b="1" dirty="0">
                  <a:solidFill>
                    <a:srgbClr val="111111"/>
                  </a:solidFill>
                  <a:latin typeface="Arial"/>
                  <a:ea typeface="Arial"/>
                  <a:cs typeface="Arial"/>
                </a:rPr>
                <a:t>Hiện trạng vận hành trước dự án</a:t>
              </a:r>
            </a:p>
          </p:txBody>
        </p:sp>
        <p:sp>
          <p:nvSpPr>
            <p:cNvPr id="7" name="TextBox 7"/>
            <p:cNvSpPr txBox="1"/>
            <p:nvPr/>
          </p:nvSpPr>
          <p:spPr>
            <a:xfrm>
              <a:off x="677418" y="1848040"/>
              <a:ext cx="6396376" cy="322707"/>
            </a:xfrm>
            <a:prstGeom prst="rect">
              <a:avLst/>
            </a:prstGeom>
            <a:noFill/>
            <a:ln>
              <a:noFill/>
            </a:ln>
          </p:spPr>
          <p:txBody>
            <a:bodyPr wrap="none" lIns="0" tIns="0" rIns="0" bIns="0" anchor="t" anchorCtr="0">
              <a:spAutoFit/>
            </a:bodyPr>
            <a:lstStyle/>
            <a:p>
              <a:pPr algn="l"/>
              <a:r>
                <a:rPr lang="vi-VN" sz="1650" dirty="0">
                  <a:solidFill>
                    <a:srgbClr val="6E6E6E"/>
                  </a:solidFill>
                  <a:latin typeface="Arial"/>
                  <a:ea typeface="Arial"/>
                  <a:cs typeface="Arial"/>
                </a:rPr>
                <a:t>Khảo sát mô phỏng cho thấy dữ liệu tồn tại nhưng chưa tập trung</a:t>
              </a:r>
            </a:p>
          </p:txBody>
        </p:sp>
      </p:grpSp>
      <p:grpSp>
        <p:nvGrpSpPr>
          <p:cNvPr id="12" name="footer"/>
          <p:cNvGrpSpPr/>
          <p:nvPr/>
        </p:nvGrpSpPr>
        <p:grpSpPr>
          <a:xfrm>
            <a:off x="680085" y="6286500"/>
            <a:ext cx="10831830" cy="327184"/>
            <a:chOff x="680085" y="6286500"/>
            <a:chExt cx="10831830" cy="327184"/>
          </a:xfrm>
        </p:grpSpPr>
        <p:sp>
          <p:nvSpPr>
            <p:cNvPr id="9" name="Freeform 9"/>
            <p:cNvSpPr/>
            <p:nvPr/>
          </p:nvSpPr>
          <p:spPr>
            <a:xfrm>
              <a:off x="685800" y="6286500"/>
              <a:ext cx="10820400" cy="9525"/>
            </a:xfrm>
            <a:custGeom>
              <a:avLst/>
              <a:gdLst/>
              <a:ahLst/>
              <a:cxnLst/>
              <a:rect l="l" t="t" r="r" b="b"/>
              <a:pathLst>
                <a:path w="10820400" h="9525">
                  <a:moveTo>
                    <a:pt x="0" y="0"/>
                  </a:moveTo>
                  <a:lnTo>
                    <a:pt x="10820400" y="0"/>
                  </a:lnTo>
                </a:path>
              </a:pathLst>
            </a:custGeom>
            <a:noFill/>
            <a:ln w="9525">
              <a:solidFill>
                <a:srgbClr val="E8E8E8"/>
              </a:solidFill>
            </a:ln>
          </p:spPr>
        </p:sp>
        <p:sp>
          <p:nvSpPr>
            <p:cNvPr id="10" name="TextBox 10"/>
            <p:cNvSpPr txBox="1"/>
            <p:nvPr/>
          </p:nvSpPr>
          <p:spPr>
            <a:xfrm>
              <a:off x="680085" y="6393656"/>
              <a:ext cx="2914269" cy="220028"/>
            </a:xfrm>
            <a:prstGeom prst="rect">
              <a:avLst/>
            </a:prstGeom>
            <a:noFill/>
            <a:ln>
              <a:noFill/>
            </a:ln>
          </p:spPr>
          <p:txBody>
            <a:bodyPr wrap="none" lIns="0" tIns="0" rIns="0" bIns="0" anchor="t" anchorCtr="0">
              <a:spAutoFit/>
            </a:bodyPr>
            <a:lstStyle/>
            <a:p>
              <a:pPr algn="l"/>
              <a:r>
                <a:rPr lang="vi-VN" sz="1120" dirty="0">
                  <a:solidFill>
                    <a:srgbClr val="6E6E6E"/>
                  </a:solidFill>
                  <a:latin typeface="Arial"/>
                  <a:ea typeface="Arial"/>
                  <a:cs typeface="Arial"/>
                </a:rPr>
                <a:t>Nhóm 04 | Lớp 765643-QTDA-VB2-20261</a:t>
              </a:r>
            </a:p>
          </p:txBody>
        </p:sp>
        <p:sp>
          <p:nvSpPr>
            <p:cNvPr id="11" name="TextBox 11"/>
            <p:cNvSpPr txBox="1"/>
            <p:nvPr/>
          </p:nvSpPr>
          <p:spPr>
            <a:xfrm>
              <a:off x="11332764" y="6393656"/>
              <a:ext cx="179151" cy="220028"/>
            </a:xfrm>
            <a:prstGeom prst="rect">
              <a:avLst/>
            </a:prstGeom>
            <a:noFill/>
            <a:ln>
              <a:noFill/>
            </a:ln>
          </p:spPr>
          <p:txBody>
            <a:bodyPr wrap="none" lIns="0" tIns="0" rIns="0" bIns="0" anchor="t" anchorCtr="0">
              <a:spAutoFit/>
            </a:bodyPr>
            <a:lstStyle/>
            <a:p>
              <a:pPr algn="r"/>
              <a:r>
                <a:rPr lang="vi-VN" sz="1120" dirty="0">
                  <a:solidFill>
                    <a:srgbClr val="6E6E6E"/>
                  </a:solidFill>
                  <a:latin typeface="Arial"/>
                  <a:ea typeface="Arial"/>
                  <a:cs typeface="Arial"/>
                </a:rPr>
                <a:t>05</a:t>
              </a:r>
            </a:p>
          </p:txBody>
        </p:sp>
      </p:grpSp>
      <p:grpSp>
        <p:nvGrpSpPr>
          <p:cNvPr id="25" name="survey-bullets"/>
          <p:cNvGrpSpPr/>
          <p:nvPr/>
        </p:nvGrpSpPr>
        <p:grpSpPr>
          <a:xfrm>
            <a:off x="677799" y="2420779"/>
            <a:ext cx="6236141" cy="2484025"/>
            <a:chOff x="677799" y="2420779"/>
            <a:chExt cx="6236141" cy="2484025"/>
          </a:xfrm>
        </p:grpSpPr>
        <p:sp>
          <p:nvSpPr>
            <p:cNvPr id="13" name="TextBox 13"/>
            <p:cNvSpPr txBox="1"/>
            <p:nvPr/>
          </p:nvSpPr>
          <p:spPr>
            <a:xfrm>
              <a:off x="677799" y="2420779"/>
              <a:ext cx="90468" cy="308039"/>
            </a:xfrm>
            <a:prstGeom prst="rect">
              <a:avLst/>
            </a:prstGeom>
            <a:noFill/>
            <a:ln>
              <a:noFill/>
            </a:ln>
          </p:spPr>
          <p:txBody>
            <a:bodyPr wrap="none" lIns="0" tIns="0" rIns="0" bIns="0" anchor="t" anchorCtr="0">
              <a:spAutoFit/>
            </a:bodyPr>
            <a:lstStyle/>
            <a:p>
              <a:pPr algn="l"/>
              <a:r>
                <a:rPr lang="vi-VN" sz="1580" b="1" dirty="0">
                  <a:solidFill>
                    <a:srgbClr val="C8102E"/>
                  </a:solidFill>
                  <a:latin typeface="Arial"/>
                  <a:ea typeface="Arial"/>
                  <a:cs typeface="Arial"/>
                </a:rPr>
                <a:t>•</a:t>
              </a:r>
            </a:p>
          </p:txBody>
        </p:sp>
        <p:sp>
          <p:nvSpPr>
            <p:cNvPr id="14" name="TextBox 14"/>
            <p:cNvSpPr txBox="1"/>
            <p:nvPr/>
          </p:nvSpPr>
          <p:spPr>
            <a:xfrm>
              <a:off x="906399" y="2420779"/>
              <a:ext cx="5456317" cy="308039"/>
            </a:xfrm>
            <a:prstGeom prst="rect">
              <a:avLst/>
            </a:prstGeom>
            <a:noFill/>
            <a:ln>
              <a:noFill/>
            </a:ln>
          </p:spPr>
          <p:txBody>
            <a:bodyPr wrap="none" lIns="0" tIns="0" rIns="0" bIns="0" anchor="t" anchorCtr="0">
              <a:spAutoFit/>
            </a:bodyPr>
            <a:lstStyle/>
            <a:p>
              <a:pPr algn="l"/>
              <a:r>
                <a:rPr lang="vi-VN" sz="1580" dirty="0">
                  <a:solidFill>
                    <a:srgbClr val="1A1A1A"/>
                  </a:solidFill>
                  <a:latin typeface="Arial"/>
                  <a:ea typeface="Arial"/>
                  <a:cs typeface="Arial"/>
                </a:rPr>
                <a:t>Quy trình hiện tại đi qua sổ giấy, Excel riêng lẻ, điện thoại</a:t>
              </a:r>
            </a:p>
          </p:txBody>
        </p:sp>
        <p:sp>
          <p:nvSpPr>
            <p:cNvPr id="15" name="TextBox 15"/>
            <p:cNvSpPr txBox="1"/>
            <p:nvPr/>
          </p:nvSpPr>
          <p:spPr>
            <a:xfrm>
              <a:off x="906399" y="2690812"/>
              <a:ext cx="1720423" cy="308039"/>
            </a:xfrm>
            <a:prstGeom prst="rect">
              <a:avLst/>
            </a:prstGeom>
            <a:noFill/>
            <a:ln>
              <a:noFill/>
            </a:ln>
          </p:spPr>
          <p:txBody>
            <a:bodyPr wrap="none" lIns="0" tIns="0" rIns="0" bIns="0" anchor="t" anchorCtr="0">
              <a:spAutoFit/>
            </a:bodyPr>
            <a:lstStyle/>
            <a:p>
              <a:pPr algn="l"/>
              <a:r>
                <a:rPr lang="vi-VN" sz="1580" dirty="0">
                  <a:solidFill>
                    <a:srgbClr val="1A1A1A"/>
                  </a:solidFill>
                  <a:latin typeface="Arial"/>
                  <a:ea typeface="Arial"/>
                  <a:cs typeface="Arial"/>
                </a:rPr>
                <a:t>và Zalo/Facebook</a:t>
              </a:r>
            </a:p>
          </p:txBody>
        </p:sp>
        <p:sp>
          <p:nvSpPr>
            <p:cNvPr id="16" name="TextBox 16"/>
            <p:cNvSpPr txBox="1"/>
            <p:nvPr/>
          </p:nvSpPr>
          <p:spPr>
            <a:xfrm>
              <a:off x="677799" y="3056096"/>
              <a:ext cx="90468" cy="308039"/>
            </a:xfrm>
            <a:prstGeom prst="rect">
              <a:avLst/>
            </a:prstGeom>
            <a:noFill/>
            <a:ln>
              <a:noFill/>
            </a:ln>
          </p:spPr>
          <p:txBody>
            <a:bodyPr wrap="none" lIns="0" tIns="0" rIns="0" bIns="0" anchor="t" anchorCtr="0">
              <a:spAutoFit/>
            </a:bodyPr>
            <a:lstStyle/>
            <a:p>
              <a:pPr algn="l"/>
              <a:r>
                <a:rPr lang="vi-VN" sz="1580" b="1" dirty="0">
                  <a:solidFill>
                    <a:srgbClr val="C8102E"/>
                  </a:solidFill>
                  <a:latin typeface="Arial"/>
                  <a:ea typeface="Arial"/>
                  <a:cs typeface="Arial"/>
                </a:rPr>
                <a:t>•</a:t>
              </a:r>
            </a:p>
          </p:txBody>
        </p:sp>
        <p:sp>
          <p:nvSpPr>
            <p:cNvPr id="17" name="TextBox 17"/>
            <p:cNvSpPr txBox="1"/>
            <p:nvPr/>
          </p:nvSpPr>
          <p:spPr>
            <a:xfrm>
              <a:off x="906399" y="3056096"/>
              <a:ext cx="5793838" cy="308039"/>
            </a:xfrm>
            <a:prstGeom prst="rect">
              <a:avLst/>
            </a:prstGeom>
            <a:noFill/>
            <a:ln>
              <a:noFill/>
            </a:ln>
          </p:spPr>
          <p:txBody>
            <a:bodyPr wrap="none" lIns="0" tIns="0" rIns="0" bIns="0" anchor="t" anchorCtr="0">
              <a:spAutoFit/>
            </a:bodyPr>
            <a:lstStyle/>
            <a:p>
              <a:pPr algn="l"/>
              <a:r>
                <a:rPr lang="vi-VN" sz="1580" dirty="0">
                  <a:solidFill>
                    <a:srgbClr val="1A1A1A"/>
                  </a:solidFill>
                  <a:latin typeface="Arial"/>
                  <a:ea typeface="Arial"/>
                  <a:cs typeface="Arial"/>
                </a:rPr>
                <a:t>Không có mã khách hàng, mã đơn hàng và nơi tra cứu lịch sử</a:t>
              </a:r>
            </a:p>
          </p:txBody>
        </p:sp>
        <p:sp>
          <p:nvSpPr>
            <p:cNvPr id="18" name="TextBox 18"/>
            <p:cNvSpPr txBox="1"/>
            <p:nvPr/>
          </p:nvSpPr>
          <p:spPr>
            <a:xfrm>
              <a:off x="906399" y="3326130"/>
              <a:ext cx="1021390" cy="308039"/>
            </a:xfrm>
            <a:prstGeom prst="rect">
              <a:avLst/>
            </a:prstGeom>
            <a:noFill/>
            <a:ln>
              <a:noFill/>
            </a:ln>
          </p:spPr>
          <p:txBody>
            <a:bodyPr wrap="none" lIns="0" tIns="0" rIns="0" bIns="0" anchor="t" anchorCtr="0">
              <a:spAutoFit/>
            </a:bodyPr>
            <a:lstStyle/>
            <a:p>
              <a:pPr algn="l"/>
              <a:r>
                <a:rPr lang="vi-VN" sz="1580" dirty="0">
                  <a:solidFill>
                    <a:srgbClr val="1A1A1A"/>
                  </a:solidFill>
                  <a:latin typeface="Arial"/>
                  <a:ea typeface="Arial"/>
                  <a:cs typeface="Arial"/>
                </a:rPr>
                <a:t>thống nhất</a:t>
              </a:r>
            </a:p>
          </p:txBody>
        </p:sp>
        <p:sp>
          <p:nvSpPr>
            <p:cNvPr id="19" name="TextBox 19"/>
            <p:cNvSpPr txBox="1"/>
            <p:nvPr/>
          </p:nvSpPr>
          <p:spPr>
            <a:xfrm>
              <a:off x="677799" y="3691414"/>
              <a:ext cx="90468" cy="308039"/>
            </a:xfrm>
            <a:prstGeom prst="rect">
              <a:avLst/>
            </a:prstGeom>
            <a:noFill/>
            <a:ln>
              <a:noFill/>
            </a:ln>
          </p:spPr>
          <p:txBody>
            <a:bodyPr wrap="none" lIns="0" tIns="0" rIns="0" bIns="0" anchor="t" anchorCtr="0">
              <a:spAutoFit/>
            </a:bodyPr>
            <a:lstStyle/>
            <a:p>
              <a:pPr algn="l"/>
              <a:r>
                <a:rPr lang="vi-VN" sz="1580" b="1" dirty="0">
                  <a:solidFill>
                    <a:srgbClr val="C8102E"/>
                  </a:solidFill>
                  <a:latin typeface="Arial"/>
                  <a:ea typeface="Arial"/>
                  <a:cs typeface="Arial"/>
                </a:rPr>
                <a:t>•</a:t>
              </a:r>
            </a:p>
          </p:txBody>
        </p:sp>
        <p:sp>
          <p:nvSpPr>
            <p:cNvPr id="20" name="TextBox 20"/>
            <p:cNvSpPr txBox="1"/>
            <p:nvPr/>
          </p:nvSpPr>
          <p:spPr>
            <a:xfrm>
              <a:off x="906399" y="3691414"/>
              <a:ext cx="5758533" cy="308039"/>
            </a:xfrm>
            <a:prstGeom prst="rect">
              <a:avLst/>
            </a:prstGeom>
            <a:noFill/>
            <a:ln>
              <a:noFill/>
            </a:ln>
          </p:spPr>
          <p:txBody>
            <a:bodyPr wrap="none" lIns="0" tIns="0" rIns="0" bIns="0" anchor="t" anchorCtr="0">
              <a:spAutoFit/>
            </a:bodyPr>
            <a:lstStyle/>
            <a:p>
              <a:pPr algn="l"/>
              <a:r>
                <a:rPr lang="vi-VN" sz="1580" dirty="0">
                  <a:solidFill>
                    <a:srgbClr val="1A1A1A"/>
                  </a:solidFill>
                  <a:latin typeface="Arial"/>
                  <a:ea typeface="Arial"/>
                  <a:cs typeface="Arial"/>
                </a:rPr>
                <a:t>Cập nhật tồn kho chậm, đặc biệt khi đơn đã chốt nhưng chưa</a:t>
              </a:r>
            </a:p>
          </p:txBody>
        </p:sp>
        <p:sp>
          <p:nvSpPr>
            <p:cNvPr id="21" name="TextBox 21"/>
            <p:cNvSpPr txBox="1"/>
            <p:nvPr/>
          </p:nvSpPr>
          <p:spPr>
            <a:xfrm>
              <a:off x="906399" y="3961448"/>
              <a:ext cx="950349" cy="308039"/>
            </a:xfrm>
            <a:prstGeom prst="rect">
              <a:avLst/>
            </a:prstGeom>
            <a:noFill/>
            <a:ln>
              <a:noFill/>
            </a:ln>
          </p:spPr>
          <p:txBody>
            <a:bodyPr wrap="none" lIns="0" tIns="0" rIns="0" bIns="0" anchor="t" anchorCtr="0">
              <a:spAutoFit/>
            </a:bodyPr>
            <a:lstStyle/>
            <a:p>
              <a:pPr algn="l"/>
              <a:r>
                <a:rPr lang="vi-VN" sz="1580" dirty="0">
                  <a:solidFill>
                    <a:srgbClr val="1A1A1A"/>
                  </a:solidFill>
                  <a:latin typeface="Arial"/>
                  <a:ea typeface="Arial"/>
                  <a:cs typeface="Arial"/>
                </a:rPr>
                <a:t>xuất hàng</a:t>
              </a:r>
            </a:p>
          </p:txBody>
        </p:sp>
        <p:sp>
          <p:nvSpPr>
            <p:cNvPr id="22" name="TextBox 22"/>
            <p:cNvSpPr txBox="1"/>
            <p:nvPr/>
          </p:nvSpPr>
          <p:spPr>
            <a:xfrm>
              <a:off x="677799" y="4326731"/>
              <a:ext cx="90468" cy="308039"/>
            </a:xfrm>
            <a:prstGeom prst="rect">
              <a:avLst/>
            </a:prstGeom>
            <a:noFill/>
            <a:ln>
              <a:noFill/>
            </a:ln>
          </p:spPr>
          <p:txBody>
            <a:bodyPr wrap="none" lIns="0" tIns="0" rIns="0" bIns="0" anchor="t" anchorCtr="0">
              <a:spAutoFit/>
            </a:bodyPr>
            <a:lstStyle/>
            <a:p>
              <a:pPr algn="l"/>
              <a:r>
                <a:rPr lang="vi-VN" sz="1580" b="1" dirty="0">
                  <a:solidFill>
                    <a:srgbClr val="C8102E"/>
                  </a:solidFill>
                  <a:latin typeface="Arial"/>
                  <a:ea typeface="Arial"/>
                  <a:cs typeface="Arial"/>
                </a:rPr>
                <a:t>•</a:t>
              </a:r>
            </a:p>
          </p:txBody>
        </p:sp>
        <p:sp>
          <p:nvSpPr>
            <p:cNvPr id="23" name="TextBox 23"/>
            <p:cNvSpPr txBox="1"/>
            <p:nvPr/>
          </p:nvSpPr>
          <p:spPr>
            <a:xfrm>
              <a:off x="906399" y="4326731"/>
              <a:ext cx="6007541" cy="308039"/>
            </a:xfrm>
            <a:prstGeom prst="rect">
              <a:avLst/>
            </a:prstGeom>
            <a:noFill/>
            <a:ln>
              <a:noFill/>
            </a:ln>
          </p:spPr>
          <p:txBody>
            <a:bodyPr wrap="none" lIns="0" tIns="0" rIns="0" bIns="0" anchor="t" anchorCtr="0">
              <a:spAutoFit/>
            </a:bodyPr>
            <a:lstStyle/>
            <a:p>
              <a:pPr algn="l"/>
              <a:r>
                <a:rPr lang="vi-VN" sz="1580" dirty="0">
                  <a:solidFill>
                    <a:srgbClr val="1A1A1A"/>
                  </a:solidFill>
                  <a:latin typeface="Arial"/>
                  <a:ea typeface="Arial"/>
                  <a:cs typeface="Arial"/>
                </a:rPr>
                <a:t>Báo cáo doanh thu, tồn kho, hàng bán chạy phụ thuộc vào tổng</a:t>
              </a:r>
            </a:p>
          </p:txBody>
        </p:sp>
        <p:sp>
          <p:nvSpPr>
            <p:cNvPr id="24" name="TextBox 24"/>
            <p:cNvSpPr txBox="1"/>
            <p:nvPr/>
          </p:nvSpPr>
          <p:spPr>
            <a:xfrm>
              <a:off x="906399" y="4596765"/>
              <a:ext cx="1926526" cy="308039"/>
            </a:xfrm>
            <a:prstGeom prst="rect">
              <a:avLst/>
            </a:prstGeom>
            <a:noFill/>
            <a:ln>
              <a:noFill/>
            </a:ln>
          </p:spPr>
          <p:txBody>
            <a:bodyPr wrap="none" lIns="0" tIns="0" rIns="0" bIns="0" anchor="t" anchorCtr="0">
              <a:spAutoFit/>
            </a:bodyPr>
            <a:lstStyle/>
            <a:p>
              <a:pPr algn="l"/>
              <a:r>
                <a:rPr lang="vi-VN" sz="1580" dirty="0">
                  <a:solidFill>
                    <a:srgbClr val="1A1A1A"/>
                  </a:solidFill>
                  <a:latin typeface="Arial"/>
                  <a:ea typeface="Arial"/>
                  <a:cs typeface="Arial"/>
                </a:rPr>
                <a:t>hợp Excel cuối ngày</a:t>
              </a:r>
            </a:p>
          </p:txBody>
        </p:sp>
      </p:grpSp>
      <p:grpSp>
        <p:nvGrpSpPr>
          <p:cNvPr id="35" name="survey-metrics"/>
          <p:cNvGrpSpPr/>
          <p:nvPr/>
        </p:nvGrpSpPr>
        <p:grpSpPr>
          <a:xfrm>
            <a:off x="7524750" y="2381250"/>
            <a:ext cx="3143250" cy="3178778"/>
            <a:chOff x="7524750" y="2381250"/>
            <a:chExt cx="3143250" cy="3178778"/>
          </a:xfrm>
        </p:grpSpPr>
        <p:sp>
          <p:nvSpPr>
            <p:cNvPr id="26" name="Rectangle 26"/>
            <p:cNvSpPr/>
            <p:nvPr/>
          </p:nvSpPr>
          <p:spPr>
            <a:xfrm>
              <a:off x="7524750" y="2381250"/>
              <a:ext cx="3143250" cy="876300"/>
            </a:xfrm>
            <a:prstGeom prst="rect">
              <a:avLst/>
            </a:prstGeom>
            <a:solidFill>
              <a:srgbClr val="F5F5F5"/>
            </a:solidFill>
            <a:ln w="9525">
              <a:solidFill>
                <a:srgbClr val="E8E8E8"/>
              </a:solidFill>
            </a:ln>
          </p:spPr>
        </p:sp>
        <p:sp>
          <p:nvSpPr>
            <p:cNvPr id="27" name="TextBox 27"/>
            <p:cNvSpPr txBox="1"/>
            <p:nvPr/>
          </p:nvSpPr>
          <p:spPr>
            <a:xfrm>
              <a:off x="7745349" y="2532698"/>
              <a:ext cx="2025196" cy="674751"/>
            </a:xfrm>
            <a:prstGeom prst="rect">
              <a:avLst/>
            </a:prstGeom>
            <a:noFill/>
            <a:ln>
              <a:noFill/>
            </a:ln>
          </p:spPr>
          <p:txBody>
            <a:bodyPr wrap="none" lIns="0" tIns="0" rIns="0" bIns="0" anchor="t" anchorCtr="0">
              <a:spAutoFit/>
            </a:bodyPr>
            <a:lstStyle/>
            <a:p>
              <a:pPr algn="l"/>
              <a:r>
                <a:rPr lang="vi-VN" sz="3450" b="1" dirty="0">
                  <a:solidFill>
                    <a:srgbClr val="111111"/>
                  </a:solidFill>
                  <a:latin typeface="Arial Black"/>
                  <a:ea typeface="Arial Black"/>
                  <a:cs typeface="Arial Black"/>
                </a:rPr>
                <a:t>180-250</a:t>
              </a:r>
            </a:p>
          </p:txBody>
        </p:sp>
        <p:sp>
          <p:nvSpPr>
            <p:cNvPr id="28" name="TextBox 28"/>
            <p:cNvSpPr txBox="1"/>
            <p:nvPr/>
          </p:nvSpPr>
          <p:spPr>
            <a:xfrm>
              <a:off x="7756398" y="3024664"/>
              <a:ext cx="2005864" cy="249364"/>
            </a:xfrm>
            <a:prstGeom prst="rect">
              <a:avLst/>
            </a:prstGeom>
            <a:noFill/>
            <a:ln>
              <a:noFill/>
            </a:ln>
          </p:spPr>
          <p:txBody>
            <a:bodyPr wrap="none" lIns="0" tIns="0" rIns="0" bIns="0" anchor="t" anchorCtr="0">
              <a:spAutoFit/>
            </a:bodyPr>
            <a:lstStyle/>
            <a:p>
              <a:pPr algn="l"/>
              <a:r>
                <a:rPr lang="vi-VN" sz="1280" dirty="0">
                  <a:solidFill>
                    <a:srgbClr val="6E6E6E"/>
                  </a:solidFill>
                  <a:latin typeface="Arial"/>
                  <a:ea typeface="Arial"/>
                  <a:cs typeface="Arial"/>
                </a:rPr>
                <a:t>mã hàng đang kinh doanh</a:t>
              </a:r>
            </a:p>
          </p:txBody>
        </p:sp>
        <p:sp>
          <p:nvSpPr>
            <p:cNvPr id="29" name="Rectangle 29"/>
            <p:cNvSpPr/>
            <p:nvPr/>
          </p:nvSpPr>
          <p:spPr>
            <a:xfrm>
              <a:off x="7524750" y="3524250"/>
              <a:ext cx="3143250" cy="876300"/>
            </a:xfrm>
            <a:prstGeom prst="rect">
              <a:avLst/>
            </a:prstGeom>
            <a:solidFill>
              <a:srgbClr val="F5F5F5"/>
            </a:solidFill>
            <a:ln w="9525">
              <a:solidFill>
                <a:srgbClr val="E8E8E8"/>
              </a:solidFill>
            </a:ln>
          </p:spPr>
        </p:sp>
        <p:sp>
          <p:nvSpPr>
            <p:cNvPr id="30" name="TextBox 30"/>
            <p:cNvSpPr txBox="1"/>
            <p:nvPr/>
          </p:nvSpPr>
          <p:spPr>
            <a:xfrm>
              <a:off x="7745349" y="3675698"/>
              <a:ext cx="1222994" cy="674751"/>
            </a:xfrm>
            <a:prstGeom prst="rect">
              <a:avLst/>
            </a:prstGeom>
            <a:noFill/>
            <a:ln>
              <a:noFill/>
            </a:ln>
          </p:spPr>
          <p:txBody>
            <a:bodyPr wrap="none" lIns="0" tIns="0" rIns="0" bIns="0" anchor="t" anchorCtr="0">
              <a:spAutoFit/>
            </a:bodyPr>
            <a:lstStyle/>
            <a:p>
              <a:pPr algn="l"/>
              <a:r>
                <a:rPr lang="vi-VN" sz="3450" b="1" dirty="0">
                  <a:solidFill>
                    <a:srgbClr val="C8102E"/>
                  </a:solidFill>
                  <a:latin typeface="Arial"/>
                  <a:ea typeface="Arial"/>
                  <a:cs typeface="Arial"/>
                </a:rPr>
                <a:t>15-30</a:t>
              </a:r>
            </a:p>
          </p:txBody>
        </p:sp>
        <p:sp>
          <p:nvSpPr>
            <p:cNvPr id="31" name="TextBox 31"/>
            <p:cNvSpPr txBox="1"/>
            <p:nvPr/>
          </p:nvSpPr>
          <p:spPr>
            <a:xfrm>
              <a:off x="7756398" y="4167664"/>
              <a:ext cx="2005588" cy="249364"/>
            </a:xfrm>
            <a:prstGeom prst="rect">
              <a:avLst/>
            </a:prstGeom>
            <a:noFill/>
            <a:ln>
              <a:noFill/>
            </a:ln>
          </p:spPr>
          <p:txBody>
            <a:bodyPr wrap="none" lIns="0" tIns="0" rIns="0" bIns="0" anchor="t" anchorCtr="0">
              <a:spAutoFit/>
            </a:bodyPr>
            <a:lstStyle/>
            <a:p>
              <a:pPr algn="l"/>
              <a:r>
                <a:rPr lang="vi-VN" sz="1280" dirty="0">
                  <a:solidFill>
                    <a:srgbClr val="6E6E6E"/>
                  </a:solidFill>
                  <a:latin typeface="Arial"/>
                  <a:ea typeface="Arial"/>
                  <a:cs typeface="Arial"/>
                </a:rPr>
                <a:t>đơn/ngày; cao điểm 35-40</a:t>
              </a:r>
            </a:p>
          </p:txBody>
        </p:sp>
        <p:sp>
          <p:nvSpPr>
            <p:cNvPr id="32" name="Rectangle 32"/>
            <p:cNvSpPr/>
            <p:nvPr/>
          </p:nvSpPr>
          <p:spPr>
            <a:xfrm>
              <a:off x="7524750" y="4667250"/>
              <a:ext cx="3143250" cy="876300"/>
            </a:xfrm>
            <a:prstGeom prst="rect">
              <a:avLst/>
            </a:prstGeom>
            <a:solidFill>
              <a:srgbClr val="F5F5F5"/>
            </a:solidFill>
            <a:ln w="9525">
              <a:solidFill>
                <a:srgbClr val="E8E8E8"/>
              </a:solidFill>
            </a:ln>
          </p:spPr>
        </p:sp>
        <p:sp>
          <p:nvSpPr>
            <p:cNvPr id="33" name="TextBox 33"/>
            <p:cNvSpPr txBox="1"/>
            <p:nvPr/>
          </p:nvSpPr>
          <p:spPr>
            <a:xfrm>
              <a:off x="7745349" y="4818698"/>
              <a:ext cx="603665" cy="674751"/>
            </a:xfrm>
            <a:prstGeom prst="rect">
              <a:avLst/>
            </a:prstGeom>
            <a:noFill/>
            <a:ln>
              <a:noFill/>
            </a:ln>
          </p:spPr>
          <p:txBody>
            <a:bodyPr wrap="none" lIns="0" tIns="0" rIns="0" bIns="0" anchor="t" anchorCtr="0">
              <a:spAutoFit/>
            </a:bodyPr>
            <a:lstStyle/>
            <a:p>
              <a:pPr algn="l"/>
              <a:r>
                <a:rPr lang="vi-VN" sz="3450" b="1" dirty="0">
                  <a:solidFill>
                    <a:srgbClr val="111111"/>
                  </a:solidFill>
                  <a:latin typeface="Arial Black"/>
                  <a:ea typeface="Arial Black"/>
                  <a:cs typeface="Arial Black"/>
                </a:rPr>
                <a:t>30</a:t>
              </a:r>
            </a:p>
          </p:txBody>
        </p:sp>
        <p:sp>
          <p:nvSpPr>
            <p:cNvPr id="34" name="TextBox 34"/>
            <p:cNvSpPr txBox="1"/>
            <p:nvPr/>
          </p:nvSpPr>
          <p:spPr>
            <a:xfrm>
              <a:off x="7756398" y="5310664"/>
              <a:ext cx="2024853" cy="249364"/>
            </a:xfrm>
            <a:prstGeom prst="rect">
              <a:avLst/>
            </a:prstGeom>
            <a:noFill/>
            <a:ln>
              <a:noFill/>
            </a:ln>
          </p:spPr>
          <p:txBody>
            <a:bodyPr wrap="none" lIns="0" tIns="0" rIns="0" bIns="0" anchor="t" anchorCtr="0">
              <a:spAutoFit/>
            </a:bodyPr>
            <a:lstStyle/>
            <a:p>
              <a:pPr algn="l"/>
              <a:r>
                <a:rPr lang="vi-VN" sz="1280" dirty="0">
                  <a:solidFill>
                    <a:srgbClr val="6E6E6E"/>
                  </a:solidFill>
                  <a:latin typeface="Arial"/>
                  <a:ea typeface="Arial"/>
                  <a:cs typeface="Arial"/>
                </a:rPr>
                <a:t>khách hàng được khảo sát</a:t>
              </a: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bg-fill"/>
          <p:cNvSpPr/>
          <p:nvPr/>
        </p:nvSpPr>
        <p:spPr>
          <a:xfrm>
            <a:off x="-9525" y="-9525"/>
            <a:ext cx="12211050" cy="6877050"/>
          </a:xfrm>
          <a:prstGeom prst="rect">
            <a:avLst/>
          </a:prstGeom>
          <a:solidFill>
            <a:srgbClr val="FFFFFF"/>
          </a:solidFill>
          <a:ln>
            <a:noFill/>
          </a:ln>
        </p:spPr>
      </p:sp>
      <p:grpSp>
        <p:nvGrpSpPr>
          <p:cNvPr id="5" name="top-rule"/>
          <p:cNvGrpSpPr/>
          <p:nvPr/>
        </p:nvGrpSpPr>
        <p:grpSpPr>
          <a:xfrm>
            <a:off x="685800" y="723900"/>
            <a:ext cx="10820400" cy="38100"/>
            <a:chOff x="685800" y="723900"/>
            <a:chExt cx="10820400" cy="38100"/>
          </a:xfrm>
        </p:grpSpPr>
        <p:sp>
          <p:nvSpPr>
            <p:cNvPr id="3" name="Rectangle 3"/>
            <p:cNvSpPr/>
            <p:nvPr/>
          </p:nvSpPr>
          <p:spPr>
            <a:xfrm>
              <a:off x="685800" y="723900"/>
              <a:ext cx="10820400" cy="38100"/>
            </a:xfrm>
            <a:prstGeom prst="rect">
              <a:avLst/>
            </a:prstGeom>
            <a:solidFill>
              <a:srgbClr val="E8E8E8"/>
            </a:solidFill>
            <a:ln>
              <a:noFill/>
            </a:ln>
          </p:spPr>
        </p:sp>
        <p:sp>
          <p:nvSpPr>
            <p:cNvPr id="4" name="Rectangle 4"/>
            <p:cNvSpPr/>
            <p:nvPr/>
          </p:nvSpPr>
          <p:spPr>
            <a:xfrm>
              <a:off x="685800" y="723900"/>
              <a:ext cx="3246120" cy="38100"/>
            </a:xfrm>
            <a:prstGeom prst="rect">
              <a:avLst/>
            </a:prstGeom>
            <a:solidFill>
              <a:srgbClr val="C8102E"/>
            </a:solidFill>
            <a:ln>
              <a:noFill/>
            </a:ln>
          </p:spPr>
        </p:sp>
      </p:grpSp>
      <p:grpSp>
        <p:nvGrpSpPr>
          <p:cNvPr id="8" name="title"/>
          <p:cNvGrpSpPr/>
          <p:nvPr/>
        </p:nvGrpSpPr>
        <p:grpSpPr>
          <a:xfrm>
            <a:off x="652272" y="977265"/>
            <a:ext cx="6223633" cy="1193482"/>
            <a:chOff x="652272" y="977265"/>
            <a:chExt cx="6223633" cy="1193482"/>
          </a:xfrm>
        </p:grpSpPr>
        <p:sp>
          <p:nvSpPr>
            <p:cNvPr id="6" name="TextBox 6"/>
            <p:cNvSpPr txBox="1"/>
            <p:nvPr/>
          </p:nvSpPr>
          <p:spPr>
            <a:xfrm>
              <a:off x="652272" y="977265"/>
              <a:ext cx="5996752" cy="645414"/>
            </a:xfrm>
            <a:prstGeom prst="rect">
              <a:avLst/>
            </a:prstGeom>
            <a:noFill/>
            <a:ln>
              <a:noFill/>
            </a:ln>
          </p:spPr>
          <p:txBody>
            <a:bodyPr wrap="none" lIns="0" tIns="0" rIns="0" bIns="0" anchor="t" anchorCtr="0">
              <a:spAutoFit/>
            </a:bodyPr>
            <a:lstStyle/>
            <a:p>
              <a:pPr algn="l"/>
              <a:r>
                <a:rPr lang="vi-VN" sz="3300" b="1" dirty="0">
                  <a:solidFill>
                    <a:srgbClr val="111111"/>
                  </a:solidFill>
                  <a:latin typeface="Arial"/>
                  <a:ea typeface="Arial"/>
                  <a:cs typeface="Arial"/>
                </a:rPr>
                <a:t>Kết quả khảo sát định lượng</a:t>
              </a:r>
            </a:p>
          </p:txBody>
        </p:sp>
        <p:sp>
          <p:nvSpPr>
            <p:cNvPr id="7" name="TextBox 7"/>
            <p:cNvSpPr txBox="1"/>
            <p:nvPr/>
          </p:nvSpPr>
          <p:spPr>
            <a:xfrm>
              <a:off x="677418" y="1848040"/>
              <a:ext cx="6198487" cy="322707"/>
            </a:xfrm>
            <a:prstGeom prst="rect">
              <a:avLst/>
            </a:prstGeom>
            <a:noFill/>
            <a:ln>
              <a:noFill/>
            </a:ln>
          </p:spPr>
          <p:txBody>
            <a:bodyPr wrap="none" lIns="0" tIns="0" rIns="0" bIns="0" anchor="t" anchorCtr="0">
              <a:spAutoFit/>
            </a:bodyPr>
            <a:lstStyle/>
            <a:p>
              <a:pPr algn="l"/>
              <a:r>
                <a:rPr lang="vi-VN" sz="1650" dirty="0">
                  <a:solidFill>
                    <a:srgbClr val="6E6E6E"/>
                  </a:solidFill>
                  <a:latin typeface="Arial"/>
                  <a:ea typeface="Arial"/>
                  <a:cs typeface="Arial"/>
                </a:rPr>
                <a:t>Các tỷ lệ khảo sát chuyển thành yêu cầu nghiệp vụ ưu tiên cao</a:t>
              </a:r>
            </a:p>
          </p:txBody>
        </p:sp>
      </p:grpSp>
      <p:grpSp>
        <p:nvGrpSpPr>
          <p:cNvPr id="12" name="footer"/>
          <p:cNvGrpSpPr/>
          <p:nvPr/>
        </p:nvGrpSpPr>
        <p:grpSpPr>
          <a:xfrm>
            <a:off x="680085" y="6286500"/>
            <a:ext cx="10831830" cy="327184"/>
            <a:chOff x="680085" y="6286500"/>
            <a:chExt cx="10831830" cy="327184"/>
          </a:xfrm>
        </p:grpSpPr>
        <p:sp>
          <p:nvSpPr>
            <p:cNvPr id="9" name="Freeform 9"/>
            <p:cNvSpPr/>
            <p:nvPr/>
          </p:nvSpPr>
          <p:spPr>
            <a:xfrm>
              <a:off x="685800" y="6286500"/>
              <a:ext cx="10820400" cy="9525"/>
            </a:xfrm>
            <a:custGeom>
              <a:avLst/>
              <a:gdLst/>
              <a:ahLst/>
              <a:cxnLst/>
              <a:rect l="l" t="t" r="r" b="b"/>
              <a:pathLst>
                <a:path w="10820400" h="9525">
                  <a:moveTo>
                    <a:pt x="0" y="0"/>
                  </a:moveTo>
                  <a:lnTo>
                    <a:pt x="10820400" y="0"/>
                  </a:lnTo>
                </a:path>
              </a:pathLst>
            </a:custGeom>
            <a:noFill/>
            <a:ln w="9525">
              <a:solidFill>
                <a:srgbClr val="E8E8E8"/>
              </a:solidFill>
            </a:ln>
          </p:spPr>
        </p:sp>
        <p:sp>
          <p:nvSpPr>
            <p:cNvPr id="10" name="TextBox 10"/>
            <p:cNvSpPr txBox="1"/>
            <p:nvPr/>
          </p:nvSpPr>
          <p:spPr>
            <a:xfrm>
              <a:off x="680085" y="6393656"/>
              <a:ext cx="2914269" cy="220028"/>
            </a:xfrm>
            <a:prstGeom prst="rect">
              <a:avLst/>
            </a:prstGeom>
            <a:noFill/>
            <a:ln>
              <a:noFill/>
            </a:ln>
          </p:spPr>
          <p:txBody>
            <a:bodyPr wrap="none" lIns="0" tIns="0" rIns="0" bIns="0" anchor="t" anchorCtr="0">
              <a:spAutoFit/>
            </a:bodyPr>
            <a:lstStyle/>
            <a:p>
              <a:pPr algn="l"/>
              <a:r>
                <a:rPr lang="vi-VN" sz="1120" dirty="0">
                  <a:solidFill>
                    <a:srgbClr val="6E6E6E"/>
                  </a:solidFill>
                  <a:latin typeface="Arial"/>
                  <a:ea typeface="Arial"/>
                  <a:cs typeface="Arial"/>
                </a:rPr>
                <a:t>Nhóm 04 | Lớp 765643-QTDA-VB2-20261</a:t>
              </a:r>
            </a:p>
          </p:txBody>
        </p:sp>
        <p:sp>
          <p:nvSpPr>
            <p:cNvPr id="11" name="TextBox 11"/>
            <p:cNvSpPr txBox="1"/>
            <p:nvPr/>
          </p:nvSpPr>
          <p:spPr>
            <a:xfrm>
              <a:off x="11332764" y="6393656"/>
              <a:ext cx="179151" cy="220028"/>
            </a:xfrm>
            <a:prstGeom prst="rect">
              <a:avLst/>
            </a:prstGeom>
            <a:noFill/>
            <a:ln>
              <a:noFill/>
            </a:ln>
          </p:spPr>
          <p:txBody>
            <a:bodyPr wrap="none" lIns="0" tIns="0" rIns="0" bIns="0" anchor="t" anchorCtr="0">
              <a:spAutoFit/>
            </a:bodyPr>
            <a:lstStyle/>
            <a:p>
              <a:pPr algn="r"/>
              <a:r>
                <a:rPr lang="vi-VN" sz="1120" dirty="0">
                  <a:solidFill>
                    <a:srgbClr val="6E6E6E"/>
                  </a:solidFill>
                  <a:latin typeface="Arial"/>
                  <a:ea typeface="Arial"/>
                  <a:cs typeface="Arial"/>
                </a:rPr>
                <a:t>06</a:t>
              </a:r>
            </a:p>
          </p:txBody>
        </p:sp>
      </p:grpSp>
      <p:grpSp>
        <p:nvGrpSpPr>
          <p:cNvPr id="45" name="survey-table"/>
          <p:cNvGrpSpPr/>
          <p:nvPr/>
        </p:nvGrpSpPr>
        <p:grpSpPr>
          <a:xfrm>
            <a:off x="685800" y="2190750"/>
            <a:ext cx="10296525" cy="3324225"/>
            <a:chOff x="685800" y="2190750"/>
            <a:chExt cx="10296525" cy="3324225"/>
          </a:xfrm>
        </p:grpSpPr>
        <p:sp>
          <p:nvSpPr>
            <p:cNvPr id="13" name="Rectangle 13"/>
            <p:cNvSpPr/>
            <p:nvPr/>
          </p:nvSpPr>
          <p:spPr>
            <a:xfrm>
              <a:off x="685800" y="2190750"/>
              <a:ext cx="10287000" cy="3314700"/>
            </a:xfrm>
            <a:prstGeom prst="rect">
              <a:avLst/>
            </a:prstGeom>
            <a:solidFill>
              <a:srgbClr val="FFFFFF"/>
            </a:solidFill>
            <a:ln w="9525">
              <a:solidFill>
                <a:srgbClr val="E8E8E8"/>
              </a:solidFill>
            </a:ln>
          </p:spPr>
        </p:sp>
        <p:sp>
          <p:nvSpPr>
            <p:cNvPr id="14" name="Rectangle 14"/>
            <p:cNvSpPr/>
            <p:nvPr/>
          </p:nvSpPr>
          <p:spPr>
            <a:xfrm>
              <a:off x="685800" y="2190750"/>
              <a:ext cx="10287000" cy="552450"/>
            </a:xfrm>
            <a:prstGeom prst="rect">
              <a:avLst/>
            </a:prstGeom>
            <a:solidFill>
              <a:srgbClr val="F5F5F5"/>
            </a:solidFill>
            <a:ln>
              <a:noFill/>
            </a:ln>
          </p:spPr>
        </p:sp>
        <p:sp>
          <p:nvSpPr>
            <p:cNvPr id="15" name="Freeform 15"/>
            <p:cNvSpPr/>
            <p:nvPr/>
          </p:nvSpPr>
          <p:spPr>
            <a:xfrm>
              <a:off x="685800" y="2190750"/>
              <a:ext cx="9525" cy="3314700"/>
            </a:xfrm>
            <a:custGeom>
              <a:avLst/>
              <a:gdLst/>
              <a:ahLst/>
              <a:cxnLst/>
              <a:rect l="l" t="t" r="r" b="b"/>
              <a:pathLst>
                <a:path w="9525" h="3314700">
                  <a:moveTo>
                    <a:pt x="0" y="0"/>
                  </a:moveTo>
                  <a:lnTo>
                    <a:pt x="0" y="3314700"/>
                  </a:lnTo>
                </a:path>
              </a:pathLst>
            </a:custGeom>
            <a:noFill/>
            <a:ln w="9525">
              <a:solidFill>
                <a:srgbClr val="E8E8E8"/>
              </a:solidFill>
            </a:ln>
          </p:spPr>
        </p:sp>
        <p:sp>
          <p:nvSpPr>
            <p:cNvPr id="16" name="Freeform 16"/>
            <p:cNvSpPr/>
            <p:nvPr/>
          </p:nvSpPr>
          <p:spPr>
            <a:xfrm>
              <a:off x="3829050" y="2190750"/>
              <a:ext cx="9525" cy="3314700"/>
            </a:xfrm>
            <a:custGeom>
              <a:avLst/>
              <a:gdLst/>
              <a:ahLst/>
              <a:cxnLst/>
              <a:rect l="l" t="t" r="r" b="b"/>
              <a:pathLst>
                <a:path w="9525" h="3314700">
                  <a:moveTo>
                    <a:pt x="0" y="0"/>
                  </a:moveTo>
                  <a:lnTo>
                    <a:pt x="0" y="3314700"/>
                  </a:lnTo>
                </a:path>
              </a:pathLst>
            </a:custGeom>
            <a:noFill/>
            <a:ln w="9525">
              <a:solidFill>
                <a:srgbClr val="E8E8E8"/>
              </a:solidFill>
            </a:ln>
          </p:spPr>
        </p:sp>
        <p:sp>
          <p:nvSpPr>
            <p:cNvPr id="17" name="Freeform 17"/>
            <p:cNvSpPr/>
            <p:nvPr/>
          </p:nvSpPr>
          <p:spPr>
            <a:xfrm>
              <a:off x="5543550" y="2190750"/>
              <a:ext cx="9525" cy="3314700"/>
            </a:xfrm>
            <a:custGeom>
              <a:avLst/>
              <a:gdLst/>
              <a:ahLst/>
              <a:cxnLst/>
              <a:rect l="l" t="t" r="r" b="b"/>
              <a:pathLst>
                <a:path w="9525" h="3314700">
                  <a:moveTo>
                    <a:pt x="0" y="0"/>
                  </a:moveTo>
                  <a:lnTo>
                    <a:pt x="0" y="3314700"/>
                  </a:lnTo>
                </a:path>
              </a:pathLst>
            </a:custGeom>
            <a:noFill/>
            <a:ln w="9525">
              <a:solidFill>
                <a:srgbClr val="E8E8E8"/>
              </a:solidFill>
            </a:ln>
          </p:spPr>
        </p:sp>
        <p:sp>
          <p:nvSpPr>
            <p:cNvPr id="18" name="Freeform 18"/>
            <p:cNvSpPr/>
            <p:nvPr/>
          </p:nvSpPr>
          <p:spPr>
            <a:xfrm>
              <a:off x="10972800" y="2190750"/>
              <a:ext cx="9525" cy="3314700"/>
            </a:xfrm>
            <a:custGeom>
              <a:avLst/>
              <a:gdLst/>
              <a:ahLst/>
              <a:cxnLst/>
              <a:rect l="l" t="t" r="r" b="b"/>
              <a:pathLst>
                <a:path w="9525" h="3314700">
                  <a:moveTo>
                    <a:pt x="0" y="0"/>
                  </a:moveTo>
                  <a:lnTo>
                    <a:pt x="0" y="3314700"/>
                  </a:lnTo>
                </a:path>
              </a:pathLst>
            </a:custGeom>
            <a:noFill/>
            <a:ln w="9525">
              <a:solidFill>
                <a:srgbClr val="E8E8E8"/>
              </a:solidFill>
            </a:ln>
          </p:spPr>
        </p:sp>
        <p:sp>
          <p:nvSpPr>
            <p:cNvPr id="19" name="Freeform 19"/>
            <p:cNvSpPr/>
            <p:nvPr/>
          </p:nvSpPr>
          <p:spPr>
            <a:xfrm>
              <a:off x="685800" y="2190750"/>
              <a:ext cx="10287000" cy="9525"/>
            </a:xfrm>
            <a:custGeom>
              <a:avLst/>
              <a:gdLst/>
              <a:ahLst/>
              <a:cxnLst/>
              <a:rect l="l" t="t" r="r" b="b"/>
              <a:pathLst>
                <a:path w="10287000" h="9525">
                  <a:moveTo>
                    <a:pt x="0" y="0"/>
                  </a:moveTo>
                  <a:lnTo>
                    <a:pt x="10287000" y="0"/>
                  </a:lnTo>
                </a:path>
              </a:pathLst>
            </a:custGeom>
            <a:noFill/>
            <a:ln w="9525">
              <a:solidFill>
                <a:srgbClr val="E8E8E8"/>
              </a:solidFill>
            </a:ln>
          </p:spPr>
        </p:sp>
        <p:sp>
          <p:nvSpPr>
            <p:cNvPr id="20" name="Freeform 20"/>
            <p:cNvSpPr/>
            <p:nvPr/>
          </p:nvSpPr>
          <p:spPr>
            <a:xfrm>
              <a:off x="685800" y="2743200"/>
              <a:ext cx="10287000" cy="9525"/>
            </a:xfrm>
            <a:custGeom>
              <a:avLst/>
              <a:gdLst/>
              <a:ahLst/>
              <a:cxnLst/>
              <a:rect l="l" t="t" r="r" b="b"/>
              <a:pathLst>
                <a:path w="10287000" h="9525">
                  <a:moveTo>
                    <a:pt x="0" y="0"/>
                  </a:moveTo>
                  <a:lnTo>
                    <a:pt x="10287000" y="0"/>
                  </a:lnTo>
                </a:path>
              </a:pathLst>
            </a:custGeom>
            <a:noFill/>
            <a:ln w="9525">
              <a:solidFill>
                <a:srgbClr val="E8E8E8"/>
              </a:solidFill>
            </a:ln>
          </p:spPr>
        </p:sp>
        <p:sp>
          <p:nvSpPr>
            <p:cNvPr id="21" name="Freeform 21"/>
            <p:cNvSpPr/>
            <p:nvPr/>
          </p:nvSpPr>
          <p:spPr>
            <a:xfrm>
              <a:off x="685800" y="3295650"/>
              <a:ext cx="10287000" cy="9525"/>
            </a:xfrm>
            <a:custGeom>
              <a:avLst/>
              <a:gdLst/>
              <a:ahLst/>
              <a:cxnLst/>
              <a:rect l="l" t="t" r="r" b="b"/>
              <a:pathLst>
                <a:path w="10287000" h="9525">
                  <a:moveTo>
                    <a:pt x="0" y="0"/>
                  </a:moveTo>
                  <a:lnTo>
                    <a:pt x="10287000" y="0"/>
                  </a:lnTo>
                </a:path>
              </a:pathLst>
            </a:custGeom>
            <a:noFill/>
            <a:ln w="9525">
              <a:solidFill>
                <a:srgbClr val="E8E8E8"/>
              </a:solidFill>
            </a:ln>
          </p:spPr>
        </p:sp>
        <p:sp>
          <p:nvSpPr>
            <p:cNvPr id="22" name="Freeform 22"/>
            <p:cNvSpPr/>
            <p:nvPr/>
          </p:nvSpPr>
          <p:spPr>
            <a:xfrm>
              <a:off x="685800" y="3848100"/>
              <a:ext cx="10287000" cy="9525"/>
            </a:xfrm>
            <a:custGeom>
              <a:avLst/>
              <a:gdLst/>
              <a:ahLst/>
              <a:cxnLst/>
              <a:rect l="l" t="t" r="r" b="b"/>
              <a:pathLst>
                <a:path w="10287000" h="9525">
                  <a:moveTo>
                    <a:pt x="0" y="0"/>
                  </a:moveTo>
                  <a:lnTo>
                    <a:pt x="10287000" y="0"/>
                  </a:lnTo>
                </a:path>
              </a:pathLst>
            </a:custGeom>
            <a:noFill/>
            <a:ln w="9525">
              <a:solidFill>
                <a:srgbClr val="E8E8E8"/>
              </a:solidFill>
            </a:ln>
          </p:spPr>
        </p:sp>
        <p:sp>
          <p:nvSpPr>
            <p:cNvPr id="23" name="Freeform 23"/>
            <p:cNvSpPr/>
            <p:nvPr/>
          </p:nvSpPr>
          <p:spPr>
            <a:xfrm>
              <a:off x="685800" y="4400550"/>
              <a:ext cx="10287000" cy="9525"/>
            </a:xfrm>
            <a:custGeom>
              <a:avLst/>
              <a:gdLst/>
              <a:ahLst/>
              <a:cxnLst/>
              <a:rect l="l" t="t" r="r" b="b"/>
              <a:pathLst>
                <a:path w="10287000" h="9525">
                  <a:moveTo>
                    <a:pt x="0" y="0"/>
                  </a:moveTo>
                  <a:lnTo>
                    <a:pt x="10287000" y="0"/>
                  </a:lnTo>
                </a:path>
              </a:pathLst>
            </a:custGeom>
            <a:noFill/>
            <a:ln w="9525">
              <a:solidFill>
                <a:srgbClr val="E8E8E8"/>
              </a:solidFill>
            </a:ln>
          </p:spPr>
        </p:sp>
        <p:sp>
          <p:nvSpPr>
            <p:cNvPr id="24" name="Freeform 24"/>
            <p:cNvSpPr/>
            <p:nvPr/>
          </p:nvSpPr>
          <p:spPr>
            <a:xfrm>
              <a:off x="685800" y="4953000"/>
              <a:ext cx="10287000" cy="9525"/>
            </a:xfrm>
            <a:custGeom>
              <a:avLst/>
              <a:gdLst/>
              <a:ahLst/>
              <a:cxnLst/>
              <a:rect l="l" t="t" r="r" b="b"/>
              <a:pathLst>
                <a:path w="10287000" h="9525">
                  <a:moveTo>
                    <a:pt x="0" y="0"/>
                  </a:moveTo>
                  <a:lnTo>
                    <a:pt x="10287000" y="0"/>
                  </a:lnTo>
                </a:path>
              </a:pathLst>
            </a:custGeom>
            <a:noFill/>
            <a:ln w="9525">
              <a:solidFill>
                <a:srgbClr val="E8E8E8"/>
              </a:solidFill>
            </a:ln>
          </p:spPr>
        </p:sp>
        <p:sp>
          <p:nvSpPr>
            <p:cNvPr id="25" name="Freeform 25"/>
            <p:cNvSpPr/>
            <p:nvPr/>
          </p:nvSpPr>
          <p:spPr>
            <a:xfrm>
              <a:off x="685800" y="5505450"/>
              <a:ext cx="10287000" cy="9525"/>
            </a:xfrm>
            <a:custGeom>
              <a:avLst/>
              <a:gdLst/>
              <a:ahLst/>
              <a:cxnLst/>
              <a:rect l="l" t="t" r="r" b="b"/>
              <a:pathLst>
                <a:path w="10287000" h="9525">
                  <a:moveTo>
                    <a:pt x="0" y="0"/>
                  </a:moveTo>
                  <a:lnTo>
                    <a:pt x="10287000" y="0"/>
                  </a:lnTo>
                </a:path>
              </a:pathLst>
            </a:custGeom>
            <a:noFill/>
            <a:ln w="9525">
              <a:solidFill>
                <a:srgbClr val="E8E8E8"/>
              </a:solidFill>
            </a:ln>
          </p:spPr>
        </p:sp>
        <p:sp>
          <p:nvSpPr>
            <p:cNvPr id="26" name="TextBox 26"/>
            <p:cNvSpPr txBox="1"/>
            <p:nvPr/>
          </p:nvSpPr>
          <p:spPr>
            <a:xfrm>
              <a:off x="794004" y="2299335"/>
              <a:ext cx="1211731" cy="234696"/>
            </a:xfrm>
            <a:prstGeom prst="rect">
              <a:avLst/>
            </a:prstGeom>
            <a:noFill/>
            <a:ln>
              <a:noFill/>
            </a:ln>
          </p:spPr>
          <p:txBody>
            <a:bodyPr wrap="none" lIns="0" tIns="0" rIns="0" bIns="0" anchor="t" anchorCtr="0">
              <a:spAutoFit/>
            </a:bodyPr>
            <a:lstStyle/>
            <a:p>
              <a:pPr algn="l"/>
              <a:r>
                <a:rPr lang="vi-VN" sz="1200" b="1" dirty="0">
                  <a:solidFill>
                    <a:srgbClr val="111111"/>
                  </a:solidFill>
                  <a:latin typeface="Arial"/>
                  <a:ea typeface="Arial"/>
                  <a:cs typeface="Arial"/>
                </a:rPr>
                <a:t>Chỉ số khảo sát</a:t>
              </a:r>
            </a:p>
          </p:txBody>
        </p:sp>
        <p:sp>
          <p:nvSpPr>
            <p:cNvPr id="27" name="TextBox 27"/>
            <p:cNvSpPr txBox="1"/>
            <p:nvPr/>
          </p:nvSpPr>
          <p:spPr>
            <a:xfrm>
              <a:off x="3937254" y="2299335"/>
              <a:ext cx="483393" cy="234696"/>
            </a:xfrm>
            <a:prstGeom prst="rect">
              <a:avLst/>
            </a:prstGeom>
            <a:noFill/>
            <a:ln>
              <a:noFill/>
            </a:ln>
          </p:spPr>
          <p:txBody>
            <a:bodyPr wrap="none" lIns="0" tIns="0" rIns="0" bIns="0" anchor="t" anchorCtr="0">
              <a:spAutoFit/>
            </a:bodyPr>
            <a:lstStyle/>
            <a:p>
              <a:pPr algn="l"/>
              <a:r>
                <a:rPr lang="vi-VN" sz="1200" b="1" dirty="0">
                  <a:solidFill>
                    <a:srgbClr val="111111"/>
                  </a:solidFill>
                  <a:latin typeface="Arial"/>
                  <a:ea typeface="Arial"/>
                  <a:cs typeface="Arial"/>
                </a:rPr>
                <a:t>Giá trị</a:t>
              </a:r>
            </a:p>
          </p:txBody>
        </p:sp>
        <p:sp>
          <p:nvSpPr>
            <p:cNvPr id="28" name="TextBox 28"/>
            <p:cNvSpPr txBox="1"/>
            <p:nvPr/>
          </p:nvSpPr>
          <p:spPr>
            <a:xfrm>
              <a:off x="5651754" y="2299335"/>
              <a:ext cx="1894222" cy="234696"/>
            </a:xfrm>
            <a:prstGeom prst="rect">
              <a:avLst/>
            </a:prstGeom>
            <a:noFill/>
            <a:ln>
              <a:noFill/>
            </a:ln>
          </p:spPr>
          <p:txBody>
            <a:bodyPr wrap="none" lIns="0" tIns="0" rIns="0" bIns="0" anchor="t" anchorCtr="0">
              <a:spAutoFit/>
            </a:bodyPr>
            <a:lstStyle/>
            <a:p>
              <a:pPr algn="l"/>
              <a:r>
                <a:rPr lang="vi-VN" sz="1200" b="1" dirty="0">
                  <a:solidFill>
                    <a:srgbClr val="111111"/>
                  </a:solidFill>
                  <a:latin typeface="Arial"/>
                  <a:ea typeface="Arial"/>
                  <a:cs typeface="Arial"/>
                </a:rPr>
                <a:t>Hàm ý cho hệ thống mới</a:t>
              </a:r>
            </a:p>
          </p:txBody>
        </p:sp>
        <p:sp>
          <p:nvSpPr>
            <p:cNvPr id="29" name="TextBox 29"/>
            <p:cNvSpPr txBox="1"/>
            <p:nvPr/>
          </p:nvSpPr>
          <p:spPr>
            <a:xfrm>
              <a:off x="794004" y="2851785"/>
              <a:ext cx="2046049" cy="234696"/>
            </a:xfrm>
            <a:prstGeom prst="rect">
              <a:avLst/>
            </a:prstGeom>
            <a:noFill/>
            <a:ln>
              <a:noFill/>
            </a:ln>
          </p:spPr>
          <p:txBody>
            <a:bodyPr wrap="none" lIns="0" tIns="0" rIns="0" bIns="0" anchor="t" anchorCtr="0">
              <a:spAutoFit/>
            </a:bodyPr>
            <a:lstStyle/>
            <a:p>
              <a:pPr algn="l"/>
              <a:r>
                <a:rPr lang="vi-VN" sz="1200" b="1" dirty="0">
                  <a:solidFill>
                    <a:srgbClr val="111111"/>
                  </a:solidFill>
                  <a:latin typeface="Arial"/>
                  <a:ea typeface="Arial"/>
                  <a:cs typeface="Arial"/>
                </a:rPr>
                <a:t>Nhân viên nhập liệu lặp lại</a:t>
              </a:r>
            </a:p>
          </p:txBody>
        </p:sp>
        <p:sp>
          <p:nvSpPr>
            <p:cNvPr id="30" name="TextBox 30"/>
            <p:cNvSpPr txBox="1"/>
            <p:nvPr/>
          </p:nvSpPr>
          <p:spPr>
            <a:xfrm>
              <a:off x="3933825" y="2778919"/>
              <a:ext cx="484107" cy="289310"/>
            </a:xfrm>
            <a:prstGeom prst="rect">
              <a:avLst/>
            </a:prstGeom>
            <a:noFill/>
            <a:ln>
              <a:noFill/>
            </a:ln>
          </p:spPr>
          <p:txBody>
            <a:bodyPr wrap="none" lIns="0" tIns="0" rIns="0" bIns="0" anchor="t" anchorCtr="0">
              <a:spAutoFit/>
            </a:bodyPr>
            <a:lstStyle/>
            <a:p>
              <a:pPr algn="l"/>
              <a:r>
                <a:rPr lang="vi-VN" sz="1880" b="1" dirty="0">
                  <a:solidFill>
                    <a:srgbClr val="C8102E"/>
                  </a:solidFill>
                  <a:latin typeface="Arial"/>
                  <a:ea typeface="Arial"/>
                  <a:cs typeface="Arial"/>
                </a:rPr>
                <a:t>80%</a:t>
              </a:r>
            </a:p>
          </p:txBody>
        </p:sp>
        <p:sp>
          <p:nvSpPr>
            <p:cNvPr id="31" name="TextBox 31"/>
            <p:cNvSpPr txBox="1"/>
            <p:nvPr/>
          </p:nvSpPr>
          <p:spPr>
            <a:xfrm>
              <a:off x="5651754" y="2851785"/>
              <a:ext cx="2923176" cy="234696"/>
            </a:xfrm>
            <a:prstGeom prst="rect">
              <a:avLst/>
            </a:prstGeom>
            <a:noFill/>
            <a:ln>
              <a:noFill/>
            </a:ln>
          </p:spPr>
          <p:txBody>
            <a:bodyPr wrap="none" lIns="0" tIns="0" rIns="0" bIns="0" anchor="t" anchorCtr="0">
              <a:spAutoFit/>
            </a:bodyPr>
            <a:lstStyle/>
            <a:p>
              <a:pPr algn="l"/>
              <a:r>
                <a:rPr lang="vi-VN" sz="1200" dirty="0">
                  <a:solidFill>
                    <a:srgbClr val="1A1A1A"/>
                  </a:solidFill>
                  <a:latin typeface="Arial"/>
                  <a:ea typeface="Arial"/>
                  <a:cs typeface="Arial"/>
                </a:rPr>
                <a:t>Cần CSDL dùng chung và giảm nhập lại</a:t>
              </a:r>
            </a:p>
          </p:txBody>
        </p:sp>
        <p:sp>
          <p:nvSpPr>
            <p:cNvPr id="32" name="TextBox 32"/>
            <p:cNvSpPr txBox="1"/>
            <p:nvPr/>
          </p:nvSpPr>
          <p:spPr>
            <a:xfrm>
              <a:off x="794004" y="3404235"/>
              <a:ext cx="1417825" cy="234696"/>
            </a:xfrm>
            <a:prstGeom prst="rect">
              <a:avLst/>
            </a:prstGeom>
            <a:noFill/>
            <a:ln>
              <a:noFill/>
            </a:ln>
          </p:spPr>
          <p:txBody>
            <a:bodyPr wrap="none" lIns="0" tIns="0" rIns="0" bIns="0" anchor="t" anchorCtr="0">
              <a:spAutoFit/>
            </a:bodyPr>
            <a:lstStyle/>
            <a:p>
              <a:pPr algn="l"/>
              <a:r>
                <a:rPr lang="vi-VN" sz="1200" b="1" dirty="0">
                  <a:solidFill>
                    <a:srgbClr val="111111"/>
                  </a:solidFill>
                  <a:latin typeface="Arial"/>
                  <a:ea typeface="Arial"/>
                  <a:cs typeface="Arial"/>
                </a:rPr>
                <a:t>Khó tìm lại đơn cũ</a:t>
              </a:r>
            </a:p>
          </p:txBody>
        </p:sp>
        <p:sp>
          <p:nvSpPr>
            <p:cNvPr id="33" name="TextBox 33"/>
            <p:cNvSpPr txBox="1"/>
            <p:nvPr/>
          </p:nvSpPr>
          <p:spPr>
            <a:xfrm>
              <a:off x="3933825" y="3331369"/>
              <a:ext cx="484107" cy="289310"/>
            </a:xfrm>
            <a:prstGeom prst="rect">
              <a:avLst/>
            </a:prstGeom>
            <a:noFill/>
            <a:ln>
              <a:noFill/>
            </a:ln>
          </p:spPr>
          <p:txBody>
            <a:bodyPr wrap="none" lIns="0" tIns="0" rIns="0" bIns="0" anchor="t" anchorCtr="0">
              <a:spAutoFit/>
            </a:bodyPr>
            <a:lstStyle/>
            <a:p>
              <a:pPr algn="l"/>
              <a:r>
                <a:rPr lang="vi-VN" sz="1880" b="1" dirty="0">
                  <a:solidFill>
                    <a:srgbClr val="C8102E"/>
                  </a:solidFill>
                  <a:latin typeface="Arial"/>
                  <a:ea typeface="Arial"/>
                  <a:cs typeface="Arial"/>
                </a:rPr>
                <a:t>80%</a:t>
              </a:r>
            </a:p>
          </p:txBody>
        </p:sp>
        <p:sp>
          <p:nvSpPr>
            <p:cNvPr id="34" name="TextBox 34"/>
            <p:cNvSpPr txBox="1"/>
            <p:nvPr/>
          </p:nvSpPr>
          <p:spPr>
            <a:xfrm>
              <a:off x="5651754" y="3404235"/>
              <a:ext cx="2612999" cy="234696"/>
            </a:xfrm>
            <a:prstGeom prst="rect">
              <a:avLst/>
            </a:prstGeom>
            <a:noFill/>
            <a:ln>
              <a:noFill/>
            </a:ln>
          </p:spPr>
          <p:txBody>
            <a:bodyPr wrap="none" lIns="0" tIns="0" rIns="0" bIns="0" anchor="t" anchorCtr="0">
              <a:spAutoFit/>
            </a:bodyPr>
            <a:lstStyle/>
            <a:p>
              <a:pPr algn="l"/>
              <a:r>
                <a:rPr lang="vi-VN" sz="1200" dirty="0">
                  <a:solidFill>
                    <a:srgbClr val="1A1A1A"/>
                  </a:solidFill>
                  <a:latin typeface="Arial"/>
                  <a:ea typeface="Arial"/>
                  <a:cs typeface="Arial"/>
                </a:rPr>
                <a:t>Cần mã đơn và lịch sử đơn tập trung</a:t>
              </a:r>
            </a:p>
          </p:txBody>
        </p:sp>
        <p:sp>
          <p:nvSpPr>
            <p:cNvPr id="35" name="TextBox 35"/>
            <p:cNvSpPr txBox="1"/>
            <p:nvPr/>
          </p:nvSpPr>
          <p:spPr>
            <a:xfrm>
              <a:off x="794004" y="3956685"/>
              <a:ext cx="2091186" cy="234696"/>
            </a:xfrm>
            <a:prstGeom prst="rect">
              <a:avLst/>
            </a:prstGeom>
            <a:noFill/>
            <a:ln>
              <a:noFill/>
            </a:ln>
          </p:spPr>
          <p:txBody>
            <a:bodyPr wrap="none" lIns="0" tIns="0" rIns="0" bIns="0" anchor="t" anchorCtr="0">
              <a:spAutoFit/>
            </a:bodyPr>
            <a:lstStyle/>
            <a:p>
              <a:pPr algn="l"/>
              <a:r>
                <a:rPr lang="vi-VN" sz="1200" b="1" dirty="0">
                  <a:solidFill>
                    <a:srgbClr val="111111"/>
                  </a:solidFill>
                  <a:latin typeface="Arial"/>
                  <a:ea typeface="Arial"/>
                  <a:cs typeface="Arial"/>
                </a:rPr>
                <a:t>Khách muốn biết còn hàng</a:t>
              </a:r>
            </a:p>
          </p:txBody>
        </p:sp>
        <p:sp>
          <p:nvSpPr>
            <p:cNvPr id="36" name="TextBox 36"/>
            <p:cNvSpPr txBox="1"/>
            <p:nvPr/>
          </p:nvSpPr>
          <p:spPr>
            <a:xfrm>
              <a:off x="794004" y="4128135"/>
              <a:ext cx="1026398" cy="234696"/>
            </a:xfrm>
            <a:prstGeom prst="rect">
              <a:avLst/>
            </a:prstGeom>
            <a:noFill/>
            <a:ln>
              <a:noFill/>
            </a:ln>
          </p:spPr>
          <p:txBody>
            <a:bodyPr wrap="none" lIns="0" tIns="0" rIns="0" bIns="0" anchor="t" anchorCtr="0">
              <a:spAutoFit/>
            </a:bodyPr>
            <a:lstStyle/>
            <a:p>
              <a:pPr algn="l"/>
              <a:r>
                <a:rPr lang="vi-VN" sz="1200" b="1" dirty="0">
                  <a:solidFill>
                    <a:srgbClr val="111111"/>
                  </a:solidFill>
                  <a:latin typeface="Arial"/>
                  <a:ea typeface="Arial"/>
                  <a:cs typeface="Arial"/>
                </a:rPr>
                <a:t>trước khi đến</a:t>
              </a:r>
            </a:p>
          </p:txBody>
        </p:sp>
        <p:sp>
          <p:nvSpPr>
            <p:cNvPr id="37" name="TextBox 37"/>
            <p:cNvSpPr txBox="1"/>
            <p:nvPr/>
          </p:nvSpPr>
          <p:spPr>
            <a:xfrm>
              <a:off x="3933825" y="3883819"/>
              <a:ext cx="736700" cy="366712"/>
            </a:xfrm>
            <a:prstGeom prst="rect">
              <a:avLst/>
            </a:prstGeom>
            <a:noFill/>
            <a:ln>
              <a:noFill/>
            </a:ln>
          </p:spPr>
          <p:txBody>
            <a:bodyPr wrap="none" lIns="0" tIns="0" rIns="0" bIns="0" anchor="t" anchorCtr="0">
              <a:spAutoFit/>
            </a:bodyPr>
            <a:lstStyle/>
            <a:p>
              <a:pPr algn="l"/>
              <a:r>
                <a:rPr lang="vi-VN" sz="1880" b="1" dirty="0">
                  <a:solidFill>
                    <a:srgbClr val="C8102E"/>
                  </a:solidFill>
                  <a:latin typeface="Arial"/>
                  <a:ea typeface="Arial"/>
                  <a:cs typeface="Arial"/>
                </a:rPr>
                <a:t>83,3%</a:t>
              </a:r>
            </a:p>
          </p:txBody>
        </p:sp>
        <p:sp>
          <p:nvSpPr>
            <p:cNvPr id="38" name="TextBox 38"/>
            <p:cNvSpPr txBox="1"/>
            <p:nvPr/>
          </p:nvSpPr>
          <p:spPr>
            <a:xfrm>
              <a:off x="5651754" y="3956685"/>
              <a:ext cx="2882580" cy="234696"/>
            </a:xfrm>
            <a:prstGeom prst="rect">
              <a:avLst/>
            </a:prstGeom>
            <a:noFill/>
            <a:ln>
              <a:noFill/>
            </a:ln>
          </p:spPr>
          <p:txBody>
            <a:bodyPr wrap="none" lIns="0" tIns="0" rIns="0" bIns="0" anchor="t" anchorCtr="0">
              <a:spAutoFit/>
            </a:bodyPr>
            <a:lstStyle/>
            <a:p>
              <a:pPr algn="l"/>
              <a:r>
                <a:rPr lang="vi-VN" sz="1200" dirty="0">
                  <a:solidFill>
                    <a:srgbClr val="1A1A1A"/>
                  </a:solidFill>
                  <a:latin typeface="Arial"/>
                  <a:ea typeface="Arial"/>
                  <a:cs typeface="Arial"/>
                </a:rPr>
                <a:t>Cần tra cứu tồn kho nhanh, đáng tin cậy</a:t>
              </a:r>
            </a:p>
          </p:txBody>
        </p:sp>
        <p:sp>
          <p:nvSpPr>
            <p:cNvPr id="39" name="TextBox 39"/>
            <p:cNvSpPr txBox="1"/>
            <p:nvPr/>
          </p:nvSpPr>
          <p:spPr>
            <a:xfrm>
              <a:off x="794004" y="4509135"/>
              <a:ext cx="2198777" cy="234696"/>
            </a:xfrm>
            <a:prstGeom prst="rect">
              <a:avLst/>
            </a:prstGeom>
            <a:noFill/>
            <a:ln>
              <a:noFill/>
            </a:ln>
          </p:spPr>
          <p:txBody>
            <a:bodyPr wrap="none" lIns="0" tIns="0" rIns="0" bIns="0" anchor="t" anchorCtr="0">
              <a:spAutoFit/>
            </a:bodyPr>
            <a:lstStyle/>
            <a:p>
              <a:pPr algn="l"/>
              <a:r>
                <a:rPr lang="vi-VN" sz="1200" b="1" dirty="0">
                  <a:solidFill>
                    <a:srgbClr val="111111"/>
                  </a:solidFill>
                  <a:latin typeface="Arial"/>
                  <a:ea typeface="Arial"/>
                  <a:cs typeface="Arial"/>
                </a:rPr>
                <a:t>Khách từng chờ kiểm tra tồn</a:t>
              </a:r>
            </a:p>
          </p:txBody>
        </p:sp>
        <p:sp>
          <p:nvSpPr>
            <p:cNvPr id="40" name="TextBox 40"/>
            <p:cNvSpPr txBox="1"/>
            <p:nvPr/>
          </p:nvSpPr>
          <p:spPr>
            <a:xfrm>
              <a:off x="3933825" y="4436269"/>
              <a:ext cx="736700" cy="366712"/>
            </a:xfrm>
            <a:prstGeom prst="rect">
              <a:avLst/>
            </a:prstGeom>
            <a:noFill/>
            <a:ln>
              <a:noFill/>
            </a:ln>
          </p:spPr>
          <p:txBody>
            <a:bodyPr wrap="none" lIns="0" tIns="0" rIns="0" bIns="0" anchor="t" anchorCtr="0">
              <a:spAutoFit/>
            </a:bodyPr>
            <a:lstStyle/>
            <a:p>
              <a:pPr algn="l"/>
              <a:r>
                <a:rPr lang="vi-VN" sz="1880" b="1" dirty="0">
                  <a:solidFill>
                    <a:srgbClr val="C8102E"/>
                  </a:solidFill>
                  <a:latin typeface="Arial"/>
                  <a:ea typeface="Arial"/>
                  <a:cs typeface="Arial"/>
                </a:rPr>
                <a:t>60,0%</a:t>
              </a:r>
            </a:p>
          </p:txBody>
        </p:sp>
        <p:sp>
          <p:nvSpPr>
            <p:cNvPr id="41" name="TextBox 41"/>
            <p:cNvSpPr txBox="1"/>
            <p:nvPr/>
          </p:nvSpPr>
          <p:spPr>
            <a:xfrm>
              <a:off x="5651754" y="4509135"/>
              <a:ext cx="3430943" cy="234696"/>
            </a:xfrm>
            <a:prstGeom prst="rect">
              <a:avLst/>
            </a:prstGeom>
            <a:noFill/>
            <a:ln>
              <a:noFill/>
            </a:ln>
          </p:spPr>
          <p:txBody>
            <a:bodyPr wrap="none" lIns="0" tIns="0" rIns="0" bIns="0" anchor="t" anchorCtr="0">
              <a:spAutoFit/>
            </a:bodyPr>
            <a:lstStyle/>
            <a:p>
              <a:pPr algn="l"/>
              <a:r>
                <a:rPr lang="vi-VN" sz="1200" dirty="0">
                  <a:solidFill>
                    <a:srgbClr val="1A1A1A"/>
                  </a:solidFill>
                  <a:latin typeface="Arial"/>
                  <a:ea typeface="Arial"/>
                  <a:cs typeface="Arial"/>
                </a:rPr>
                <a:t>Tồn kho phải cập nhật ngay sau nhập, bán, hủy</a:t>
              </a:r>
            </a:p>
          </p:txBody>
        </p:sp>
        <p:sp>
          <p:nvSpPr>
            <p:cNvPr id="42" name="TextBox 42"/>
            <p:cNvSpPr txBox="1"/>
            <p:nvPr/>
          </p:nvSpPr>
          <p:spPr>
            <a:xfrm>
              <a:off x="794004" y="5061585"/>
              <a:ext cx="2387492" cy="234696"/>
            </a:xfrm>
            <a:prstGeom prst="rect">
              <a:avLst/>
            </a:prstGeom>
            <a:noFill/>
            <a:ln>
              <a:noFill/>
            </a:ln>
          </p:spPr>
          <p:txBody>
            <a:bodyPr wrap="none" lIns="0" tIns="0" rIns="0" bIns="0" anchor="t" anchorCtr="0">
              <a:spAutoFit/>
            </a:bodyPr>
            <a:lstStyle/>
            <a:p>
              <a:pPr algn="l"/>
              <a:r>
                <a:rPr lang="vi-VN" sz="1200" b="1" dirty="0">
                  <a:solidFill>
                    <a:srgbClr val="111111"/>
                  </a:solidFill>
                  <a:latin typeface="Arial"/>
                  <a:ea typeface="Arial"/>
                  <a:cs typeface="Arial"/>
                </a:rPr>
                <a:t>Quản lý muốn báo cáo tự động</a:t>
              </a:r>
            </a:p>
          </p:txBody>
        </p:sp>
        <p:sp>
          <p:nvSpPr>
            <p:cNvPr id="43" name="TextBox 43"/>
            <p:cNvSpPr txBox="1"/>
            <p:nvPr/>
          </p:nvSpPr>
          <p:spPr>
            <a:xfrm>
              <a:off x="3933825" y="4988719"/>
              <a:ext cx="666392" cy="366712"/>
            </a:xfrm>
            <a:prstGeom prst="rect">
              <a:avLst/>
            </a:prstGeom>
            <a:noFill/>
            <a:ln>
              <a:noFill/>
            </a:ln>
          </p:spPr>
          <p:txBody>
            <a:bodyPr wrap="none" lIns="0" tIns="0" rIns="0" bIns="0" anchor="t" anchorCtr="0">
              <a:spAutoFit/>
            </a:bodyPr>
            <a:lstStyle/>
            <a:p>
              <a:pPr algn="l"/>
              <a:r>
                <a:rPr lang="vi-VN" sz="1880" b="1" dirty="0">
                  <a:solidFill>
                    <a:srgbClr val="C8102E"/>
                  </a:solidFill>
                  <a:latin typeface="Arial"/>
                  <a:ea typeface="Arial"/>
                  <a:cs typeface="Arial"/>
                </a:rPr>
                <a:t>100%</a:t>
              </a:r>
            </a:p>
          </p:txBody>
        </p:sp>
        <p:sp>
          <p:nvSpPr>
            <p:cNvPr id="44" name="TextBox 44"/>
            <p:cNvSpPr txBox="1"/>
            <p:nvPr/>
          </p:nvSpPr>
          <p:spPr>
            <a:xfrm>
              <a:off x="5651754" y="5061585"/>
              <a:ext cx="2954927" cy="234696"/>
            </a:xfrm>
            <a:prstGeom prst="rect">
              <a:avLst/>
            </a:prstGeom>
            <a:noFill/>
            <a:ln>
              <a:noFill/>
            </a:ln>
          </p:spPr>
          <p:txBody>
            <a:bodyPr wrap="none" lIns="0" tIns="0" rIns="0" bIns="0" anchor="t" anchorCtr="0">
              <a:spAutoFit/>
            </a:bodyPr>
            <a:lstStyle/>
            <a:p>
              <a:pPr algn="l"/>
              <a:r>
                <a:rPr lang="vi-VN" sz="1200" dirty="0">
                  <a:solidFill>
                    <a:srgbClr val="1A1A1A"/>
                  </a:solidFill>
                  <a:latin typeface="Arial"/>
                  <a:ea typeface="Arial"/>
                  <a:cs typeface="Arial"/>
                </a:rPr>
                <a:t>Dashboard doanh thu, đơn hàng, tồn kho</a:t>
              </a: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bg-fill"/>
          <p:cNvSpPr/>
          <p:nvPr/>
        </p:nvSpPr>
        <p:spPr>
          <a:xfrm>
            <a:off x="-9525" y="-9525"/>
            <a:ext cx="12211050" cy="6877050"/>
          </a:xfrm>
          <a:prstGeom prst="rect">
            <a:avLst/>
          </a:prstGeom>
          <a:solidFill>
            <a:srgbClr val="FFFFFF"/>
          </a:solidFill>
          <a:ln>
            <a:noFill/>
          </a:ln>
        </p:spPr>
      </p:sp>
      <p:grpSp>
        <p:nvGrpSpPr>
          <p:cNvPr id="5" name="top-rule"/>
          <p:cNvGrpSpPr/>
          <p:nvPr/>
        </p:nvGrpSpPr>
        <p:grpSpPr>
          <a:xfrm>
            <a:off x="685800" y="723900"/>
            <a:ext cx="10820400" cy="38100"/>
            <a:chOff x="685800" y="723900"/>
            <a:chExt cx="10820400" cy="38100"/>
          </a:xfrm>
        </p:grpSpPr>
        <p:sp>
          <p:nvSpPr>
            <p:cNvPr id="3" name="Rectangle 3"/>
            <p:cNvSpPr/>
            <p:nvPr/>
          </p:nvSpPr>
          <p:spPr>
            <a:xfrm>
              <a:off x="685800" y="723900"/>
              <a:ext cx="10820400" cy="38100"/>
            </a:xfrm>
            <a:prstGeom prst="rect">
              <a:avLst/>
            </a:prstGeom>
            <a:solidFill>
              <a:srgbClr val="E8E8E8"/>
            </a:solidFill>
            <a:ln>
              <a:noFill/>
            </a:ln>
          </p:spPr>
        </p:sp>
        <p:sp>
          <p:nvSpPr>
            <p:cNvPr id="4" name="Rectangle 4"/>
            <p:cNvSpPr/>
            <p:nvPr/>
          </p:nvSpPr>
          <p:spPr>
            <a:xfrm>
              <a:off x="685800" y="723900"/>
              <a:ext cx="3787140" cy="38100"/>
            </a:xfrm>
            <a:prstGeom prst="rect">
              <a:avLst/>
            </a:prstGeom>
            <a:solidFill>
              <a:srgbClr val="C8102E"/>
            </a:solidFill>
            <a:ln>
              <a:noFill/>
            </a:ln>
          </p:spPr>
        </p:sp>
      </p:grpSp>
      <p:grpSp>
        <p:nvGrpSpPr>
          <p:cNvPr id="8" name="title"/>
          <p:cNvGrpSpPr/>
          <p:nvPr/>
        </p:nvGrpSpPr>
        <p:grpSpPr>
          <a:xfrm>
            <a:off x="652272" y="977265"/>
            <a:ext cx="6582183" cy="1193482"/>
            <a:chOff x="652272" y="977265"/>
            <a:chExt cx="6582183" cy="1193482"/>
          </a:xfrm>
        </p:grpSpPr>
        <p:sp>
          <p:nvSpPr>
            <p:cNvPr id="6" name="TextBox 6"/>
            <p:cNvSpPr txBox="1"/>
            <p:nvPr/>
          </p:nvSpPr>
          <p:spPr>
            <a:xfrm>
              <a:off x="652272" y="977265"/>
              <a:ext cx="6048707" cy="645414"/>
            </a:xfrm>
            <a:prstGeom prst="rect">
              <a:avLst/>
            </a:prstGeom>
            <a:noFill/>
            <a:ln>
              <a:noFill/>
            </a:ln>
          </p:spPr>
          <p:txBody>
            <a:bodyPr wrap="none" lIns="0" tIns="0" rIns="0" bIns="0" anchor="t" anchorCtr="0">
              <a:spAutoFit/>
            </a:bodyPr>
            <a:lstStyle/>
            <a:p>
              <a:pPr algn="l"/>
              <a:r>
                <a:rPr lang="vi-VN" sz="3300" b="1" dirty="0">
                  <a:solidFill>
                    <a:srgbClr val="111111"/>
                  </a:solidFill>
                  <a:latin typeface="Arial"/>
                  <a:ea typeface="Arial"/>
                  <a:cs typeface="Arial"/>
                </a:rPr>
                <a:t>Mục tiêu, ý nghĩa và yêu cầu</a:t>
              </a:r>
            </a:p>
          </p:txBody>
        </p:sp>
        <p:sp>
          <p:nvSpPr>
            <p:cNvPr id="7" name="TextBox 7"/>
            <p:cNvSpPr txBox="1"/>
            <p:nvPr/>
          </p:nvSpPr>
          <p:spPr>
            <a:xfrm>
              <a:off x="677418" y="1848040"/>
              <a:ext cx="6557037" cy="322707"/>
            </a:xfrm>
            <a:prstGeom prst="rect">
              <a:avLst/>
            </a:prstGeom>
            <a:noFill/>
            <a:ln>
              <a:noFill/>
            </a:ln>
          </p:spPr>
          <p:txBody>
            <a:bodyPr wrap="none" lIns="0" tIns="0" rIns="0" bIns="0" anchor="t" anchorCtr="0">
              <a:spAutoFit/>
            </a:bodyPr>
            <a:lstStyle/>
            <a:p>
              <a:pPr algn="l"/>
              <a:r>
                <a:rPr lang="vi-VN" sz="1650" dirty="0">
                  <a:solidFill>
                    <a:srgbClr val="6E6E6E"/>
                  </a:solidFill>
                  <a:latin typeface="Arial"/>
                  <a:ea typeface="Arial"/>
                  <a:cs typeface="Arial"/>
                </a:rPr>
                <a:t>Dự án kết hợp mục tiêu học phần với bài toán nghiệp vụ mô phỏng</a:t>
              </a:r>
            </a:p>
          </p:txBody>
        </p:sp>
      </p:grpSp>
      <p:grpSp>
        <p:nvGrpSpPr>
          <p:cNvPr id="12" name="footer"/>
          <p:cNvGrpSpPr/>
          <p:nvPr/>
        </p:nvGrpSpPr>
        <p:grpSpPr>
          <a:xfrm>
            <a:off x="680085" y="6286500"/>
            <a:ext cx="10831830" cy="327184"/>
            <a:chOff x="680085" y="6286500"/>
            <a:chExt cx="10831830" cy="327184"/>
          </a:xfrm>
        </p:grpSpPr>
        <p:sp>
          <p:nvSpPr>
            <p:cNvPr id="9" name="Freeform 9"/>
            <p:cNvSpPr/>
            <p:nvPr/>
          </p:nvSpPr>
          <p:spPr>
            <a:xfrm>
              <a:off x="685800" y="6286500"/>
              <a:ext cx="10820400" cy="9525"/>
            </a:xfrm>
            <a:custGeom>
              <a:avLst/>
              <a:gdLst/>
              <a:ahLst/>
              <a:cxnLst/>
              <a:rect l="l" t="t" r="r" b="b"/>
              <a:pathLst>
                <a:path w="10820400" h="9525">
                  <a:moveTo>
                    <a:pt x="0" y="0"/>
                  </a:moveTo>
                  <a:lnTo>
                    <a:pt x="10820400" y="0"/>
                  </a:lnTo>
                </a:path>
              </a:pathLst>
            </a:custGeom>
            <a:noFill/>
            <a:ln w="9525">
              <a:solidFill>
                <a:srgbClr val="E8E8E8"/>
              </a:solidFill>
            </a:ln>
          </p:spPr>
        </p:sp>
        <p:sp>
          <p:nvSpPr>
            <p:cNvPr id="10" name="TextBox 10"/>
            <p:cNvSpPr txBox="1"/>
            <p:nvPr/>
          </p:nvSpPr>
          <p:spPr>
            <a:xfrm>
              <a:off x="680085" y="6393656"/>
              <a:ext cx="2914269" cy="220028"/>
            </a:xfrm>
            <a:prstGeom prst="rect">
              <a:avLst/>
            </a:prstGeom>
            <a:noFill/>
            <a:ln>
              <a:noFill/>
            </a:ln>
          </p:spPr>
          <p:txBody>
            <a:bodyPr wrap="none" lIns="0" tIns="0" rIns="0" bIns="0" anchor="t" anchorCtr="0">
              <a:spAutoFit/>
            </a:bodyPr>
            <a:lstStyle/>
            <a:p>
              <a:pPr algn="l"/>
              <a:r>
                <a:rPr lang="vi-VN" sz="1120" dirty="0">
                  <a:solidFill>
                    <a:srgbClr val="6E6E6E"/>
                  </a:solidFill>
                  <a:latin typeface="Arial"/>
                  <a:ea typeface="Arial"/>
                  <a:cs typeface="Arial"/>
                </a:rPr>
                <a:t>Nhóm 04 | Lớp 765643-QTDA-VB2-20261</a:t>
              </a:r>
            </a:p>
          </p:txBody>
        </p:sp>
        <p:sp>
          <p:nvSpPr>
            <p:cNvPr id="11" name="TextBox 11"/>
            <p:cNvSpPr txBox="1"/>
            <p:nvPr/>
          </p:nvSpPr>
          <p:spPr>
            <a:xfrm>
              <a:off x="11332764" y="6393656"/>
              <a:ext cx="179151" cy="220028"/>
            </a:xfrm>
            <a:prstGeom prst="rect">
              <a:avLst/>
            </a:prstGeom>
            <a:noFill/>
            <a:ln>
              <a:noFill/>
            </a:ln>
          </p:spPr>
          <p:txBody>
            <a:bodyPr wrap="none" lIns="0" tIns="0" rIns="0" bIns="0" anchor="t" anchorCtr="0">
              <a:spAutoFit/>
            </a:bodyPr>
            <a:lstStyle/>
            <a:p>
              <a:pPr algn="r"/>
              <a:r>
                <a:rPr lang="vi-VN" sz="1120" dirty="0">
                  <a:solidFill>
                    <a:srgbClr val="6E6E6E"/>
                  </a:solidFill>
                  <a:latin typeface="Arial"/>
                  <a:ea typeface="Arial"/>
                  <a:cs typeface="Arial"/>
                </a:rPr>
                <a:t>07</a:t>
              </a:r>
            </a:p>
          </p:txBody>
        </p:sp>
      </p:grpSp>
      <p:grpSp>
        <p:nvGrpSpPr>
          <p:cNvPr id="51" name="table"/>
          <p:cNvGrpSpPr/>
          <p:nvPr/>
        </p:nvGrpSpPr>
        <p:grpSpPr>
          <a:xfrm>
            <a:off x="685800" y="2381250"/>
            <a:ext cx="10296525" cy="2962275"/>
            <a:chOff x="685800" y="2381250"/>
            <a:chExt cx="10296525" cy="2962275"/>
          </a:xfrm>
        </p:grpSpPr>
        <p:sp>
          <p:nvSpPr>
            <p:cNvPr id="13" name="Rectangle 13"/>
            <p:cNvSpPr/>
            <p:nvPr/>
          </p:nvSpPr>
          <p:spPr>
            <a:xfrm>
              <a:off x="685800" y="2381250"/>
              <a:ext cx="10287000" cy="2952750"/>
            </a:xfrm>
            <a:prstGeom prst="rect">
              <a:avLst/>
            </a:prstGeom>
            <a:solidFill>
              <a:srgbClr val="FFFFFF"/>
            </a:solidFill>
            <a:ln w="9525">
              <a:solidFill>
                <a:srgbClr val="E8E8E8"/>
              </a:solidFill>
            </a:ln>
          </p:spPr>
        </p:sp>
        <p:sp>
          <p:nvSpPr>
            <p:cNvPr id="14" name="Rectangle 14"/>
            <p:cNvSpPr/>
            <p:nvPr/>
          </p:nvSpPr>
          <p:spPr>
            <a:xfrm>
              <a:off x="685800" y="2381250"/>
              <a:ext cx="10287000" cy="590550"/>
            </a:xfrm>
            <a:prstGeom prst="rect">
              <a:avLst/>
            </a:prstGeom>
            <a:solidFill>
              <a:srgbClr val="F5F5F5"/>
            </a:solidFill>
            <a:ln>
              <a:noFill/>
            </a:ln>
          </p:spPr>
        </p:sp>
        <p:sp>
          <p:nvSpPr>
            <p:cNvPr id="15" name="Freeform 15"/>
            <p:cNvSpPr/>
            <p:nvPr/>
          </p:nvSpPr>
          <p:spPr>
            <a:xfrm>
              <a:off x="685800" y="2971800"/>
              <a:ext cx="10287000" cy="9525"/>
            </a:xfrm>
            <a:custGeom>
              <a:avLst/>
              <a:gdLst/>
              <a:ahLst/>
              <a:cxnLst/>
              <a:rect l="l" t="t" r="r" b="b"/>
              <a:pathLst>
                <a:path w="10287000" h="9525">
                  <a:moveTo>
                    <a:pt x="0" y="0"/>
                  </a:moveTo>
                  <a:lnTo>
                    <a:pt x="10287000" y="0"/>
                  </a:lnTo>
                </a:path>
              </a:pathLst>
            </a:custGeom>
            <a:noFill/>
            <a:ln w="9525">
              <a:solidFill>
                <a:srgbClr val="E8E8E8"/>
              </a:solidFill>
            </a:ln>
          </p:spPr>
        </p:sp>
        <p:sp>
          <p:nvSpPr>
            <p:cNvPr id="16" name="Freeform 16"/>
            <p:cNvSpPr/>
            <p:nvPr/>
          </p:nvSpPr>
          <p:spPr>
            <a:xfrm>
              <a:off x="685800" y="2381250"/>
              <a:ext cx="9525" cy="2952750"/>
            </a:xfrm>
            <a:custGeom>
              <a:avLst/>
              <a:gdLst/>
              <a:ahLst/>
              <a:cxnLst/>
              <a:rect l="l" t="t" r="r" b="b"/>
              <a:pathLst>
                <a:path w="9525" h="2952750">
                  <a:moveTo>
                    <a:pt x="0" y="0"/>
                  </a:moveTo>
                  <a:lnTo>
                    <a:pt x="0" y="2952750"/>
                  </a:lnTo>
                </a:path>
              </a:pathLst>
            </a:custGeom>
            <a:noFill/>
            <a:ln w="9525">
              <a:solidFill>
                <a:srgbClr val="E8E8E8"/>
              </a:solidFill>
            </a:ln>
          </p:spPr>
        </p:sp>
        <p:sp>
          <p:nvSpPr>
            <p:cNvPr id="17" name="TextBox 17"/>
            <p:cNvSpPr txBox="1"/>
            <p:nvPr/>
          </p:nvSpPr>
          <p:spPr>
            <a:xfrm>
              <a:off x="792861" y="2436971"/>
              <a:ext cx="796017" cy="278702"/>
            </a:xfrm>
            <a:prstGeom prst="rect">
              <a:avLst/>
            </a:prstGeom>
            <a:noFill/>
            <a:ln>
              <a:noFill/>
            </a:ln>
          </p:spPr>
          <p:txBody>
            <a:bodyPr wrap="none" lIns="0" tIns="0" rIns="0" bIns="0" anchor="t" anchorCtr="0">
              <a:spAutoFit/>
            </a:bodyPr>
            <a:lstStyle/>
            <a:p>
              <a:pPr algn="l"/>
              <a:r>
                <a:rPr lang="vi-VN" sz="1420" b="1" dirty="0">
                  <a:solidFill>
                    <a:srgbClr val="111111"/>
                  </a:solidFill>
                  <a:latin typeface="Arial"/>
                  <a:ea typeface="Arial"/>
                  <a:cs typeface="Arial"/>
                </a:rPr>
                <a:t>Mục tiêu</a:t>
              </a:r>
            </a:p>
          </p:txBody>
        </p:sp>
        <p:sp>
          <p:nvSpPr>
            <p:cNvPr id="18" name="Freeform 18"/>
            <p:cNvSpPr/>
            <p:nvPr/>
          </p:nvSpPr>
          <p:spPr>
            <a:xfrm>
              <a:off x="3162300" y="2381250"/>
              <a:ext cx="9525" cy="2952750"/>
            </a:xfrm>
            <a:custGeom>
              <a:avLst/>
              <a:gdLst/>
              <a:ahLst/>
              <a:cxnLst/>
              <a:rect l="l" t="t" r="r" b="b"/>
              <a:pathLst>
                <a:path w="9525" h="2952750">
                  <a:moveTo>
                    <a:pt x="0" y="0"/>
                  </a:moveTo>
                  <a:lnTo>
                    <a:pt x="0" y="2952750"/>
                  </a:lnTo>
                </a:path>
              </a:pathLst>
            </a:custGeom>
            <a:noFill/>
            <a:ln w="9525">
              <a:solidFill>
                <a:srgbClr val="E8E8E8"/>
              </a:solidFill>
            </a:ln>
          </p:spPr>
        </p:sp>
        <p:sp>
          <p:nvSpPr>
            <p:cNvPr id="19" name="TextBox 19"/>
            <p:cNvSpPr txBox="1"/>
            <p:nvPr/>
          </p:nvSpPr>
          <p:spPr>
            <a:xfrm>
              <a:off x="3269361" y="2436971"/>
              <a:ext cx="1571654" cy="278702"/>
            </a:xfrm>
            <a:prstGeom prst="rect">
              <a:avLst/>
            </a:prstGeom>
            <a:noFill/>
            <a:ln>
              <a:noFill/>
            </a:ln>
          </p:spPr>
          <p:txBody>
            <a:bodyPr wrap="none" lIns="0" tIns="0" rIns="0" bIns="0" anchor="t" anchorCtr="0">
              <a:spAutoFit/>
            </a:bodyPr>
            <a:lstStyle/>
            <a:p>
              <a:pPr algn="l"/>
              <a:r>
                <a:rPr lang="vi-VN" sz="1420" b="1" dirty="0">
                  <a:solidFill>
                    <a:srgbClr val="111111"/>
                  </a:solidFill>
                  <a:latin typeface="Arial"/>
                  <a:ea typeface="Arial"/>
                  <a:cs typeface="Arial"/>
                </a:rPr>
                <a:t>Nội dung cần đạt</a:t>
              </a:r>
            </a:p>
          </p:txBody>
        </p:sp>
        <p:sp>
          <p:nvSpPr>
            <p:cNvPr id="20" name="Freeform 20"/>
            <p:cNvSpPr/>
            <p:nvPr/>
          </p:nvSpPr>
          <p:spPr>
            <a:xfrm>
              <a:off x="10972800" y="2381250"/>
              <a:ext cx="9525" cy="2952750"/>
            </a:xfrm>
            <a:custGeom>
              <a:avLst/>
              <a:gdLst/>
              <a:ahLst/>
              <a:cxnLst/>
              <a:rect l="l" t="t" r="r" b="b"/>
              <a:pathLst>
                <a:path w="9525" h="2952750">
                  <a:moveTo>
                    <a:pt x="0" y="0"/>
                  </a:moveTo>
                  <a:lnTo>
                    <a:pt x="0" y="2952750"/>
                  </a:lnTo>
                </a:path>
              </a:pathLst>
            </a:custGeom>
            <a:noFill/>
            <a:ln w="9525">
              <a:solidFill>
                <a:srgbClr val="E8E8E8"/>
              </a:solidFill>
            </a:ln>
          </p:spPr>
        </p:sp>
        <p:sp>
          <p:nvSpPr>
            <p:cNvPr id="21" name="Rectangle 21"/>
            <p:cNvSpPr/>
            <p:nvPr/>
          </p:nvSpPr>
          <p:spPr>
            <a:xfrm>
              <a:off x="685800" y="2971800"/>
              <a:ext cx="10287000" cy="590550"/>
            </a:xfrm>
            <a:prstGeom prst="rect">
              <a:avLst/>
            </a:prstGeom>
            <a:solidFill>
              <a:srgbClr val="FFFFFF"/>
            </a:solidFill>
            <a:ln>
              <a:noFill/>
            </a:ln>
          </p:spPr>
        </p:sp>
        <p:sp>
          <p:nvSpPr>
            <p:cNvPr id="22" name="Freeform 22"/>
            <p:cNvSpPr/>
            <p:nvPr/>
          </p:nvSpPr>
          <p:spPr>
            <a:xfrm>
              <a:off x="685800" y="3562350"/>
              <a:ext cx="10287000" cy="9525"/>
            </a:xfrm>
            <a:custGeom>
              <a:avLst/>
              <a:gdLst/>
              <a:ahLst/>
              <a:cxnLst/>
              <a:rect l="l" t="t" r="r" b="b"/>
              <a:pathLst>
                <a:path w="10287000" h="9525">
                  <a:moveTo>
                    <a:pt x="0" y="0"/>
                  </a:moveTo>
                  <a:lnTo>
                    <a:pt x="10287000" y="0"/>
                  </a:lnTo>
                </a:path>
              </a:pathLst>
            </a:custGeom>
            <a:noFill/>
            <a:ln w="9525">
              <a:solidFill>
                <a:srgbClr val="E8E8E8"/>
              </a:solidFill>
            </a:ln>
          </p:spPr>
        </p:sp>
        <p:sp>
          <p:nvSpPr>
            <p:cNvPr id="23" name="Freeform 23"/>
            <p:cNvSpPr/>
            <p:nvPr/>
          </p:nvSpPr>
          <p:spPr>
            <a:xfrm>
              <a:off x="685800" y="2381250"/>
              <a:ext cx="9525" cy="2952750"/>
            </a:xfrm>
            <a:custGeom>
              <a:avLst/>
              <a:gdLst/>
              <a:ahLst/>
              <a:cxnLst/>
              <a:rect l="l" t="t" r="r" b="b"/>
              <a:pathLst>
                <a:path w="9525" h="2952750">
                  <a:moveTo>
                    <a:pt x="0" y="0"/>
                  </a:moveTo>
                  <a:lnTo>
                    <a:pt x="0" y="2952750"/>
                  </a:lnTo>
                </a:path>
              </a:pathLst>
            </a:custGeom>
            <a:noFill/>
            <a:ln w="9525">
              <a:solidFill>
                <a:srgbClr val="E8E8E8"/>
              </a:solidFill>
            </a:ln>
          </p:spPr>
        </p:sp>
        <p:sp>
          <p:nvSpPr>
            <p:cNvPr id="24" name="TextBox 24"/>
            <p:cNvSpPr txBox="1"/>
            <p:nvPr/>
          </p:nvSpPr>
          <p:spPr>
            <a:xfrm>
              <a:off x="792861" y="3027521"/>
              <a:ext cx="870160" cy="278702"/>
            </a:xfrm>
            <a:prstGeom prst="rect">
              <a:avLst/>
            </a:prstGeom>
            <a:noFill/>
            <a:ln>
              <a:noFill/>
            </a:ln>
          </p:spPr>
          <p:txBody>
            <a:bodyPr wrap="none" lIns="0" tIns="0" rIns="0" bIns="0" anchor="t" anchorCtr="0">
              <a:spAutoFit/>
            </a:bodyPr>
            <a:lstStyle/>
            <a:p>
              <a:pPr algn="l"/>
              <a:r>
                <a:rPr lang="vi-VN" sz="1420" b="1" dirty="0">
                  <a:solidFill>
                    <a:srgbClr val="1A1A1A"/>
                  </a:solidFill>
                  <a:latin typeface="Arial"/>
                  <a:ea typeface="Arial"/>
                  <a:cs typeface="Arial"/>
                </a:rPr>
                <a:t>Lý thuyết</a:t>
              </a:r>
            </a:p>
          </p:txBody>
        </p:sp>
        <p:sp>
          <p:nvSpPr>
            <p:cNvPr id="25" name="Freeform 25"/>
            <p:cNvSpPr/>
            <p:nvPr/>
          </p:nvSpPr>
          <p:spPr>
            <a:xfrm>
              <a:off x="3162300" y="2381250"/>
              <a:ext cx="9525" cy="2952750"/>
            </a:xfrm>
            <a:custGeom>
              <a:avLst/>
              <a:gdLst/>
              <a:ahLst/>
              <a:cxnLst/>
              <a:rect l="l" t="t" r="r" b="b"/>
              <a:pathLst>
                <a:path w="9525" h="2952750">
                  <a:moveTo>
                    <a:pt x="0" y="0"/>
                  </a:moveTo>
                  <a:lnTo>
                    <a:pt x="0" y="2952750"/>
                  </a:lnTo>
                </a:path>
              </a:pathLst>
            </a:custGeom>
            <a:noFill/>
            <a:ln w="9525">
              <a:solidFill>
                <a:srgbClr val="E8E8E8"/>
              </a:solidFill>
            </a:ln>
          </p:spPr>
        </p:sp>
        <p:sp>
          <p:nvSpPr>
            <p:cNvPr id="26" name="TextBox 26"/>
            <p:cNvSpPr txBox="1"/>
            <p:nvPr/>
          </p:nvSpPr>
          <p:spPr>
            <a:xfrm>
              <a:off x="3269361" y="3027521"/>
              <a:ext cx="6048867" cy="278702"/>
            </a:xfrm>
            <a:prstGeom prst="rect">
              <a:avLst/>
            </a:prstGeom>
            <a:noFill/>
            <a:ln>
              <a:noFill/>
            </a:ln>
          </p:spPr>
          <p:txBody>
            <a:bodyPr wrap="none" lIns="0" tIns="0" rIns="0" bIns="0" anchor="t" anchorCtr="0">
              <a:spAutoFit/>
            </a:bodyPr>
            <a:lstStyle/>
            <a:p>
              <a:pPr algn="l"/>
              <a:r>
                <a:rPr lang="vi-VN" sz="1420" dirty="0">
                  <a:solidFill>
                    <a:srgbClr val="1A1A1A"/>
                  </a:solidFill>
                  <a:latin typeface="Arial"/>
                  <a:ea typeface="Arial"/>
                  <a:cs typeface="Arial"/>
                </a:rPr>
                <a:t>Áp dụng Agile/Scrum để tổ chức, phân công và kiểm soát tiến độ nhóm</a:t>
              </a:r>
            </a:p>
          </p:txBody>
        </p:sp>
        <p:sp>
          <p:nvSpPr>
            <p:cNvPr id="27" name="Freeform 27"/>
            <p:cNvSpPr/>
            <p:nvPr/>
          </p:nvSpPr>
          <p:spPr>
            <a:xfrm>
              <a:off x="10972800" y="2381250"/>
              <a:ext cx="9525" cy="2952750"/>
            </a:xfrm>
            <a:custGeom>
              <a:avLst/>
              <a:gdLst/>
              <a:ahLst/>
              <a:cxnLst/>
              <a:rect l="l" t="t" r="r" b="b"/>
              <a:pathLst>
                <a:path w="9525" h="2952750">
                  <a:moveTo>
                    <a:pt x="0" y="0"/>
                  </a:moveTo>
                  <a:lnTo>
                    <a:pt x="0" y="2952750"/>
                  </a:lnTo>
                </a:path>
              </a:pathLst>
            </a:custGeom>
            <a:noFill/>
            <a:ln w="9525">
              <a:solidFill>
                <a:srgbClr val="E8E8E8"/>
              </a:solidFill>
            </a:ln>
          </p:spPr>
        </p:sp>
        <p:sp>
          <p:nvSpPr>
            <p:cNvPr id="28" name="Rectangle 28"/>
            <p:cNvSpPr/>
            <p:nvPr/>
          </p:nvSpPr>
          <p:spPr>
            <a:xfrm>
              <a:off x="685800" y="3562350"/>
              <a:ext cx="10287000" cy="590550"/>
            </a:xfrm>
            <a:prstGeom prst="rect">
              <a:avLst/>
            </a:prstGeom>
            <a:solidFill>
              <a:srgbClr val="FFFFFF"/>
            </a:solidFill>
            <a:ln>
              <a:noFill/>
            </a:ln>
          </p:spPr>
        </p:sp>
        <p:sp>
          <p:nvSpPr>
            <p:cNvPr id="29" name="Freeform 29"/>
            <p:cNvSpPr/>
            <p:nvPr/>
          </p:nvSpPr>
          <p:spPr>
            <a:xfrm>
              <a:off x="685800" y="4152900"/>
              <a:ext cx="10287000" cy="9525"/>
            </a:xfrm>
            <a:custGeom>
              <a:avLst/>
              <a:gdLst/>
              <a:ahLst/>
              <a:cxnLst/>
              <a:rect l="l" t="t" r="r" b="b"/>
              <a:pathLst>
                <a:path w="10287000" h="9525">
                  <a:moveTo>
                    <a:pt x="0" y="0"/>
                  </a:moveTo>
                  <a:lnTo>
                    <a:pt x="10287000" y="0"/>
                  </a:lnTo>
                </a:path>
              </a:pathLst>
            </a:custGeom>
            <a:noFill/>
            <a:ln w="9525">
              <a:solidFill>
                <a:srgbClr val="E8E8E8"/>
              </a:solidFill>
            </a:ln>
          </p:spPr>
        </p:sp>
        <p:sp>
          <p:nvSpPr>
            <p:cNvPr id="30" name="Freeform 30"/>
            <p:cNvSpPr/>
            <p:nvPr/>
          </p:nvSpPr>
          <p:spPr>
            <a:xfrm>
              <a:off x="685800" y="2381250"/>
              <a:ext cx="9525" cy="2952750"/>
            </a:xfrm>
            <a:custGeom>
              <a:avLst/>
              <a:gdLst/>
              <a:ahLst/>
              <a:cxnLst/>
              <a:rect l="l" t="t" r="r" b="b"/>
              <a:pathLst>
                <a:path w="9525" h="2952750">
                  <a:moveTo>
                    <a:pt x="0" y="0"/>
                  </a:moveTo>
                  <a:lnTo>
                    <a:pt x="0" y="2952750"/>
                  </a:lnTo>
                </a:path>
              </a:pathLst>
            </a:custGeom>
            <a:noFill/>
            <a:ln w="9525">
              <a:solidFill>
                <a:srgbClr val="E8E8E8"/>
              </a:solidFill>
            </a:ln>
          </p:spPr>
        </p:sp>
        <p:sp>
          <p:nvSpPr>
            <p:cNvPr id="31" name="TextBox 31"/>
            <p:cNvSpPr txBox="1"/>
            <p:nvPr/>
          </p:nvSpPr>
          <p:spPr>
            <a:xfrm>
              <a:off x="792861" y="3618071"/>
              <a:ext cx="870044" cy="278702"/>
            </a:xfrm>
            <a:prstGeom prst="rect">
              <a:avLst/>
            </a:prstGeom>
            <a:noFill/>
            <a:ln>
              <a:noFill/>
            </a:ln>
          </p:spPr>
          <p:txBody>
            <a:bodyPr wrap="none" lIns="0" tIns="0" rIns="0" bIns="0" anchor="t" anchorCtr="0">
              <a:spAutoFit/>
            </a:bodyPr>
            <a:lstStyle/>
            <a:p>
              <a:pPr algn="l"/>
              <a:r>
                <a:rPr lang="vi-VN" sz="1420" b="1" dirty="0">
                  <a:solidFill>
                    <a:srgbClr val="1A1A1A"/>
                  </a:solidFill>
                  <a:latin typeface="Arial"/>
                  <a:ea typeface="Arial"/>
                  <a:cs typeface="Arial"/>
                </a:rPr>
                <a:t>Thực tiễn</a:t>
              </a:r>
            </a:p>
          </p:txBody>
        </p:sp>
        <p:sp>
          <p:nvSpPr>
            <p:cNvPr id="32" name="Freeform 32"/>
            <p:cNvSpPr/>
            <p:nvPr/>
          </p:nvSpPr>
          <p:spPr>
            <a:xfrm>
              <a:off x="3162300" y="2381250"/>
              <a:ext cx="9525" cy="2952750"/>
            </a:xfrm>
            <a:custGeom>
              <a:avLst/>
              <a:gdLst/>
              <a:ahLst/>
              <a:cxnLst/>
              <a:rect l="l" t="t" r="r" b="b"/>
              <a:pathLst>
                <a:path w="9525" h="2952750">
                  <a:moveTo>
                    <a:pt x="0" y="0"/>
                  </a:moveTo>
                  <a:lnTo>
                    <a:pt x="0" y="2952750"/>
                  </a:lnTo>
                </a:path>
              </a:pathLst>
            </a:custGeom>
            <a:noFill/>
            <a:ln w="9525">
              <a:solidFill>
                <a:srgbClr val="E8E8E8"/>
              </a:solidFill>
            </a:ln>
          </p:spPr>
        </p:sp>
        <p:sp>
          <p:nvSpPr>
            <p:cNvPr id="33" name="TextBox 33"/>
            <p:cNvSpPr txBox="1"/>
            <p:nvPr/>
          </p:nvSpPr>
          <p:spPr>
            <a:xfrm>
              <a:off x="3269361" y="3618071"/>
              <a:ext cx="6588984" cy="278702"/>
            </a:xfrm>
            <a:prstGeom prst="rect">
              <a:avLst/>
            </a:prstGeom>
            <a:noFill/>
            <a:ln>
              <a:noFill/>
            </a:ln>
          </p:spPr>
          <p:txBody>
            <a:bodyPr wrap="none" lIns="0" tIns="0" rIns="0" bIns="0" anchor="t" anchorCtr="0">
              <a:spAutoFit/>
            </a:bodyPr>
            <a:lstStyle/>
            <a:p>
              <a:pPr algn="l"/>
              <a:r>
                <a:rPr lang="vi-VN" sz="1420" dirty="0">
                  <a:solidFill>
                    <a:srgbClr val="1A1A1A"/>
                  </a:solidFill>
                  <a:latin typeface="Arial"/>
                  <a:ea typeface="Arial"/>
                  <a:cs typeface="Arial"/>
                </a:rPr>
                <a:t>Phân tích, thiết kế và phát triển hệ thống quản lý bán hàng cho cửa hàng điện</a:t>
              </a:r>
            </a:p>
          </p:txBody>
        </p:sp>
        <p:sp>
          <p:nvSpPr>
            <p:cNvPr id="34" name="TextBox 34"/>
            <p:cNvSpPr txBox="1"/>
            <p:nvPr/>
          </p:nvSpPr>
          <p:spPr>
            <a:xfrm>
              <a:off x="3269361" y="3835241"/>
              <a:ext cx="173906" cy="278702"/>
            </a:xfrm>
            <a:prstGeom prst="rect">
              <a:avLst/>
            </a:prstGeom>
            <a:noFill/>
            <a:ln>
              <a:noFill/>
            </a:ln>
          </p:spPr>
          <p:txBody>
            <a:bodyPr wrap="none" lIns="0" tIns="0" rIns="0" bIns="0" anchor="t" anchorCtr="0">
              <a:spAutoFit/>
            </a:bodyPr>
            <a:lstStyle/>
            <a:p>
              <a:pPr algn="l"/>
              <a:r>
                <a:rPr lang="vi-VN" sz="1420" dirty="0">
                  <a:solidFill>
                    <a:srgbClr val="1A1A1A"/>
                  </a:solidFill>
                  <a:latin typeface="Arial"/>
                  <a:ea typeface="Arial"/>
                  <a:cs typeface="Arial"/>
                </a:rPr>
                <a:t>tử</a:t>
              </a:r>
            </a:p>
          </p:txBody>
        </p:sp>
        <p:sp>
          <p:nvSpPr>
            <p:cNvPr id="35" name="Freeform 35"/>
            <p:cNvSpPr/>
            <p:nvPr/>
          </p:nvSpPr>
          <p:spPr>
            <a:xfrm>
              <a:off x="10972800" y="2381250"/>
              <a:ext cx="9525" cy="2952750"/>
            </a:xfrm>
            <a:custGeom>
              <a:avLst/>
              <a:gdLst/>
              <a:ahLst/>
              <a:cxnLst/>
              <a:rect l="l" t="t" r="r" b="b"/>
              <a:pathLst>
                <a:path w="9525" h="2952750">
                  <a:moveTo>
                    <a:pt x="0" y="0"/>
                  </a:moveTo>
                  <a:lnTo>
                    <a:pt x="0" y="2952750"/>
                  </a:lnTo>
                </a:path>
              </a:pathLst>
            </a:custGeom>
            <a:noFill/>
            <a:ln w="9525">
              <a:solidFill>
                <a:srgbClr val="E8E8E8"/>
              </a:solidFill>
            </a:ln>
          </p:spPr>
        </p:sp>
        <p:sp>
          <p:nvSpPr>
            <p:cNvPr id="36" name="Rectangle 36"/>
            <p:cNvSpPr/>
            <p:nvPr/>
          </p:nvSpPr>
          <p:spPr>
            <a:xfrm>
              <a:off x="685800" y="4152900"/>
              <a:ext cx="10287000" cy="590550"/>
            </a:xfrm>
            <a:prstGeom prst="rect">
              <a:avLst/>
            </a:prstGeom>
            <a:solidFill>
              <a:srgbClr val="FFFFFF"/>
            </a:solidFill>
            <a:ln>
              <a:noFill/>
            </a:ln>
          </p:spPr>
        </p:sp>
        <p:sp>
          <p:nvSpPr>
            <p:cNvPr id="37" name="Freeform 37"/>
            <p:cNvSpPr/>
            <p:nvPr/>
          </p:nvSpPr>
          <p:spPr>
            <a:xfrm>
              <a:off x="685800" y="4743450"/>
              <a:ext cx="10287000" cy="9525"/>
            </a:xfrm>
            <a:custGeom>
              <a:avLst/>
              <a:gdLst/>
              <a:ahLst/>
              <a:cxnLst/>
              <a:rect l="l" t="t" r="r" b="b"/>
              <a:pathLst>
                <a:path w="10287000" h="9525">
                  <a:moveTo>
                    <a:pt x="0" y="0"/>
                  </a:moveTo>
                  <a:lnTo>
                    <a:pt x="10287000" y="0"/>
                  </a:lnTo>
                </a:path>
              </a:pathLst>
            </a:custGeom>
            <a:noFill/>
            <a:ln w="9525">
              <a:solidFill>
                <a:srgbClr val="E8E8E8"/>
              </a:solidFill>
            </a:ln>
          </p:spPr>
        </p:sp>
        <p:sp>
          <p:nvSpPr>
            <p:cNvPr id="38" name="Freeform 38"/>
            <p:cNvSpPr/>
            <p:nvPr/>
          </p:nvSpPr>
          <p:spPr>
            <a:xfrm>
              <a:off x="685800" y="2381250"/>
              <a:ext cx="9525" cy="2952750"/>
            </a:xfrm>
            <a:custGeom>
              <a:avLst/>
              <a:gdLst/>
              <a:ahLst/>
              <a:cxnLst/>
              <a:rect l="l" t="t" r="r" b="b"/>
              <a:pathLst>
                <a:path w="9525" h="2952750">
                  <a:moveTo>
                    <a:pt x="0" y="0"/>
                  </a:moveTo>
                  <a:lnTo>
                    <a:pt x="0" y="2952750"/>
                  </a:lnTo>
                </a:path>
              </a:pathLst>
            </a:custGeom>
            <a:noFill/>
            <a:ln w="9525">
              <a:solidFill>
                <a:srgbClr val="E8E8E8"/>
              </a:solidFill>
            </a:ln>
          </p:spPr>
        </p:sp>
        <p:sp>
          <p:nvSpPr>
            <p:cNvPr id="39" name="TextBox 39"/>
            <p:cNvSpPr txBox="1"/>
            <p:nvPr/>
          </p:nvSpPr>
          <p:spPr>
            <a:xfrm>
              <a:off x="792861" y="4208621"/>
              <a:ext cx="935382" cy="278702"/>
            </a:xfrm>
            <a:prstGeom prst="rect">
              <a:avLst/>
            </a:prstGeom>
            <a:noFill/>
            <a:ln>
              <a:noFill/>
            </a:ln>
          </p:spPr>
          <p:txBody>
            <a:bodyPr wrap="none" lIns="0" tIns="0" rIns="0" bIns="0" anchor="t" anchorCtr="0">
              <a:spAutoFit/>
            </a:bodyPr>
            <a:lstStyle/>
            <a:p>
              <a:pPr algn="l"/>
              <a:r>
                <a:rPr lang="vi-VN" sz="1420" b="1" dirty="0">
                  <a:solidFill>
                    <a:srgbClr val="1A1A1A"/>
                  </a:solidFill>
                  <a:latin typeface="Arial"/>
                  <a:ea typeface="Arial"/>
                  <a:cs typeface="Arial"/>
                </a:rPr>
                <a:t>Sản phẩm</a:t>
              </a:r>
            </a:p>
          </p:txBody>
        </p:sp>
        <p:sp>
          <p:nvSpPr>
            <p:cNvPr id="40" name="Freeform 40"/>
            <p:cNvSpPr/>
            <p:nvPr/>
          </p:nvSpPr>
          <p:spPr>
            <a:xfrm>
              <a:off x="3162300" y="2381250"/>
              <a:ext cx="9525" cy="2952750"/>
            </a:xfrm>
            <a:custGeom>
              <a:avLst/>
              <a:gdLst/>
              <a:ahLst/>
              <a:cxnLst/>
              <a:rect l="l" t="t" r="r" b="b"/>
              <a:pathLst>
                <a:path w="9525" h="2952750">
                  <a:moveTo>
                    <a:pt x="0" y="0"/>
                  </a:moveTo>
                  <a:lnTo>
                    <a:pt x="0" y="2952750"/>
                  </a:lnTo>
                </a:path>
              </a:pathLst>
            </a:custGeom>
            <a:noFill/>
            <a:ln w="9525">
              <a:solidFill>
                <a:srgbClr val="E8E8E8"/>
              </a:solidFill>
            </a:ln>
          </p:spPr>
        </p:sp>
        <p:sp>
          <p:nvSpPr>
            <p:cNvPr id="41" name="TextBox 41"/>
            <p:cNvSpPr txBox="1"/>
            <p:nvPr/>
          </p:nvSpPr>
          <p:spPr>
            <a:xfrm>
              <a:off x="3269361" y="4208621"/>
              <a:ext cx="6461004" cy="278702"/>
            </a:xfrm>
            <a:prstGeom prst="rect">
              <a:avLst/>
            </a:prstGeom>
            <a:noFill/>
            <a:ln>
              <a:noFill/>
            </a:ln>
          </p:spPr>
          <p:txBody>
            <a:bodyPr wrap="none" lIns="0" tIns="0" rIns="0" bIns="0" anchor="t" anchorCtr="0">
              <a:spAutoFit/>
            </a:bodyPr>
            <a:lstStyle/>
            <a:p>
              <a:pPr algn="l"/>
              <a:r>
                <a:rPr lang="vi-VN" sz="1420" dirty="0">
                  <a:solidFill>
                    <a:srgbClr val="1A1A1A"/>
                  </a:solidFill>
                  <a:latin typeface="Arial"/>
                  <a:ea typeface="Arial"/>
                  <a:cs typeface="Arial"/>
                </a:rPr>
                <a:t>Hoàn thiện tài liệu quản lý dự án, tài liệu thiết kế và phần mềm hoạt động ổn</a:t>
              </a:r>
            </a:p>
          </p:txBody>
        </p:sp>
        <p:sp>
          <p:nvSpPr>
            <p:cNvPr id="42" name="TextBox 42"/>
            <p:cNvSpPr txBox="1"/>
            <p:nvPr/>
          </p:nvSpPr>
          <p:spPr>
            <a:xfrm>
              <a:off x="3269361" y="4425791"/>
              <a:ext cx="375924" cy="278702"/>
            </a:xfrm>
            <a:prstGeom prst="rect">
              <a:avLst/>
            </a:prstGeom>
            <a:noFill/>
            <a:ln>
              <a:noFill/>
            </a:ln>
          </p:spPr>
          <p:txBody>
            <a:bodyPr wrap="none" lIns="0" tIns="0" rIns="0" bIns="0" anchor="t" anchorCtr="0">
              <a:spAutoFit/>
            </a:bodyPr>
            <a:lstStyle/>
            <a:p>
              <a:pPr algn="l"/>
              <a:r>
                <a:rPr lang="vi-VN" sz="1420" dirty="0">
                  <a:solidFill>
                    <a:srgbClr val="1A1A1A"/>
                  </a:solidFill>
                  <a:latin typeface="Arial"/>
                  <a:ea typeface="Arial"/>
                  <a:cs typeface="Arial"/>
                </a:rPr>
                <a:t>định</a:t>
              </a:r>
            </a:p>
          </p:txBody>
        </p:sp>
        <p:sp>
          <p:nvSpPr>
            <p:cNvPr id="43" name="Freeform 43"/>
            <p:cNvSpPr/>
            <p:nvPr/>
          </p:nvSpPr>
          <p:spPr>
            <a:xfrm>
              <a:off x="10972800" y="2381250"/>
              <a:ext cx="9525" cy="2952750"/>
            </a:xfrm>
            <a:custGeom>
              <a:avLst/>
              <a:gdLst/>
              <a:ahLst/>
              <a:cxnLst/>
              <a:rect l="l" t="t" r="r" b="b"/>
              <a:pathLst>
                <a:path w="9525" h="2952750">
                  <a:moveTo>
                    <a:pt x="0" y="0"/>
                  </a:moveTo>
                  <a:lnTo>
                    <a:pt x="0" y="2952750"/>
                  </a:lnTo>
                </a:path>
              </a:pathLst>
            </a:custGeom>
            <a:noFill/>
            <a:ln w="9525">
              <a:solidFill>
                <a:srgbClr val="E8E8E8"/>
              </a:solidFill>
            </a:ln>
          </p:spPr>
        </p:sp>
        <p:sp>
          <p:nvSpPr>
            <p:cNvPr id="44" name="Rectangle 44"/>
            <p:cNvSpPr/>
            <p:nvPr/>
          </p:nvSpPr>
          <p:spPr>
            <a:xfrm>
              <a:off x="685800" y="4743450"/>
              <a:ext cx="10287000" cy="590550"/>
            </a:xfrm>
            <a:prstGeom prst="rect">
              <a:avLst/>
            </a:prstGeom>
            <a:solidFill>
              <a:srgbClr val="FFFFFF"/>
            </a:solidFill>
            <a:ln>
              <a:noFill/>
            </a:ln>
          </p:spPr>
        </p:sp>
        <p:sp>
          <p:nvSpPr>
            <p:cNvPr id="45" name="Freeform 45"/>
            <p:cNvSpPr/>
            <p:nvPr/>
          </p:nvSpPr>
          <p:spPr>
            <a:xfrm>
              <a:off x="685800" y="5334000"/>
              <a:ext cx="10287000" cy="9525"/>
            </a:xfrm>
            <a:custGeom>
              <a:avLst/>
              <a:gdLst/>
              <a:ahLst/>
              <a:cxnLst/>
              <a:rect l="l" t="t" r="r" b="b"/>
              <a:pathLst>
                <a:path w="10287000" h="9525">
                  <a:moveTo>
                    <a:pt x="0" y="0"/>
                  </a:moveTo>
                  <a:lnTo>
                    <a:pt x="10287000" y="0"/>
                  </a:lnTo>
                </a:path>
              </a:pathLst>
            </a:custGeom>
            <a:noFill/>
            <a:ln w="9525">
              <a:solidFill>
                <a:srgbClr val="E8E8E8"/>
              </a:solidFill>
            </a:ln>
          </p:spPr>
        </p:sp>
        <p:sp>
          <p:nvSpPr>
            <p:cNvPr id="46" name="Freeform 46"/>
            <p:cNvSpPr/>
            <p:nvPr/>
          </p:nvSpPr>
          <p:spPr>
            <a:xfrm>
              <a:off x="685800" y="2381250"/>
              <a:ext cx="9525" cy="2952750"/>
            </a:xfrm>
            <a:custGeom>
              <a:avLst/>
              <a:gdLst/>
              <a:ahLst/>
              <a:cxnLst/>
              <a:rect l="l" t="t" r="r" b="b"/>
              <a:pathLst>
                <a:path w="9525" h="2952750">
                  <a:moveTo>
                    <a:pt x="0" y="0"/>
                  </a:moveTo>
                  <a:lnTo>
                    <a:pt x="0" y="2952750"/>
                  </a:lnTo>
                </a:path>
              </a:pathLst>
            </a:custGeom>
            <a:noFill/>
            <a:ln w="9525">
              <a:solidFill>
                <a:srgbClr val="E8E8E8"/>
              </a:solidFill>
            </a:ln>
          </p:spPr>
        </p:sp>
        <p:sp>
          <p:nvSpPr>
            <p:cNvPr id="47" name="TextBox 47"/>
            <p:cNvSpPr txBox="1"/>
            <p:nvPr/>
          </p:nvSpPr>
          <p:spPr>
            <a:xfrm>
              <a:off x="792861" y="4799171"/>
              <a:ext cx="711309" cy="278702"/>
            </a:xfrm>
            <a:prstGeom prst="rect">
              <a:avLst/>
            </a:prstGeom>
            <a:noFill/>
            <a:ln>
              <a:noFill/>
            </a:ln>
          </p:spPr>
          <p:txBody>
            <a:bodyPr wrap="none" lIns="0" tIns="0" rIns="0" bIns="0" anchor="t" anchorCtr="0">
              <a:spAutoFit/>
            </a:bodyPr>
            <a:lstStyle/>
            <a:p>
              <a:pPr algn="l"/>
              <a:r>
                <a:rPr lang="vi-VN" sz="1420" b="1" dirty="0">
                  <a:solidFill>
                    <a:srgbClr val="1A1A1A"/>
                  </a:solidFill>
                  <a:latin typeface="Arial"/>
                  <a:ea typeface="Arial"/>
                  <a:cs typeface="Arial"/>
                </a:rPr>
                <a:t>Ý nghĩa</a:t>
              </a:r>
            </a:p>
          </p:txBody>
        </p:sp>
        <p:sp>
          <p:nvSpPr>
            <p:cNvPr id="48" name="Freeform 48"/>
            <p:cNvSpPr/>
            <p:nvPr/>
          </p:nvSpPr>
          <p:spPr>
            <a:xfrm>
              <a:off x="3162300" y="2381250"/>
              <a:ext cx="9525" cy="2952750"/>
            </a:xfrm>
            <a:custGeom>
              <a:avLst/>
              <a:gdLst/>
              <a:ahLst/>
              <a:cxnLst/>
              <a:rect l="l" t="t" r="r" b="b"/>
              <a:pathLst>
                <a:path w="9525" h="2952750">
                  <a:moveTo>
                    <a:pt x="0" y="0"/>
                  </a:moveTo>
                  <a:lnTo>
                    <a:pt x="0" y="2952750"/>
                  </a:lnTo>
                </a:path>
              </a:pathLst>
            </a:custGeom>
            <a:noFill/>
            <a:ln w="9525">
              <a:solidFill>
                <a:srgbClr val="E8E8E8"/>
              </a:solidFill>
            </a:ln>
          </p:spPr>
        </p:sp>
        <p:sp>
          <p:nvSpPr>
            <p:cNvPr id="49" name="TextBox 49"/>
            <p:cNvSpPr txBox="1"/>
            <p:nvPr/>
          </p:nvSpPr>
          <p:spPr>
            <a:xfrm>
              <a:off x="3269361" y="4799171"/>
              <a:ext cx="6088463" cy="278702"/>
            </a:xfrm>
            <a:prstGeom prst="rect">
              <a:avLst/>
            </a:prstGeom>
            <a:noFill/>
            <a:ln>
              <a:noFill/>
            </a:ln>
          </p:spPr>
          <p:txBody>
            <a:bodyPr wrap="none" lIns="0" tIns="0" rIns="0" bIns="0" anchor="t" anchorCtr="0">
              <a:spAutoFit/>
            </a:bodyPr>
            <a:lstStyle/>
            <a:p>
              <a:pPr algn="l"/>
              <a:r>
                <a:rPr lang="vi-VN" sz="1420" dirty="0">
                  <a:solidFill>
                    <a:srgbClr val="1A1A1A"/>
                  </a:solidFill>
                  <a:latin typeface="Arial"/>
                  <a:ea typeface="Arial"/>
                  <a:cs typeface="Arial"/>
                </a:rPr>
                <a:t>Số hóa quy trình, giảm sai sót tồn kho, cải thiện trải nghiệm khách hàng</a:t>
              </a:r>
            </a:p>
          </p:txBody>
        </p:sp>
        <p:sp>
          <p:nvSpPr>
            <p:cNvPr id="50" name="Freeform 50"/>
            <p:cNvSpPr/>
            <p:nvPr/>
          </p:nvSpPr>
          <p:spPr>
            <a:xfrm>
              <a:off x="10972800" y="2381250"/>
              <a:ext cx="9525" cy="2952750"/>
            </a:xfrm>
            <a:custGeom>
              <a:avLst/>
              <a:gdLst/>
              <a:ahLst/>
              <a:cxnLst/>
              <a:rect l="l" t="t" r="r" b="b"/>
              <a:pathLst>
                <a:path w="9525" h="2952750">
                  <a:moveTo>
                    <a:pt x="0" y="0"/>
                  </a:moveTo>
                  <a:lnTo>
                    <a:pt x="0" y="2952750"/>
                  </a:lnTo>
                </a:path>
              </a:pathLst>
            </a:custGeom>
            <a:noFill/>
            <a:ln w="9525">
              <a:solidFill>
                <a:srgbClr val="E8E8E8"/>
              </a:solidFill>
            </a:ln>
          </p:spPr>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2" name="bg-fill"/>
          <p:cNvSpPr/>
          <p:nvPr/>
        </p:nvSpPr>
        <p:spPr>
          <a:xfrm>
            <a:off x="-9525" y="-9525"/>
            <a:ext cx="12211050" cy="6877050"/>
          </a:xfrm>
          <a:prstGeom prst="rect">
            <a:avLst/>
          </a:prstGeom>
          <a:solidFill>
            <a:srgbClr val="FFFFFF"/>
          </a:solidFill>
          <a:ln>
            <a:noFill/>
          </a:ln>
        </p:spPr>
      </p:sp>
      <p:grpSp>
        <p:nvGrpSpPr>
          <p:cNvPr id="5" name="top-rule"/>
          <p:cNvGrpSpPr/>
          <p:nvPr/>
        </p:nvGrpSpPr>
        <p:grpSpPr>
          <a:xfrm>
            <a:off x="685800" y="723900"/>
            <a:ext cx="10820400" cy="38100"/>
            <a:chOff x="685800" y="723900"/>
            <a:chExt cx="10820400" cy="38100"/>
          </a:xfrm>
        </p:grpSpPr>
        <p:sp>
          <p:nvSpPr>
            <p:cNvPr id="3" name="Rectangle 3"/>
            <p:cNvSpPr/>
            <p:nvPr/>
          </p:nvSpPr>
          <p:spPr>
            <a:xfrm>
              <a:off x="685800" y="723900"/>
              <a:ext cx="10820400" cy="38100"/>
            </a:xfrm>
            <a:prstGeom prst="rect">
              <a:avLst/>
            </a:prstGeom>
            <a:solidFill>
              <a:srgbClr val="E8E8E8"/>
            </a:solidFill>
            <a:ln>
              <a:noFill/>
            </a:ln>
          </p:spPr>
        </p:sp>
        <p:sp>
          <p:nvSpPr>
            <p:cNvPr id="4" name="Rectangle 4"/>
            <p:cNvSpPr/>
            <p:nvPr/>
          </p:nvSpPr>
          <p:spPr>
            <a:xfrm>
              <a:off x="685800" y="723900"/>
              <a:ext cx="4328160" cy="38100"/>
            </a:xfrm>
            <a:prstGeom prst="rect">
              <a:avLst/>
            </a:prstGeom>
            <a:solidFill>
              <a:srgbClr val="C8102E"/>
            </a:solidFill>
            <a:ln>
              <a:noFill/>
            </a:ln>
          </p:spPr>
        </p:sp>
      </p:grpSp>
      <p:grpSp>
        <p:nvGrpSpPr>
          <p:cNvPr id="8" name="title"/>
          <p:cNvGrpSpPr/>
          <p:nvPr/>
        </p:nvGrpSpPr>
        <p:grpSpPr>
          <a:xfrm>
            <a:off x="652272" y="977265"/>
            <a:ext cx="6518392" cy="1193482"/>
            <a:chOff x="652272" y="977265"/>
            <a:chExt cx="6518392" cy="1193482"/>
          </a:xfrm>
        </p:grpSpPr>
        <p:sp>
          <p:nvSpPr>
            <p:cNvPr id="6" name="TextBox 6"/>
            <p:cNvSpPr txBox="1"/>
            <p:nvPr/>
          </p:nvSpPr>
          <p:spPr>
            <a:xfrm>
              <a:off x="652272" y="977265"/>
              <a:ext cx="6518392" cy="645414"/>
            </a:xfrm>
            <a:prstGeom prst="rect">
              <a:avLst/>
            </a:prstGeom>
            <a:noFill/>
            <a:ln>
              <a:noFill/>
            </a:ln>
          </p:spPr>
          <p:txBody>
            <a:bodyPr wrap="none" lIns="0" tIns="0" rIns="0" bIns="0" anchor="t" anchorCtr="0">
              <a:spAutoFit/>
            </a:bodyPr>
            <a:lstStyle/>
            <a:p>
              <a:pPr algn="l"/>
              <a:r>
                <a:rPr lang="vi-VN" sz="3300" b="1" dirty="0">
                  <a:solidFill>
                    <a:srgbClr val="111111"/>
                  </a:solidFill>
                  <a:latin typeface="Arial"/>
                  <a:ea typeface="Arial"/>
                  <a:cs typeface="Arial"/>
                </a:rPr>
                <a:t>Phạm vi và sản phẩm bàn giao</a:t>
              </a:r>
            </a:p>
          </p:txBody>
        </p:sp>
        <p:sp>
          <p:nvSpPr>
            <p:cNvPr id="7" name="TextBox 7"/>
            <p:cNvSpPr txBox="1"/>
            <p:nvPr/>
          </p:nvSpPr>
          <p:spPr>
            <a:xfrm>
              <a:off x="677418" y="1848040"/>
              <a:ext cx="6309902" cy="322707"/>
            </a:xfrm>
            <a:prstGeom prst="rect">
              <a:avLst/>
            </a:prstGeom>
            <a:noFill/>
            <a:ln>
              <a:noFill/>
            </a:ln>
          </p:spPr>
          <p:txBody>
            <a:bodyPr wrap="none" lIns="0" tIns="0" rIns="0" bIns="0" anchor="t" anchorCtr="0">
              <a:spAutoFit/>
            </a:bodyPr>
            <a:lstStyle/>
            <a:p>
              <a:pPr algn="l"/>
              <a:r>
                <a:rPr lang="vi-VN" sz="1650" dirty="0">
                  <a:solidFill>
                    <a:srgbClr val="6E6E6E"/>
                  </a:solidFill>
                  <a:latin typeface="Arial"/>
                  <a:ea typeface="Arial"/>
                  <a:cs typeface="Arial"/>
                </a:rPr>
                <a:t>Phạm vi được chốt để tránh trôi tiến độ trong hợp đồng 06 tháng</a:t>
              </a:r>
            </a:p>
          </p:txBody>
        </p:sp>
      </p:grpSp>
      <p:grpSp>
        <p:nvGrpSpPr>
          <p:cNvPr id="12" name="footer"/>
          <p:cNvGrpSpPr/>
          <p:nvPr/>
        </p:nvGrpSpPr>
        <p:grpSpPr>
          <a:xfrm>
            <a:off x="680085" y="6286500"/>
            <a:ext cx="10831830" cy="327184"/>
            <a:chOff x="680085" y="6286500"/>
            <a:chExt cx="10831830" cy="327184"/>
          </a:xfrm>
        </p:grpSpPr>
        <p:sp>
          <p:nvSpPr>
            <p:cNvPr id="9" name="Freeform 9"/>
            <p:cNvSpPr/>
            <p:nvPr/>
          </p:nvSpPr>
          <p:spPr>
            <a:xfrm>
              <a:off x="685800" y="6286500"/>
              <a:ext cx="10820400" cy="9525"/>
            </a:xfrm>
            <a:custGeom>
              <a:avLst/>
              <a:gdLst/>
              <a:ahLst/>
              <a:cxnLst/>
              <a:rect l="l" t="t" r="r" b="b"/>
              <a:pathLst>
                <a:path w="10820400" h="9525">
                  <a:moveTo>
                    <a:pt x="0" y="0"/>
                  </a:moveTo>
                  <a:lnTo>
                    <a:pt x="10820400" y="0"/>
                  </a:lnTo>
                </a:path>
              </a:pathLst>
            </a:custGeom>
            <a:noFill/>
            <a:ln w="9525">
              <a:solidFill>
                <a:srgbClr val="E8E8E8"/>
              </a:solidFill>
            </a:ln>
          </p:spPr>
        </p:sp>
        <p:sp>
          <p:nvSpPr>
            <p:cNvPr id="10" name="TextBox 10"/>
            <p:cNvSpPr txBox="1"/>
            <p:nvPr/>
          </p:nvSpPr>
          <p:spPr>
            <a:xfrm>
              <a:off x="680085" y="6393656"/>
              <a:ext cx="2914269" cy="220028"/>
            </a:xfrm>
            <a:prstGeom prst="rect">
              <a:avLst/>
            </a:prstGeom>
            <a:noFill/>
            <a:ln>
              <a:noFill/>
            </a:ln>
          </p:spPr>
          <p:txBody>
            <a:bodyPr wrap="none" lIns="0" tIns="0" rIns="0" bIns="0" anchor="t" anchorCtr="0">
              <a:spAutoFit/>
            </a:bodyPr>
            <a:lstStyle/>
            <a:p>
              <a:pPr algn="l"/>
              <a:r>
                <a:rPr lang="vi-VN" sz="1120" dirty="0">
                  <a:solidFill>
                    <a:srgbClr val="6E6E6E"/>
                  </a:solidFill>
                  <a:latin typeface="Arial"/>
                  <a:ea typeface="Arial"/>
                  <a:cs typeface="Arial"/>
                </a:rPr>
                <a:t>Nhóm 04 | Lớp 765643-QTDA-VB2-20261</a:t>
              </a:r>
            </a:p>
          </p:txBody>
        </p:sp>
        <p:sp>
          <p:nvSpPr>
            <p:cNvPr id="11" name="TextBox 11"/>
            <p:cNvSpPr txBox="1"/>
            <p:nvPr/>
          </p:nvSpPr>
          <p:spPr>
            <a:xfrm>
              <a:off x="11332764" y="6393656"/>
              <a:ext cx="179151" cy="220028"/>
            </a:xfrm>
            <a:prstGeom prst="rect">
              <a:avLst/>
            </a:prstGeom>
            <a:noFill/>
            <a:ln>
              <a:noFill/>
            </a:ln>
          </p:spPr>
          <p:txBody>
            <a:bodyPr wrap="none" lIns="0" tIns="0" rIns="0" bIns="0" anchor="t" anchorCtr="0">
              <a:spAutoFit/>
            </a:bodyPr>
            <a:lstStyle/>
            <a:p>
              <a:pPr algn="r"/>
              <a:r>
                <a:rPr lang="vi-VN" sz="1120" dirty="0">
                  <a:solidFill>
                    <a:srgbClr val="6E6E6E"/>
                  </a:solidFill>
                  <a:latin typeface="Arial"/>
                  <a:ea typeface="Arial"/>
                  <a:cs typeface="Arial"/>
                </a:rPr>
                <a:t>08</a:t>
              </a:r>
            </a:p>
          </p:txBody>
        </p:sp>
      </p:grpSp>
      <p:grpSp>
        <p:nvGrpSpPr>
          <p:cNvPr id="28" name="deliverables"/>
          <p:cNvGrpSpPr/>
          <p:nvPr/>
        </p:nvGrpSpPr>
        <p:grpSpPr>
          <a:xfrm>
            <a:off x="675894" y="2266950"/>
            <a:ext cx="4261122" cy="3236595"/>
            <a:chOff x="675894" y="2266950"/>
            <a:chExt cx="4261122" cy="3236595"/>
          </a:xfrm>
        </p:grpSpPr>
        <p:sp>
          <p:nvSpPr>
            <p:cNvPr id="13" name="Rectangle 13"/>
            <p:cNvSpPr/>
            <p:nvPr/>
          </p:nvSpPr>
          <p:spPr>
            <a:xfrm>
              <a:off x="685800" y="2266950"/>
              <a:ext cx="1619250" cy="323850"/>
            </a:xfrm>
            <a:prstGeom prst="rect">
              <a:avLst/>
            </a:prstGeom>
            <a:solidFill>
              <a:srgbClr val="111111"/>
            </a:solidFill>
            <a:ln>
              <a:noFill/>
            </a:ln>
          </p:spPr>
        </p:sp>
        <p:sp>
          <p:nvSpPr>
            <p:cNvPr id="14" name="TextBox 14"/>
            <p:cNvSpPr txBox="1"/>
            <p:nvPr/>
          </p:nvSpPr>
          <p:spPr>
            <a:xfrm>
              <a:off x="892360" y="2357914"/>
              <a:ext cx="1206131" cy="249364"/>
            </a:xfrm>
            <a:prstGeom prst="rect">
              <a:avLst/>
            </a:prstGeom>
            <a:noFill/>
            <a:ln>
              <a:noFill/>
            </a:ln>
          </p:spPr>
          <p:txBody>
            <a:bodyPr wrap="none" lIns="0" tIns="0" rIns="0" bIns="0" anchor="t" anchorCtr="0">
              <a:spAutoFit/>
            </a:bodyPr>
            <a:lstStyle/>
            <a:p>
              <a:pPr algn="ctr"/>
              <a:r>
                <a:rPr lang="vi-VN" sz="1280" b="1" dirty="0">
                  <a:solidFill>
                    <a:srgbClr val="FFFFFF"/>
                  </a:solidFill>
                  <a:latin typeface="Arial"/>
                  <a:ea typeface="Arial"/>
                  <a:cs typeface="Arial"/>
                </a:rPr>
                <a:t>Trong phạm vi</a:t>
              </a:r>
            </a:p>
          </p:txBody>
        </p:sp>
        <p:sp>
          <p:nvSpPr>
            <p:cNvPr id="15" name="TextBox 15"/>
            <p:cNvSpPr txBox="1"/>
            <p:nvPr/>
          </p:nvSpPr>
          <p:spPr>
            <a:xfrm>
              <a:off x="675894" y="2694622"/>
              <a:ext cx="2436172" cy="381381"/>
            </a:xfrm>
            <a:prstGeom prst="rect">
              <a:avLst/>
            </a:prstGeom>
            <a:noFill/>
            <a:ln>
              <a:noFill/>
            </a:ln>
          </p:spPr>
          <p:txBody>
            <a:bodyPr wrap="none" lIns="0" tIns="0" rIns="0" bIns="0" anchor="t" anchorCtr="0">
              <a:spAutoFit/>
            </a:bodyPr>
            <a:lstStyle/>
            <a:p>
              <a:pPr algn="l"/>
              <a:r>
                <a:rPr lang="vi-VN" sz="1950" b="1" dirty="0">
                  <a:solidFill>
                    <a:srgbClr val="111111"/>
                  </a:solidFill>
                  <a:latin typeface="Arial"/>
                  <a:ea typeface="Arial"/>
                  <a:cs typeface="Arial"/>
                </a:rPr>
                <a:t>Sản phẩm bàn giao</a:t>
              </a:r>
            </a:p>
          </p:txBody>
        </p:sp>
        <p:sp>
          <p:nvSpPr>
            <p:cNvPr id="16" name="TextBox 16"/>
            <p:cNvSpPr txBox="1"/>
            <p:nvPr/>
          </p:nvSpPr>
          <p:spPr>
            <a:xfrm>
              <a:off x="678180" y="3124200"/>
              <a:ext cx="85936" cy="293370"/>
            </a:xfrm>
            <a:prstGeom prst="rect">
              <a:avLst/>
            </a:prstGeom>
            <a:noFill/>
            <a:ln>
              <a:noFill/>
            </a:ln>
          </p:spPr>
          <p:txBody>
            <a:bodyPr wrap="none" lIns="0" tIns="0" rIns="0" bIns="0" anchor="t" anchorCtr="0">
              <a:spAutoFit/>
            </a:bodyPr>
            <a:lstStyle/>
            <a:p>
              <a:pPr algn="l"/>
              <a:r>
                <a:rPr lang="vi-VN" sz="1500" b="1" dirty="0">
                  <a:solidFill>
                    <a:srgbClr val="C8102E"/>
                  </a:solidFill>
                  <a:latin typeface="Arial"/>
                  <a:ea typeface="Arial"/>
                  <a:cs typeface="Arial"/>
                </a:rPr>
                <a:t>•</a:t>
              </a:r>
            </a:p>
          </p:txBody>
        </p:sp>
        <p:sp>
          <p:nvSpPr>
            <p:cNvPr id="17" name="TextBox 17"/>
            <p:cNvSpPr txBox="1"/>
            <p:nvPr/>
          </p:nvSpPr>
          <p:spPr>
            <a:xfrm>
              <a:off x="906780" y="3124200"/>
              <a:ext cx="3908566" cy="293370"/>
            </a:xfrm>
            <a:prstGeom prst="rect">
              <a:avLst/>
            </a:prstGeom>
            <a:noFill/>
            <a:ln>
              <a:noFill/>
            </a:ln>
          </p:spPr>
          <p:txBody>
            <a:bodyPr wrap="none" lIns="0" tIns="0" rIns="0" bIns="0" anchor="t" anchorCtr="0">
              <a:spAutoFit/>
            </a:bodyPr>
            <a:lstStyle/>
            <a:p>
              <a:pPr algn="l"/>
              <a:r>
                <a:rPr lang="vi-VN" sz="1500" dirty="0">
                  <a:solidFill>
                    <a:srgbClr val="1A1A1A"/>
                  </a:solidFill>
                  <a:latin typeface="Arial"/>
                  <a:ea typeface="Arial"/>
                  <a:cs typeface="Arial"/>
                </a:rPr>
                <a:t>Bộ tài liệu Quản lý dự án và Đặc tả yêu cầu</a:t>
              </a:r>
            </a:p>
          </p:txBody>
        </p:sp>
        <p:sp>
          <p:nvSpPr>
            <p:cNvPr id="18" name="TextBox 18"/>
            <p:cNvSpPr txBox="1"/>
            <p:nvPr/>
          </p:nvSpPr>
          <p:spPr>
            <a:xfrm>
              <a:off x="906780" y="3381375"/>
              <a:ext cx="969319" cy="293370"/>
            </a:xfrm>
            <a:prstGeom prst="rect">
              <a:avLst/>
            </a:prstGeom>
            <a:noFill/>
            <a:ln>
              <a:noFill/>
            </a:ln>
          </p:spPr>
          <p:txBody>
            <a:bodyPr wrap="none" lIns="0" tIns="0" rIns="0" bIns="0" anchor="t" anchorCtr="0">
              <a:spAutoFit/>
            </a:bodyPr>
            <a:lstStyle/>
            <a:p>
              <a:pPr algn="l"/>
              <a:r>
                <a:rPr lang="vi-VN" sz="1500" dirty="0">
                  <a:solidFill>
                    <a:srgbClr val="1A1A1A"/>
                  </a:solidFill>
                  <a:latin typeface="Arial"/>
                  <a:ea typeface="Arial"/>
                  <a:cs typeface="Arial"/>
                </a:rPr>
                <a:t>phần mềm</a:t>
              </a:r>
            </a:p>
          </p:txBody>
        </p:sp>
        <p:sp>
          <p:nvSpPr>
            <p:cNvPr id="19" name="TextBox 19"/>
            <p:cNvSpPr txBox="1"/>
            <p:nvPr/>
          </p:nvSpPr>
          <p:spPr>
            <a:xfrm>
              <a:off x="678180" y="3733800"/>
              <a:ext cx="85936" cy="293370"/>
            </a:xfrm>
            <a:prstGeom prst="rect">
              <a:avLst/>
            </a:prstGeom>
            <a:noFill/>
            <a:ln>
              <a:noFill/>
            </a:ln>
          </p:spPr>
          <p:txBody>
            <a:bodyPr wrap="none" lIns="0" tIns="0" rIns="0" bIns="0" anchor="t" anchorCtr="0">
              <a:spAutoFit/>
            </a:bodyPr>
            <a:lstStyle/>
            <a:p>
              <a:pPr algn="l"/>
              <a:r>
                <a:rPr lang="vi-VN" sz="1500" b="1" dirty="0">
                  <a:solidFill>
                    <a:srgbClr val="C8102E"/>
                  </a:solidFill>
                  <a:latin typeface="Arial"/>
                  <a:ea typeface="Arial"/>
                  <a:cs typeface="Arial"/>
                </a:rPr>
                <a:t>•</a:t>
              </a:r>
            </a:p>
          </p:txBody>
        </p:sp>
        <p:sp>
          <p:nvSpPr>
            <p:cNvPr id="20" name="TextBox 20"/>
            <p:cNvSpPr txBox="1"/>
            <p:nvPr/>
          </p:nvSpPr>
          <p:spPr>
            <a:xfrm>
              <a:off x="906780" y="3733800"/>
              <a:ext cx="3887921" cy="293370"/>
            </a:xfrm>
            <a:prstGeom prst="rect">
              <a:avLst/>
            </a:prstGeom>
            <a:noFill/>
            <a:ln>
              <a:noFill/>
            </a:ln>
          </p:spPr>
          <p:txBody>
            <a:bodyPr wrap="none" lIns="0" tIns="0" rIns="0" bIns="0" anchor="t" anchorCtr="0">
              <a:spAutoFit/>
            </a:bodyPr>
            <a:lstStyle/>
            <a:p>
              <a:pPr algn="l"/>
              <a:r>
                <a:rPr lang="vi-VN" sz="1500" dirty="0">
                  <a:solidFill>
                    <a:srgbClr val="1A1A1A"/>
                  </a:solidFill>
                  <a:latin typeface="Arial"/>
                  <a:ea typeface="Arial"/>
                  <a:cs typeface="Arial"/>
                </a:rPr>
                <a:t>Tài liệu thiết kế hệ thống gồm UI/UX, cơ sở</a:t>
              </a:r>
            </a:p>
          </p:txBody>
        </p:sp>
        <p:sp>
          <p:nvSpPr>
            <p:cNvPr id="21" name="TextBox 21"/>
            <p:cNvSpPr txBox="1"/>
            <p:nvPr/>
          </p:nvSpPr>
          <p:spPr>
            <a:xfrm>
              <a:off x="906780" y="3990975"/>
              <a:ext cx="1698973" cy="293370"/>
            </a:xfrm>
            <a:prstGeom prst="rect">
              <a:avLst/>
            </a:prstGeom>
            <a:noFill/>
            <a:ln>
              <a:noFill/>
            </a:ln>
          </p:spPr>
          <p:txBody>
            <a:bodyPr wrap="none" lIns="0" tIns="0" rIns="0" bIns="0" anchor="t" anchorCtr="0">
              <a:spAutoFit/>
            </a:bodyPr>
            <a:lstStyle/>
            <a:p>
              <a:pPr algn="l"/>
              <a:r>
                <a:rPr lang="vi-VN" sz="1500" dirty="0">
                  <a:solidFill>
                    <a:srgbClr val="1A1A1A"/>
                  </a:solidFill>
                  <a:latin typeface="Arial"/>
                  <a:ea typeface="Arial"/>
                  <a:cs typeface="Arial"/>
                </a:rPr>
                <a:t>dữ liệu và kiến trúc</a:t>
              </a:r>
            </a:p>
          </p:txBody>
        </p:sp>
        <p:sp>
          <p:nvSpPr>
            <p:cNvPr id="22" name="TextBox 22"/>
            <p:cNvSpPr txBox="1"/>
            <p:nvPr/>
          </p:nvSpPr>
          <p:spPr>
            <a:xfrm>
              <a:off x="678180" y="4343400"/>
              <a:ext cx="85936" cy="293370"/>
            </a:xfrm>
            <a:prstGeom prst="rect">
              <a:avLst/>
            </a:prstGeom>
            <a:noFill/>
            <a:ln>
              <a:noFill/>
            </a:ln>
          </p:spPr>
          <p:txBody>
            <a:bodyPr wrap="none" lIns="0" tIns="0" rIns="0" bIns="0" anchor="t" anchorCtr="0">
              <a:spAutoFit/>
            </a:bodyPr>
            <a:lstStyle/>
            <a:p>
              <a:pPr algn="l"/>
              <a:r>
                <a:rPr lang="vi-VN" sz="1500" b="1" dirty="0">
                  <a:solidFill>
                    <a:srgbClr val="C8102E"/>
                  </a:solidFill>
                  <a:latin typeface="Arial"/>
                  <a:ea typeface="Arial"/>
                  <a:cs typeface="Arial"/>
                </a:rPr>
                <a:t>•</a:t>
              </a:r>
            </a:p>
          </p:txBody>
        </p:sp>
        <p:sp>
          <p:nvSpPr>
            <p:cNvPr id="23" name="TextBox 23"/>
            <p:cNvSpPr txBox="1"/>
            <p:nvPr/>
          </p:nvSpPr>
          <p:spPr>
            <a:xfrm>
              <a:off x="906780" y="4343400"/>
              <a:ext cx="4030236" cy="293370"/>
            </a:xfrm>
            <a:prstGeom prst="rect">
              <a:avLst/>
            </a:prstGeom>
            <a:noFill/>
            <a:ln>
              <a:noFill/>
            </a:ln>
          </p:spPr>
          <p:txBody>
            <a:bodyPr wrap="none" lIns="0" tIns="0" rIns="0" bIns="0" anchor="t" anchorCtr="0">
              <a:spAutoFit/>
            </a:bodyPr>
            <a:lstStyle/>
            <a:p>
              <a:pPr algn="l"/>
              <a:r>
                <a:rPr lang="vi-VN" sz="1500" dirty="0">
                  <a:solidFill>
                    <a:srgbClr val="1A1A1A"/>
                  </a:solidFill>
                  <a:latin typeface="Arial"/>
                  <a:ea typeface="Arial"/>
                  <a:cs typeface="Arial"/>
                </a:rPr>
                <a:t>Phần mềm quản lý bán hàng chuyên biệt, hỗ</a:t>
              </a:r>
            </a:p>
          </p:txBody>
        </p:sp>
        <p:sp>
          <p:nvSpPr>
            <p:cNvPr id="24" name="TextBox 24"/>
            <p:cNvSpPr txBox="1"/>
            <p:nvPr/>
          </p:nvSpPr>
          <p:spPr>
            <a:xfrm>
              <a:off x="906780" y="4600575"/>
              <a:ext cx="2312903" cy="293370"/>
            </a:xfrm>
            <a:prstGeom prst="rect">
              <a:avLst/>
            </a:prstGeom>
            <a:noFill/>
            <a:ln>
              <a:noFill/>
            </a:ln>
          </p:spPr>
          <p:txBody>
            <a:bodyPr wrap="none" lIns="0" tIns="0" rIns="0" bIns="0" anchor="t" anchorCtr="0">
              <a:spAutoFit/>
            </a:bodyPr>
            <a:lstStyle/>
            <a:p>
              <a:pPr algn="l"/>
              <a:r>
                <a:rPr lang="vi-VN" sz="1500" dirty="0">
                  <a:solidFill>
                    <a:srgbClr val="1A1A1A"/>
                  </a:solidFill>
                  <a:latin typeface="Arial"/>
                  <a:ea typeface="Arial"/>
                  <a:cs typeface="Arial"/>
                </a:rPr>
                <a:t>trợ Serial/IMEI và tồn kho</a:t>
              </a:r>
            </a:p>
          </p:txBody>
        </p:sp>
        <p:sp>
          <p:nvSpPr>
            <p:cNvPr id="25" name="TextBox 25"/>
            <p:cNvSpPr txBox="1"/>
            <p:nvPr/>
          </p:nvSpPr>
          <p:spPr>
            <a:xfrm>
              <a:off x="678180" y="4953000"/>
              <a:ext cx="85936" cy="293370"/>
            </a:xfrm>
            <a:prstGeom prst="rect">
              <a:avLst/>
            </a:prstGeom>
            <a:noFill/>
            <a:ln>
              <a:noFill/>
            </a:ln>
          </p:spPr>
          <p:txBody>
            <a:bodyPr wrap="none" lIns="0" tIns="0" rIns="0" bIns="0" anchor="t" anchorCtr="0">
              <a:spAutoFit/>
            </a:bodyPr>
            <a:lstStyle/>
            <a:p>
              <a:pPr algn="l"/>
              <a:r>
                <a:rPr lang="vi-VN" sz="1500" b="1" dirty="0">
                  <a:solidFill>
                    <a:srgbClr val="C8102E"/>
                  </a:solidFill>
                  <a:latin typeface="Arial"/>
                  <a:ea typeface="Arial"/>
                  <a:cs typeface="Arial"/>
                </a:rPr>
                <a:t>•</a:t>
              </a:r>
            </a:p>
          </p:txBody>
        </p:sp>
        <p:sp>
          <p:nvSpPr>
            <p:cNvPr id="26" name="TextBox 26"/>
            <p:cNvSpPr txBox="1"/>
            <p:nvPr/>
          </p:nvSpPr>
          <p:spPr>
            <a:xfrm>
              <a:off x="906780" y="4953000"/>
              <a:ext cx="3692659" cy="293370"/>
            </a:xfrm>
            <a:prstGeom prst="rect">
              <a:avLst/>
            </a:prstGeom>
            <a:noFill/>
            <a:ln>
              <a:noFill/>
            </a:ln>
          </p:spPr>
          <p:txBody>
            <a:bodyPr wrap="none" lIns="0" tIns="0" rIns="0" bIns="0" anchor="t" anchorCtr="0">
              <a:spAutoFit/>
            </a:bodyPr>
            <a:lstStyle/>
            <a:p>
              <a:pPr algn="l"/>
              <a:r>
                <a:rPr lang="vi-VN" sz="1500" dirty="0">
                  <a:solidFill>
                    <a:srgbClr val="1A1A1A"/>
                  </a:solidFill>
                  <a:latin typeface="Arial"/>
                  <a:ea typeface="Arial"/>
                  <a:cs typeface="Arial"/>
                </a:rPr>
                <a:t>Báo cáo tổng kết đề tài theo cấu trúc quy</a:t>
              </a:r>
            </a:p>
          </p:txBody>
        </p:sp>
        <p:sp>
          <p:nvSpPr>
            <p:cNvPr id="27" name="TextBox 27"/>
            <p:cNvSpPr txBox="1"/>
            <p:nvPr/>
          </p:nvSpPr>
          <p:spPr>
            <a:xfrm>
              <a:off x="906780" y="5210175"/>
              <a:ext cx="1800463" cy="293370"/>
            </a:xfrm>
            <a:prstGeom prst="rect">
              <a:avLst/>
            </a:prstGeom>
            <a:noFill/>
            <a:ln>
              <a:noFill/>
            </a:ln>
          </p:spPr>
          <p:txBody>
            <a:bodyPr wrap="none" lIns="0" tIns="0" rIns="0" bIns="0" anchor="t" anchorCtr="0">
              <a:spAutoFit/>
            </a:bodyPr>
            <a:lstStyle/>
            <a:p>
              <a:pPr algn="l"/>
              <a:r>
                <a:rPr lang="vi-VN" sz="1500" dirty="0">
                  <a:solidFill>
                    <a:srgbClr val="1A1A1A"/>
                  </a:solidFill>
                  <a:latin typeface="Arial"/>
                  <a:ea typeface="Arial"/>
                  <a:cs typeface="Arial"/>
                </a:rPr>
                <a:t>định của nhà trường</a:t>
              </a:r>
            </a:p>
          </p:txBody>
        </p:sp>
      </p:grpSp>
      <p:sp>
        <p:nvSpPr>
          <p:cNvPr id="29" name="Freeform 29"/>
          <p:cNvSpPr/>
          <p:nvPr/>
        </p:nvSpPr>
        <p:spPr>
          <a:xfrm>
            <a:off x="6048375" y="2381250"/>
            <a:ext cx="9525" cy="3286125"/>
          </a:xfrm>
          <a:custGeom>
            <a:avLst/>
            <a:gdLst/>
            <a:ahLst/>
            <a:cxnLst/>
            <a:rect l="l" t="t" r="r" b="b"/>
            <a:pathLst>
              <a:path w="9525" h="3286125">
                <a:moveTo>
                  <a:pt x="0" y="0"/>
                </a:moveTo>
                <a:lnTo>
                  <a:pt x="0" y="3286125"/>
                </a:lnTo>
              </a:path>
            </a:pathLst>
          </a:custGeom>
          <a:noFill/>
          <a:ln w="9525">
            <a:solidFill>
              <a:srgbClr val="E8E8E8"/>
            </a:solidFill>
          </a:ln>
        </p:spPr>
      </p:sp>
      <p:grpSp>
        <p:nvGrpSpPr>
          <p:cNvPr id="45" name="out-of-scope"/>
          <p:cNvGrpSpPr/>
          <p:nvPr/>
        </p:nvGrpSpPr>
        <p:grpSpPr>
          <a:xfrm>
            <a:off x="6562344" y="2266950"/>
            <a:ext cx="4272164" cy="3236595"/>
            <a:chOff x="6562344" y="2266950"/>
            <a:chExt cx="4272164" cy="3236595"/>
          </a:xfrm>
        </p:grpSpPr>
        <p:sp>
          <p:nvSpPr>
            <p:cNvPr id="30" name="Rectangle 30"/>
            <p:cNvSpPr/>
            <p:nvPr/>
          </p:nvSpPr>
          <p:spPr>
            <a:xfrm>
              <a:off x="6572250" y="2266950"/>
              <a:ext cx="1809750" cy="323850"/>
            </a:xfrm>
            <a:prstGeom prst="rect">
              <a:avLst/>
            </a:prstGeom>
            <a:solidFill>
              <a:srgbClr val="C8102E"/>
            </a:solidFill>
            <a:ln>
              <a:noFill/>
            </a:ln>
          </p:spPr>
        </p:sp>
        <p:sp>
          <p:nvSpPr>
            <p:cNvPr id="31" name="TextBox 31"/>
            <p:cNvSpPr txBox="1"/>
            <p:nvPr/>
          </p:nvSpPr>
          <p:spPr>
            <a:xfrm>
              <a:off x="6878788" y="2357914"/>
              <a:ext cx="1196674" cy="249364"/>
            </a:xfrm>
            <a:prstGeom prst="rect">
              <a:avLst/>
            </a:prstGeom>
            <a:noFill/>
            <a:ln>
              <a:noFill/>
            </a:ln>
          </p:spPr>
          <p:txBody>
            <a:bodyPr wrap="none" lIns="0" tIns="0" rIns="0" bIns="0" anchor="t" anchorCtr="0">
              <a:spAutoFit/>
            </a:bodyPr>
            <a:lstStyle/>
            <a:p>
              <a:pPr algn="ctr"/>
              <a:r>
                <a:rPr lang="vi-VN" sz="1280" b="1" dirty="0">
                  <a:solidFill>
                    <a:srgbClr val="FFFFFF"/>
                  </a:solidFill>
                  <a:latin typeface="Arial"/>
                  <a:ea typeface="Arial"/>
                  <a:cs typeface="Arial"/>
                </a:rPr>
                <a:t>Ngoài phạm vi</a:t>
              </a:r>
            </a:p>
          </p:txBody>
        </p:sp>
        <p:sp>
          <p:nvSpPr>
            <p:cNvPr id="32" name="TextBox 32"/>
            <p:cNvSpPr txBox="1"/>
            <p:nvPr/>
          </p:nvSpPr>
          <p:spPr>
            <a:xfrm>
              <a:off x="6562344" y="2694622"/>
              <a:ext cx="2143898" cy="381381"/>
            </a:xfrm>
            <a:prstGeom prst="rect">
              <a:avLst/>
            </a:prstGeom>
            <a:noFill/>
            <a:ln>
              <a:noFill/>
            </a:ln>
          </p:spPr>
          <p:txBody>
            <a:bodyPr wrap="none" lIns="0" tIns="0" rIns="0" bIns="0" anchor="t" anchorCtr="0">
              <a:spAutoFit/>
            </a:bodyPr>
            <a:lstStyle/>
            <a:p>
              <a:pPr algn="l"/>
              <a:r>
                <a:rPr lang="vi-VN" sz="1950" b="1" dirty="0">
                  <a:solidFill>
                    <a:srgbClr val="C8102E"/>
                  </a:solidFill>
                  <a:latin typeface="Arial"/>
                  <a:ea typeface="Arial"/>
                  <a:cs typeface="Arial"/>
                </a:rPr>
                <a:t>Giới hạn phạm vi</a:t>
              </a:r>
            </a:p>
          </p:txBody>
        </p:sp>
        <p:sp>
          <p:nvSpPr>
            <p:cNvPr id="33" name="TextBox 33"/>
            <p:cNvSpPr txBox="1"/>
            <p:nvPr/>
          </p:nvSpPr>
          <p:spPr>
            <a:xfrm>
              <a:off x="6564630" y="3124200"/>
              <a:ext cx="85936" cy="293370"/>
            </a:xfrm>
            <a:prstGeom prst="rect">
              <a:avLst/>
            </a:prstGeom>
            <a:noFill/>
            <a:ln>
              <a:noFill/>
            </a:ln>
          </p:spPr>
          <p:txBody>
            <a:bodyPr wrap="none" lIns="0" tIns="0" rIns="0" bIns="0" anchor="t" anchorCtr="0">
              <a:spAutoFit/>
            </a:bodyPr>
            <a:lstStyle/>
            <a:p>
              <a:pPr algn="l"/>
              <a:r>
                <a:rPr lang="vi-VN" sz="1500" b="1" dirty="0">
                  <a:solidFill>
                    <a:srgbClr val="C8102E"/>
                  </a:solidFill>
                  <a:latin typeface="Arial"/>
                  <a:ea typeface="Arial"/>
                  <a:cs typeface="Arial"/>
                </a:rPr>
                <a:t>•</a:t>
              </a:r>
            </a:p>
          </p:txBody>
        </p:sp>
        <p:sp>
          <p:nvSpPr>
            <p:cNvPr id="34" name="TextBox 34"/>
            <p:cNvSpPr txBox="1"/>
            <p:nvPr/>
          </p:nvSpPr>
          <p:spPr>
            <a:xfrm>
              <a:off x="6793230" y="3124200"/>
              <a:ext cx="4041278" cy="293370"/>
            </a:xfrm>
            <a:prstGeom prst="rect">
              <a:avLst/>
            </a:prstGeom>
            <a:noFill/>
            <a:ln>
              <a:noFill/>
            </a:ln>
          </p:spPr>
          <p:txBody>
            <a:bodyPr wrap="none" lIns="0" tIns="0" rIns="0" bIns="0" anchor="t" anchorCtr="0">
              <a:spAutoFit/>
            </a:bodyPr>
            <a:lstStyle/>
            <a:p>
              <a:pPr algn="l"/>
              <a:r>
                <a:rPr lang="vi-VN" sz="1500" dirty="0">
                  <a:solidFill>
                    <a:srgbClr val="1A1A1A"/>
                  </a:solidFill>
                  <a:latin typeface="Arial"/>
                  <a:ea typeface="Arial"/>
                  <a:cs typeface="Arial"/>
                </a:rPr>
                <a:t>Không tích hợp cổng thanh toán điện tử quốc</a:t>
              </a:r>
            </a:p>
          </p:txBody>
        </p:sp>
        <p:sp>
          <p:nvSpPr>
            <p:cNvPr id="35" name="TextBox 35"/>
            <p:cNvSpPr txBox="1"/>
            <p:nvPr/>
          </p:nvSpPr>
          <p:spPr>
            <a:xfrm>
              <a:off x="6793230" y="3381375"/>
              <a:ext cx="183650" cy="293370"/>
            </a:xfrm>
            <a:prstGeom prst="rect">
              <a:avLst/>
            </a:prstGeom>
            <a:noFill/>
            <a:ln>
              <a:noFill/>
            </a:ln>
          </p:spPr>
          <p:txBody>
            <a:bodyPr wrap="none" lIns="0" tIns="0" rIns="0" bIns="0" anchor="t" anchorCtr="0">
              <a:spAutoFit/>
            </a:bodyPr>
            <a:lstStyle/>
            <a:p>
              <a:pPr algn="l"/>
              <a:r>
                <a:rPr lang="vi-VN" sz="1500" dirty="0">
                  <a:solidFill>
                    <a:srgbClr val="1A1A1A"/>
                  </a:solidFill>
                  <a:latin typeface="Arial"/>
                  <a:ea typeface="Arial"/>
                  <a:cs typeface="Arial"/>
                </a:rPr>
                <a:t>tế</a:t>
              </a:r>
            </a:p>
          </p:txBody>
        </p:sp>
        <p:sp>
          <p:nvSpPr>
            <p:cNvPr id="36" name="TextBox 36"/>
            <p:cNvSpPr txBox="1"/>
            <p:nvPr/>
          </p:nvSpPr>
          <p:spPr>
            <a:xfrm>
              <a:off x="6564630" y="3733800"/>
              <a:ext cx="85936" cy="293370"/>
            </a:xfrm>
            <a:prstGeom prst="rect">
              <a:avLst/>
            </a:prstGeom>
            <a:noFill/>
            <a:ln>
              <a:noFill/>
            </a:ln>
          </p:spPr>
          <p:txBody>
            <a:bodyPr wrap="none" lIns="0" tIns="0" rIns="0" bIns="0" anchor="t" anchorCtr="0">
              <a:spAutoFit/>
            </a:bodyPr>
            <a:lstStyle/>
            <a:p>
              <a:pPr algn="l"/>
              <a:r>
                <a:rPr lang="vi-VN" sz="1500" b="1" dirty="0">
                  <a:solidFill>
                    <a:srgbClr val="C8102E"/>
                  </a:solidFill>
                  <a:latin typeface="Arial"/>
                  <a:ea typeface="Arial"/>
                  <a:cs typeface="Arial"/>
                </a:rPr>
                <a:t>•</a:t>
              </a:r>
            </a:p>
          </p:txBody>
        </p:sp>
        <p:sp>
          <p:nvSpPr>
            <p:cNvPr id="37" name="TextBox 37"/>
            <p:cNvSpPr txBox="1"/>
            <p:nvPr/>
          </p:nvSpPr>
          <p:spPr>
            <a:xfrm>
              <a:off x="6793230" y="3733800"/>
              <a:ext cx="3771242" cy="293370"/>
            </a:xfrm>
            <a:prstGeom prst="rect">
              <a:avLst/>
            </a:prstGeom>
            <a:noFill/>
            <a:ln>
              <a:noFill/>
            </a:ln>
          </p:spPr>
          <p:txBody>
            <a:bodyPr wrap="none" lIns="0" tIns="0" rIns="0" bIns="0" anchor="t" anchorCtr="0">
              <a:spAutoFit/>
            </a:bodyPr>
            <a:lstStyle/>
            <a:p>
              <a:pPr algn="l"/>
              <a:r>
                <a:rPr lang="vi-VN" sz="1500" dirty="0">
                  <a:solidFill>
                    <a:srgbClr val="1A1A1A"/>
                  </a:solidFill>
                  <a:latin typeface="Arial"/>
                  <a:ea typeface="Arial"/>
                  <a:cs typeface="Arial"/>
                </a:rPr>
                <a:t>Không tích hợp hệ thống logistics của bên</a:t>
              </a:r>
            </a:p>
          </p:txBody>
        </p:sp>
        <p:sp>
          <p:nvSpPr>
            <p:cNvPr id="38" name="TextBox 38"/>
            <p:cNvSpPr txBox="1"/>
            <p:nvPr/>
          </p:nvSpPr>
          <p:spPr>
            <a:xfrm>
              <a:off x="6793230" y="3990975"/>
              <a:ext cx="576686" cy="293370"/>
            </a:xfrm>
            <a:prstGeom prst="rect">
              <a:avLst/>
            </a:prstGeom>
            <a:noFill/>
            <a:ln>
              <a:noFill/>
            </a:ln>
          </p:spPr>
          <p:txBody>
            <a:bodyPr wrap="none" lIns="0" tIns="0" rIns="0" bIns="0" anchor="t" anchorCtr="0">
              <a:spAutoFit/>
            </a:bodyPr>
            <a:lstStyle/>
            <a:p>
              <a:pPr algn="l"/>
              <a:r>
                <a:rPr lang="vi-VN" sz="1500" dirty="0">
                  <a:solidFill>
                    <a:srgbClr val="1A1A1A"/>
                  </a:solidFill>
                  <a:latin typeface="Arial"/>
                  <a:ea typeface="Arial"/>
                  <a:cs typeface="Arial"/>
                </a:rPr>
                <a:t>thứ ba</a:t>
              </a:r>
            </a:p>
          </p:txBody>
        </p:sp>
        <p:sp>
          <p:nvSpPr>
            <p:cNvPr id="39" name="TextBox 39"/>
            <p:cNvSpPr txBox="1"/>
            <p:nvPr/>
          </p:nvSpPr>
          <p:spPr>
            <a:xfrm>
              <a:off x="6564630" y="4343400"/>
              <a:ext cx="85936" cy="293370"/>
            </a:xfrm>
            <a:prstGeom prst="rect">
              <a:avLst/>
            </a:prstGeom>
            <a:noFill/>
            <a:ln>
              <a:noFill/>
            </a:ln>
          </p:spPr>
          <p:txBody>
            <a:bodyPr wrap="none" lIns="0" tIns="0" rIns="0" bIns="0" anchor="t" anchorCtr="0">
              <a:spAutoFit/>
            </a:bodyPr>
            <a:lstStyle/>
            <a:p>
              <a:pPr algn="l"/>
              <a:r>
                <a:rPr lang="vi-VN" sz="1500" b="1" dirty="0">
                  <a:solidFill>
                    <a:srgbClr val="C8102E"/>
                  </a:solidFill>
                  <a:latin typeface="Arial"/>
                  <a:ea typeface="Arial"/>
                  <a:cs typeface="Arial"/>
                </a:rPr>
                <a:t>•</a:t>
              </a:r>
            </a:p>
          </p:txBody>
        </p:sp>
        <p:sp>
          <p:nvSpPr>
            <p:cNvPr id="40" name="TextBox 40"/>
            <p:cNvSpPr txBox="1"/>
            <p:nvPr/>
          </p:nvSpPr>
          <p:spPr>
            <a:xfrm>
              <a:off x="6793230" y="4343400"/>
              <a:ext cx="4041146" cy="293370"/>
            </a:xfrm>
            <a:prstGeom prst="rect">
              <a:avLst/>
            </a:prstGeom>
            <a:noFill/>
            <a:ln>
              <a:noFill/>
            </a:ln>
          </p:spPr>
          <p:txBody>
            <a:bodyPr wrap="none" lIns="0" tIns="0" rIns="0" bIns="0" anchor="t" anchorCtr="0">
              <a:spAutoFit/>
            </a:bodyPr>
            <a:lstStyle/>
            <a:p>
              <a:pPr algn="l"/>
              <a:r>
                <a:rPr lang="vi-VN" sz="1500" dirty="0">
                  <a:solidFill>
                    <a:srgbClr val="1A1A1A"/>
                  </a:solidFill>
                  <a:latin typeface="Arial"/>
                  <a:ea typeface="Arial"/>
                  <a:cs typeface="Arial"/>
                </a:rPr>
                <a:t>Không bao gồm kế toán tài chính tổng thể và</a:t>
              </a:r>
            </a:p>
          </p:txBody>
        </p:sp>
        <p:sp>
          <p:nvSpPr>
            <p:cNvPr id="41" name="TextBox 41"/>
            <p:cNvSpPr txBox="1"/>
            <p:nvPr/>
          </p:nvSpPr>
          <p:spPr>
            <a:xfrm>
              <a:off x="6793230" y="4600575"/>
              <a:ext cx="1665775" cy="293370"/>
            </a:xfrm>
            <a:prstGeom prst="rect">
              <a:avLst/>
            </a:prstGeom>
            <a:noFill/>
            <a:ln>
              <a:noFill/>
            </a:ln>
          </p:spPr>
          <p:txBody>
            <a:bodyPr wrap="none" lIns="0" tIns="0" rIns="0" bIns="0" anchor="t" anchorCtr="0">
              <a:spAutoFit/>
            </a:bodyPr>
            <a:lstStyle/>
            <a:p>
              <a:pPr algn="l"/>
              <a:r>
                <a:rPr lang="vi-VN" sz="1500" dirty="0">
                  <a:solidFill>
                    <a:srgbClr val="1A1A1A"/>
                  </a:solidFill>
                  <a:latin typeface="Arial"/>
                  <a:ea typeface="Arial"/>
                  <a:cs typeface="Arial"/>
                </a:rPr>
                <a:t>nhân sự tiền lương</a:t>
              </a:r>
            </a:p>
          </p:txBody>
        </p:sp>
        <p:sp>
          <p:nvSpPr>
            <p:cNvPr id="42" name="TextBox 42"/>
            <p:cNvSpPr txBox="1"/>
            <p:nvPr/>
          </p:nvSpPr>
          <p:spPr>
            <a:xfrm>
              <a:off x="6564630" y="4953000"/>
              <a:ext cx="85936" cy="293370"/>
            </a:xfrm>
            <a:prstGeom prst="rect">
              <a:avLst/>
            </a:prstGeom>
            <a:noFill/>
            <a:ln>
              <a:noFill/>
            </a:ln>
          </p:spPr>
          <p:txBody>
            <a:bodyPr wrap="none" lIns="0" tIns="0" rIns="0" bIns="0" anchor="t" anchorCtr="0">
              <a:spAutoFit/>
            </a:bodyPr>
            <a:lstStyle/>
            <a:p>
              <a:pPr algn="l"/>
              <a:r>
                <a:rPr lang="vi-VN" sz="1500" b="1" dirty="0">
                  <a:solidFill>
                    <a:srgbClr val="C8102E"/>
                  </a:solidFill>
                  <a:latin typeface="Arial"/>
                  <a:ea typeface="Arial"/>
                  <a:cs typeface="Arial"/>
                </a:rPr>
                <a:t>•</a:t>
              </a:r>
            </a:p>
          </p:txBody>
        </p:sp>
        <p:sp>
          <p:nvSpPr>
            <p:cNvPr id="43" name="TextBox 43"/>
            <p:cNvSpPr txBox="1"/>
            <p:nvPr/>
          </p:nvSpPr>
          <p:spPr>
            <a:xfrm>
              <a:off x="6793230" y="4953000"/>
              <a:ext cx="3782070" cy="293370"/>
            </a:xfrm>
            <a:prstGeom prst="rect">
              <a:avLst/>
            </a:prstGeom>
            <a:noFill/>
            <a:ln>
              <a:noFill/>
            </a:ln>
          </p:spPr>
          <p:txBody>
            <a:bodyPr wrap="none" lIns="0" tIns="0" rIns="0" bIns="0" anchor="t" anchorCtr="0">
              <a:spAutoFit/>
            </a:bodyPr>
            <a:lstStyle/>
            <a:p>
              <a:pPr algn="l"/>
              <a:r>
                <a:rPr lang="vi-VN" sz="1500" dirty="0">
                  <a:solidFill>
                    <a:srgbClr val="1A1A1A"/>
                  </a:solidFill>
                  <a:latin typeface="Arial"/>
                  <a:ea typeface="Arial"/>
                  <a:cs typeface="Arial"/>
                </a:rPr>
                <a:t>Mọi thay đổi phạm vi cần đi qua kiểm soát</a:t>
              </a:r>
            </a:p>
          </p:txBody>
        </p:sp>
        <p:sp>
          <p:nvSpPr>
            <p:cNvPr id="44" name="TextBox 44"/>
            <p:cNvSpPr txBox="1"/>
            <p:nvPr/>
          </p:nvSpPr>
          <p:spPr>
            <a:xfrm>
              <a:off x="6793230" y="5210175"/>
              <a:ext cx="1544085" cy="293370"/>
            </a:xfrm>
            <a:prstGeom prst="rect">
              <a:avLst/>
            </a:prstGeom>
            <a:noFill/>
            <a:ln>
              <a:noFill/>
            </a:ln>
          </p:spPr>
          <p:txBody>
            <a:bodyPr wrap="none" lIns="0" tIns="0" rIns="0" bIns="0" anchor="t" anchorCtr="0">
              <a:spAutoFit/>
            </a:bodyPr>
            <a:lstStyle/>
            <a:p>
              <a:pPr algn="l"/>
              <a:r>
                <a:rPr lang="vi-VN" sz="1500" dirty="0">
                  <a:solidFill>
                    <a:srgbClr val="1A1A1A"/>
                  </a:solidFill>
                  <a:latin typeface="Arial"/>
                  <a:ea typeface="Arial"/>
                  <a:cs typeface="Arial"/>
                </a:rPr>
                <a:t>Change Request</a:t>
              </a: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bg-fill"/>
          <p:cNvSpPr/>
          <p:nvPr/>
        </p:nvSpPr>
        <p:spPr>
          <a:xfrm>
            <a:off x="-9525" y="-9525"/>
            <a:ext cx="12211050" cy="6877050"/>
          </a:xfrm>
          <a:prstGeom prst="rect">
            <a:avLst/>
          </a:prstGeom>
          <a:solidFill>
            <a:srgbClr val="FFFFFF"/>
          </a:solidFill>
          <a:ln>
            <a:noFill/>
          </a:ln>
        </p:spPr>
      </p:sp>
      <p:grpSp>
        <p:nvGrpSpPr>
          <p:cNvPr id="5" name="top-rule"/>
          <p:cNvGrpSpPr/>
          <p:nvPr/>
        </p:nvGrpSpPr>
        <p:grpSpPr>
          <a:xfrm>
            <a:off x="685800" y="723900"/>
            <a:ext cx="10820400" cy="38100"/>
            <a:chOff x="685800" y="723900"/>
            <a:chExt cx="10820400" cy="38100"/>
          </a:xfrm>
        </p:grpSpPr>
        <p:sp>
          <p:nvSpPr>
            <p:cNvPr id="3" name="Rectangle 3"/>
            <p:cNvSpPr/>
            <p:nvPr/>
          </p:nvSpPr>
          <p:spPr>
            <a:xfrm>
              <a:off x="685800" y="723900"/>
              <a:ext cx="10820400" cy="38100"/>
            </a:xfrm>
            <a:prstGeom prst="rect">
              <a:avLst/>
            </a:prstGeom>
            <a:solidFill>
              <a:srgbClr val="E8E8E8"/>
            </a:solidFill>
            <a:ln>
              <a:noFill/>
            </a:ln>
          </p:spPr>
        </p:sp>
        <p:sp>
          <p:nvSpPr>
            <p:cNvPr id="4" name="Rectangle 4"/>
            <p:cNvSpPr/>
            <p:nvPr/>
          </p:nvSpPr>
          <p:spPr>
            <a:xfrm>
              <a:off x="685800" y="723900"/>
              <a:ext cx="4869180" cy="38100"/>
            </a:xfrm>
            <a:prstGeom prst="rect">
              <a:avLst/>
            </a:prstGeom>
            <a:solidFill>
              <a:srgbClr val="C8102E"/>
            </a:solidFill>
            <a:ln>
              <a:noFill/>
            </a:ln>
          </p:spPr>
        </p:sp>
      </p:grpSp>
      <p:grpSp>
        <p:nvGrpSpPr>
          <p:cNvPr id="8" name="title"/>
          <p:cNvGrpSpPr/>
          <p:nvPr/>
        </p:nvGrpSpPr>
        <p:grpSpPr>
          <a:xfrm>
            <a:off x="652272" y="977265"/>
            <a:ext cx="6920748" cy="1193482"/>
            <a:chOff x="652272" y="977265"/>
            <a:chExt cx="6920748" cy="1193482"/>
          </a:xfrm>
        </p:grpSpPr>
        <p:sp>
          <p:nvSpPr>
            <p:cNvPr id="6" name="TextBox 6"/>
            <p:cNvSpPr txBox="1"/>
            <p:nvPr/>
          </p:nvSpPr>
          <p:spPr>
            <a:xfrm>
              <a:off x="652272" y="977265"/>
              <a:ext cx="5407091" cy="645414"/>
            </a:xfrm>
            <a:prstGeom prst="rect">
              <a:avLst/>
            </a:prstGeom>
            <a:noFill/>
            <a:ln>
              <a:noFill/>
            </a:ln>
          </p:spPr>
          <p:txBody>
            <a:bodyPr wrap="none" lIns="0" tIns="0" rIns="0" bIns="0" anchor="t" anchorCtr="0">
              <a:spAutoFit/>
            </a:bodyPr>
            <a:lstStyle/>
            <a:p>
              <a:pPr algn="l"/>
              <a:r>
                <a:rPr lang="vi-VN" sz="3300" b="1" dirty="0">
                  <a:solidFill>
                    <a:srgbClr val="111111"/>
                  </a:solidFill>
                  <a:latin typeface="Arial"/>
                  <a:ea typeface="Arial"/>
                  <a:cs typeface="Arial"/>
                </a:rPr>
                <a:t>Các chức năng của dự án</a:t>
              </a:r>
            </a:p>
          </p:txBody>
        </p:sp>
        <p:sp>
          <p:nvSpPr>
            <p:cNvPr id="7" name="TextBox 7"/>
            <p:cNvSpPr txBox="1"/>
            <p:nvPr/>
          </p:nvSpPr>
          <p:spPr>
            <a:xfrm>
              <a:off x="677418" y="1848040"/>
              <a:ext cx="6895602" cy="322707"/>
            </a:xfrm>
            <a:prstGeom prst="rect">
              <a:avLst/>
            </a:prstGeom>
            <a:noFill/>
            <a:ln>
              <a:noFill/>
            </a:ln>
          </p:spPr>
          <p:txBody>
            <a:bodyPr wrap="none" lIns="0" tIns="0" rIns="0" bIns="0" anchor="t" anchorCtr="0">
              <a:spAutoFit/>
            </a:bodyPr>
            <a:lstStyle/>
            <a:p>
              <a:pPr algn="l"/>
              <a:r>
                <a:rPr lang="vi-VN" sz="1650" dirty="0">
                  <a:solidFill>
                    <a:srgbClr val="6E6E6E"/>
                  </a:solidFill>
                  <a:latin typeface="Arial"/>
                  <a:ea typeface="Arial"/>
                  <a:cs typeface="Arial"/>
                </a:rPr>
                <a:t>12 yêu cầu chức năng được gom theo luồng bán hàng, kho và quản trị</a:t>
              </a:r>
            </a:p>
          </p:txBody>
        </p:sp>
      </p:grpSp>
      <p:grpSp>
        <p:nvGrpSpPr>
          <p:cNvPr id="12" name="footer"/>
          <p:cNvGrpSpPr/>
          <p:nvPr/>
        </p:nvGrpSpPr>
        <p:grpSpPr>
          <a:xfrm>
            <a:off x="680085" y="6286500"/>
            <a:ext cx="10831830" cy="327184"/>
            <a:chOff x="680085" y="6286500"/>
            <a:chExt cx="10831830" cy="327184"/>
          </a:xfrm>
        </p:grpSpPr>
        <p:sp>
          <p:nvSpPr>
            <p:cNvPr id="9" name="Freeform 9"/>
            <p:cNvSpPr/>
            <p:nvPr/>
          </p:nvSpPr>
          <p:spPr>
            <a:xfrm>
              <a:off x="685800" y="6286500"/>
              <a:ext cx="10820400" cy="9525"/>
            </a:xfrm>
            <a:custGeom>
              <a:avLst/>
              <a:gdLst/>
              <a:ahLst/>
              <a:cxnLst/>
              <a:rect l="l" t="t" r="r" b="b"/>
              <a:pathLst>
                <a:path w="10820400" h="9525">
                  <a:moveTo>
                    <a:pt x="0" y="0"/>
                  </a:moveTo>
                  <a:lnTo>
                    <a:pt x="10820400" y="0"/>
                  </a:lnTo>
                </a:path>
              </a:pathLst>
            </a:custGeom>
            <a:noFill/>
            <a:ln w="9525">
              <a:solidFill>
                <a:srgbClr val="E8E8E8"/>
              </a:solidFill>
            </a:ln>
          </p:spPr>
        </p:sp>
        <p:sp>
          <p:nvSpPr>
            <p:cNvPr id="10" name="TextBox 10"/>
            <p:cNvSpPr txBox="1"/>
            <p:nvPr/>
          </p:nvSpPr>
          <p:spPr>
            <a:xfrm>
              <a:off x="680085" y="6393656"/>
              <a:ext cx="2914269" cy="220028"/>
            </a:xfrm>
            <a:prstGeom prst="rect">
              <a:avLst/>
            </a:prstGeom>
            <a:noFill/>
            <a:ln>
              <a:noFill/>
            </a:ln>
          </p:spPr>
          <p:txBody>
            <a:bodyPr wrap="none" lIns="0" tIns="0" rIns="0" bIns="0" anchor="t" anchorCtr="0">
              <a:spAutoFit/>
            </a:bodyPr>
            <a:lstStyle/>
            <a:p>
              <a:pPr algn="l"/>
              <a:r>
                <a:rPr lang="vi-VN" sz="1120" dirty="0">
                  <a:solidFill>
                    <a:srgbClr val="6E6E6E"/>
                  </a:solidFill>
                  <a:latin typeface="Arial"/>
                  <a:ea typeface="Arial"/>
                  <a:cs typeface="Arial"/>
                </a:rPr>
                <a:t>Nhóm 04 | Lớp 765643-QTDA-VB2-20261</a:t>
              </a:r>
            </a:p>
          </p:txBody>
        </p:sp>
        <p:sp>
          <p:nvSpPr>
            <p:cNvPr id="11" name="TextBox 11"/>
            <p:cNvSpPr txBox="1"/>
            <p:nvPr/>
          </p:nvSpPr>
          <p:spPr>
            <a:xfrm>
              <a:off x="11332764" y="6393656"/>
              <a:ext cx="179151" cy="220028"/>
            </a:xfrm>
            <a:prstGeom prst="rect">
              <a:avLst/>
            </a:prstGeom>
            <a:noFill/>
            <a:ln>
              <a:noFill/>
            </a:ln>
          </p:spPr>
          <p:txBody>
            <a:bodyPr wrap="none" lIns="0" tIns="0" rIns="0" bIns="0" anchor="t" anchorCtr="0">
              <a:spAutoFit/>
            </a:bodyPr>
            <a:lstStyle/>
            <a:p>
              <a:pPr algn="r"/>
              <a:r>
                <a:rPr lang="vi-VN" sz="1120" dirty="0">
                  <a:solidFill>
                    <a:srgbClr val="6E6E6E"/>
                  </a:solidFill>
                  <a:latin typeface="Arial"/>
                  <a:ea typeface="Arial"/>
                  <a:cs typeface="Arial"/>
                </a:rPr>
                <a:t>09</a:t>
              </a:r>
            </a:p>
          </p:txBody>
        </p:sp>
      </p:grpSp>
      <p:grpSp>
        <p:nvGrpSpPr>
          <p:cNvPr id="45" name="function-modules"/>
          <p:cNvGrpSpPr/>
          <p:nvPr/>
        </p:nvGrpSpPr>
        <p:grpSpPr>
          <a:xfrm>
            <a:off x="685800" y="2476500"/>
            <a:ext cx="9906000" cy="2714625"/>
            <a:chOff x="685800" y="2476500"/>
            <a:chExt cx="9906000" cy="2714625"/>
          </a:xfrm>
        </p:grpSpPr>
        <p:sp>
          <p:nvSpPr>
            <p:cNvPr id="13" name="Rectangle 13"/>
            <p:cNvSpPr/>
            <p:nvPr/>
          </p:nvSpPr>
          <p:spPr>
            <a:xfrm>
              <a:off x="685800" y="2476500"/>
              <a:ext cx="3048000" cy="2714625"/>
            </a:xfrm>
            <a:prstGeom prst="rect">
              <a:avLst/>
            </a:prstGeom>
            <a:solidFill>
              <a:srgbClr val="F5F5F5"/>
            </a:solidFill>
            <a:ln w="9525">
              <a:solidFill>
                <a:srgbClr val="E8E8E8"/>
              </a:solidFill>
            </a:ln>
          </p:spPr>
        </p:sp>
        <p:sp>
          <p:nvSpPr>
            <p:cNvPr id="14" name="TextBox 14"/>
            <p:cNvSpPr txBox="1"/>
            <p:nvPr/>
          </p:nvSpPr>
          <p:spPr>
            <a:xfrm>
              <a:off x="942975" y="2702719"/>
              <a:ext cx="1883058" cy="366712"/>
            </a:xfrm>
            <a:prstGeom prst="rect">
              <a:avLst/>
            </a:prstGeom>
            <a:noFill/>
            <a:ln>
              <a:noFill/>
            </a:ln>
          </p:spPr>
          <p:txBody>
            <a:bodyPr wrap="none" lIns="0" tIns="0" rIns="0" bIns="0" anchor="t" anchorCtr="0">
              <a:spAutoFit/>
            </a:bodyPr>
            <a:lstStyle/>
            <a:p>
              <a:pPr algn="l"/>
              <a:r>
                <a:rPr lang="vi-VN" sz="1880" b="1" dirty="0">
                  <a:solidFill>
                    <a:srgbClr val="C8102E"/>
                  </a:solidFill>
                  <a:latin typeface="Arial"/>
                  <a:ea typeface="Arial"/>
                  <a:cs typeface="Arial"/>
                </a:rPr>
                <a:t>Quản trị dữ liệu</a:t>
              </a:r>
            </a:p>
          </p:txBody>
        </p:sp>
        <p:sp>
          <p:nvSpPr>
            <p:cNvPr id="15" name="TextBox 15"/>
            <p:cNvSpPr txBox="1"/>
            <p:nvPr/>
          </p:nvSpPr>
          <p:spPr>
            <a:xfrm>
              <a:off x="946023" y="3024664"/>
              <a:ext cx="73281" cy="249364"/>
            </a:xfrm>
            <a:prstGeom prst="rect">
              <a:avLst/>
            </a:prstGeom>
            <a:noFill/>
            <a:ln>
              <a:noFill/>
            </a:ln>
          </p:spPr>
          <p:txBody>
            <a:bodyPr wrap="none" lIns="0" tIns="0" rIns="0" bIns="0" anchor="t" anchorCtr="0">
              <a:spAutoFit/>
            </a:bodyPr>
            <a:lstStyle/>
            <a:p>
              <a:pPr algn="l"/>
              <a:r>
                <a:rPr lang="vi-VN" sz="1280" b="1" dirty="0">
                  <a:solidFill>
                    <a:srgbClr val="C8102E"/>
                  </a:solidFill>
                  <a:latin typeface="Arial"/>
                  <a:ea typeface="Arial"/>
                  <a:cs typeface="Arial"/>
                </a:rPr>
                <a:t>•</a:t>
              </a:r>
            </a:p>
          </p:txBody>
        </p:sp>
        <p:sp>
          <p:nvSpPr>
            <p:cNvPr id="16" name="TextBox 16"/>
            <p:cNvSpPr txBox="1"/>
            <p:nvPr/>
          </p:nvSpPr>
          <p:spPr>
            <a:xfrm>
              <a:off x="1174623" y="3024664"/>
              <a:ext cx="2241895" cy="249364"/>
            </a:xfrm>
            <a:prstGeom prst="rect">
              <a:avLst/>
            </a:prstGeom>
            <a:noFill/>
            <a:ln>
              <a:noFill/>
            </a:ln>
          </p:spPr>
          <p:txBody>
            <a:bodyPr wrap="none" lIns="0" tIns="0" rIns="0" bIns="0" anchor="t" anchorCtr="0">
              <a:spAutoFit/>
            </a:bodyPr>
            <a:lstStyle/>
            <a:p>
              <a:pPr algn="l"/>
              <a:r>
                <a:rPr lang="vi-VN" sz="1280" dirty="0">
                  <a:solidFill>
                    <a:srgbClr val="1A1A1A"/>
                  </a:solidFill>
                  <a:latin typeface="Arial"/>
                  <a:ea typeface="Arial"/>
                  <a:cs typeface="Arial"/>
                </a:rPr>
                <a:t>Đăng nhập, phân quyền theo</a:t>
              </a:r>
            </a:p>
          </p:txBody>
        </p:sp>
        <p:sp>
          <p:nvSpPr>
            <p:cNvPr id="17" name="TextBox 17"/>
            <p:cNvSpPr txBox="1"/>
            <p:nvPr/>
          </p:nvSpPr>
          <p:spPr>
            <a:xfrm>
              <a:off x="1174623" y="3243262"/>
              <a:ext cx="482198" cy="249364"/>
            </a:xfrm>
            <a:prstGeom prst="rect">
              <a:avLst/>
            </a:prstGeom>
            <a:noFill/>
            <a:ln>
              <a:noFill/>
            </a:ln>
          </p:spPr>
          <p:txBody>
            <a:bodyPr wrap="none" lIns="0" tIns="0" rIns="0" bIns="0" anchor="t" anchorCtr="0">
              <a:spAutoFit/>
            </a:bodyPr>
            <a:lstStyle/>
            <a:p>
              <a:pPr algn="l"/>
              <a:r>
                <a:rPr lang="vi-VN" sz="1280" dirty="0">
                  <a:solidFill>
                    <a:srgbClr val="1A1A1A"/>
                  </a:solidFill>
                  <a:latin typeface="Arial"/>
                  <a:ea typeface="Arial"/>
                  <a:cs typeface="Arial"/>
                </a:rPr>
                <a:t>vai trò</a:t>
              </a:r>
            </a:p>
          </p:txBody>
        </p:sp>
        <p:sp>
          <p:nvSpPr>
            <p:cNvPr id="18" name="TextBox 18"/>
            <p:cNvSpPr txBox="1"/>
            <p:nvPr/>
          </p:nvSpPr>
          <p:spPr>
            <a:xfrm>
              <a:off x="946023" y="3538061"/>
              <a:ext cx="73281" cy="249364"/>
            </a:xfrm>
            <a:prstGeom prst="rect">
              <a:avLst/>
            </a:prstGeom>
            <a:noFill/>
            <a:ln>
              <a:noFill/>
            </a:ln>
          </p:spPr>
          <p:txBody>
            <a:bodyPr wrap="none" lIns="0" tIns="0" rIns="0" bIns="0" anchor="t" anchorCtr="0">
              <a:spAutoFit/>
            </a:bodyPr>
            <a:lstStyle/>
            <a:p>
              <a:pPr algn="l"/>
              <a:r>
                <a:rPr lang="vi-VN" sz="1280" b="1" dirty="0">
                  <a:solidFill>
                    <a:srgbClr val="C8102E"/>
                  </a:solidFill>
                  <a:latin typeface="Arial"/>
                  <a:ea typeface="Arial"/>
                  <a:cs typeface="Arial"/>
                </a:rPr>
                <a:t>•</a:t>
              </a:r>
            </a:p>
          </p:txBody>
        </p:sp>
        <p:sp>
          <p:nvSpPr>
            <p:cNvPr id="19" name="TextBox 19"/>
            <p:cNvSpPr txBox="1"/>
            <p:nvPr/>
          </p:nvSpPr>
          <p:spPr>
            <a:xfrm>
              <a:off x="1174623" y="3538061"/>
              <a:ext cx="2135921" cy="249364"/>
            </a:xfrm>
            <a:prstGeom prst="rect">
              <a:avLst/>
            </a:prstGeom>
            <a:noFill/>
            <a:ln>
              <a:noFill/>
            </a:ln>
          </p:spPr>
          <p:txBody>
            <a:bodyPr wrap="none" lIns="0" tIns="0" rIns="0" bIns="0" anchor="t" anchorCtr="0">
              <a:spAutoFit/>
            </a:bodyPr>
            <a:lstStyle/>
            <a:p>
              <a:pPr algn="l"/>
              <a:r>
                <a:rPr lang="vi-VN" sz="1280" dirty="0">
                  <a:solidFill>
                    <a:srgbClr val="1A1A1A"/>
                  </a:solidFill>
                  <a:latin typeface="Arial"/>
                  <a:ea typeface="Arial"/>
                  <a:cs typeface="Arial"/>
                </a:rPr>
                <a:t>Khách hàng, lịch sử mua và</a:t>
              </a:r>
            </a:p>
          </p:txBody>
        </p:sp>
        <p:sp>
          <p:nvSpPr>
            <p:cNvPr id="20" name="TextBox 20"/>
            <p:cNvSpPr txBox="1"/>
            <p:nvPr/>
          </p:nvSpPr>
          <p:spPr>
            <a:xfrm>
              <a:off x="1174623" y="3756660"/>
              <a:ext cx="1411451" cy="249364"/>
            </a:xfrm>
            <a:prstGeom prst="rect">
              <a:avLst/>
            </a:prstGeom>
            <a:noFill/>
            <a:ln>
              <a:noFill/>
            </a:ln>
          </p:spPr>
          <p:txBody>
            <a:bodyPr wrap="none" lIns="0" tIns="0" rIns="0" bIns="0" anchor="t" anchorCtr="0">
              <a:spAutoFit/>
            </a:bodyPr>
            <a:lstStyle/>
            <a:p>
              <a:pPr algn="l"/>
              <a:r>
                <a:rPr lang="vi-VN" sz="1280" dirty="0">
                  <a:solidFill>
                    <a:srgbClr val="1A1A1A"/>
                  </a:solidFill>
                  <a:latin typeface="Arial"/>
                  <a:ea typeface="Arial"/>
                  <a:cs typeface="Arial"/>
                </a:rPr>
                <a:t>chăm sóc sau bán</a:t>
              </a:r>
            </a:p>
          </p:txBody>
        </p:sp>
        <p:sp>
          <p:nvSpPr>
            <p:cNvPr id="21" name="TextBox 21"/>
            <p:cNvSpPr txBox="1"/>
            <p:nvPr/>
          </p:nvSpPr>
          <p:spPr>
            <a:xfrm>
              <a:off x="946023" y="4051459"/>
              <a:ext cx="73281" cy="249364"/>
            </a:xfrm>
            <a:prstGeom prst="rect">
              <a:avLst/>
            </a:prstGeom>
            <a:noFill/>
            <a:ln>
              <a:noFill/>
            </a:ln>
          </p:spPr>
          <p:txBody>
            <a:bodyPr wrap="none" lIns="0" tIns="0" rIns="0" bIns="0" anchor="t" anchorCtr="0">
              <a:spAutoFit/>
            </a:bodyPr>
            <a:lstStyle/>
            <a:p>
              <a:pPr algn="l"/>
              <a:r>
                <a:rPr lang="vi-VN" sz="1280" b="1" dirty="0">
                  <a:solidFill>
                    <a:srgbClr val="C8102E"/>
                  </a:solidFill>
                  <a:latin typeface="Arial"/>
                  <a:ea typeface="Arial"/>
                  <a:cs typeface="Arial"/>
                </a:rPr>
                <a:t>•</a:t>
              </a:r>
            </a:p>
          </p:txBody>
        </p:sp>
        <p:sp>
          <p:nvSpPr>
            <p:cNvPr id="22" name="TextBox 22"/>
            <p:cNvSpPr txBox="1"/>
            <p:nvPr/>
          </p:nvSpPr>
          <p:spPr>
            <a:xfrm>
              <a:off x="1174623" y="4051459"/>
              <a:ext cx="2126486" cy="249364"/>
            </a:xfrm>
            <a:prstGeom prst="rect">
              <a:avLst/>
            </a:prstGeom>
            <a:noFill/>
            <a:ln>
              <a:noFill/>
            </a:ln>
          </p:spPr>
          <p:txBody>
            <a:bodyPr wrap="none" lIns="0" tIns="0" rIns="0" bIns="0" anchor="t" anchorCtr="0">
              <a:spAutoFit/>
            </a:bodyPr>
            <a:lstStyle/>
            <a:p>
              <a:pPr algn="l"/>
              <a:r>
                <a:rPr lang="vi-VN" sz="1280" dirty="0">
                  <a:solidFill>
                    <a:srgbClr val="1A1A1A"/>
                  </a:solidFill>
                  <a:latin typeface="Arial"/>
                  <a:ea typeface="Arial"/>
                  <a:cs typeface="Arial"/>
                </a:rPr>
                <a:t>Danh mục, thương hiệu, giá</a:t>
              </a:r>
            </a:p>
          </p:txBody>
        </p:sp>
        <p:sp>
          <p:nvSpPr>
            <p:cNvPr id="23" name="TextBox 23"/>
            <p:cNvSpPr txBox="1"/>
            <p:nvPr/>
          </p:nvSpPr>
          <p:spPr>
            <a:xfrm>
              <a:off x="1174623" y="4270058"/>
              <a:ext cx="1296690" cy="249364"/>
            </a:xfrm>
            <a:prstGeom prst="rect">
              <a:avLst/>
            </a:prstGeom>
            <a:noFill/>
            <a:ln>
              <a:noFill/>
            </a:ln>
          </p:spPr>
          <p:txBody>
            <a:bodyPr wrap="none" lIns="0" tIns="0" rIns="0" bIns="0" anchor="t" anchorCtr="0">
              <a:spAutoFit/>
            </a:bodyPr>
            <a:lstStyle/>
            <a:p>
              <a:pPr algn="l"/>
              <a:r>
                <a:rPr lang="vi-VN" sz="1280" dirty="0">
                  <a:solidFill>
                    <a:srgbClr val="1A1A1A"/>
                  </a:solidFill>
                  <a:latin typeface="Arial"/>
                  <a:ea typeface="Arial"/>
                  <a:cs typeface="Arial"/>
                </a:rPr>
                <a:t>và trạng thái bán</a:t>
              </a:r>
            </a:p>
          </p:txBody>
        </p:sp>
        <p:sp>
          <p:nvSpPr>
            <p:cNvPr id="24" name="Rectangle 24"/>
            <p:cNvSpPr/>
            <p:nvPr/>
          </p:nvSpPr>
          <p:spPr>
            <a:xfrm>
              <a:off x="4114800" y="2476500"/>
              <a:ext cx="3048000" cy="2714625"/>
            </a:xfrm>
            <a:prstGeom prst="rect">
              <a:avLst/>
            </a:prstGeom>
            <a:solidFill>
              <a:srgbClr val="F5F5F5"/>
            </a:solidFill>
            <a:ln w="9525">
              <a:solidFill>
                <a:srgbClr val="E8E8E8"/>
              </a:solidFill>
            </a:ln>
          </p:spPr>
        </p:sp>
        <p:sp>
          <p:nvSpPr>
            <p:cNvPr id="25" name="TextBox 25"/>
            <p:cNvSpPr txBox="1"/>
            <p:nvPr/>
          </p:nvSpPr>
          <p:spPr>
            <a:xfrm>
              <a:off x="4371975" y="2702719"/>
              <a:ext cx="2053641" cy="366712"/>
            </a:xfrm>
            <a:prstGeom prst="rect">
              <a:avLst/>
            </a:prstGeom>
            <a:noFill/>
            <a:ln>
              <a:noFill/>
            </a:ln>
          </p:spPr>
          <p:txBody>
            <a:bodyPr wrap="none" lIns="0" tIns="0" rIns="0" bIns="0" anchor="t" anchorCtr="0">
              <a:spAutoFit/>
            </a:bodyPr>
            <a:lstStyle/>
            <a:p>
              <a:pPr algn="l"/>
              <a:r>
                <a:rPr lang="vi-VN" sz="1880" b="1" dirty="0">
                  <a:solidFill>
                    <a:srgbClr val="111111"/>
                  </a:solidFill>
                  <a:latin typeface="Arial"/>
                  <a:ea typeface="Arial"/>
                  <a:cs typeface="Arial"/>
                </a:rPr>
                <a:t>Bán hàng và kho</a:t>
              </a:r>
            </a:p>
          </p:txBody>
        </p:sp>
        <p:sp>
          <p:nvSpPr>
            <p:cNvPr id="26" name="TextBox 26"/>
            <p:cNvSpPr txBox="1"/>
            <p:nvPr/>
          </p:nvSpPr>
          <p:spPr>
            <a:xfrm>
              <a:off x="4375023" y="3024664"/>
              <a:ext cx="73281" cy="249364"/>
            </a:xfrm>
            <a:prstGeom prst="rect">
              <a:avLst/>
            </a:prstGeom>
            <a:noFill/>
            <a:ln>
              <a:noFill/>
            </a:ln>
          </p:spPr>
          <p:txBody>
            <a:bodyPr wrap="none" lIns="0" tIns="0" rIns="0" bIns="0" anchor="t" anchorCtr="0">
              <a:spAutoFit/>
            </a:bodyPr>
            <a:lstStyle/>
            <a:p>
              <a:pPr algn="l"/>
              <a:r>
                <a:rPr lang="vi-VN" sz="1280" b="1" dirty="0">
                  <a:solidFill>
                    <a:srgbClr val="C8102E"/>
                  </a:solidFill>
                  <a:latin typeface="Arial"/>
                  <a:ea typeface="Arial"/>
                  <a:cs typeface="Arial"/>
                </a:rPr>
                <a:t>•</a:t>
              </a:r>
            </a:p>
          </p:txBody>
        </p:sp>
        <p:sp>
          <p:nvSpPr>
            <p:cNvPr id="27" name="TextBox 27"/>
            <p:cNvSpPr txBox="1"/>
            <p:nvPr/>
          </p:nvSpPr>
          <p:spPr>
            <a:xfrm>
              <a:off x="4603623" y="3024664"/>
              <a:ext cx="2174881" cy="249364"/>
            </a:xfrm>
            <a:prstGeom prst="rect">
              <a:avLst/>
            </a:prstGeom>
            <a:noFill/>
            <a:ln>
              <a:noFill/>
            </a:ln>
          </p:spPr>
          <p:txBody>
            <a:bodyPr wrap="none" lIns="0" tIns="0" rIns="0" bIns="0" anchor="t" anchorCtr="0">
              <a:spAutoFit/>
            </a:bodyPr>
            <a:lstStyle/>
            <a:p>
              <a:pPr algn="l"/>
              <a:r>
                <a:rPr lang="vi-VN" sz="1280" dirty="0">
                  <a:solidFill>
                    <a:srgbClr val="1A1A1A"/>
                  </a:solidFill>
                  <a:latin typeface="Arial"/>
                  <a:ea typeface="Arial"/>
                  <a:cs typeface="Arial"/>
                </a:rPr>
                <a:t>Quản lý kho, nhập, bán, hủy</a:t>
              </a:r>
            </a:p>
          </p:txBody>
        </p:sp>
        <p:sp>
          <p:nvSpPr>
            <p:cNvPr id="28" name="TextBox 28"/>
            <p:cNvSpPr txBox="1"/>
            <p:nvPr/>
          </p:nvSpPr>
          <p:spPr>
            <a:xfrm>
              <a:off x="4603623" y="3243262"/>
              <a:ext cx="836510" cy="249364"/>
            </a:xfrm>
            <a:prstGeom prst="rect">
              <a:avLst/>
            </a:prstGeom>
            <a:noFill/>
            <a:ln>
              <a:noFill/>
            </a:ln>
          </p:spPr>
          <p:txBody>
            <a:bodyPr wrap="none" lIns="0" tIns="0" rIns="0" bIns="0" anchor="t" anchorCtr="0">
              <a:spAutoFit/>
            </a:bodyPr>
            <a:lstStyle/>
            <a:p>
              <a:pPr algn="l"/>
              <a:r>
                <a:rPr lang="vi-VN" sz="1280" dirty="0">
                  <a:solidFill>
                    <a:srgbClr val="1A1A1A"/>
                  </a:solidFill>
                  <a:latin typeface="Arial"/>
                  <a:ea typeface="Arial"/>
                  <a:cs typeface="Arial"/>
                </a:rPr>
                <a:t>và kiểm kê</a:t>
              </a:r>
            </a:p>
          </p:txBody>
        </p:sp>
        <p:sp>
          <p:nvSpPr>
            <p:cNvPr id="29" name="TextBox 29"/>
            <p:cNvSpPr txBox="1"/>
            <p:nvPr/>
          </p:nvSpPr>
          <p:spPr>
            <a:xfrm>
              <a:off x="4375023" y="3538061"/>
              <a:ext cx="73281" cy="249364"/>
            </a:xfrm>
            <a:prstGeom prst="rect">
              <a:avLst/>
            </a:prstGeom>
            <a:noFill/>
            <a:ln>
              <a:noFill/>
            </a:ln>
          </p:spPr>
          <p:txBody>
            <a:bodyPr wrap="none" lIns="0" tIns="0" rIns="0" bIns="0" anchor="t" anchorCtr="0">
              <a:spAutoFit/>
            </a:bodyPr>
            <a:lstStyle/>
            <a:p>
              <a:pPr algn="l"/>
              <a:r>
                <a:rPr lang="vi-VN" sz="1280" b="1" dirty="0">
                  <a:solidFill>
                    <a:srgbClr val="C8102E"/>
                  </a:solidFill>
                  <a:latin typeface="Arial"/>
                  <a:ea typeface="Arial"/>
                  <a:cs typeface="Arial"/>
                </a:rPr>
                <a:t>•</a:t>
              </a:r>
            </a:p>
          </p:txBody>
        </p:sp>
        <p:sp>
          <p:nvSpPr>
            <p:cNvPr id="30" name="TextBox 30"/>
            <p:cNvSpPr txBox="1"/>
            <p:nvPr/>
          </p:nvSpPr>
          <p:spPr>
            <a:xfrm>
              <a:off x="4603623" y="3538061"/>
              <a:ext cx="2172164" cy="249364"/>
            </a:xfrm>
            <a:prstGeom prst="rect">
              <a:avLst/>
            </a:prstGeom>
            <a:noFill/>
            <a:ln>
              <a:noFill/>
            </a:ln>
          </p:spPr>
          <p:txBody>
            <a:bodyPr wrap="none" lIns="0" tIns="0" rIns="0" bIns="0" anchor="t" anchorCtr="0">
              <a:spAutoFit/>
            </a:bodyPr>
            <a:lstStyle/>
            <a:p>
              <a:pPr algn="l"/>
              <a:r>
                <a:rPr lang="vi-VN" sz="1280" dirty="0">
                  <a:solidFill>
                    <a:srgbClr val="1A1A1A"/>
                  </a:solidFill>
                  <a:latin typeface="Arial"/>
                  <a:ea typeface="Arial"/>
                  <a:cs typeface="Arial"/>
                </a:rPr>
                <a:t>Theo dõi Serial/IMEI và bảo</a:t>
              </a:r>
            </a:p>
          </p:txBody>
        </p:sp>
        <p:sp>
          <p:nvSpPr>
            <p:cNvPr id="31" name="TextBox 31"/>
            <p:cNvSpPr txBox="1"/>
            <p:nvPr/>
          </p:nvSpPr>
          <p:spPr>
            <a:xfrm>
              <a:off x="4603623" y="3756660"/>
              <a:ext cx="396317" cy="249364"/>
            </a:xfrm>
            <a:prstGeom prst="rect">
              <a:avLst/>
            </a:prstGeom>
            <a:noFill/>
            <a:ln>
              <a:noFill/>
            </a:ln>
          </p:spPr>
          <p:txBody>
            <a:bodyPr wrap="none" lIns="0" tIns="0" rIns="0" bIns="0" anchor="t" anchorCtr="0">
              <a:spAutoFit/>
            </a:bodyPr>
            <a:lstStyle/>
            <a:p>
              <a:pPr algn="l"/>
              <a:r>
                <a:rPr lang="vi-VN" sz="1280" dirty="0">
                  <a:solidFill>
                    <a:srgbClr val="1A1A1A"/>
                  </a:solidFill>
                  <a:latin typeface="Arial"/>
                  <a:ea typeface="Arial"/>
                  <a:cs typeface="Arial"/>
                </a:rPr>
                <a:t>hành</a:t>
              </a:r>
            </a:p>
          </p:txBody>
        </p:sp>
        <p:sp>
          <p:nvSpPr>
            <p:cNvPr id="32" name="TextBox 32"/>
            <p:cNvSpPr txBox="1"/>
            <p:nvPr/>
          </p:nvSpPr>
          <p:spPr>
            <a:xfrm>
              <a:off x="4375023" y="4051459"/>
              <a:ext cx="73281" cy="249364"/>
            </a:xfrm>
            <a:prstGeom prst="rect">
              <a:avLst/>
            </a:prstGeom>
            <a:noFill/>
            <a:ln>
              <a:noFill/>
            </a:ln>
          </p:spPr>
          <p:txBody>
            <a:bodyPr wrap="none" lIns="0" tIns="0" rIns="0" bIns="0" anchor="t" anchorCtr="0">
              <a:spAutoFit/>
            </a:bodyPr>
            <a:lstStyle/>
            <a:p>
              <a:pPr algn="l"/>
              <a:r>
                <a:rPr lang="vi-VN" sz="1280" b="1" dirty="0">
                  <a:solidFill>
                    <a:srgbClr val="C8102E"/>
                  </a:solidFill>
                  <a:latin typeface="Arial"/>
                  <a:ea typeface="Arial"/>
                  <a:cs typeface="Arial"/>
                </a:rPr>
                <a:t>•</a:t>
              </a:r>
            </a:p>
          </p:txBody>
        </p:sp>
        <p:sp>
          <p:nvSpPr>
            <p:cNvPr id="33" name="TextBox 33"/>
            <p:cNvSpPr txBox="1"/>
            <p:nvPr/>
          </p:nvSpPr>
          <p:spPr>
            <a:xfrm>
              <a:off x="4603623" y="4051459"/>
              <a:ext cx="2250805" cy="249364"/>
            </a:xfrm>
            <a:prstGeom prst="rect">
              <a:avLst/>
            </a:prstGeom>
            <a:noFill/>
            <a:ln>
              <a:noFill/>
            </a:ln>
          </p:spPr>
          <p:txBody>
            <a:bodyPr wrap="none" lIns="0" tIns="0" rIns="0" bIns="0" anchor="t" anchorCtr="0">
              <a:spAutoFit/>
            </a:bodyPr>
            <a:lstStyle/>
            <a:p>
              <a:pPr algn="l"/>
              <a:r>
                <a:rPr lang="vi-VN" sz="1280" dirty="0">
                  <a:solidFill>
                    <a:srgbClr val="1A1A1A"/>
                  </a:solidFill>
                  <a:latin typeface="Arial"/>
                  <a:ea typeface="Arial"/>
                  <a:cs typeface="Arial"/>
                </a:rPr>
                <a:t>Cập nhật trạng thái đơn hàng</a:t>
              </a:r>
            </a:p>
          </p:txBody>
        </p:sp>
        <p:sp>
          <p:nvSpPr>
            <p:cNvPr id="34" name="TextBox 34"/>
            <p:cNvSpPr txBox="1"/>
            <p:nvPr/>
          </p:nvSpPr>
          <p:spPr>
            <a:xfrm>
              <a:off x="4603623" y="4270058"/>
              <a:ext cx="1057312" cy="249364"/>
            </a:xfrm>
            <a:prstGeom prst="rect">
              <a:avLst/>
            </a:prstGeom>
            <a:noFill/>
            <a:ln>
              <a:noFill/>
            </a:ln>
          </p:spPr>
          <p:txBody>
            <a:bodyPr wrap="none" lIns="0" tIns="0" rIns="0" bIns="0" anchor="t" anchorCtr="0">
              <a:spAutoFit/>
            </a:bodyPr>
            <a:lstStyle/>
            <a:p>
              <a:pPr algn="l"/>
              <a:r>
                <a:rPr lang="vi-VN" sz="1280" dirty="0">
                  <a:solidFill>
                    <a:srgbClr val="1A1A1A"/>
                  </a:solidFill>
                  <a:latin typeface="Arial"/>
                  <a:ea typeface="Arial"/>
                  <a:cs typeface="Arial"/>
                </a:rPr>
                <a:t>và thanh toán</a:t>
              </a:r>
            </a:p>
          </p:txBody>
        </p:sp>
        <p:sp>
          <p:nvSpPr>
            <p:cNvPr id="35" name="Rectangle 35"/>
            <p:cNvSpPr/>
            <p:nvPr/>
          </p:nvSpPr>
          <p:spPr>
            <a:xfrm>
              <a:off x="7543800" y="2476500"/>
              <a:ext cx="3048000" cy="2714625"/>
            </a:xfrm>
            <a:prstGeom prst="rect">
              <a:avLst/>
            </a:prstGeom>
            <a:solidFill>
              <a:srgbClr val="F5F5F5"/>
            </a:solidFill>
            <a:ln w="9525">
              <a:solidFill>
                <a:srgbClr val="E8E8E8"/>
              </a:solidFill>
            </a:ln>
          </p:spPr>
        </p:sp>
        <p:sp>
          <p:nvSpPr>
            <p:cNvPr id="36" name="TextBox 36"/>
            <p:cNvSpPr txBox="1"/>
            <p:nvPr/>
          </p:nvSpPr>
          <p:spPr>
            <a:xfrm>
              <a:off x="7800975" y="2702719"/>
              <a:ext cx="2602443" cy="366712"/>
            </a:xfrm>
            <a:prstGeom prst="rect">
              <a:avLst/>
            </a:prstGeom>
            <a:noFill/>
            <a:ln>
              <a:noFill/>
            </a:ln>
          </p:spPr>
          <p:txBody>
            <a:bodyPr wrap="none" lIns="0" tIns="0" rIns="0" bIns="0" anchor="t" anchorCtr="0">
              <a:spAutoFit/>
            </a:bodyPr>
            <a:lstStyle/>
            <a:p>
              <a:pPr algn="l"/>
              <a:r>
                <a:rPr lang="vi-VN" sz="1880" b="1" dirty="0">
                  <a:solidFill>
                    <a:srgbClr val="C8102E"/>
                  </a:solidFill>
                  <a:latin typeface="Arial"/>
                  <a:ea typeface="Arial"/>
                  <a:cs typeface="Arial"/>
                </a:rPr>
                <a:t>Báo cáo và kiểm soát</a:t>
              </a:r>
            </a:p>
          </p:txBody>
        </p:sp>
        <p:sp>
          <p:nvSpPr>
            <p:cNvPr id="37" name="TextBox 37"/>
            <p:cNvSpPr txBox="1"/>
            <p:nvPr/>
          </p:nvSpPr>
          <p:spPr>
            <a:xfrm>
              <a:off x="7804023" y="3024664"/>
              <a:ext cx="73281" cy="249364"/>
            </a:xfrm>
            <a:prstGeom prst="rect">
              <a:avLst/>
            </a:prstGeom>
            <a:noFill/>
            <a:ln>
              <a:noFill/>
            </a:ln>
          </p:spPr>
          <p:txBody>
            <a:bodyPr wrap="none" lIns="0" tIns="0" rIns="0" bIns="0" anchor="t" anchorCtr="0">
              <a:spAutoFit/>
            </a:bodyPr>
            <a:lstStyle/>
            <a:p>
              <a:pPr algn="l"/>
              <a:r>
                <a:rPr lang="vi-VN" sz="1280" b="1" dirty="0">
                  <a:solidFill>
                    <a:srgbClr val="C8102E"/>
                  </a:solidFill>
                  <a:latin typeface="Arial"/>
                  <a:ea typeface="Arial"/>
                  <a:cs typeface="Arial"/>
                </a:rPr>
                <a:t>•</a:t>
              </a:r>
            </a:p>
          </p:txBody>
        </p:sp>
        <p:sp>
          <p:nvSpPr>
            <p:cNvPr id="38" name="TextBox 38"/>
            <p:cNvSpPr txBox="1"/>
            <p:nvPr/>
          </p:nvSpPr>
          <p:spPr>
            <a:xfrm>
              <a:off x="8032623" y="3024664"/>
              <a:ext cx="2212403" cy="249364"/>
            </a:xfrm>
            <a:prstGeom prst="rect">
              <a:avLst/>
            </a:prstGeom>
            <a:noFill/>
            <a:ln>
              <a:noFill/>
            </a:ln>
          </p:spPr>
          <p:txBody>
            <a:bodyPr wrap="none" lIns="0" tIns="0" rIns="0" bIns="0" anchor="t" anchorCtr="0">
              <a:spAutoFit/>
            </a:bodyPr>
            <a:lstStyle/>
            <a:p>
              <a:pPr algn="l"/>
              <a:r>
                <a:rPr lang="vi-VN" sz="1280" dirty="0">
                  <a:solidFill>
                    <a:srgbClr val="1A1A1A"/>
                  </a:solidFill>
                  <a:latin typeface="Arial"/>
                  <a:ea typeface="Arial"/>
                  <a:cs typeface="Arial"/>
                </a:rPr>
                <a:t>Tìm kiếm theo mã, tên, hãng</a:t>
              </a:r>
            </a:p>
          </p:txBody>
        </p:sp>
        <p:sp>
          <p:nvSpPr>
            <p:cNvPr id="39" name="TextBox 39"/>
            <p:cNvSpPr txBox="1"/>
            <p:nvPr/>
          </p:nvSpPr>
          <p:spPr>
            <a:xfrm>
              <a:off x="7804023" y="3319462"/>
              <a:ext cx="73281" cy="249364"/>
            </a:xfrm>
            <a:prstGeom prst="rect">
              <a:avLst/>
            </a:prstGeom>
            <a:noFill/>
            <a:ln>
              <a:noFill/>
            </a:ln>
          </p:spPr>
          <p:txBody>
            <a:bodyPr wrap="none" lIns="0" tIns="0" rIns="0" bIns="0" anchor="t" anchorCtr="0">
              <a:spAutoFit/>
            </a:bodyPr>
            <a:lstStyle/>
            <a:p>
              <a:pPr algn="l"/>
              <a:r>
                <a:rPr lang="vi-VN" sz="1280" b="1" dirty="0">
                  <a:solidFill>
                    <a:srgbClr val="C8102E"/>
                  </a:solidFill>
                  <a:latin typeface="Arial"/>
                  <a:ea typeface="Arial"/>
                  <a:cs typeface="Arial"/>
                </a:rPr>
                <a:t>•</a:t>
              </a:r>
            </a:p>
          </p:txBody>
        </p:sp>
        <p:sp>
          <p:nvSpPr>
            <p:cNvPr id="40" name="TextBox 40"/>
            <p:cNvSpPr txBox="1"/>
            <p:nvPr/>
          </p:nvSpPr>
          <p:spPr>
            <a:xfrm>
              <a:off x="8032623" y="3319462"/>
              <a:ext cx="2174733" cy="249364"/>
            </a:xfrm>
            <a:prstGeom prst="rect">
              <a:avLst/>
            </a:prstGeom>
            <a:noFill/>
            <a:ln>
              <a:noFill/>
            </a:ln>
          </p:spPr>
          <p:txBody>
            <a:bodyPr wrap="none" lIns="0" tIns="0" rIns="0" bIns="0" anchor="t" anchorCtr="0">
              <a:spAutoFit/>
            </a:bodyPr>
            <a:lstStyle/>
            <a:p>
              <a:pPr algn="l"/>
              <a:r>
                <a:rPr lang="vi-VN" sz="1280" dirty="0">
                  <a:solidFill>
                    <a:srgbClr val="1A1A1A"/>
                  </a:solidFill>
                  <a:latin typeface="Arial"/>
                  <a:ea typeface="Arial"/>
                  <a:cs typeface="Arial"/>
                </a:rPr>
                <a:t>Báo cáo doanh thu, tồn kho,</a:t>
              </a:r>
            </a:p>
          </p:txBody>
        </p:sp>
        <p:sp>
          <p:nvSpPr>
            <p:cNvPr id="41" name="TextBox 41"/>
            <p:cNvSpPr txBox="1"/>
            <p:nvPr/>
          </p:nvSpPr>
          <p:spPr>
            <a:xfrm>
              <a:off x="8032623" y="3538061"/>
              <a:ext cx="712340" cy="249364"/>
            </a:xfrm>
            <a:prstGeom prst="rect">
              <a:avLst/>
            </a:prstGeom>
            <a:noFill/>
            <a:ln>
              <a:noFill/>
            </a:ln>
          </p:spPr>
          <p:txBody>
            <a:bodyPr wrap="none" lIns="0" tIns="0" rIns="0" bIns="0" anchor="t" anchorCtr="0">
              <a:spAutoFit/>
            </a:bodyPr>
            <a:lstStyle/>
            <a:p>
              <a:pPr algn="l"/>
              <a:r>
                <a:rPr lang="vi-VN" sz="1280" dirty="0">
                  <a:solidFill>
                    <a:srgbClr val="1A1A1A"/>
                  </a:solidFill>
                  <a:latin typeface="Arial"/>
                  <a:ea typeface="Arial"/>
                  <a:cs typeface="Arial"/>
                </a:rPr>
                <a:t>bán chạy</a:t>
              </a:r>
            </a:p>
          </p:txBody>
        </p:sp>
        <p:sp>
          <p:nvSpPr>
            <p:cNvPr id="42" name="TextBox 42"/>
            <p:cNvSpPr txBox="1"/>
            <p:nvPr/>
          </p:nvSpPr>
          <p:spPr>
            <a:xfrm>
              <a:off x="7804023" y="3832860"/>
              <a:ext cx="73281" cy="249364"/>
            </a:xfrm>
            <a:prstGeom prst="rect">
              <a:avLst/>
            </a:prstGeom>
            <a:noFill/>
            <a:ln>
              <a:noFill/>
            </a:ln>
          </p:spPr>
          <p:txBody>
            <a:bodyPr wrap="none" lIns="0" tIns="0" rIns="0" bIns="0" anchor="t" anchorCtr="0">
              <a:spAutoFit/>
            </a:bodyPr>
            <a:lstStyle/>
            <a:p>
              <a:pPr algn="l"/>
              <a:r>
                <a:rPr lang="vi-VN" sz="1280" b="1" dirty="0">
                  <a:solidFill>
                    <a:srgbClr val="C8102E"/>
                  </a:solidFill>
                  <a:latin typeface="Arial"/>
                  <a:ea typeface="Arial"/>
                  <a:cs typeface="Arial"/>
                </a:rPr>
                <a:t>•</a:t>
              </a:r>
            </a:p>
          </p:txBody>
        </p:sp>
        <p:sp>
          <p:nvSpPr>
            <p:cNvPr id="43" name="TextBox 43"/>
            <p:cNvSpPr txBox="1"/>
            <p:nvPr/>
          </p:nvSpPr>
          <p:spPr>
            <a:xfrm>
              <a:off x="8032623" y="3832860"/>
              <a:ext cx="1915191" cy="249364"/>
            </a:xfrm>
            <a:prstGeom prst="rect">
              <a:avLst/>
            </a:prstGeom>
            <a:noFill/>
            <a:ln>
              <a:noFill/>
            </a:ln>
          </p:spPr>
          <p:txBody>
            <a:bodyPr wrap="none" lIns="0" tIns="0" rIns="0" bIns="0" anchor="t" anchorCtr="0">
              <a:spAutoFit/>
            </a:bodyPr>
            <a:lstStyle/>
            <a:p>
              <a:pPr algn="l"/>
              <a:r>
                <a:rPr lang="vi-VN" sz="1280" dirty="0">
                  <a:solidFill>
                    <a:srgbClr val="1A1A1A"/>
                  </a:solidFill>
                  <a:latin typeface="Arial"/>
                  <a:ea typeface="Arial"/>
                  <a:cs typeface="Arial"/>
                </a:rPr>
                <a:t>Nhật ký thao tác phục vụ</a:t>
              </a:r>
            </a:p>
          </p:txBody>
        </p:sp>
        <p:sp>
          <p:nvSpPr>
            <p:cNvPr id="44" name="TextBox 44"/>
            <p:cNvSpPr txBox="1"/>
            <p:nvPr/>
          </p:nvSpPr>
          <p:spPr>
            <a:xfrm>
              <a:off x="8032623" y="4051459"/>
              <a:ext cx="577936" cy="249364"/>
            </a:xfrm>
            <a:prstGeom prst="rect">
              <a:avLst/>
            </a:prstGeom>
            <a:noFill/>
            <a:ln>
              <a:noFill/>
            </a:ln>
          </p:spPr>
          <p:txBody>
            <a:bodyPr wrap="none" lIns="0" tIns="0" rIns="0" bIns="0" anchor="t" anchorCtr="0">
              <a:spAutoFit/>
            </a:bodyPr>
            <a:lstStyle/>
            <a:p>
              <a:pPr algn="l"/>
              <a:r>
                <a:rPr lang="vi-VN" sz="1280" dirty="0">
                  <a:solidFill>
                    <a:srgbClr val="1A1A1A"/>
                  </a:solidFill>
                  <a:latin typeface="Arial"/>
                  <a:ea typeface="Arial"/>
                  <a:cs typeface="Arial"/>
                </a:rPr>
                <a:t>truy vết</a:t>
              </a:r>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bg-fill"/>
          <p:cNvSpPr/>
          <p:nvPr/>
        </p:nvSpPr>
        <p:spPr>
          <a:xfrm>
            <a:off x="-9525" y="-9525"/>
            <a:ext cx="12211050" cy="6877050"/>
          </a:xfrm>
          <a:prstGeom prst="rect">
            <a:avLst/>
          </a:prstGeom>
          <a:solidFill>
            <a:srgbClr val="FFFFFF"/>
          </a:solidFill>
          <a:ln>
            <a:noFill/>
          </a:ln>
        </p:spPr>
      </p:sp>
      <p:grpSp>
        <p:nvGrpSpPr>
          <p:cNvPr id="5" name="top-rule"/>
          <p:cNvGrpSpPr/>
          <p:nvPr/>
        </p:nvGrpSpPr>
        <p:grpSpPr>
          <a:xfrm>
            <a:off x="685800" y="723900"/>
            <a:ext cx="10820400" cy="38100"/>
            <a:chOff x="685800" y="723900"/>
            <a:chExt cx="10820400" cy="38100"/>
          </a:xfrm>
        </p:grpSpPr>
        <p:sp>
          <p:nvSpPr>
            <p:cNvPr id="3" name="Rectangle 3"/>
            <p:cNvSpPr/>
            <p:nvPr/>
          </p:nvSpPr>
          <p:spPr>
            <a:xfrm>
              <a:off x="685800" y="723900"/>
              <a:ext cx="10820400" cy="38100"/>
            </a:xfrm>
            <a:prstGeom prst="rect">
              <a:avLst/>
            </a:prstGeom>
            <a:solidFill>
              <a:srgbClr val="E8E8E8"/>
            </a:solidFill>
            <a:ln>
              <a:noFill/>
            </a:ln>
          </p:spPr>
        </p:sp>
        <p:sp>
          <p:nvSpPr>
            <p:cNvPr id="4" name="Rectangle 4"/>
            <p:cNvSpPr/>
            <p:nvPr/>
          </p:nvSpPr>
          <p:spPr>
            <a:xfrm>
              <a:off x="685800" y="723900"/>
              <a:ext cx="5410200" cy="38100"/>
            </a:xfrm>
            <a:prstGeom prst="rect">
              <a:avLst/>
            </a:prstGeom>
            <a:solidFill>
              <a:srgbClr val="C8102E"/>
            </a:solidFill>
            <a:ln>
              <a:noFill/>
            </a:ln>
          </p:spPr>
        </p:sp>
      </p:grpSp>
      <p:grpSp>
        <p:nvGrpSpPr>
          <p:cNvPr id="8" name="title"/>
          <p:cNvGrpSpPr/>
          <p:nvPr/>
        </p:nvGrpSpPr>
        <p:grpSpPr>
          <a:xfrm>
            <a:off x="652272" y="977265"/>
            <a:ext cx="7479742" cy="1193482"/>
            <a:chOff x="652272" y="977265"/>
            <a:chExt cx="7479742" cy="1193482"/>
          </a:xfrm>
        </p:grpSpPr>
        <p:sp>
          <p:nvSpPr>
            <p:cNvPr id="6" name="TextBox 6"/>
            <p:cNvSpPr txBox="1"/>
            <p:nvPr/>
          </p:nvSpPr>
          <p:spPr>
            <a:xfrm>
              <a:off x="652272" y="977265"/>
              <a:ext cx="7479742" cy="645414"/>
            </a:xfrm>
            <a:prstGeom prst="rect">
              <a:avLst/>
            </a:prstGeom>
            <a:noFill/>
            <a:ln>
              <a:noFill/>
            </a:ln>
          </p:spPr>
          <p:txBody>
            <a:bodyPr wrap="none" lIns="0" tIns="0" rIns="0" bIns="0" anchor="t" anchorCtr="0">
              <a:spAutoFit/>
            </a:bodyPr>
            <a:lstStyle/>
            <a:p>
              <a:pPr algn="l"/>
              <a:r>
                <a:rPr lang="vi-VN" sz="3300" b="1" dirty="0">
                  <a:solidFill>
                    <a:srgbClr val="111111"/>
                  </a:solidFill>
                  <a:latin typeface="Arial"/>
                  <a:ea typeface="Arial"/>
                  <a:cs typeface="Arial"/>
                </a:rPr>
                <a:t>Yêu cầu phi chức năng và kiến trúc</a:t>
              </a:r>
            </a:p>
          </p:txBody>
        </p:sp>
        <p:sp>
          <p:nvSpPr>
            <p:cNvPr id="7" name="TextBox 7"/>
            <p:cNvSpPr txBox="1"/>
            <p:nvPr/>
          </p:nvSpPr>
          <p:spPr>
            <a:xfrm>
              <a:off x="677418" y="1848040"/>
              <a:ext cx="5898737" cy="322707"/>
            </a:xfrm>
            <a:prstGeom prst="rect">
              <a:avLst/>
            </a:prstGeom>
            <a:noFill/>
            <a:ln>
              <a:noFill/>
            </a:ln>
          </p:spPr>
          <p:txBody>
            <a:bodyPr wrap="none" lIns="0" tIns="0" rIns="0" bIns="0" anchor="t" anchorCtr="0">
              <a:spAutoFit/>
            </a:bodyPr>
            <a:lstStyle/>
            <a:p>
              <a:pPr algn="l"/>
              <a:r>
                <a:rPr lang="vi-VN" sz="1650" dirty="0">
                  <a:solidFill>
                    <a:srgbClr val="6E6E6E"/>
                  </a:solidFill>
                  <a:latin typeface="Arial"/>
                  <a:ea typeface="Arial"/>
                  <a:cs typeface="Arial"/>
                </a:rPr>
                <a:t>Kiến trúc tách lớp: giao diện, API nghiệp vụ và cơ sở dữ liệu</a:t>
              </a:r>
            </a:p>
          </p:txBody>
        </p:sp>
      </p:grpSp>
      <p:grpSp>
        <p:nvGrpSpPr>
          <p:cNvPr id="12" name="footer"/>
          <p:cNvGrpSpPr/>
          <p:nvPr/>
        </p:nvGrpSpPr>
        <p:grpSpPr>
          <a:xfrm>
            <a:off x="680085" y="6286500"/>
            <a:ext cx="10831830" cy="327184"/>
            <a:chOff x="680085" y="6286500"/>
            <a:chExt cx="10831830" cy="327184"/>
          </a:xfrm>
        </p:grpSpPr>
        <p:sp>
          <p:nvSpPr>
            <p:cNvPr id="9" name="Freeform 9"/>
            <p:cNvSpPr/>
            <p:nvPr/>
          </p:nvSpPr>
          <p:spPr>
            <a:xfrm>
              <a:off x="685800" y="6286500"/>
              <a:ext cx="10820400" cy="9525"/>
            </a:xfrm>
            <a:custGeom>
              <a:avLst/>
              <a:gdLst/>
              <a:ahLst/>
              <a:cxnLst/>
              <a:rect l="l" t="t" r="r" b="b"/>
              <a:pathLst>
                <a:path w="10820400" h="9525">
                  <a:moveTo>
                    <a:pt x="0" y="0"/>
                  </a:moveTo>
                  <a:lnTo>
                    <a:pt x="10820400" y="0"/>
                  </a:lnTo>
                </a:path>
              </a:pathLst>
            </a:custGeom>
            <a:noFill/>
            <a:ln w="9525">
              <a:solidFill>
                <a:srgbClr val="E8E8E8"/>
              </a:solidFill>
            </a:ln>
          </p:spPr>
        </p:sp>
        <p:sp>
          <p:nvSpPr>
            <p:cNvPr id="10" name="TextBox 10"/>
            <p:cNvSpPr txBox="1"/>
            <p:nvPr/>
          </p:nvSpPr>
          <p:spPr>
            <a:xfrm>
              <a:off x="680085" y="6393656"/>
              <a:ext cx="2914269" cy="220028"/>
            </a:xfrm>
            <a:prstGeom prst="rect">
              <a:avLst/>
            </a:prstGeom>
            <a:noFill/>
            <a:ln>
              <a:noFill/>
            </a:ln>
          </p:spPr>
          <p:txBody>
            <a:bodyPr wrap="none" lIns="0" tIns="0" rIns="0" bIns="0" anchor="t" anchorCtr="0">
              <a:spAutoFit/>
            </a:bodyPr>
            <a:lstStyle/>
            <a:p>
              <a:pPr algn="l"/>
              <a:r>
                <a:rPr lang="vi-VN" sz="1120" dirty="0">
                  <a:solidFill>
                    <a:srgbClr val="6E6E6E"/>
                  </a:solidFill>
                  <a:latin typeface="Arial"/>
                  <a:ea typeface="Arial"/>
                  <a:cs typeface="Arial"/>
                </a:rPr>
                <a:t>Nhóm 04 | Lớp 765643-QTDA-VB2-20261</a:t>
              </a:r>
            </a:p>
          </p:txBody>
        </p:sp>
        <p:sp>
          <p:nvSpPr>
            <p:cNvPr id="11" name="TextBox 11"/>
            <p:cNvSpPr txBox="1"/>
            <p:nvPr/>
          </p:nvSpPr>
          <p:spPr>
            <a:xfrm>
              <a:off x="11332764" y="6393656"/>
              <a:ext cx="179151" cy="220028"/>
            </a:xfrm>
            <a:prstGeom prst="rect">
              <a:avLst/>
            </a:prstGeom>
            <a:noFill/>
            <a:ln>
              <a:noFill/>
            </a:ln>
          </p:spPr>
          <p:txBody>
            <a:bodyPr wrap="none" lIns="0" tIns="0" rIns="0" bIns="0" anchor="t" anchorCtr="0">
              <a:spAutoFit/>
            </a:bodyPr>
            <a:lstStyle/>
            <a:p>
              <a:pPr algn="r"/>
              <a:r>
                <a:rPr lang="vi-VN" sz="1120" dirty="0">
                  <a:solidFill>
                    <a:srgbClr val="6E6E6E"/>
                  </a:solidFill>
                  <a:latin typeface="Arial"/>
                  <a:ea typeface="Arial"/>
                  <a:cs typeface="Arial"/>
                </a:rPr>
                <a:t>10</a:t>
              </a:r>
            </a:p>
          </p:txBody>
        </p:sp>
      </p:grpSp>
      <p:grpSp>
        <p:nvGrpSpPr>
          <p:cNvPr id="25" name="nfr-list"/>
          <p:cNvGrpSpPr/>
          <p:nvPr/>
        </p:nvGrpSpPr>
        <p:grpSpPr>
          <a:xfrm>
            <a:off x="677799" y="2306479"/>
            <a:ext cx="5963615" cy="2484025"/>
            <a:chOff x="677799" y="2306479"/>
            <a:chExt cx="5963615" cy="2484025"/>
          </a:xfrm>
        </p:grpSpPr>
        <p:sp>
          <p:nvSpPr>
            <p:cNvPr id="13" name="TextBox 13"/>
            <p:cNvSpPr txBox="1"/>
            <p:nvPr/>
          </p:nvSpPr>
          <p:spPr>
            <a:xfrm>
              <a:off x="677799" y="2306479"/>
              <a:ext cx="90468" cy="308039"/>
            </a:xfrm>
            <a:prstGeom prst="rect">
              <a:avLst/>
            </a:prstGeom>
            <a:noFill/>
            <a:ln>
              <a:noFill/>
            </a:ln>
          </p:spPr>
          <p:txBody>
            <a:bodyPr wrap="none" lIns="0" tIns="0" rIns="0" bIns="0" anchor="t" anchorCtr="0">
              <a:spAutoFit/>
            </a:bodyPr>
            <a:lstStyle/>
            <a:p>
              <a:pPr algn="l"/>
              <a:r>
                <a:rPr lang="vi-VN" sz="1580" b="1" dirty="0">
                  <a:solidFill>
                    <a:srgbClr val="C8102E"/>
                  </a:solidFill>
                  <a:latin typeface="Arial"/>
                  <a:ea typeface="Arial"/>
                  <a:cs typeface="Arial"/>
                </a:rPr>
                <a:t>•</a:t>
              </a:r>
            </a:p>
          </p:txBody>
        </p:sp>
        <p:sp>
          <p:nvSpPr>
            <p:cNvPr id="14" name="TextBox 14"/>
            <p:cNvSpPr txBox="1"/>
            <p:nvPr/>
          </p:nvSpPr>
          <p:spPr>
            <a:xfrm>
              <a:off x="906399" y="2306479"/>
              <a:ext cx="5735015" cy="308039"/>
            </a:xfrm>
            <a:prstGeom prst="rect">
              <a:avLst/>
            </a:prstGeom>
            <a:noFill/>
            <a:ln>
              <a:noFill/>
            </a:ln>
          </p:spPr>
          <p:txBody>
            <a:bodyPr wrap="none" lIns="0" tIns="0" rIns="0" bIns="0" anchor="t" anchorCtr="0">
              <a:spAutoFit/>
            </a:bodyPr>
            <a:lstStyle/>
            <a:p>
              <a:pPr algn="l"/>
              <a:r>
                <a:rPr lang="vi-VN" sz="1580" dirty="0">
                  <a:solidFill>
                    <a:srgbClr val="1A1A1A"/>
                  </a:solidFill>
                  <a:latin typeface="Arial"/>
                  <a:ea typeface="Arial"/>
                  <a:cs typeface="Arial"/>
                </a:rPr>
                <a:t>Dễ sử dụng cho nhân viên quen làm thủ công qua sổ giấy và</a:t>
              </a:r>
            </a:p>
          </p:txBody>
        </p:sp>
        <p:sp>
          <p:nvSpPr>
            <p:cNvPr id="15" name="TextBox 15"/>
            <p:cNvSpPr txBox="1"/>
            <p:nvPr/>
          </p:nvSpPr>
          <p:spPr>
            <a:xfrm>
              <a:off x="906399" y="2576512"/>
              <a:ext cx="542026" cy="308039"/>
            </a:xfrm>
            <a:prstGeom prst="rect">
              <a:avLst/>
            </a:prstGeom>
            <a:noFill/>
            <a:ln>
              <a:noFill/>
            </a:ln>
          </p:spPr>
          <p:txBody>
            <a:bodyPr wrap="none" lIns="0" tIns="0" rIns="0" bIns="0" anchor="t" anchorCtr="0">
              <a:spAutoFit/>
            </a:bodyPr>
            <a:lstStyle/>
            <a:p>
              <a:pPr algn="l"/>
              <a:r>
                <a:rPr lang="vi-VN" sz="1580" dirty="0">
                  <a:solidFill>
                    <a:srgbClr val="1A1A1A"/>
                  </a:solidFill>
                  <a:latin typeface="Arial"/>
                  <a:ea typeface="Arial"/>
                  <a:cs typeface="Arial"/>
                </a:rPr>
                <a:t>Excel</a:t>
              </a:r>
            </a:p>
          </p:txBody>
        </p:sp>
        <p:sp>
          <p:nvSpPr>
            <p:cNvPr id="16" name="TextBox 16"/>
            <p:cNvSpPr txBox="1"/>
            <p:nvPr/>
          </p:nvSpPr>
          <p:spPr>
            <a:xfrm>
              <a:off x="677799" y="2941796"/>
              <a:ext cx="90468" cy="308039"/>
            </a:xfrm>
            <a:prstGeom prst="rect">
              <a:avLst/>
            </a:prstGeom>
            <a:noFill/>
            <a:ln>
              <a:noFill/>
            </a:ln>
          </p:spPr>
          <p:txBody>
            <a:bodyPr wrap="none" lIns="0" tIns="0" rIns="0" bIns="0" anchor="t" anchorCtr="0">
              <a:spAutoFit/>
            </a:bodyPr>
            <a:lstStyle/>
            <a:p>
              <a:pPr algn="l"/>
              <a:r>
                <a:rPr lang="vi-VN" sz="1580" b="1" dirty="0">
                  <a:solidFill>
                    <a:srgbClr val="C8102E"/>
                  </a:solidFill>
                  <a:latin typeface="Arial"/>
                  <a:ea typeface="Arial"/>
                  <a:cs typeface="Arial"/>
                </a:rPr>
                <a:t>•</a:t>
              </a:r>
            </a:p>
          </p:txBody>
        </p:sp>
        <p:sp>
          <p:nvSpPr>
            <p:cNvPr id="17" name="TextBox 17"/>
            <p:cNvSpPr txBox="1"/>
            <p:nvPr/>
          </p:nvSpPr>
          <p:spPr>
            <a:xfrm>
              <a:off x="906399" y="2941796"/>
              <a:ext cx="5560163" cy="308039"/>
            </a:xfrm>
            <a:prstGeom prst="rect">
              <a:avLst/>
            </a:prstGeom>
            <a:noFill/>
            <a:ln>
              <a:noFill/>
            </a:ln>
          </p:spPr>
          <p:txBody>
            <a:bodyPr wrap="none" lIns="0" tIns="0" rIns="0" bIns="0" anchor="t" anchorCtr="0">
              <a:spAutoFit/>
            </a:bodyPr>
            <a:lstStyle/>
            <a:p>
              <a:pPr algn="l"/>
              <a:r>
                <a:rPr lang="vi-VN" sz="1580" dirty="0">
                  <a:solidFill>
                    <a:srgbClr val="1A1A1A"/>
                  </a:solidFill>
                  <a:latin typeface="Arial"/>
                  <a:ea typeface="Arial"/>
                  <a:cs typeface="Arial"/>
                </a:rPr>
                <a:t>Tra cứu nhanh với quy mô 180-250 mã sản phẩm và 15-30</a:t>
              </a:r>
            </a:p>
          </p:txBody>
        </p:sp>
        <p:sp>
          <p:nvSpPr>
            <p:cNvPr id="18" name="TextBox 18"/>
            <p:cNvSpPr txBox="1"/>
            <p:nvPr/>
          </p:nvSpPr>
          <p:spPr>
            <a:xfrm>
              <a:off x="906399" y="3211830"/>
              <a:ext cx="2889659" cy="308039"/>
            </a:xfrm>
            <a:prstGeom prst="rect">
              <a:avLst/>
            </a:prstGeom>
            <a:noFill/>
            <a:ln>
              <a:noFill/>
            </a:ln>
          </p:spPr>
          <p:txBody>
            <a:bodyPr wrap="none" lIns="0" tIns="0" rIns="0" bIns="0" anchor="t" anchorCtr="0">
              <a:spAutoFit/>
            </a:bodyPr>
            <a:lstStyle/>
            <a:p>
              <a:pPr algn="l"/>
              <a:r>
                <a:rPr lang="vi-VN" sz="1580" dirty="0">
                  <a:solidFill>
                    <a:srgbClr val="1A1A1A"/>
                  </a:solidFill>
                  <a:latin typeface="Arial"/>
                  <a:ea typeface="Arial"/>
                  <a:cs typeface="Arial"/>
                </a:rPr>
                <a:t>đơn/ngày, cao điểm 35-40 đơn</a:t>
              </a:r>
            </a:p>
          </p:txBody>
        </p:sp>
        <p:sp>
          <p:nvSpPr>
            <p:cNvPr id="19" name="TextBox 19"/>
            <p:cNvSpPr txBox="1"/>
            <p:nvPr/>
          </p:nvSpPr>
          <p:spPr>
            <a:xfrm>
              <a:off x="677799" y="3577114"/>
              <a:ext cx="90468" cy="308039"/>
            </a:xfrm>
            <a:prstGeom prst="rect">
              <a:avLst/>
            </a:prstGeom>
            <a:noFill/>
            <a:ln>
              <a:noFill/>
            </a:ln>
          </p:spPr>
          <p:txBody>
            <a:bodyPr wrap="none" lIns="0" tIns="0" rIns="0" bIns="0" anchor="t" anchorCtr="0">
              <a:spAutoFit/>
            </a:bodyPr>
            <a:lstStyle/>
            <a:p>
              <a:pPr algn="l"/>
              <a:r>
                <a:rPr lang="vi-VN" sz="1580" b="1" dirty="0">
                  <a:solidFill>
                    <a:srgbClr val="C8102E"/>
                  </a:solidFill>
                  <a:latin typeface="Arial"/>
                  <a:ea typeface="Arial"/>
                  <a:cs typeface="Arial"/>
                </a:rPr>
                <a:t>•</a:t>
              </a:r>
            </a:p>
          </p:txBody>
        </p:sp>
        <p:sp>
          <p:nvSpPr>
            <p:cNvPr id="20" name="TextBox 20"/>
            <p:cNvSpPr txBox="1"/>
            <p:nvPr/>
          </p:nvSpPr>
          <p:spPr>
            <a:xfrm>
              <a:off x="906399" y="3577114"/>
              <a:ext cx="5521737" cy="308039"/>
            </a:xfrm>
            <a:prstGeom prst="rect">
              <a:avLst/>
            </a:prstGeom>
            <a:noFill/>
            <a:ln>
              <a:noFill/>
            </a:ln>
          </p:spPr>
          <p:txBody>
            <a:bodyPr wrap="none" lIns="0" tIns="0" rIns="0" bIns="0" anchor="t" anchorCtr="0">
              <a:spAutoFit/>
            </a:bodyPr>
            <a:lstStyle/>
            <a:p>
              <a:pPr algn="l"/>
              <a:r>
                <a:rPr lang="vi-VN" sz="1580" dirty="0">
                  <a:solidFill>
                    <a:srgbClr val="1A1A1A"/>
                  </a:solidFill>
                  <a:latin typeface="Arial"/>
                  <a:ea typeface="Arial"/>
                  <a:cs typeface="Arial"/>
                </a:rPr>
                <a:t>Phân quyền bảo mật dữ liệu, có sao lưu định kỳ và nhật ký</a:t>
              </a:r>
            </a:p>
          </p:txBody>
        </p:sp>
        <p:sp>
          <p:nvSpPr>
            <p:cNvPr id="21" name="TextBox 21"/>
            <p:cNvSpPr txBox="1"/>
            <p:nvPr/>
          </p:nvSpPr>
          <p:spPr>
            <a:xfrm>
              <a:off x="906399" y="3847148"/>
              <a:ext cx="772830" cy="308039"/>
            </a:xfrm>
            <a:prstGeom prst="rect">
              <a:avLst/>
            </a:prstGeom>
            <a:noFill/>
            <a:ln>
              <a:noFill/>
            </a:ln>
          </p:spPr>
          <p:txBody>
            <a:bodyPr wrap="none" lIns="0" tIns="0" rIns="0" bIns="0" anchor="t" anchorCtr="0">
              <a:spAutoFit/>
            </a:bodyPr>
            <a:lstStyle/>
            <a:p>
              <a:pPr algn="l"/>
              <a:r>
                <a:rPr lang="vi-VN" sz="1580" dirty="0">
                  <a:solidFill>
                    <a:srgbClr val="1A1A1A"/>
                  </a:solidFill>
                  <a:latin typeface="Arial"/>
                  <a:ea typeface="Arial"/>
                  <a:cs typeface="Arial"/>
                </a:rPr>
                <a:t>thao tác</a:t>
              </a:r>
            </a:p>
          </p:txBody>
        </p:sp>
        <p:sp>
          <p:nvSpPr>
            <p:cNvPr id="22" name="TextBox 22"/>
            <p:cNvSpPr txBox="1"/>
            <p:nvPr/>
          </p:nvSpPr>
          <p:spPr>
            <a:xfrm>
              <a:off x="677799" y="4212431"/>
              <a:ext cx="90468" cy="308039"/>
            </a:xfrm>
            <a:prstGeom prst="rect">
              <a:avLst/>
            </a:prstGeom>
            <a:noFill/>
            <a:ln>
              <a:noFill/>
            </a:ln>
          </p:spPr>
          <p:txBody>
            <a:bodyPr wrap="none" lIns="0" tIns="0" rIns="0" bIns="0" anchor="t" anchorCtr="0">
              <a:spAutoFit/>
            </a:bodyPr>
            <a:lstStyle/>
            <a:p>
              <a:pPr algn="l"/>
              <a:r>
                <a:rPr lang="vi-VN" sz="1580" b="1" dirty="0">
                  <a:solidFill>
                    <a:srgbClr val="C8102E"/>
                  </a:solidFill>
                  <a:latin typeface="Arial"/>
                  <a:ea typeface="Arial"/>
                  <a:cs typeface="Arial"/>
                </a:rPr>
                <a:t>•</a:t>
              </a:r>
            </a:p>
          </p:txBody>
        </p:sp>
        <p:sp>
          <p:nvSpPr>
            <p:cNvPr id="23" name="TextBox 23"/>
            <p:cNvSpPr txBox="1"/>
            <p:nvPr/>
          </p:nvSpPr>
          <p:spPr>
            <a:xfrm>
              <a:off x="906399" y="4212431"/>
              <a:ext cx="5580834" cy="308039"/>
            </a:xfrm>
            <a:prstGeom prst="rect">
              <a:avLst/>
            </a:prstGeom>
            <a:noFill/>
            <a:ln>
              <a:noFill/>
            </a:ln>
          </p:spPr>
          <p:txBody>
            <a:bodyPr wrap="none" lIns="0" tIns="0" rIns="0" bIns="0" anchor="t" anchorCtr="0">
              <a:spAutoFit/>
            </a:bodyPr>
            <a:lstStyle/>
            <a:p>
              <a:pPr algn="l"/>
              <a:r>
                <a:rPr lang="vi-VN" sz="1580" dirty="0">
                  <a:solidFill>
                    <a:srgbClr val="1A1A1A"/>
                  </a:solidFill>
                  <a:latin typeface="Arial"/>
                  <a:ea typeface="Arial"/>
                  <a:cs typeface="Arial"/>
                </a:rPr>
                <a:t>Thiết kế mở rộng đa chi nhánh, dù phiên bản đầu triển khai</a:t>
              </a:r>
            </a:p>
          </p:txBody>
        </p:sp>
        <p:sp>
          <p:nvSpPr>
            <p:cNvPr id="24" name="TextBox 24"/>
            <p:cNvSpPr txBox="1"/>
            <p:nvPr/>
          </p:nvSpPr>
          <p:spPr>
            <a:xfrm>
              <a:off x="906399" y="4482465"/>
              <a:ext cx="1706964" cy="308039"/>
            </a:xfrm>
            <a:prstGeom prst="rect">
              <a:avLst/>
            </a:prstGeom>
            <a:noFill/>
            <a:ln>
              <a:noFill/>
            </a:ln>
          </p:spPr>
          <p:txBody>
            <a:bodyPr wrap="none" lIns="0" tIns="0" rIns="0" bIns="0" anchor="t" anchorCtr="0">
              <a:spAutoFit/>
            </a:bodyPr>
            <a:lstStyle/>
            <a:p>
              <a:pPr algn="l"/>
              <a:r>
                <a:rPr lang="vi-VN" sz="1580" dirty="0">
                  <a:solidFill>
                    <a:srgbClr val="1A1A1A"/>
                  </a:solidFill>
                  <a:latin typeface="Arial"/>
                  <a:ea typeface="Arial"/>
                  <a:cs typeface="Arial"/>
                </a:rPr>
                <a:t>cho một cửa hàng</a:t>
              </a:r>
            </a:p>
          </p:txBody>
        </p:sp>
      </p:grpSp>
      <p:grpSp>
        <p:nvGrpSpPr>
          <p:cNvPr id="34" name="tech-architecture"/>
          <p:cNvGrpSpPr/>
          <p:nvPr/>
        </p:nvGrpSpPr>
        <p:grpSpPr>
          <a:xfrm>
            <a:off x="8143875" y="2476500"/>
            <a:ext cx="2857500" cy="3048000"/>
            <a:chOff x="8143875" y="2476500"/>
            <a:chExt cx="2857500" cy="3048000"/>
          </a:xfrm>
        </p:grpSpPr>
        <p:sp>
          <p:nvSpPr>
            <p:cNvPr id="26" name="Rectangle 26"/>
            <p:cNvSpPr/>
            <p:nvPr/>
          </p:nvSpPr>
          <p:spPr>
            <a:xfrm>
              <a:off x="8143875" y="2476500"/>
              <a:ext cx="2857500" cy="666750"/>
            </a:xfrm>
            <a:prstGeom prst="rect">
              <a:avLst/>
            </a:prstGeom>
            <a:solidFill>
              <a:srgbClr val="111111"/>
            </a:solidFill>
            <a:ln>
              <a:noFill/>
            </a:ln>
          </p:spPr>
        </p:sp>
        <p:sp>
          <p:nvSpPr>
            <p:cNvPr id="27" name="TextBox 27"/>
            <p:cNvSpPr txBox="1"/>
            <p:nvPr/>
          </p:nvSpPr>
          <p:spPr>
            <a:xfrm>
              <a:off x="9007580" y="2710815"/>
              <a:ext cx="1130091" cy="352044"/>
            </a:xfrm>
            <a:prstGeom prst="rect">
              <a:avLst/>
            </a:prstGeom>
            <a:noFill/>
            <a:ln>
              <a:noFill/>
            </a:ln>
          </p:spPr>
          <p:txBody>
            <a:bodyPr wrap="none" lIns="0" tIns="0" rIns="0" bIns="0" anchor="t" anchorCtr="0">
              <a:spAutoFit/>
            </a:bodyPr>
            <a:lstStyle/>
            <a:p>
              <a:pPr algn="ctr"/>
              <a:r>
                <a:rPr lang="vi-VN" sz="1800" b="1" dirty="0">
                  <a:solidFill>
                    <a:srgbClr val="FFFFFF"/>
                  </a:solidFill>
                  <a:latin typeface="Arial"/>
                  <a:ea typeface="Arial"/>
                  <a:cs typeface="Arial"/>
                </a:rPr>
                <a:t>Giao diện</a:t>
              </a:r>
            </a:p>
          </p:txBody>
        </p:sp>
        <p:sp>
          <p:nvSpPr>
            <p:cNvPr id="28" name="Rectangle 28"/>
            <p:cNvSpPr/>
            <p:nvPr/>
          </p:nvSpPr>
          <p:spPr>
            <a:xfrm>
              <a:off x="8143875" y="3667125"/>
              <a:ext cx="2857500" cy="666750"/>
            </a:xfrm>
            <a:prstGeom prst="rect">
              <a:avLst/>
            </a:prstGeom>
            <a:solidFill>
              <a:srgbClr val="C8102E"/>
            </a:solidFill>
            <a:ln>
              <a:noFill/>
            </a:ln>
          </p:spPr>
        </p:sp>
        <p:sp>
          <p:nvSpPr>
            <p:cNvPr id="29" name="TextBox 29"/>
            <p:cNvSpPr txBox="1"/>
            <p:nvPr/>
          </p:nvSpPr>
          <p:spPr>
            <a:xfrm>
              <a:off x="8743276" y="3901440"/>
              <a:ext cx="1658699" cy="352044"/>
            </a:xfrm>
            <a:prstGeom prst="rect">
              <a:avLst/>
            </a:prstGeom>
            <a:noFill/>
            <a:ln>
              <a:noFill/>
            </a:ln>
          </p:spPr>
          <p:txBody>
            <a:bodyPr wrap="none" lIns="0" tIns="0" rIns="0" bIns="0" anchor="t" anchorCtr="0">
              <a:spAutoFit/>
            </a:bodyPr>
            <a:lstStyle/>
            <a:p>
              <a:pPr algn="ctr"/>
              <a:r>
                <a:rPr lang="vi-VN" sz="1800" b="1" dirty="0">
                  <a:solidFill>
                    <a:srgbClr val="FFFFFF"/>
                  </a:solidFill>
                  <a:latin typeface="Arial"/>
                  <a:ea typeface="Arial"/>
                  <a:cs typeface="Arial"/>
                </a:rPr>
                <a:t>API nghiệp vụ</a:t>
              </a:r>
            </a:p>
          </p:txBody>
        </p:sp>
        <p:sp>
          <p:nvSpPr>
            <p:cNvPr id="30" name="Rectangle 30"/>
            <p:cNvSpPr/>
            <p:nvPr/>
          </p:nvSpPr>
          <p:spPr>
            <a:xfrm>
              <a:off x="8143875" y="4857750"/>
              <a:ext cx="2857500" cy="666750"/>
            </a:xfrm>
            <a:prstGeom prst="rect">
              <a:avLst/>
            </a:prstGeom>
            <a:solidFill>
              <a:srgbClr val="F5F5F5"/>
            </a:solidFill>
            <a:ln w="9525">
              <a:solidFill>
                <a:srgbClr val="E8E8E8"/>
              </a:solidFill>
            </a:ln>
          </p:spPr>
        </p:sp>
        <p:sp>
          <p:nvSpPr>
            <p:cNvPr id="31" name="TextBox 31"/>
            <p:cNvSpPr txBox="1"/>
            <p:nvPr/>
          </p:nvSpPr>
          <p:spPr>
            <a:xfrm>
              <a:off x="8658340" y="5092065"/>
              <a:ext cx="1828570" cy="352044"/>
            </a:xfrm>
            <a:prstGeom prst="rect">
              <a:avLst/>
            </a:prstGeom>
            <a:noFill/>
            <a:ln>
              <a:noFill/>
            </a:ln>
          </p:spPr>
          <p:txBody>
            <a:bodyPr wrap="none" lIns="0" tIns="0" rIns="0" bIns="0" anchor="t" anchorCtr="0">
              <a:spAutoFit/>
            </a:bodyPr>
            <a:lstStyle/>
            <a:p>
              <a:pPr algn="ctr"/>
              <a:r>
                <a:rPr lang="vi-VN" sz="1800" b="1" dirty="0">
                  <a:solidFill>
                    <a:srgbClr val="111111"/>
                  </a:solidFill>
                  <a:latin typeface="Arial"/>
                  <a:ea typeface="Arial"/>
                  <a:cs typeface="Arial"/>
                </a:rPr>
                <a:t>CSDL tập trung</a:t>
              </a:r>
            </a:p>
          </p:txBody>
        </p:sp>
        <p:sp>
          <p:nvSpPr>
            <p:cNvPr id="32" name="Freeform 32"/>
            <p:cNvSpPr/>
            <p:nvPr/>
          </p:nvSpPr>
          <p:spPr>
            <a:xfrm>
              <a:off x="9572625" y="3190875"/>
              <a:ext cx="9525" cy="381000"/>
            </a:xfrm>
            <a:custGeom>
              <a:avLst/>
              <a:gdLst/>
              <a:ahLst/>
              <a:cxnLst/>
              <a:rect l="l" t="t" r="r" b="b"/>
              <a:pathLst>
                <a:path w="9525" h="381000">
                  <a:moveTo>
                    <a:pt x="0" y="0"/>
                  </a:moveTo>
                  <a:lnTo>
                    <a:pt x="0" y="381000"/>
                  </a:lnTo>
                </a:path>
              </a:pathLst>
            </a:custGeom>
            <a:noFill/>
            <a:ln w="19050">
              <a:solidFill>
                <a:srgbClr val="6E6E6E"/>
              </a:solidFill>
            </a:ln>
          </p:spPr>
        </p:sp>
        <p:sp>
          <p:nvSpPr>
            <p:cNvPr id="33" name="Freeform 33"/>
            <p:cNvSpPr/>
            <p:nvPr/>
          </p:nvSpPr>
          <p:spPr>
            <a:xfrm>
              <a:off x="9572625" y="4381500"/>
              <a:ext cx="9525" cy="381000"/>
            </a:xfrm>
            <a:custGeom>
              <a:avLst/>
              <a:gdLst/>
              <a:ahLst/>
              <a:cxnLst/>
              <a:rect l="l" t="t" r="r" b="b"/>
              <a:pathLst>
                <a:path w="9525" h="381000">
                  <a:moveTo>
                    <a:pt x="0" y="0"/>
                  </a:moveTo>
                  <a:lnTo>
                    <a:pt x="0" y="381000"/>
                  </a:lnTo>
                </a:path>
              </a:pathLst>
            </a:custGeom>
            <a:noFill/>
            <a:ln w="19050">
              <a:solidFill>
                <a:srgbClr val="6E6E6E"/>
              </a:solidFill>
            </a:ln>
          </p:spPr>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2" name="bg-fill"/>
          <p:cNvSpPr/>
          <p:nvPr/>
        </p:nvSpPr>
        <p:spPr>
          <a:xfrm>
            <a:off x="-9525" y="-9525"/>
            <a:ext cx="12211050" cy="6877050"/>
          </a:xfrm>
          <a:prstGeom prst="rect">
            <a:avLst/>
          </a:prstGeom>
          <a:solidFill>
            <a:srgbClr val="FFFFFF"/>
          </a:solidFill>
          <a:ln>
            <a:noFill/>
          </a:ln>
        </p:spPr>
      </p:sp>
      <p:grpSp>
        <p:nvGrpSpPr>
          <p:cNvPr id="5" name="top-rule"/>
          <p:cNvGrpSpPr/>
          <p:nvPr/>
        </p:nvGrpSpPr>
        <p:grpSpPr>
          <a:xfrm>
            <a:off x="685800" y="723900"/>
            <a:ext cx="10820400" cy="38100"/>
            <a:chOff x="685800" y="723900"/>
            <a:chExt cx="10820400" cy="38100"/>
          </a:xfrm>
        </p:grpSpPr>
        <p:sp>
          <p:nvSpPr>
            <p:cNvPr id="3" name="Rectangle 3"/>
            <p:cNvSpPr/>
            <p:nvPr/>
          </p:nvSpPr>
          <p:spPr>
            <a:xfrm>
              <a:off x="685800" y="723900"/>
              <a:ext cx="10820400" cy="38100"/>
            </a:xfrm>
            <a:prstGeom prst="rect">
              <a:avLst/>
            </a:prstGeom>
            <a:solidFill>
              <a:srgbClr val="E8E8E8"/>
            </a:solidFill>
            <a:ln>
              <a:noFill/>
            </a:ln>
          </p:spPr>
        </p:sp>
        <p:sp>
          <p:nvSpPr>
            <p:cNvPr id="4" name="Rectangle 4"/>
            <p:cNvSpPr/>
            <p:nvPr/>
          </p:nvSpPr>
          <p:spPr>
            <a:xfrm>
              <a:off x="685800" y="723900"/>
              <a:ext cx="5951220" cy="38100"/>
            </a:xfrm>
            <a:prstGeom prst="rect">
              <a:avLst/>
            </a:prstGeom>
            <a:solidFill>
              <a:srgbClr val="C8102E"/>
            </a:solidFill>
            <a:ln>
              <a:noFill/>
            </a:ln>
          </p:spPr>
        </p:sp>
      </p:grpSp>
      <p:grpSp>
        <p:nvGrpSpPr>
          <p:cNvPr id="8" name="title"/>
          <p:cNvGrpSpPr/>
          <p:nvPr/>
        </p:nvGrpSpPr>
        <p:grpSpPr>
          <a:xfrm>
            <a:off x="652272" y="977265"/>
            <a:ext cx="6519694" cy="1193482"/>
            <a:chOff x="652272" y="977265"/>
            <a:chExt cx="6519694" cy="1193482"/>
          </a:xfrm>
        </p:grpSpPr>
        <p:sp>
          <p:nvSpPr>
            <p:cNvPr id="6" name="TextBox 6"/>
            <p:cNvSpPr txBox="1"/>
            <p:nvPr/>
          </p:nvSpPr>
          <p:spPr>
            <a:xfrm>
              <a:off x="652272" y="977265"/>
              <a:ext cx="4738514" cy="645414"/>
            </a:xfrm>
            <a:prstGeom prst="rect">
              <a:avLst/>
            </a:prstGeom>
            <a:noFill/>
            <a:ln>
              <a:noFill/>
            </a:ln>
          </p:spPr>
          <p:txBody>
            <a:bodyPr wrap="none" lIns="0" tIns="0" rIns="0" bIns="0" anchor="t" anchorCtr="0">
              <a:spAutoFit/>
            </a:bodyPr>
            <a:lstStyle/>
            <a:p>
              <a:pPr algn="l"/>
              <a:r>
                <a:rPr lang="vi-VN" sz="3300" b="1" dirty="0">
                  <a:solidFill>
                    <a:srgbClr val="111111"/>
                  </a:solidFill>
                  <a:latin typeface="Arial"/>
                  <a:ea typeface="Arial"/>
                  <a:cs typeface="Arial"/>
                </a:rPr>
                <a:t>Tính khả thi của dự án</a:t>
              </a:r>
            </a:p>
          </p:txBody>
        </p:sp>
        <p:sp>
          <p:nvSpPr>
            <p:cNvPr id="7" name="TextBox 7"/>
            <p:cNvSpPr txBox="1"/>
            <p:nvPr/>
          </p:nvSpPr>
          <p:spPr>
            <a:xfrm>
              <a:off x="677418" y="1848040"/>
              <a:ext cx="6494548" cy="322707"/>
            </a:xfrm>
            <a:prstGeom prst="rect">
              <a:avLst/>
            </a:prstGeom>
            <a:noFill/>
            <a:ln>
              <a:noFill/>
            </a:ln>
          </p:spPr>
          <p:txBody>
            <a:bodyPr wrap="none" lIns="0" tIns="0" rIns="0" bIns="0" anchor="t" anchorCtr="0">
              <a:spAutoFit/>
            </a:bodyPr>
            <a:lstStyle/>
            <a:p>
              <a:pPr algn="l"/>
              <a:r>
                <a:rPr lang="vi-VN" sz="1650" dirty="0">
                  <a:solidFill>
                    <a:srgbClr val="6E6E6E"/>
                  </a:solidFill>
                  <a:latin typeface="Arial"/>
                  <a:ea typeface="Arial"/>
                  <a:cs typeface="Arial"/>
                </a:rPr>
                <a:t>Dự án khả thi nếu giữ phạm vi hẹp và kiểm soát rủi ro ngay từ đầu</a:t>
              </a:r>
            </a:p>
          </p:txBody>
        </p:sp>
      </p:grpSp>
      <p:grpSp>
        <p:nvGrpSpPr>
          <p:cNvPr id="12" name="footer"/>
          <p:cNvGrpSpPr/>
          <p:nvPr/>
        </p:nvGrpSpPr>
        <p:grpSpPr>
          <a:xfrm>
            <a:off x="680085" y="6286500"/>
            <a:ext cx="10831830" cy="327184"/>
            <a:chOff x="680085" y="6286500"/>
            <a:chExt cx="10831830" cy="327184"/>
          </a:xfrm>
        </p:grpSpPr>
        <p:sp>
          <p:nvSpPr>
            <p:cNvPr id="9" name="Freeform 9"/>
            <p:cNvSpPr/>
            <p:nvPr/>
          </p:nvSpPr>
          <p:spPr>
            <a:xfrm>
              <a:off x="685800" y="6286500"/>
              <a:ext cx="10820400" cy="9525"/>
            </a:xfrm>
            <a:custGeom>
              <a:avLst/>
              <a:gdLst/>
              <a:ahLst/>
              <a:cxnLst/>
              <a:rect l="l" t="t" r="r" b="b"/>
              <a:pathLst>
                <a:path w="10820400" h="9525">
                  <a:moveTo>
                    <a:pt x="0" y="0"/>
                  </a:moveTo>
                  <a:lnTo>
                    <a:pt x="10820400" y="0"/>
                  </a:lnTo>
                </a:path>
              </a:pathLst>
            </a:custGeom>
            <a:noFill/>
            <a:ln w="9525">
              <a:solidFill>
                <a:srgbClr val="E8E8E8"/>
              </a:solidFill>
            </a:ln>
          </p:spPr>
        </p:sp>
        <p:sp>
          <p:nvSpPr>
            <p:cNvPr id="10" name="TextBox 10"/>
            <p:cNvSpPr txBox="1"/>
            <p:nvPr/>
          </p:nvSpPr>
          <p:spPr>
            <a:xfrm>
              <a:off x="680085" y="6393656"/>
              <a:ext cx="2914269" cy="220028"/>
            </a:xfrm>
            <a:prstGeom prst="rect">
              <a:avLst/>
            </a:prstGeom>
            <a:noFill/>
            <a:ln>
              <a:noFill/>
            </a:ln>
          </p:spPr>
          <p:txBody>
            <a:bodyPr wrap="none" lIns="0" tIns="0" rIns="0" bIns="0" anchor="t" anchorCtr="0">
              <a:spAutoFit/>
            </a:bodyPr>
            <a:lstStyle/>
            <a:p>
              <a:pPr algn="l"/>
              <a:r>
                <a:rPr lang="vi-VN" sz="1120" dirty="0">
                  <a:solidFill>
                    <a:srgbClr val="6E6E6E"/>
                  </a:solidFill>
                  <a:latin typeface="Arial"/>
                  <a:ea typeface="Arial"/>
                  <a:cs typeface="Arial"/>
                </a:rPr>
                <a:t>Nhóm 04 | Lớp 765643-QTDA-VB2-20261</a:t>
              </a:r>
            </a:p>
          </p:txBody>
        </p:sp>
        <p:sp>
          <p:nvSpPr>
            <p:cNvPr id="11" name="TextBox 11"/>
            <p:cNvSpPr txBox="1"/>
            <p:nvPr/>
          </p:nvSpPr>
          <p:spPr>
            <a:xfrm>
              <a:off x="11332764" y="6393656"/>
              <a:ext cx="179151" cy="220028"/>
            </a:xfrm>
            <a:prstGeom prst="rect">
              <a:avLst/>
            </a:prstGeom>
            <a:noFill/>
            <a:ln>
              <a:noFill/>
            </a:ln>
          </p:spPr>
          <p:txBody>
            <a:bodyPr wrap="none" lIns="0" tIns="0" rIns="0" bIns="0" anchor="t" anchorCtr="0">
              <a:spAutoFit/>
            </a:bodyPr>
            <a:lstStyle/>
            <a:p>
              <a:pPr algn="r"/>
              <a:r>
                <a:rPr lang="vi-VN" sz="1120" dirty="0">
                  <a:solidFill>
                    <a:srgbClr val="6E6E6E"/>
                  </a:solidFill>
                  <a:latin typeface="Arial"/>
                  <a:ea typeface="Arial"/>
                  <a:cs typeface="Arial"/>
                </a:rPr>
                <a:t>11</a:t>
              </a:r>
            </a:p>
          </p:txBody>
        </p:sp>
      </p:grpSp>
      <p:grpSp>
        <p:nvGrpSpPr>
          <p:cNvPr id="18" name="feasibility-0"/>
          <p:cNvGrpSpPr/>
          <p:nvPr/>
        </p:nvGrpSpPr>
        <p:grpSpPr>
          <a:xfrm>
            <a:off x="685800" y="2333625"/>
            <a:ext cx="4953000" cy="1333500"/>
            <a:chOff x="685800" y="2333625"/>
            <a:chExt cx="4953000" cy="1333500"/>
          </a:xfrm>
        </p:grpSpPr>
        <p:sp>
          <p:nvSpPr>
            <p:cNvPr id="13" name="Rectangle 13"/>
            <p:cNvSpPr/>
            <p:nvPr/>
          </p:nvSpPr>
          <p:spPr>
            <a:xfrm>
              <a:off x="685800" y="2333625"/>
              <a:ext cx="4953000" cy="1333500"/>
            </a:xfrm>
            <a:prstGeom prst="rect">
              <a:avLst/>
            </a:prstGeom>
            <a:solidFill>
              <a:srgbClr val="F5F5F5"/>
            </a:solidFill>
            <a:ln w="9525">
              <a:solidFill>
                <a:srgbClr val="E8E8E8"/>
              </a:solidFill>
            </a:ln>
          </p:spPr>
        </p:sp>
        <p:sp>
          <p:nvSpPr>
            <p:cNvPr id="14" name="TextBox 14"/>
            <p:cNvSpPr txBox="1"/>
            <p:nvPr/>
          </p:nvSpPr>
          <p:spPr>
            <a:xfrm>
              <a:off x="903732" y="2506980"/>
              <a:ext cx="1147060" cy="410718"/>
            </a:xfrm>
            <a:prstGeom prst="rect">
              <a:avLst/>
            </a:prstGeom>
            <a:noFill/>
            <a:ln>
              <a:noFill/>
            </a:ln>
          </p:spPr>
          <p:txBody>
            <a:bodyPr wrap="none" lIns="0" tIns="0" rIns="0" bIns="0" anchor="t" anchorCtr="0">
              <a:spAutoFit/>
            </a:bodyPr>
            <a:lstStyle/>
            <a:p>
              <a:pPr algn="l"/>
              <a:r>
                <a:rPr lang="vi-VN" sz="2100" b="1" dirty="0">
                  <a:solidFill>
                    <a:srgbClr val="C8102E"/>
                  </a:solidFill>
                  <a:latin typeface="Arial"/>
                  <a:ea typeface="Arial"/>
                  <a:cs typeface="Arial"/>
                </a:rPr>
                <a:t>Nhu cầu</a:t>
              </a:r>
            </a:p>
          </p:txBody>
        </p:sp>
        <p:sp>
          <p:nvSpPr>
            <p:cNvPr id="15" name="TextBox 15"/>
            <p:cNvSpPr txBox="1"/>
            <p:nvPr/>
          </p:nvSpPr>
          <p:spPr>
            <a:xfrm>
              <a:off x="907923" y="2938939"/>
              <a:ext cx="4065102" cy="249364"/>
            </a:xfrm>
            <a:prstGeom prst="rect">
              <a:avLst/>
            </a:prstGeom>
            <a:noFill/>
            <a:ln>
              <a:noFill/>
            </a:ln>
          </p:spPr>
          <p:txBody>
            <a:bodyPr wrap="none" lIns="0" tIns="0" rIns="0" bIns="0" anchor="t" anchorCtr="0">
              <a:spAutoFit/>
            </a:bodyPr>
            <a:lstStyle/>
            <a:p>
              <a:pPr algn="l"/>
              <a:r>
                <a:rPr lang="vi-VN" sz="1280" dirty="0">
                  <a:solidFill>
                    <a:srgbClr val="1A1A1A"/>
                  </a:solidFill>
                  <a:latin typeface="Arial"/>
                  <a:ea typeface="Arial"/>
                  <a:cs typeface="Arial"/>
                </a:rPr>
                <a:t>Cửa hàng có 180-250 mã hàng, 15-30 đơn/ngày, cao</a:t>
              </a:r>
            </a:p>
          </p:txBody>
        </p:sp>
        <p:sp>
          <p:nvSpPr>
            <p:cNvPr id="16" name="TextBox 16"/>
            <p:cNvSpPr txBox="1"/>
            <p:nvPr/>
          </p:nvSpPr>
          <p:spPr>
            <a:xfrm>
              <a:off x="907923" y="3148489"/>
              <a:ext cx="3030579" cy="249364"/>
            </a:xfrm>
            <a:prstGeom prst="rect">
              <a:avLst/>
            </a:prstGeom>
            <a:noFill/>
            <a:ln>
              <a:noFill/>
            </a:ln>
          </p:spPr>
          <p:txBody>
            <a:bodyPr wrap="none" lIns="0" tIns="0" rIns="0" bIns="0" anchor="t" anchorCtr="0">
              <a:spAutoFit/>
            </a:bodyPr>
            <a:lstStyle/>
            <a:p>
              <a:pPr algn="l"/>
              <a:r>
                <a:rPr lang="vi-VN" sz="1280" dirty="0">
                  <a:solidFill>
                    <a:srgbClr val="1A1A1A"/>
                  </a:solidFill>
                  <a:latin typeface="Arial"/>
                  <a:ea typeface="Arial"/>
                  <a:cs typeface="Arial"/>
                </a:rPr>
                <a:t>điểm 35-40 đơn và cần báo cáo tức thời</a:t>
              </a:r>
            </a:p>
          </p:txBody>
        </p:sp>
        <p:sp>
          <p:nvSpPr>
            <p:cNvPr id="17" name="TextBox 17"/>
            <p:cNvSpPr txBox="1"/>
            <p:nvPr/>
          </p:nvSpPr>
          <p:spPr>
            <a:xfrm>
              <a:off x="908685" y="3431381"/>
              <a:ext cx="2690971" cy="220028"/>
            </a:xfrm>
            <a:prstGeom prst="rect">
              <a:avLst/>
            </a:prstGeom>
            <a:noFill/>
            <a:ln>
              <a:noFill/>
            </a:ln>
          </p:spPr>
          <p:txBody>
            <a:bodyPr wrap="none" lIns="0" tIns="0" rIns="0" bIns="0" anchor="t" anchorCtr="0">
              <a:spAutoFit/>
            </a:bodyPr>
            <a:lstStyle/>
            <a:p>
              <a:pPr algn="l"/>
              <a:r>
                <a:rPr lang="vi-VN" sz="1120" dirty="0">
                  <a:solidFill>
                    <a:srgbClr val="6E6E6E"/>
                  </a:solidFill>
                  <a:latin typeface="Arial"/>
                  <a:ea typeface="Arial"/>
                  <a:cs typeface="Arial"/>
                </a:rPr>
                <a:t>Bám ưu tiên tồn kho, đơn hàng, báo cáo</a:t>
              </a:r>
            </a:p>
          </p:txBody>
        </p:sp>
      </p:grpSp>
      <p:grpSp>
        <p:nvGrpSpPr>
          <p:cNvPr id="24" name="feasibility-1"/>
          <p:cNvGrpSpPr/>
          <p:nvPr/>
        </p:nvGrpSpPr>
        <p:grpSpPr>
          <a:xfrm>
            <a:off x="5972175" y="2333625"/>
            <a:ext cx="4953000" cy="1333500"/>
            <a:chOff x="5972175" y="2333625"/>
            <a:chExt cx="4953000" cy="1333500"/>
          </a:xfrm>
        </p:grpSpPr>
        <p:sp>
          <p:nvSpPr>
            <p:cNvPr id="19" name="Rectangle 19"/>
            <p:cNvSpPr/>
            <p:nvPr/>
          </p:nvSpPr>
          <p:spPr>
            <a:xfrm>
              <a:off x="5972175" y="2333625"/>
              <a:ext cx="4953000" cy="1333500"/>
            </a:xfrm>
            <a:prstGeom prst="rect">
              <a:avLst/>
            </a:prstGeom>
            <a:solidFill>
              <a:srgbClr val="F5F5F5"/>
            </a:solidFill>
            <a:ln w="9525">
              <a:solidFill>
                <a:srgbClr val="E8E8E8"/>
              </a:solidFill>
            </a:ln>
          </p:spPr>
        </p:sp>
        <p:sp>
          <p:nvSpPr>
            <p:cNvPr id="20" name="TextBox 20"/>
            <p:cNvSpPr txBox="1"/>
            <p:nvPr/>
          </p:nvSpPr>
          <p:spPr>
            <a:xfrm>
              <a:off x="6190107" y="2506980"/>
              <a:ext cx="1161288" cy="410718"/>
            </a:xfrm>
            <a:prstGeom prst="rect">
              <a:avLst/>
            </a:prstGeom>
            <a:noFill/>
            <a:ln>
              <a:noFill/>
            </a:ln>
          </p:spPr>
          <p:txBody>
            <a:bodyPr wrap="none" lIns="0" tIns="0" rIns="0" bIns="0" anchor="t" anchorCtr="0">
              <a:spAutoFit/>
            </a:bodyPr>
            <a:lstStyle/>
            <a:p>
              <a:pPr algn="l"/>
              <a:r>
                <a:rPr lang="vi-VN" sz="2100" b="1" dirty="0">
                  <a:solidFill>
                    <a:srgbClr val="111111"/>
                  </a:solidFill>
                  <a:latin typeface="Arial"/>
                  <a:ea typeface="Arial"/>
                  <a:cs typeface="Arial"/>
                </a:rPr>
                <a:t>Kỹ thuật</a:t>
              </a:r>
            </a:p>
          </p:txBody>
        </p:sp>
        <p:sp>
          <p:nvSpPr>
            <p:cNvPr id="21" name="TextBox 21"/>
            <p:cNvSpPr txBox="1"/>
            <p:nvPr/>
          </p:nvSpPr>
          <p:spPr>
            <a:xfrm>
              <a:off x="6194298" y="2938939"/>
              <a:ext cx="3342619" cy="249364"/>
            </a:xfrm>
            <a:prstGeom prst="rect">
              <a:avLst/>
            </a:prstGeom>
            <a:noFill/>
            <a:ln>
              <a:noFill/>
            </a:ln>
          </p:spPr>
          <p:txBody>
            <a:bodyPr wrap="none" lIns="0" tIns="0" rIns="0" bIns="0" anchor="t" anchorCtr="0">
              <a:spAutoFit/>
            </a:bodyPr>
            <a:lstStyle/>
            <a:p>
              <a:pPr algn="l"/>
              <a:r>
                <a:rPr lang="vi-VN" sz="1280" dirty="0">
                  <a:solidFill>
                    <a:srgbClr val="1A1A1A"/>
                  </a:solidFill>
                  <a:latin typeface="Arial"/>
                  <a:ea typeface="Arial"/>
                  <a:cs typeface="Arial"/>
                </a:rPr>
                <a:t>Nhóm có đủ vai trò phân tích nghiệp vụ, lập</a:t>
              </a:r>
            </a:p>
          </p:txBody>
        </p:sp>
        <p:sp>
          <p:nvSpPr>
            <p:cNvPr id="22" name="TextBox 22"/>
            <p:cNvSpPr txBox="1"/>
            <p:nvPr/>
          </p:nvSpPr>
          <p:spPr>
            <a:xfrm>
              <a:off x="6194298" y="3148489"/>
              <a:ext cx="2350009" cy="249364"/>
            </a:xfrm>
            <a:prstGeom prst="rect">
              <a:avLst/>
            </a:prstGeom>
            <a:noFill/>
            <a:ln>
              <a:noFill/>
            </a:ln>
          </p:spPr>
          <p:txBody>
            <a:bodyPr wrap="none" lIns="0" tIns="0" rIns="0" bIns="0" anchor="t" anchorCtr="0">
              <a:spAutoFit/>
            </a:bodyPr>
            <a:lstStyle/>
            <a:p>
              <a:pPr algn="l"/>
              <a:r>
                <a:rPr lang="vi-VN" sz="1280" dirty="0">
                  <a:solidFill>
                    <a:srgbClr val="1A1A1A"/>
                  </a:solidFill>
                  <a:latin typeface="Arial"/>
                  <a:ea typeface="Arial"/>
                  <a:cs typeface="Arial"/>
                </a:rPr>
                <a:t>trình, cơ sở dữ liệu và kiểm thử</a:t>
              </a:r>
            </a:p>
          </p:txBody>
        </p:sp>
        <p:sp>
          <p:nvSpPr>
            <p:cNvPr id="23" name="TextBox 23"/>
            <p:cNvSpPr txBox="1"/>
            <p:nvPr/>
          </p:nvSpPr>
          <p:spPr>
            <a:xfrm>
              <a:off x="6195060" y="3431381"/>
              <a:ext cx="3027652" cy="220028"/>
            </a:xfrm>
            <a:prstGeom prst="rect">
              <a:avLst/>
            </a:prstGeom>
            <a:noFill/>
            <a:ln>
              <a:noFill/>
            </a:ln>
          </p:spPr>
          <p:txBody>
            <a:bodyPr wrap="none" lIns="0" tIns="0" rIns="0" bIns="0" anchor="t" anchorCtr="0">
              <a:spAutoFit/>
            </a:bodyPr>
            <a:lstStyle/>
            <a:p>
              <a:pPr algn="l"/>
              <a:r>
                <a:rPr lang="vi-VN" sz="1120" dirty="0">
                  <a:solidFill>
                    <a:srgbClr val="6E6E6E"/>
                  </a:solidFill>
                  <a:latin typeface="Arial"/>
                  <a:ea typeface="Arial"/>
                  <a:cs typeface="Arial"/>
                </a:rPr>
                <a:t>Đối chiếu thiết kế CSDL với biểu mẫu thực tế</a:t>
              </a:r>
            </a:p>
          </p:txBody>
        </p:sp>
      </p:grpSp>
      <p:grpSp>
        <p:nvGrpSpPr>
          <p:cNvPr id="30" name="feasibility-2"/>
          <p:cNvGrpSpPr/>
          <p:nvPr/>
        </p:nvGrpSpPr>
        <p:grpSpPr>
          <a:xfrm>
            <a:off x="685800" y="3905250"/>
            <a:ext cx="4953000" cy="1333500"/>
            <a:chOff x="685800" y="3905250"/>
            <a:chExt cx="4953000" cy="1333500"/>
          </a:xfrm>
        </p:grpSpPr>
        <p:sp>
          <p:nvSpPr>
            <p:cNvPr id="25" name="Rectangle 25"/>
            <p:cNvSpPr/>
            <p:nvPr/>
          </p:nvSpPr>
          <p:spPr>
            <a:xfrm>
              <a:off x="685800" y="3905250"/>
              <a:ext cx="4953000" cy="1333500"/>
            </a:xfrm>
            <a:prstGeom prst="rect">
              <a:avLst/>
            </a:prstGeom>
            <a:solidFill>
              <a:srgbClr val="F5F5F5"/>
            </a:solidFill>
            <a:ln w="9525">
              <a:solidFill>
                <a:srgbClr val="E8E8E8"/>
              </a:solidFill>
            </a:ln>
          </p:spPr>
        </p:sp>
        <p:sp>
          <p:nvSpPr>
            <p:cNvPr id="26" name="TextBox 26"/>
            <p:cNvSpPr txBox="1"/>
            <p:nvPr/>
          </p:nvSpPr>
          <p:spPr>
            <a:xfrm>
              <a:off x="903732" y="4078605"/>
              <a:ext cx="1270894" cy="410718"/>
            </a:xfrm>
            <a:prstGeom prst="rect">
              <a:avLst/>
            </a:prstGeom>
            <a:noFill/>
            <a:ln>
              <a:noFill/>
            </a:ln>
          </p:spPr>
          <p:txBody>
            <a:bodyPr wrap="none" lIns="0" tIns="0" rIns="0" bIns="0" anchor="t" anchorCtr="0">
              <a:spAutoFit/>
            </a:bodyPr>
            <a:lstStyle/>
            <a:p>
              <a:pPr algn="l"/>
              <a:r>
                <a:rPr lang="vi-VN" sz="2100" b="1" dirty="0">
                  <a:solidFill>
                    <a:srgbClr val="C8102E"/>
                  </a:solidFill>
                  <a:latin typeface="Arial"/>
                  <a:ea typeface="Arial"/>
                  <a:cs typeface="Arial"/>
                </a:rPr>
                <a:t>Tài chính</a:t>
              </a:r>
            </a:p>
          </p:txBody>
        </p:sp>
        <p:sp>
          <p:nvSpPr>
            <p:cNvPr id="27" name="TextBox 27"/>
            <p:cNvSpPr txBox="1"/>
            <p:nvPr/>
          </p:nvSpPr>
          <p:spPr>
            <a:xfrm>
              <a:off x="907923" y="4510564"/>
              <a:ext cx="3745544" cy="249364"/>
            </a:xfrm>
            <a:prstGeom prst="rect">
              <a:avLst/>
            </a:prstGeom>
            <a:noFill/>
            <a:ln>
              <a:noFill/>
            </a:ln>
          </p:spPr>
          <p:txBody>
            <a:bodyPr wrap="none" lIns="0" tIns="0" rIns="0" bIns="0" anchor="t" anchorCtr="0">
              <a:spAutoFit/>
            </a:bodyPr>
            <a:lstStyle/>
            <a:p>
              <a:pPr algn="l"/>
              <a:r>
                <a:rPr lang="vi-VN" sz="1280" dirty="0">
                  <a:solidFill>
                    <a:srgbClr val="1A1A1A"/>
                  </a:solidFill>
                  <a:latin typeface="Arial"/>
                  <a:ea typeface="Arial"/>
                  <a:cs typeface="Arial"/>
                </a:rPr>
                <a:t>Ngân sách 200 triệu VNĐ, ưu tiên nền tảng miễn</a:t>
              </a:r>
            </a:p>
          </p:txBody>
        </p:sp>
        <p:sp>
          <p:nvSpPr>
            <p:cNvPr id="28" name="TextBox 28"/>
            <p:cNvSpPr txBox="1"/>
            <p:nvPr/>
          </p:nvSpPr>
          <p:spPr>
            <a:xfrm>
              <a:off x="907923" y="4720114"/>
              <a:ext cx="1583937" cy="249364"/>
            </a:xfrm>
            <a:prstGeom prst="rect">
              <a:avLst/>
            </a:prstGeom>
            <a:noFill/>
            <a:ln>
              <a:noFill/>
            </a:ln>
          </p:spPr>
          <p:txBody>
            <a:bodyPr wrap="none" lIns="0" tIns="0" rIns="0" bIns="0" anchor="t" anchorCtr="0">
              <a:spAutoFit/>
            </a:bodyPr>
            <a:lstStyle/>
            <a:p>
              <a:pPr algn="l"/>
              <a:r>
                <a:rPr lang="vi-VN" sz="1280" dirty="0">
                  <a:solidFill>
                    <a:srgbClr val="1A1A1A"/>
                  </a:solidFill>
                  <a:latin typeface="Arial"/>
                  <a:ea typeface="Arial"/>
                  <a:cs typeface="Arial"/>
                </a:rPr>
                <a:t>phí và mã nguồn mở</a:t>
              </a:r>
            </a:p>
          </p:txBody>
        </p:sp>
        <p:sp>
          <p:nvSpPr>
            <p:cNvPr id="29" name="TextBox 29"/>
            <p:cNvSpPr txBox="1"/>
            <p:nvPr/>
          </p:nvSpPr>
          <p:spPr>
            <a:xfrm>
              <a:off x="908685" y="5003006"/>
              <a:ext cx="2690573" cy="220028"/>
            </a:xfrm>
            <a:prstGeom prst="rect">
              <a:avLst/>
            </a:prstGeom>
            <a:noFill/>
            <a:ln>
              <a:noFill/>
            </a:ln>
          </p:spPr>
          <p:txBody>
            <a:bodyPr wrap="none" lIns="0" tIns="0" rIns="0" bIns="0" anchor="t" anchorCtr="0">
              <a:spAutoFit/>
            </a:bodyPr>
            <a:lstStyle/>
            <a:p>
              <a:pPr algn="l"/>
              <a:r>
                <a:rPr lang="vi-VN" sz="1120" dirty="0">
                  <a:solidFill>
                    <a:srgbClr val="6E6E6E"/>
                  </a:solidFill>
                  <a:latin typeface="Arial"/>
                  <a:ea typeface="Arial"/>
                  <a:cs typeface="Arial"/>
                </a:rPr>
                <a:t>Minh bạch chứng từ và bảng chấm công</a:t>
              </a:r>
            </a:p>
          </p:txBody>
        </p:sp>
      </p:grpSp>
      <p:grpSp>
        <p:nvGrpSpPr>
          <p:cNvPr id="35" name="feasibility-3"/>
          <p:cNvGrpSpPr/>
          <p:nvPr/>
        </p:nvGrpSpPr>
        <p:grpSpPr>
          <a:xfrm>
            <a:off x="5972175" y="3905250"/>
            <a:ext cx="4953000" cy="1333500"/>
            <a:chOff x="5972175" y="3905250"/>
            <a:chExt cx="4953000" cy="1333500"/>
          </a:xfrm>
        </p:grpSpPr>
        <p:sp>
          <p:nvSpPr>
            <p:cNvPr id="31" name="Rectangle 31"/>
            <p:cNvSpPr/>
            <p:nvPr/>
          </p:nvSpPr>
          <p:spPr>
            <a:xfrm>
              <a:off x="5972175" y="3905250"/>
              <a:ext cx="4953000" cy="1333500"/>
            </a:xfrm>
            <a:prstGeom prst="rect">
              <a:avLst/>
            </a:prstGeom>
            <a:solidFill>
              <a:srgbClr val="F5F5F5"/>
            </a:solidFill>
            <a:ln w="9525">
              <a:solidFill>
                <a:srgbClr val="E8E8E8"/>
              </a:solidFill>
            </a:ln>
          </p:spPr>
        </p:sp>
        <p:sp>
          <p:nvSpPr>
            <p:cNvPr id="32" name="TextBox 32"/>
            <p:cNvSpPr txBox="1"/>
            <p:nvPr/>
          </p:nvSpPr>
          <p:spPr>
            <a:xfrm>
              <a:off x="6190107" y="4078605"/>
              <a:ext cx="1303896" cy="410718"/>
            </a:xfrm>
            <a:prstGeom prst="rect">
              <a:avLst/>
            </a:prstGeom>
            <a:noFill/>
            <a:ln>
              <a:noFill/>
            </a:ln>
          </p:spPr>
          <p:txBody>
            <a:bodyPr wrap="none" lIns="0" tIns="0" rIns="0" bIns="0" anchor="t" anchorCtr="0">
              <a:spAutoFit/>
            </a:bodyPr>
            <a:lstStyle/>
            <a:p>
              <a:pPr algn="l"/>
              <a:r>
                <a:rPr lang="vi-VN" sz="2100" b="1" dirty="0">
                  <a:solidFill>
                    <a:srgbClr val="111111"/>
                  </a:solidFill>
                  <a:latin typeface="Arial"/>
                  <a:ea typeface="Arial"/>
                  <a:cs typeface="Arial"/>
                </a:rPr>
                <a:t>Vận hành</a:t>
              </a:r>
            </a:p>
          </p:txBody>
        </p:sp>
        <p:sp>
          <p:nvSpPr>
            <p:cNvPr id="33" name="TextBox 33"/>
            <p:cNvSpPr txBox="1"/>
            <p:nvPr/>
          </p:nvSpPr>
          <p:spPr>
            <a:xfrm>
              <a:off x="6194298" y="4510564"/>
              <a:ext cx="3793604" cy="249364"/>
            </a:xfrm>
            <a:prstGeom prst="rect">
              <a:avLst/>
            </a:prstGeom>
            <a:noFill/>
            <a:ln>
              <a:noFill/>
            </a:ln>
          </p:spPr>
          <p:txBody>
            <a:bodyPr wrap="none" lIns="0" tIns="0" rIns="0" bIns="0" anchor="t" anchorCtr="0">
              <a:spAutoFit/>
            </a:bodyPr>
            <a:lstStyle/>
            <a:p>
              <a:pPr algn="l"/>
              <a:r>
                <a:rPr lang="vi-VN" sz="1280" dirty="0">
                  <a:solidFill>
                    <a:srgbClr val="1A1A1A"/>
                  </a:solidFill>
                  <a:latin typeface="Arial"/>
                  <a:ea typeface="Arial"/>
                  <a:cs typeface="Arial"/>
                </a:rPr>
                <a:t>Agile/Scrum chia dự án thành Sprint có kiểm soát</a:t>
              </a:r>
            </a:p>
          </p:txBody>
        </p:sp>
        <p:sp>
          <p:nvSpPr>
            <p:cNvPr id="34" name="TextBox 34"/>
            <p:cNvSpPr txBox="1"/>
            <p:nvPr/>
          </p:nvSpPr>
          <p:spPr>
            <a:xfrm>
              <a:off x="6195060" y="5003006"/>
              <a:ext cx="3579361" cy="220028"/>
            </a:xfrm>
            <a:prstGeom prst="rect">
              <a:avLst/>
            </a:prstGeom>
            <a:noFill/>
            <a:ln>
              <a:noFill/>
            </a:ln>
          </p:spPr>
          <p:txBody>
            <a:bodyPr wrap="none" lIns="0" tIns="0" rIns="0" bIns="0" anchor="t" anchorCtr="0">
              <a:spAutoFit/>
            </a:bodyPr>
            <a:lstStyle/>
            <a:p>
              <a:pPr algn="l"/>
              <a:r>
                <a:rPr lang="vi-VN" sz="1120" dirty="0">
                  <a:solidFill>
                    <a:srgbClr val="6E6E6E"/>
                  </a:solidFill>
                  <a:latin typeface="Arial"/>
                  <a:ea typeface="Arial"/>
                  <a:cs typeface="Arial"/>
                </a:rPr>
                <a:t>Đào tạo người dùng và chạy song song giai đoạn đầu</a:t>
              </a:r>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bg-fill"/>
          <p:cNvSpPr/>
          <p:nvPr/>
        </p:nvSpPr>
        <p:spPr>
          <a:xfrm>
            <a:off x="-9525" y="-9525"/>
            <a:ext cx="12211050" cy="6877050"/>
          </a:xfrm>
          <a:prstGeom prst="rect">
            <a:avLst/>
          </a:prstGeom>
          <a:solidFill>
            <a:srgbClr val="FFFFFF"/>
          </a:solidFill>
          <a:ln>
            <a:noFill/>
          </a:ln>
        </p:spPr>
      </p:sp>
      <p:grpSp>
        <p:nvGrpSpPr>
          <p:cNvPr id="5" name="top-rule"/>
          <p:cNvGrpSpPr/>
          <p:nvPr/>
        </p:nvGrpSpPr>
        <p:grpSpPr>
          <a:xfrm>
            <a:off x="685800" y="723900"/>
            <a:ext cx="10820400" cy="38100"/>
            <a:chOff x="685800" y="723900"/>
            <a:chExt cx="10820400" cy="38100"/>
          </a:xfrm>
        </p:grpSpPr>
        <p:sp>
          <p:nvSpPr>
            <p:cNvPr id="3" name="Rectangle 3"/>
            <p:cNvSpPr/>
            <p:nvPr/>
          </p:nvSpPr>
          <p:spPr>
            <a:xfrm>
              <a:off x="685800" y="723900"/>
              <a:ext cx="10820400" cy="38100"/>
            </a:xfrm>
            <a:prstGeom prst="rect">
              <a:avLst/>
            </a:prstGeom>
            <a:solidFill>
              <a:srgbClr val="E8E8E8"/>
            </a:solidFill>
            <a:ln>
              <a:noFill/>
            </a:ln>
          </p:spPr>
        </p:sp>
        <p:sp>
          <p:nvSpPr>
            <p:cNvPr id="4" name="Rectangle 4"/>
            <p:cNvSpPr/>
            <p:nvPr/>
          </p:nvSpPr>
          <p:spPr>
            <a:xfrm>
              <a:off x="685800" y="723900"/>
              <a:ext cx="6492240" cy="38100"/>
            </a:xfrm>
            <a:prstGeom prst="rect">
              <a:avLst/>
            </a:prstGeom>
            <a:solidFill>
              <a:srgbClr val="C8102E"/>
            </a:solidFill>
            <a:ln>
              <a:noFill/>
            </a:ln>
          </p:spPr>
        </p:sp>
      </p:grpSp>
      <p:grpSp>
        <p:nvGrpSpPr>
          <p:cNvPr id="8" name="title"/>
          <p:cNvGrpSpPr/>
          <p:nvPr/>
        </p:nvGrpSpPr>
        <p:grpSpPr>
          <a:xfrm>
            <a:off x="652272" y="977265"/>
            <a:ext cx="7305589" cy="1193482"/>
            <a:chOff x="652272" y="977265"/>
            <a:chExt cx="7305589" cy="1193482"/>
          </a:xfrm>
        </p:grpSpPr>
        <p:sp>
          <p:nvSpPr>
            <p:cNvPr id="6" name="TextBox 6"/>
            <p:cNvSpPr txBox="1"/>
            <p:nvPr/>
          </p:nvSpPr>
          <p:spPr>
            <a:xfrm>
              <a:off x="652272" y="977265"/>
              <a:ext cx="7305589" cy="645414"/>
            </a:xfrm>
            <a:prstGeom prst="rect">
              <a:avLst/>
            </a:prstGeom>
            <a:noFill/>
            <a:ln>
              <a:noFill/>
            </a:ln>
          </p:spPr>
          <p:txBody>
            <a:bodyPr wrap="none" lIns="0" tIns="0" rIns="0" bIns="0" anchor="t" anchorCtr="0">
              <a:spAutoFit/>
            </a:bodyPr>
            <a:lstStyle/>
            <a:p>
              <a:pPr algn="l"/>
              <a:r>
                <a:rPr lang="vi-VN" sz="3300" b="1" dirty="0">
                  <a:solidFill>
                    <a:srgbClr val="111111"/>
                  </a:solidFill>
                  <a:latin typeface="Arial"/>
                  <a:ea typeface="Arial"/>
                  <a:cs typeface="Arial"/>
                </a:rPr>
                <a:t>Các bên liên quan và truyền thông</a:t>
              </a:r>
            </a:p>
          </p:txBody>
        </p:sp>
        <p:sp>
          <p:nvSpPr>
            <p:cNvPr id="7" name="TextBox 7"/>
            <p:cNvSpPr txBox="1"/>
            <p:nvPr/>
          </p:nvSpPr>
          <p:spPr>
            <a:xfrm>
              <a:off x="677418" y="1848040"/>
              <a:ext cx="5716493" cy="322707"/>
            </a:xfrm>
            <a:prstGeom prst="rect">
              <a:avLst/>
            </a:prstGeom>
            <a:noFill/>
            <a:ln>
              <a:noFill/>
            </a:ln>
          </p:spPr>
          <p:txBody>
            <a:bodyPr wrap="none" lIns="0" tIns="0" rIns="0" bIns="0" anchor="t" anchorCtr="0">
              <a:spAutoFit/>
            </a:bodyPr>
            <a:lstStyle/>
            <a:p>
              <a:pPr algn="l"/>
              <a:r>
                <a:rPr lang="vi-VN" sz="1650" dirty="0">
                  <a:solidFill>
                    <a:srgbClr val="6E6E6E"/>
                  </a:solidFill>
                  <a:latin typeface="Arial"/>
                  <a:ea typeface="Arial"/>
                  <a:cs typeface="Arial"/>
                </a:rPr>
                <a:t>Các bên liên quan và nhịp trao đổi giúp kiểm soát kỳ vọng</a:t>
              </a:r>
            </a:p>
          </p:txBody>
        </p:sp>
      </p:grpSp>
      <p:grpSp>
        <p:nvGrpSpPr>
          <p:cNvPr id="12" name="footer"/>
          <p:cNvGrpSpPr/>
          <p:nvPr/>
        </p:nvGrpSpPr>
        <p:grpSpPr>
          <a:xfrm>
            <a:off x="680085" y="6286500"/>
            <a:ext cx="10831830" cy="327184"/>
            <a:chOff x="680085" y="6286500"/>
            <a:chExt cx="10831830" cy="327184"/>
          </a:xfrm>
        </p:grpSpPr>
        <p:sp>
          <p:nvSpPr>
            <p:cNvPr id="9" name="Freeform 9"/>
            <p:cNvSpPr/>
            <p:nvPr/>
          </p:nvSpPr>
          <p:spPr>
            <a:xfrm>
              <a:off x="685800" y="6286500"/>
              <a:ext cx="10820400" cy="9525"/>
            </a:xfrm>
            <a:custGeom>
              <a:avLst/>
              <a:gdLst/>
              <a:ahLst/>
              <a:cxnLst/>
              <a:rect l="l" t="t" r="r" b="b"/>
              <a:pathLst>
                <a:path w="10820400" h="9525">
                  <a:moveTo>
                    <a:pt x="0" y="0"/>
                  </a:moveTo>
                  <a:lnTo>
                    <a:pt x="10820400" y="0"/>
                  </a:lnTo>
                </a:path>
              </a:pathLst>
            </a:custGeom>
            <a:noFill/>
            <a:ln w="9525">
              <a:solidFill>
                <a:srgbClr val="E8E8E8"/>
              </a:solidFill>
            </a:ln>
          </p:spPr>
        </p:sp>
        <p:sp>
          <p:nvSpPr>
            <p:cNvPr id="10" name="TextBox 10"/>
            <p:cNvSpPr txBox="1"/>
            <p:nvPr/>
          </p:nvSpPr>
          <p:spPr>
            <a:xfrm>
              <a:off x="680085" y="6393656"/>
              <a:ext cx="2914269" cy="220028"/>
            </a:xfrm>
            <a:prstGeom prst="rect">
              <a:avLst/>
            </a:prstGeom>
            <a:noFill/>
            <a:ln>
              <a:noFill/>
            </a:ln>
          </p:spPr>
          <p:txBody>
            <a:bodyPr wrap="none" lIns="0" tIns="0" rIns="0" bIns="0" anchor="t" anchorCtr="0">
              <a:spAutoFit/>
            </a:bodyPr>
            <a:lstStyle/>
            <a:p>
              <a:pPr algn="l"/>
              <a:r>
                <a:rPr lang="vi-VN" sz="1120" dirty="0">
                  <a:solidFill>
                    <a:srgbClr val="6E6E6E"/>
                  </a:solidFill>
                  <a:latin typeface="Arial"/>
                  <a:ea typeface="Arial"/>
                  <a:cs typeface="Arial"/>
                </a:rPr>
                <a:t>Nhóm 04 | Lớp 765643-QTDA-VB2-20261</a:t>
              </a:r>
            </a:p>
          </p:txBody>
        </p:sp>
        <p:sp>
          <p:nvSpPr>
            <p:cNvPr id="11" name="TextBox 11"/>
            <p:cNvSpPr txBox="1"/>
            <p:nvPr/>
          </p:nvSpPr>
          <p:spPr>
            <a:xfrm>
              <a:off x="11332764" y="6393656"/>
              <a:ext cx="179151" cy="220028"/>
            </a:xfrm>
            <a:prstGeom prst="rect">
              <a:avLst/>
            </a:prstGeom>
            <a:noFill/>
            <a:ln>
              <a:noFill/>
            </a:ln>
          </p:spPr>
          <p:txBody>
            <a:bodyPr wrap="none" lIns="0" tIns="0" rIns="0" bIns="0" anchor="t" anchorCtr="0">
              <a:spAutoFit/>
            </a:bodyPr>
            <a:lstStyle/>
            <a:p>
              <a:pPr algn="r"/>
              <a:r>
                <a:rPr lang="vi-VN" sz="1120" dirty="0">
                  <a:solidFill>
                    <a:srgbClr val="6E6E6E"/>
                  </a:solidFill>
                  <a:latin typeface="Arial"/>
                  <a:ea typeface="Arial"/>
                  <a:cs typeface="Arial"/>
                </a:rPr>
                <a:t>12</a:t>
              </a:r>
            </a:p>
          </p:txBody>
        </p:sp>
      </p:grpSp>
      <p:grpSp>
        <p:nvGrpSpPr>
          <p:cNvPr id="39" name="stakeholder-matrix"/>
          <p:cNvGrpSpPr/>
          <p:nvPr/>
        </p:nvGrpSpPr>
        <p:grpSpPr>
          <a:xfrm>
            <a:off x="685800" y="2204085"/>
            <a:ext cx="10287000" cy="3282315"/>
            <a:chOff x="685800" y="2204085"/>
            <a:chExt cx="10287000" cy="3282315"/>
          </a:xfrm>
        </p:grpSpPr>
        <p:sp>
          <p:nvSpPr>
            <p:cNvPr id="13" name="TextBox 13"/>
            <p:cNvSpPr txBox="1"/>
            <p:nvPr/>
          </p:nvSpPr>
          <p:spPr>
            <a:xfrm>
              <a:off x="908304" y="2204085"/>
              <a:ext cx="1076724" cy="234696"/>
            </a:xfrm>
            <a:prstGeom prst="rect">
              <a:avLst/>
            </a:prstGeom>
            <a:noFill/>
            <a:ln>
              <a:noFill/>
            </a:ln>
          </p:spPr>
          <p:txBody>
            <a:bodyPr wrap="none" lIns="0" tIns="0" rIns="0" bIns="0" anchor="t" anchorCtr="0">
              <a:spAutoFit/>
            </a:bodyPr>
            <a:lstStyle/>
            <a:p>
              <a:pPr algn="l"/>
              <a:r>
                <a:rPr lang="vi-VN" sz="1200" b="1" dirty="0">
                  <a:solidFill>
                    <a:srgbClr val="6E6E6E"/>
                  </a:solidFill>
                  <a:latin typeface="Arial"/>
                  <a:ea typeface="Arial"/>
                  <a:cs typeface="Arial"/>
                </a:rPr>
                <a:t>Bên liên quan</a:t>
              </a:r>
            </a:p>
          </p:txBody>
        </p:sp>
        <p:sp>
          <p:nvSpPr>
            <p:cNvPr id="14" name="TextBox 14"/>
            <p:cNvSpPr txBox="1"/>
            <p:nvPr/>
          </p:nvSpPr>
          <p:spPr>
            <a:xfrm>
              <a:off x="4089654" y="2204085"/>
              <a:ext cx="2467849" cy="234696"/>
            </a:xfrm>
            <a:prstGeom prst="rect">
              <a:avLst/>
            </a:prstGeom>
            <a:noFill/>
            <a:ln>
              <a:noFill/>
            </a:ln>
          </p:spPr>
          <p:txBody>
            <a:bodyPr wrap="none" lIns="0" tIns="0" rIns="0" bIns="0" anchor="t" anchorCtr="0">
              <a:spAutoFit/>
            </a:bodyPr>
            <a:lstStyle/>
            <a:p>
              <a:pPr algn="l"/>
              <a:r>
                <a:rPr lang="vi-VN" sz="1200" b="1" dirty="0">
                  <a:solidFill>
                    <a:srgbClr val="6E6E6E"/>
                  </a:solidFill>
                  <a:latin typeface="Arial"/>
                  <a:ea typeface="Arial"/>
                  <a:cs typeface="Arial"/>
                </a:rPr>
                <a:t>Kỳ vọng chính và nhịp phối hợp</a:t>
              </a:r>
            </a:p>
          </p:txBody>
        </p:sp>
        <p:sp>
          <p:nvSpPr>
            <p:cNvPr id="15" name="Rectangle 15"/>
            <p:cNvSpPr/>
            <p:nvPr/>
          </p:nvSpPr>
          <p:spPr>
            <a:xfrm>
              <a:off x="685800" y="2552700"/>
              <a:ext cx="10287000" cy="495300"/>
            </a:xfrm>
            <a:prstGeom prst="rect">
              <a:avLst/>
            </a:prstGeom>
            <a:solidFill>
              <a:srgbClr val="FFFFFF"/>
            </a:solidFill>
            <a:ln w="9525">
              <a:solidFill>
                <a:srgbClr val="E8E8E8"/>
              </a:solidFill>
            </a:ln>
          </p:spPr>
        </p:sp>
        <p:sp>
          <p:nvSpPr>
            <p:cNvPr id="16" name="Rectangle 16"/>
            <p:cNvSpPr/>
            <p:nvPr/>
          </p:nvSpPr>
          <p:spPr>
            <a:xfrm>
              <a:off x="685800" y="2552700"/>
              <a:ext cx="76200" cy="495300"/>
            </a:xfrm>
            <a:prstGeom prst="rect">
              <a:avLst/>
            </a:prstGeom>
            <a:solidFill>
              <a:srgbClr val="111111"/>
            </a:solidFill>
            <a:ln>
              <a:noFill/>
            </a:ln>
          </p:spPr>
        </p:sp>
        <p:sp>
          <p:nvSpPr>
            <p:cNvPr id="17" name="TextBox 17"/>
            <p:cNvSpPr txBox="1"/>
            <p:nvPr/>
          </p:nvSpPr>
          <p:spPr>
            <a:xfrm>
              <a:off x="907923" y="2624614"/>
              <a:ext cx="2727464" cy="249364"/>
            </a:xfrm>
            <a:prstGeom prst="rect">
              <a:avLst/>
            </a:prstGeom>
            <a:noFill/>
            <a:ln>
              <a:noFill/>
            </a:ln>
          </p:spPr>
          <p:txBody>
            <a:bodyPr wrap="none" lIns="0" tIns="0" rIns="0" bIns="0" anchor="t" anchorCtr="0">
              <a:spAutoFit/>
            </a:bodyPr>
            <a:lstStyle/>
            <a:p>
              <a:pPr algn="l"/>
              <a:r>
                <a:rPr lang="vi-VN" sz="1280" b="1" dirty="0">
                  <a:solidFill>
                    <a:srgbClr val="111111"/>
                  </a:solidFill>
                  <a:latin typeface="Arial"/>
                  <a:ea typeface="Arial"/>
                  <a:cs typeface="Arial"/>
                </a:rPr>
                <a:t>Trường CNTT&amp;TT, ĐHBK Hà Nội</a:t>
              </a:r>
            </a:p>
          </p:txBody>
        </p:sp>
        <p:sp>
          <p:nvSpPr>
            <p:cNvPr id="18" name="TextBox 18"/>
            <p:cNvSpPr txBox="1"/>
            <p:nvPr/>
          </p:nvSpPr>
          <p:spPr>
            <a:xfrm>
              <a:off x="4089654" y="2613660"/>
              <a:ext cx="5119111" cy="234696"/>
            </a:xfrm>
            <a:prstGeom prst="rect">
              <a:avLst/>
            </a:prstGeom>
            <a:noFill/>
            <a:ln>
              <a:noFill/>
            </a:ln>
          </p:spPr>
          <p:txBody>
            <a:bodyPr wrap="none" lIns="0" tIns="0" rIns="0" bIns="0" anchor="t" anchorCtr="0">
              <a:spAutoFit/>
            </a:bodyPr>
            <a:lstStyle/>
            <a:p>
              <a:pPr algn="l"/>
              <a:r>
                <a:rPr lang="vi-VN" sz="1200" dirty="0">
                  <a:solidFill>
                    <a:srgbClr val="1A1A1A"/>
                  </a:solidFill>
                  <a:latin typeface="Arial"/>
                  <a:ea typeface="Arial"/>
                  <a:cs typeface="Arial"/>
                </a:rPr>
                <a:t>Cấp kinh phí, phê duyệt đề tài, yêu cầu sản phẩm đúng chuẩn và quyết</a:t>
              </a:r>
            </a:p>
          </p:txBody>
        </p:sp>
        <p:sp>
          <p:nvSpPr>
            <p:cNvPr id="19" name="TextBox 19"/>
            <p:cNvSpPr txBox="1"/>
            <p:nvPr/>
          </p:nvSpPr>
          <p:spPr>
            <a:xfrm>
              <a:off x="4089654" y="2785110"/>
              <a:ext cx="1116862" cy="234696"/>
            </a:xfrm>
            <a:prstGeom prst="rect">
              <a:avLst/>
            </a:prstGeom>
            <a:noFill/>
            <a:ln>
              <a:noFill/>
            </a:ln>
          </p:spPr>
          <p:txBody>
            <a:bodyPr wrap="none" lIns="0" tIns="0" rIns="0" bIns="0" anchor="t" anchorCtr="0">
              <a:spAutoFit/>
            </a:bodyPr>
            <a:lstStyle/>
            <a:p>
              <a:pPr algn="l"/>
              <a:r>
                <a:rPr lang="vi-VN" sz="1200" dirty="0">
                  <a:solidFill>
                    <a:srgbClr val="1A1A1A"/>
                  </a:solidFill>
                  <a:latin typeface="Arial"/>
                  <a:ea typeface="Arial"/>
                  <a:cs typeface="Arial"/>
                </a:rPr>
                <a:t>toán minh bạch</a:t>
              </a:r>
            </a:p>
          </p:txBody>
        </p:sp>
        <p:sp>
          <p:nvSpPr>
            <p:cNvPr id="20" name="Rectangle 20"/>
            <p:cNvSpPr/>
            <p:nvPr/>
          </p:nvSpPr>
          <p:spPr>
            <a:xfrm>
              <a:off x="685800" y="3162300"/>
              <a:ext cx="10287000" cy="495300"/>
            </a:xfrm>
            <a:prstGeom prst="rect">
              <a:avLst/>
            </a:prstGeom>
            <a:solidFill>
              <a:srgbClr val="F5F5F5"/>
            </a:solidFill>
            <a:ln w="9525">
              <a:solidFill>
                <a:srgbClr val="E8E8E8"/>
              </a:solidFill>
            </a:ln>
          </p:spPr>
        </p:sp>
        <p:sp>
          <p:nvSpPr>
            <p:cNvPr id="21" name="Rectangle 21"/>
            <p:cNvSpPr/>
            <p:nvPr/>
          </p:nvSpPr>
          <p:spPr>
            <a:xfrm>
              <a:off x="685800" y="3162300"/>
              <a:ext cx="76200" cy="495300"/>
            </a:xfrm>
            <a:prstGeom prst="rect">
              <a:avLst/>
            </a:prstGeom>
            <a:solidFill>
              <a:srgbClr val="111111"/>
            </a:solidFill>
            <a:ln>
              <a:noFill/>
            </a:ln>
          </p:spPr>
        </p:sp>
        <p:sp>
          <p:nvSpPr>
            <p:cNvPr id="22" name="TextBox 22"/>
            <p:cNvSpPr txBox="1"/>
            <p:nvPr/>
          </p:nvSpPr>
          <p:spPr>
            <a:xfrm>
              <a:off x="907923" y="3234214"/>
              <a:ext cx="1828202" cy="249364"/>
            </a:xfrm>
            <a:prstGeom prst="rect">
              <a:avLst/>
            </a:prstGeom>
            <a:noFill/>
            <a:ln>
              <a:noFill/>
            </a:ln>
          </p:spPr>
          <p:txBody>
            <a:bodyPr wrap="none" lIns="0" tIns="0" rIns="0" bIns="0" anchor="t" anchorCtr="0">
              <a:spAutoFit/>
            </a:bodyPr>
            <a:lstStyle/>
            <a:p>
              <a:pPr algn="l"/>
              <a:r>
                <a:rPr lang="vi-VN" sz="1280" b="1" dirty="0">
                  <a:solidFill>
                    <a:srgbClr val="111111"/>
                  </a:solidFill>
                  <a:latin typeface="Arial"/>
                  <a:ea typeface="Arial"/>
                  <a:cs typeface="Arial"/>
                </a:rPr>
                <a:t>Giảng viên hướng dẫn</a:t>
              </a:r>
            </a:p>
          </p:txBody>
        </p:sp>
        <p:sp>
          <p:nvSpPr>
            <p:cNvPr id="23" name="TextBox 23"/>
            <p:cNvSpPr txBox="1"/>
            <p:nvPr/>
          </p:nvSpPr>
          <p:spPr>
            <a:xfrm>
              <a:off x="4089654" y="3223260"/>
              <a:ext cx="4885400" cy="234696"/>
            </a:xfrm>
            <a:prstGeom prst="rect">
              <a:avLst/>
            </a:prstGeom>
            <a:noFill/>
            <a:ln>
              <a:noFill/>
            </a:ln>
          </p:spPr>
          <p:txBody>
            <a:bodyPr wrap="none" lIns="0" tIns="0" rIns="0" bIns="0" anchor="t" anchorCtr="0">
              <a:spAutoFit/>
            </a:bodyPr>
            <a:lstStyle/>
            <a:p>
              <a:pPr algn="l"/>
              <a:r>
                <a:rPr lang="vi-VN" sz="1200" dirty="0">
                  <a:solidFill>
                    <a:srgbClr val="1A1A1A"/>
                  </a:solidFill>
                  <a:latin typeface="Arial"/>
                  <a:ea typeface="Arial"/>
                  <a:cs typeface="Arial"/>
                </a:rPr>
                <a:t>Hướng dẫn chuyên môn, đánh giá chất lượng học thuật và khả thi kỹ</a:t>
              </a:r>
            </a:p>
          </p:txBody>
        </p:sp>
        <p:sp>
          <p:nvSpPr>
            <p:cNvPr id="24" name="TextBox 24"/>
            <p:cNvSpPr txBox="1"/>
            <p:nvPr/>
          </p:nvSpPr>
          <p:spPr>
            <a:xfrm>
              <a:off x="4089654" y="3394710"/>
              <a:ext cx="371498" cy="234696"/>
            </a:xfrm>
            <a:prstGeom prst="rect">
              <a:avLst/>
            </a:prstGeom>
            <a:noFill/>
            <a:ln>
              <a:noFill/>
            </a:ln>
          </p:spPr>
          <p:txBody>
            <a:bodyPr wrap="none" lIns="0" tIns="0" rIns="0" bIns="0" anchor="t" anchorCtr="0">
              <a:spAutoFit/>
            </a:bodyPr>
            <a:lstStyle/>
            <a:p>
              <a:pPr algn="l"/>
              <a:r>
                <a:rPr lang="vi-VN" sz="1200" dirty="0">
                  <a:solidFill>
                    <a:srgbClr val="1A1A1A"/>
                  </a:solidFill>
                  <a:latin typeface="Arial"/>
                  <a:ea typeface="Arial"/>
                  <a:cs typeface="Arial"/>
                </a:rPr>
                <a:t>thuật</a:t>
              </a:r>
            </a:p>
          </p:txBody>
        </p:sp>
        <p:sp>
          <p:nvSpPr>
            <p:cNvPr id="25" name="Rectangle 25"/>
            <p:cNvSpPr/>
            <p:nvPr/>
          </p:nvSpPr>
          <p:spPr>
            <a:xfrm>
              <a:off x="685800" y="3771900"/>
              <a:ext cx="10287000" cy="495300"/>
            </a:xfrm>
            <a:prstGeom prst="rect">
              <a:avLst/>
            </a:prstGeom>
            <a:solidFill>
              <a:srgbClr val="FFFFFF"/>
            </a:solidFill>
            <a:ln w="9525">
              <a:solidFill>
                <a:srgbClr val="E8E8E8"/>
              </a:solidFill>
            </a:ln>
          </p:spPr>
        </p:sp>
        <p:sp>
          <p:nvSpPr>
            <p:cNvPr id="26" name="Rectangle 26"/>
            <p:cNvSpPr/>
            <p:nvPr/>
          </p:nvSpPr>
          <p:spPr>
            <a:xfrm>
              <a:off x="685800" y="3771900"/>
              <a:ext cx="76200" cy="495300"/>
            </a:xfrm>
            <a:prstGeom prst="rect">
              <a:avLst/>
            </a:prstGeom>
            <a:solidFill>
              <a:srgbClr val="111111"/>
            </a:solidFill>
            <a:ln>
              <a:noFill/>
            </a:ln>
          </p:spPr>
        </p:sp>
        <p:sp>
          <p:nvSpPr>
            <p:cNvPr id="27" name="TextBox 27"/>
            <p:cNvSpPr txBox="1"/>
            <p:nvPr/>
          </p:nvSpPr>
          <p:spPr>
            <a:xfrm>
              <a:off x="907923" y="3843814"/>
              <a:ext cx="1312095" cy="249364"/>
            </a:xfrm>
            <a:prstGeom prst="rect">
              <a:avLst/>
            </a:prstGeom>
            <a:noFill/>
            <a:ln>
              <a:noFill/>
            </a:ln>
          </p:spPr>
          <p:txBody>
            <a:bodyPr wrap="none" lIns="0" tIns="0" rIns="0" bIns="0" anchor="t" anchorCtr="0">
              <a:spAutoFit/>
            </a:bodyPr>
            <a:lstStyle/>
            <a:p>
              <a:pPr algn="l"/>
              <a:r>
                <a:rPr lang="vi-VN" sz="1280" b="1" dirty="0">
                  <a:solidFill>
                    <a:srgbClr val="111111"/>
                  </a:solidFill>
                  <a:latin typeface="Arial"/>
                  <a:ea typeface="Arial"/>
                  <a:cs typeface="Arial"/>
                </a:rPr>
                <a:t>Giám đốc dự án</a:t>
              </a:r>
            </a:p>
          </p:txBody>
        </p:sp>
        <p:sp>
          <p:nvSpPr>
            <p:cNvPr id="28" name="TextBox 28"/>
            <p:cNvSpPr txBox="1"/>
            <p:nvPr/>
          </p:nvSpPr>
          <p:spPr>
            <a:xfrm>
              <a:off x="4089654" y="3832860"/>
              <a:ext cx="4813207" cy="234696"/>
            </a:xfrm>
            <a:prstGeom prst="rect">
              <a:avLst/>
            </a:prstGeom>
            <a:noFill/>
            <a:ln>
              <a:noFill/>
            </a:ln>
          </p:spPr>
          <p:txBody>
            <a:bodyPr wrap="none" lIns="0" tIns="0" rIns="0" bIns="0" anchor="t" anchorCtr="0">
              <a:spAutoFit/>
            </a:bodyPr>
            <a:lstStyle/>
            <a:p>
              <a:pPr algn="l"/>
              <a:r>
                <a:rPr lang="vi-VN" sz="1200" dirty="0">
                  <a:solidFill>
                    <a:srgbClr val="1A1A1A"/>
                  </a:solidFill>
                  <a:latin typeface="Arial"/>
                  <a:ea typeface="Arial"/>
                  <a:cs typeface="Arial"/>
                </a:rPr>
                <a:t>Điều phối phạm vi, tiến độ, ngân sách, rủi ro và chất lượng tổng thể</a:t>
              </a:r>
            </a:p>
          </p:txBody>
        </p:sp>
        <p:sp>
          <p:nvSpPr>
            <p:cNvPr id="29" name="Rectangle 29"/>
            <p:cNvSpPr/>
            <p:nvPr/>
          </p:nvSpPr>
          <p:spPr>
            <a:xfrm>
              <a:off x="685800" y="4381500"/>
              <a:ext cx="10287000" cy="495300"/>
            </a:xfrm>
            <a:prstGeom prst="rect">
              <a:avLst/>
            </a:prstGeom>
            <a:solidFill>
              <a:srgbClr val="F5F5F5"/>
            </a:solidFill>
            <a:ln w="9525">
              <a:solidFill>
                <a:srgbClr val="E8E8E8"/>
              </a:solidFill>
            </a:ln>
          </p:spPr>
        </p:sp>
        <p:sp>
          <p:nvSpPr>
            <p:cNvPr id="30" name="Rectangle 30"/>
            <p:cNvSpPr/>
            <p:nvPr/>
          </p:nvSpPr>
          <p:spPr>
            <a:xfrm>
              <a:off x="685800" y="4381500"/>
              <a:ext cx="76200" cy="495300"/>
            </a:xfrm>
            <a:prstGeom prst="rect">
              <a:avLst/>
            </a:prstGeom>
            <a:solidFill>
              <a:srgbClr val="C8102E"/>
            </a:solidFill>
            <a:ln>
              <a:noFill/>
            </a:ln>
          </p:spPr>
        </p:sp>
        <p:sp>
          <p:nvSpPr>
            <p:cNvPr id="31" name="TextBox 31"/>
            <p:cNvSpPr txBox="1"/>
            <p:nvPr/>
          </p:nvSpPr>
          <p:spPr>
            <a:xfrm>
              <a:off x="907923" y="4453414"/>
              <a:ext cx="2373813" cy="249364"/>
            </a:xfrm>
            <a:prstGeom prst="rect">
              <a:avLst/>
            </a:prstGeom>
            <a:noFill/>
            <a:ln>
              <a:noFill/>
            </a:ln>
          </p:spPr>
          <p:txBody>
            <a:bodyPr wrap="none" lIns="0" tIns="0" rIns="0" bIns="0" anchor="t" anchorCtr="0">
              <a:spAutoFit/>
            </a:bodyPr>
            <a:lstStyle/>
            <a:p>
              <a:pPr algn="l"/>
              <a:r>
                <a:rPr lang="vi-VN" sz="1280" b="1" dirty="0">
                  <a:solidFill>
                    <a:srgbClr val="C8102E"/>
                  </a:solidFill>
                  <a:latin typeface="Arial"/>
                  <a:ea typeface="Arial"/>
                  <a:cs typeface="Arial"/>
                </a:rPr>
                <a:t>Cửa hàng Điện tử Lãng Lãng</a:t>
              </a:r>
            </a:p>
          </p:txBody>
        </p:sp>
        <p:sp>
          <p:nvSpPr>
            <p:cNvPr id="32" name="TextBox 32"/>
            <p:cNvSpPr txBox="1"/>
            <p:nvPr/>
          </p:nvSpPr>
          <p:spPr>
            <a:xfrm>
              <a:off x="4089654" y="4442460"/>
              <a:ext cx="5262412" cy="234696"/>
            </a:xfrm>
            <a:prstGeom prst="rect">
              <a:avLst/>
            </a:prstGeom>
            <a:noFill/>
            <a:ln>
              <a:noFill/>
            </a:ln>
          </p:spPr>
          <p:txBody>
            <a:bodyPr wrap="none" lIns="0" tIns="0" rIns="0" bIns="0" anchor="t" anchorCtr="0">
              <a:spAutoFit/>
            </a:bodyPr>
            <a:lstStyle/>
            <a:p>
              <a:pPr algn="l"/>
              <a:r>
                <a:rPr lang="vi-VN" sz="1200" dirty="0">
                  <a:solidFill>
                    <a:srgbClr val="1A1A1A"/>
                  </a:solidFill>
                  <a:latin typeface="Arial"/>
                  <a:ea typeface="Arial"/>
                  <a:cs typeface="Arial"/>
                </a:rPr>
                <a:t>Cung cấp yêu cầu, tham gia UAT, cần hệ thống dễ dùng và được đào tạo</a:t>
              </a:r>
            </a:p>
          </p:txBody>
        </p:sp>
        <p:sp>
          <p:nvSpPr>
            <p:cNvPr id="33" name="TextBox 33"/>
            <p:cNvSpPr txBox="1"/>
            <p:nvPr/>
          </p:nvSpPr>
          <p:spPr>
            <a:xfrm>
              <a:off x="4089654" y="4613910"/>
              <a:ext cx="883463" cy="234696"/>
            </a:xfrm>
            <a:prstGeom prst="rect">
              <a:avLst/>
            </a:prstGeom>
            <a:noFill/>
            <a:ln>
              <a:noFill/>
            </a:ln>
          </p:spPr>
          <p:txBody>
            <a:bodyPr wrap="none" lIns="0" tIns="0" rIns="0" bIns="0" anchor="t" anchorCtr="0">
              <a:spAutoFit/>
            </a:bodyPr>
            <a:lstStyle/>
            <a:p>
              <a:pPr algn="l"/>
              <a:r>
                <a:rPr lang="vi-VN" sz="1200" dirty="0">
                  <a:solidFill>
                    <a:srgbClr val="1A1A1A"/>
                  </a:solidFill>
                  <a:latin typeface="Arial"/>
                  <a:ea typeface="Arial"/>
                  <a:cs typeface="Arial"/>
                </a:rPr>
                <a:t>khi bàn giao</a:t>
              </a:r>
            </a:p>
          </p:txBody>
        </p:sp>
        <p:sp>
          <p:nvSpPr>
            <p:cNvPr id="34" name="Rectangle 34"/>
            <p:cNvSpPr/>
            <p:nvPr/>
          </p:nvSpPr>
          <p:spPr>
            <a:xfrm>
              <a:off x="685800" y="4991100"/>
              <a:ext cx="10287000" cy="495300"/>
            </a:xfrm>
            <a:prstGeom prst="rect">
              <a:avLst/>
            </a:prstGeom>
            <a:solidFill>
              <a:srgbClr val="FFFFFF"/>
            </a:solidFill>
            <a:ln w="9525">
              <a:solidFill>
                <a:srgbClr val="E8E8E8"/>
              </a:solidFill>
            </a:ln>
          </p:spPr>
        </p:sp>
        <p:sp>
          <p:nvSpPr>
            <p:cNvPr id="35" name="Rectangle 35"/>
            <p:cNvSpPr/>
            <p:nvPr/>
          </p:nvSpPr>
          <p:spPr>
            <a:xfrm>
              <a:off x="685800" y="4991100"/>
              <a:ext cx="76200" cy="495300"/>
            </a:xfrm>
            <a:prstGeom prst="rect">
              <a:avLst/>
            </a:prstGeom>
            <a:solidFill>
              <a:srgbClr val="111111"/>
            </a:solidFill>
            <a:ln>
              <a:noFill/>
            </a:ln>
          </p:spPr>
        </p:sp>
        <p:sp>
          <p:nvSpPr>
            <p:cNvPr id="36" name="TextBox 36"/>
            <p:cNvSpPr txBox="1"/>
            <p:nvPr/>
          </p:nvSpPr>
          <p:spPr>
            <a:xfrm>
              <a:off x="907923" y="5063014"/>
              <a:ext cx="1339731" cy="249364"/>
            </a:xfrm>
            <a:prstGeom prst="rect">
              <a:avLst/>
            </a:prstGeom>
            <a:noFill/>
            <a:ln>
              <a:noFill/>
            </a:ln>
          </p:spPr>
          <p:txBody>
            <a:bodyPr wrap="none" lIns="0" tIns="0" rIns="0" bIns="0" anchor="t" anchorCtr="0">
              <a:spAutoFit/>
            </a:bodyPr>
            <a:lstStyle/>
            <a:p>
              <a:pPr algn="l"/>
              <a:r>
                <a:rPr lang="vi-VN" sz="1280" b="1" dirty="0">
                  <a:solidFill>
                    <a:srgbClr val="111111"/>
                  </a:solidFill>
                  <a:latin typeface="Arial"/>
                  <a:ea typeface="Arial"/>
                  <a:cs typeface="Arial"/>
                </a:rPr>
                <a:t>Nhóm phát triển</a:t>
              </a:r>
            </a:p>
          </p:txBody>
        </p:sp>
        <p:sp>
          <p:nvSpPr>
            <p:cNvPr id="37" name="TextBox 37"/>
            <p:cNvSpPr txBox="1"/>
            <p:nvPr/>
          </p:nvSpPr>
          <p:spPr>
            <a:xfrm>
              <a:off x="4089654" y="5052060"/>
              <a:ext cx="4561448" cy="234696"/>
            </a:xfrm>
            <a:prstGeom prst="rect">
              <a:avLst/>
            </a:prstGeom>
            <a:noFill/>
            <a:ln>
              <a:noFill/>
            </a:ln>
          </p:spPr>
          <p:txBody>
            <a:bodyPr wrap="none" lIns="0" tIns="0" rIns="0" bIns="0" anchor="t" anchorCtr="0">
              <a:spAutoFit/>
            </a:bodyPr>
            <a:lstStyle/>
            <a:p>
              <a:pPr algn="l"/>
              <a:r>
                <a:rPr lang="vi-VN" sz="1200" dirty="0">
                  <a:solidFill>
                    <a:srgbClr val="1A1A1A"/>
                  </a:solidFill>
                  <a:latin typeface="Arial"/>
                  <a:ea typeface="Arial"/>
                  <a:cs typeface="Arial"/>
                </a:rPr>
                <a:t>Thực hiện khảo sát, thiết kế, lập trình, kiểm thử và báo cáo theo</a:t>
              </a:r>
            </a:p>
          </p:txBody>
        </p:sp>
        <p:sp>
          <p:nvSpPr>
            <p:cNvPr id="38" name="TextBox 38"/>
            <p:cNvSpPr txBox="1"/>
            <p:nvPr/>
          </p:nvSpPr>
          <p:spPr>
            <a:xfrm>
              <a:off x="4089654" y="5223510"/>
              <a:ext cx="438191" cy="234696"/>
            </a:xfrm>
            <a:prstGeom prst="rect">
              <a:avLst/>
            </a:prstGeom>
            <a:noFill/>
            <a:ln>
              <a:noFill/>
            </a:ln>
          </p:spPr>
          <p:txBody>
            <a:bodyPr wrap="none" lIns="0" tIns="0" rIns="0" bIns="0" anchor="t" anchorCtr="0">
              <a:spAutoFit/>
            </a:bodyPr>
            <a:lstStyle/>
            <a:p>
              <a:pPr algn="l"/>
              <a:r>
                <a:rPr lang="vi-VN" sz="1200" dirty="0">
                  <a:solidFill>
                    <a:srgbClr val="1A1A1A"/>
                  </a:solidFill>
                  <a:latin typeface="Arial"/>
                  <a:ea typeface="Arial"/>
                  <a:cs typeface="Arial"/>
                </a:rPr>
                <a:t>Sprint</a:t>
              </a:r>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bg-fill"/>
          <p:cNvSpPr/>
          <p:nvPr/>
        </p:nvSpPr>
        <p:spPr>
          <a:xfrm>
            <a:off x="-9525" y="-9525"/>
            <a:ext cx="12211050" cy="6877050"/>
          </a:xfrm>
          <a:prstGeom prst="rect">
            <a:avLst/>
          </a:prstGeom>
          <a:solidFill>
            <a:srgbClr val="FFFFFF"/>
          </a:solidFill>
          <a:ln>
            <a:noFill/>
          </a:ln>
        </p:spPr>
      </p:sp>
      <p:grpSp>
        <p:nvGrpSpPr>
          <p:cNvPr id="5" name="top-rule"/>
          <p:cNvGrpSpPr/>
          <p:nvPr/>
        </p:nvGrpSpPr>
        <p:grpSpPr>
          <a:xfrm>
            <a:off x="685800" y="723900"/>
            <a:ext cx="10820400" cy="38100"/>
            <a:chOff x="685800" y="723900"/>
            <a:chExt cx="10820400" cy="38100"/>
          </a:xfrm>
        </p:grpSpPr>
        <p:sp>
          <p:nvSpPr>
            <p:cNvPr id="3" name="Rectangle 3"/>
            <p:cNvSpPr/>
            <p:nvPr/>
          </p:nvSpPr>
          <p:spPr>
            <a:xfrm>
              <a:off x="685800" y="723900"/>
              <a:ext cx="10820400" cy="38100"/>
            </a:xfrm>
            <a:prstGeom prst="rect">
              <a:avLst/>
            </a:prstGeom>
            <a:solidFill>
              <a:srgbClr val="E8E8E8"/>
            </a:solidFill>
            <a:ln>
              <a:noFill/>
            </a:ln>
          </p:spPr>
        </p:sp>
        <p:sp>
          <p:nvSpPr>
            <p:cNvPr id="4" name="Rectangle 4"/>
            <p:cNvSpPr/>
            <p:nvPr/>
          </p:nvSpPr>
          <p:spPr>
            <a:xfrm>
              <a:off x="685800" y="723900"/>
              <a:ext cx="7033260" cy="38100"/>
            </a:xfrm>
            <a:prstGeom prst="rect">
              <a:avLst/>
            </a:prstGeom>
            <a:solidFill>
              <a:srgbClr val="C8102E"/>
            </a:solidFill>
            <a:ln>
              <a:noFill/>
            </a:ln>
          </p:spPr>
        </p:sp>
      </p:grpSp>
      <p:grpSp>
        <p:nvGrpSpPr>
          <p:cNvPr id="8" name="title"/>
          <p:cNvGrpSpPr/>
          <p:nvPr/>
        </p:nvGrpSpPr>
        <p:grpSpPr>
          <a:xfrm>
            <a:off x="652272" y="977265"/>
            <a:ext cx="7026720" cy="1193482"/>
            <a:chOff x="652272" y="977265"/>
            <a:chExt cx="7026720" cy="1193482"/>
          </a:xfrm>
        </p:grpSpPr>
        <p:sp>
          <p:nvSpPr>
            <p:cNvPr id="6" name="TextBox 6"/>
            <p:cNvSpPr txBox="1"/>
            <p:nvPr/>
          </p:nvSpPr>
          <p:spPr>
            <a:xfrm>
              <a:off x="652272" y="977265"/>
              <a:ext cx="4713989" cy="645414"/>
            </a:xfrm>
            <a:prstGeom prst="rect">
              <a:avLst/>
            </a:prstGeom>
            <a:noFill/>
            <a:ln>
              <a:noFill/>
            </a:ln>
          </p:spPr>
          <p:txBody>
            <a:bodyPr wrap="none" lIns="0" tIns="0" rIns="0" bIns="0" anchor="t" anchorCtr="0">
              <a:spAutoFit/>
            </a:bodyPr>
            <a:lstStyle/>
            <a:p>
              <a:pPr algn="l"/>
              <a:r>
                <a:rPr lang="vi-VN" sz="3300" b="1" dirty="0">
                  <a:solidFill>
                    <a:srgbClr val="111111"/>
                  </a:solidFill>
                  <a:latin typeface="Arial"/>
                  <a:ea typeface="Arial"/>
                  <a:cs typeface="Arial"/>
                </a:rPr>
                <a:t>Nguồn nhân lực dự án</a:t>
              </a:r>
            </a:p>
          </p:txBody>
        </p:sp>
        <p:sp>
          <p:nvSpPr>
            <p:cNvPr id="7" name="TextBox 7"/>
            <p:cNvSpPr txBox="1"/>
            <p:nvPr/>
          </p:nvSpPr>
          <p:spPr>
            <a:xfrm>
              <a:off x="677418" y="1848040"/>
              <a:ext cx="7001574" cy="322707"/>
            </a:xfrm>
            <a:prstGeom prst="rect">
              <a:avLst/>
            </a:prstGeom>
            <a:noFill/>
            <a:ln>
              <a:noFill/>
            </a:ln>
          </p:spPr>
          <p:txBody>
            <a:bodyPr wrap="none" lIns="0" tIns="0" rIns="0" bIns="0" anchor="t" anchorCtr="0">
              <a:spAutoFit/>
            </a:bodyPr>
            <a:lstStyle/>
            <a:p>
              <a:pPr algn="l"/>
              <a:r>
                <a:rPr lang="vi-VN" sz="1650" dirty="0">
                  <a:solidFill>
                    <a:srgbClr val="6E6E6E"/>
                  </a:solidFill>
                  <a:latin typeface="Arial"/>
                  <a:ea typeface="Arial"/>
                  <a:cs typeface="Arial"/>
                </a:rPr>
                <a:t>Nhóm 04 gồm 4 sinh viên, phân vai theo vòng đời phát triển phần mềm</a:t>
              </a:r>
            </a:p>
          </p:txBody>
        </p:sp>
      </p:grpSp>
      <p:grpSp>
        <p:nvGrpSpPr>
          <p:cNvPr id="12" name="footer"/>
          <p:cNvGrpSpPr/>
          <p:nvPr/>
        </p:nvGrpSpPr>
        <p:grpSpPr>
          <a:xfrm>
            <a:off x="680085" y="6286500"/>
            <a:ext cx="10831830" cy="327184"/>
            <a:chOff x="680085" y="6286500"/>
            <a:chExt cx="10831830" cy="327184"/>
          </a:xfrm>
        </p:grpSpPr>
        <p:sp>
          <p:nvSpPr>
            <p:cNvPr id="9" name="Freeform 9"/>
            <p:cNvSpPr/>
            <p:nvPr/>
          </p:nvSpPr>
          <p:spPr>
            <a:xfrm>
              <a:off x="685800" y="6286500"/>
              <a:ext cx="10820400" cy="9525"/>
            </a:xfrm>
            <a:custGeom>
              <a:avLst/>
              <a:gdLst/>
              <a:ahLst/>
              <a:cxnLst/>
              <a:rect l="l" t="t" r="r" b="b"/>
              <a:pathLst>
                <a:path w="10820400" h="9525">
                  <a:moveTo>
                    <a:pt x="0" y="0"/>
                  </a:moveTo>
                  <a:lnTo>
                    <a:pt x="10820400" y="0"/>
                  </a:lnTo>
                </a:path>
              </a:pathLst>
            </a:custGeom>
            <a:noFill/>
            <a:ln w="9525">
              <a:solidFill>
                <a:srgbClr val="E8E8E8"/>
              </a:solidFill>
            </a:ln>
          </p:spPr>
        </p:sp>
        <p:sp>
          <p:nvSpPr>
            <p:cNvPr id="10" name="TextBox 10"/>
            <p:cNvSpPr txBox="1"/>
            <p:nvPr/>
          </p:nvSpPr>
          <p:spPr>
            <a:xfrm>
              <a:off x="680085" y="6393656"/>
              <a:ext cx="2914269" cy="220028"/>
            </a:xfrm>
            <a:prstGeom prst="rect">
              <a:avLst/>
            </a:prstGeom>
            <a:noFill/>
            <a:ln>
              <a:noFill/>
            </a:ln>
          </p:spPr>
          <p:txBody>
            <a:bodyPr wrap="none" lIns="0" tIns="0" rIns="0" bIns="0" anchor="t" anchorCtr="0">
              <a:spAutoFit/>
            </a:bodyPr>
            <a:lstStyle/>
            <a:p>
              <a:pPr algn="l"/>
              <a:r>
                <a:rPr lang="vi-VN" sz="1120" dirty="0">
                  <a:solidFill>
                    <a:srgbClr val="6E6E6E"/>
                  </a:solidFill>
                  <a:latin typeface="Arial"/>
                  <a:ea typeface="Arial"/>
                  <a:cs typeface="Arial"/>
                </a:rPr>
                <a:t>Nhóm 04 | Lớp 765643-QTDA-VB2-20261</a:t>
              </a:r>
            </a:p>
          </p:txBody>
        </p:sp>
        <p:sp>
          <p:nvSpPr>
            <p:cNvPr id="11" name="TextBox 11"/>
            <p:cNvSpPr txBox="1"/>
            <p:nvPr/>
          </p:nvSpPr>
          <p:spPr>
            <a:xfrm>
              <a:off x="11332764" y="6393656"/>
              <a:ext cx="179151" cy="220028"/>
            </a:xfrm>
            <a:prstGeom prst="rect">
              <a:avLst/>
            </a:prstGeom>
            <a:noFill/>
            <a:ln>
              <a:noFill/>
            </a:ln>
          </p:spPr>
          <p:txBody>
            <a:bodyPr wrap="none" lIns="0" tIns="0" rIns="0" bIns="0" anchor="t" anchorCtr="0">
              <a:spAutoFit/>
            </a:bodyPr>
            <a:lstStyle/>
            <a:p>
              <a:pPr algn="r"/>
              <a:r>
                <a:rPr lang="vi-VN" sz="1120" dirty="0">
                  <a:solidFill>
                    <a:srgbClr val="6E6E6E"/>
                  </a:solidFill>
                  <a:latin typeface="Arial"/>
                  <a:ea typeface="Arial"/>
                  <a:cs typeface="Arial"/>
                </a:rPr>
                <a:t>13</a:t>
              </a:r>
            </a:p>
          </p:txBody>
        </p:sp>
      </p:grpSp>
      <p:grpSp>
        <p:nvGrpSpPr>
          <p:cNvPr id="69" name="table"/>
          <p:cNvGrpSpPr/>
          <p:nvPr/>
        </p:nvGrpSpPr>
        <p:grpSpPr>
          <a:xfrm>
            <a:off x="685800" y="2333625"/>
            <a:ext cx="10296525" cy="3057525"/>
            <a:chOff x="685800" y="2333625"/>
            <a:chExt cx="10296525" cy="3057525"/>
          </a:xfrm>
        </p:grpSpPr>
        <p:sp>
          <p:nvSpPr>
            <p:cNvPr id="13" name="Rectangle 13"/>
            <p:cNvSpPr/>
            <p:nvPr/>
          </p:nvSpPr>
          <p:spPr>
            <a:xfrm>
              <a:off x="685800" y="2333625"/>
              <a:ext cx="10287000" cy="3048000"/>
            </a:xfrm>
            <a:prstGeom prst="rect">
              <a:avLst/>
            </a:prstGeom>
            <a:solidFill>
              <a:srgbClr val="FFFFFF"/>
            </a:solidFill>
            <a:ln w="9525">
              <a:solidFill>
                <a:srgbClr val="E8E8E8"/>
              </a:solidFill>
            </a:ln>
          </p:spPr>
        </p:sp>
        <p:sp>
          <p:nvSpPr>
            <p:cNvPr id="14" name="Rectangle 14"/>
            <p:cNvSpPr/>
            <p:nvPr/>
          </p:nvSpPr>
          <p:spPr>
            <a:xfrm>
              <a:off x="685800" y="2333625"/>
              <a:ext cx="10287000" cy="609600"/>
            </a:xfrm>
            <a:prstGeom prst="rect">
              <a:avLst/>
            </a:prstGeom>
            <a:solidFill>
              <a:srgbClr val="F5F5F5"/>
            </a:solidFill>
            <a:ln>
              <a:noFill/>
            </a:ln>
          </p:spPr>
        </p:sp>
        <p:sp>
          <p:nvSpPr>
            <p:cNvPr id="15" name="Freeform 15"/>
            <p:cNvSpPr/>
            <p:nvPr/>
          </p:nvSpPr>
          <p:spPr>
            <a:xfrm>
              <a:off x="685800" y="2943225"/>
              <a:ext cx="10287000" cy="9525"/>
            </a:xfrm>
            <a:custGeom>
              <a:avLst/>
              <a:gdLst/>
              <a:ahLst/>
              <a:cxnLst/>
              <a:rect l="l" t="t" r="r" b="b"/>
              <a:pathLst>
                <a:path w="10287000" h="9525">
                  <a:moveTo>
                    <a:pt x="0" y="0"/>
                  </a:moveTo>
                  <a:lnTo>
                    <a:pt x="10287000" y="0"/>
                  </a:lnTo>
                </a:path>
              </a:pathLst>
            </a:custGeom>
            <a:noFill/>
            <a:ln w="9525">
              <a:solidFill>
                <a:srgbClr val="E8E8E8"/>
              </a:solidFill>
            </a:ln>
          </p:spPr>
        </p:sp>
        <p:sp>
          <p:nvSpPr>
            <p:cNvPr id="16" name="Freeform 16"/>
            <p:cNvSpPr/>
            <p:nvPr/>
          </p:nvSpPr>
          <p:spPr>
            <a:xfrm>
              <a:off x="685800" y="2333625"/>
              <a:ext cx="9525" cy="3048000"/>
            </a:xfrm>
            <a:custGeom>
              <a:avLst/>
              <a:gdLst/>
              <a:ahLst/>
              <a:cxnLst/>
              <a:rect l="l" t="t" r="r" b="b"/>
              <a:pathLst>
                <a:path w="9525" h="3048000">
                  <a:moveTo>
                    <a:pt x="0" y="0"/>
                  </a:moveTo>
                  <a:lnTo>
                    <a:pt x="0" y="3048000"/>
                  </a:lnTo>
                </a:path>
              </a:pathLst>
            </a:custGeom>
            <a:noFill/>
            <a:ln w="9525">
              <a:solidFill>
                <a:srgbClr val="E8E8E8"/>
              </a:solidFill>
            </a:ln>
          </p:spPr>
        </p:sp>
        <p:sp>
          <p:nvSpPr>
            <p:cNvPr id="17" name="TextBox 17"/>
            <p:cNvSpPr txBox="1"/>
            <p:nvPr/>
          </p:nvSpPr>
          <p:spPr>
            <a:xfrm>
              <a:off x="794004" y="2413635"/>
              <a:ext cx="870216" cy="234696"/>
            </a:xfrm>
            <a:prstGeom prst="rect">
              <a:avLst/>
            </a:prstGeom>
            <a:noFill/>
            <a:ln>
              <a:noFill/>
            </a:ln>
          </p:spPr>
          <p:txBody>
            <a:bodyPr wrap="none" lIns="0" tIns="0" rIns="0" bIns="0" anchor="t" anchorCtr="0">
              <a:spAutoFit/>
            </a:bodyPr>
            <a:lstStyle/>
            <a:p>
              <a:pPr algn="l"/>
              <a:r>
                <a:rPr lang="vi-VN" sz="1200" b="1" dirty="0">
                  <a:solidFill>
                    <a:srgbClr val="111111"/>
                  </a:solidFill>
                  <a:latin typeface="Arial"/>
                  <a:ea typeface="Arial"/>
                  <a:cs typeface="Arial"/>
                </a:rPr>
                <a:t>Thành viên</a:t>
              </a:r>
            </a:p>
          </p:txBody>
        </p:sp>
        <p:sp>
          <p:nvSpPr>
            <p:cNvPr id="18" name="Freeform 18"/>
            <p:cNvSpPr/>
            <p:nvPr/>
          </p:nvSpPr>
          <p:spPr>
            <a:xfrm>
              <a:off x="3067050" y="2333625"/>
              <a:ext cx="9525" cy="3048000"/>
            </a:xfrm>
            <a:custGeom>
              <a:avLst/>
              <a:gdLst/>
              <a:ahLst/>
              <a:cxnLst/>
              <a:rect l="l" t="t" r="r" b="b"/>
              <a:pathLst>
                <a:path w="9525" h="3048000">
                  <a:moveTo>
                    <a:pt x="0" y="0"/>
                  </a:moveTo>
                  <a:lnTo>
                    <a:pt x="0" y="3048000"/>
                  </a:lnTo>
                </a:path>
              </a:pathLst>
            </a:custGeom>
            <a:noFill/>
            <a:ln w="9525">
              <a:solidFill>
                <a:srgbClr val="E8E8E8"/>
              </a:solidFill>
            </a:ln>
          </p:spPr>
        </p:sp>
        <p:sp>
          <p:nvSpPr>
            <p:cNvPr id="19" name="TextBox 19"/>
            <p:cNvSpPr txBox="1"/>
            <p:nvPr/>
          </p:nvSpPr>
          <p:spPr>
            <a:xfrm>
              <a:off x="3175254" y="2413635"/>
              <a:ext cx="519627" cy="234696"/>
            </a:xfrm>
            <a:prstGeom prst="rect">
              <a:avLst/>
            </a:prstGeom>
            <a:noFill/>
            <a:ln>
              <a:noFill/>
            </a:ln>
          </p:spPr>
          <p:txBody>
            <a:bodyPr wrap="none" lIns="0" tIns="0" rIns="0" bIns="0" anchor="t" anchorCtr="0">
              <a:spAutoFit/>
            </a:bodyPr>
            <a:lstStyle/>
            <a:p>
              <a:pPr algn="l"/>
              <a:r>
                <a:rPr lang="vi-VN" sz="1200" b="1" dirty="0">
                  <a:solidFill>
                    <a:srgbClr val="111111"/>
                  </a:solidFill>
                  <a:latin typeface="Arial"/>
                  <a:ea typeface="Arial"/>
                  <a:cs typeface="Arial"/>
                </a:rPr>
                <a:t>Vai trò</a:t>
              </a:r>
            </a:p>
          </p:txBody>
        </p:sp>
        <p:sp>
          <p:nvSpPr>
            <p:cNvPr id="20" name="Freeform 20"/>
            <p:cNvSpPr/>
            <p:nvPr/>
          </p:nvSpPr>
          <p:spPr>
            <a:xfrm>
              <a:off x="5257800" y="2333625"/>
              <a:ext cx="9525" cy="3048000"/>
            </a:xfrm>
            <a:custGeom>
              <a:avLst/>
              <a:gdLst/>
              <a:ahLst/>
              <a:cxnLst/>
              <a:rect l="l" t="t" r="r" b="b"/>
              <a:pathLst>
                <a:path w="9525" h="3048000">
                  <a:moveTo>
                    <a:pt x="0" y="0"/>
                  </a:moveTo>
                  <a:lnTo>
                    <a:pt x="0" y="3048000"/>
                  </a:lnTo>
                </a:path>
              </a:pathLst>
            </a:custGeom>
            <a:noFill/>
            <a:ln w="9525">
              <a:solidFill>
                <a:srgbClr val="E8E8E8"/>
              </a:solidFill>
            </a:ln>
          </p:spPr>
        </p:sp>
        <p:sp>
          <p:nvSpPr>
            <p:cNvPr id="21" name="TextBox 21"/>
            <p:cNvSpPr txBox="1"/>
            <p:nvPr/>
          </p:nvSpPr>
          <p:spPr>
            <a:xfrm>
              <a:off x="5366004" y="2413635"/>
              <a:ext cx="843815" cy="234696"/>
            </a:xfrm>
            <a:prstGeom prst="rect">
              <a:avLst/>
            </a:prstGeom>
            <a:noFill/>
            <a:ln>
              <a:noFill/>
            </a:ln>
          </p:spPr>
          <p:txBody>
            <a:bodyPr wrap="none" lIns="0" tIns="0" rIns="0" bIns="0" anchor="t" anchorCtr="0">
              <a:spAutoFit/>
            </a:bodyPr>
            <a:lstStyle/>
            <a:p>
              <a:pPr algn="l"/>
              <a:r>
                <a:rPr lang="vi-VN" sz="1200" b="1" dirty="0">
                  <a:solidFill>
                    <a:srgbClr val="111111"/>
                  </a:solidFill>
                  <a:latin typeface="Arial"/>
                  <a:ea typeface="Arial"/>
                  <a:cs typeface="Arial"/>
                </a:rPr>
                <a:t>Ngày công</a:t>
              </a:r>
            </a:p>
          </p:txBody>
        </p:sp>
        <p:sp>
          <p:nvSpPr>
            <p:cNvPr id="22" name="Freeform 22"/>
            <p:cNvSpPr/>
            <p:nvPr/>
          </p:nvSpPr>
          <p:spPr>
            <a:xfrm>
              <a:off x="6400800" y="2333625"/>
              <a:ext cx="9525" cy="3048000"/>
            </a:xfrm>
            <a:custGeom>
              <a:avLst/>
              <a:gdLst/>
              <a:ahLst/>
              <a:cxnLst/>
              <a:rect l="l" t="t" r="r" b="b"/>
              <a:pathLst>
                <a:path w="9525" h="3048000">
                  <a:moveTo>
                    <a:pt x="0" y="0"/>
                  </a:moveTo>
                  <a:lnTo>
                    <a:pt x="0" y="3048000"/>
                  </a:lnTo>
                </a:path>
              </a:pathLst>
            </a:custGeom>
            <a:noFill/>
            <a:ln w="9525">
              <a:solidFill>
                <a:srgbClr val="E8E8E8"/>
              </a:solidFill>
            </a:ln>
          </p:spPr>
        </p:sp>
        <p:sp>
          <p:nvSpPr>
            <p:cNvPr id="23" name="TextBox 23"/>
            <p:cNvSpPr txBox="1"/>
            <p:nvPr/>
          </p:nvSpPr>
          <p:spPr>
            <a:xfrm>
              <a:off x="6509004" y="2413635"/>
              <a:ext cx="1453738" cy="234696"/>
            </a:xfrm>
            <a:prstGeom prst="rect">
              <a:avLst/>
            </a:prstGeom>
            <a:noFill/>
            <a:ln>
              <a:noFill/>
            </a:ln>
          </p:spPr>
          <p:txBody>
            <a:bodyPr wrap="none" lIns="0" tIns="0" rIns="0" bIns="0" anchor="t" anchorCtr="0">
              <a:spAutoFit/>
            </a:bodyPr>
            <a:lstStyle/>
            <a:p>
              <a:pPr algn="l"/>
              <a:r>
                <a:rPr lang="vi-VN" sz="1200" b="1" dirty="0">
                  <a:solidFill>
                    <a:srgbClr val="111111"/>
                  </a:solidFill>
                  <a:latin typeface="Arial"/>
                  <a:ea typeface="Arial"/>
                  <a:cs typeface="Arial"/>
                </a:rPr>
                <a:t>Trách nhiệm chính</a:t>
              </a:r>
            </a:p>
          </p:txBody>
        </p:sp>
        <p:sp>
          <p:nvSpPr>
            <p:cNvPr id="24" name="Freeform 24"/>
            <p:cNvSpPr/>
            <p:nvPr/>
          </p:nvSpPr>
          <p:spPr>
            <a:xfrm>
              <a:off x="10972800" y="2333625"/>
              <a:ext cx="9525" cy="3048000"/>
            </a:xfrm>
            <a:custGeom>
              <a:avLst/>
              <a:gdLst/>
              <a:ahLst/>
              <a:cxnLst/>
              <a:rect l="l" t="t" r="r" b="b"/>
              <a:pathLst>
                <a:path w="9525" h="3048000">
                  <a:moveTo>
                    <a:pt x="0" y="0"/>
                  </a:moveTo>
                  <a:lnTo>
                    <a:pt x="0" y="3048000"/>
                  </a:lnTo>
                </a:path>
              </a:pathLst>
            </a:custGeom>
            <a:noFill/>
            <a:ln w="9525">
              <a:solidFill>
                <a:srgbClr val="E8E8E8"/>
              </a:solidFill>
            </a:ln>
          </p:spPr>
        </p:sp>
        <p:sp>
          <p:nvSpPr>
            <p:cNvPr id="25" name="Rectangle 25"/>
            <p:cNvSpPr/>
            <p:nvPr/>
          </p:nvSpPr>
          <p:spPr>
            <a:xfrm>
              <a:off x="685800" y="2943225"/>
              <a:ext cx="10287000" cy="609600"/>
            </a:xfrm>
            <a:prstGeom prst="rect">
              <a:avLst/>
            </a:prstGeom>
            <a:solidFill>
              <a:srgbClr val="FFFFFF"/>
            </a:solidFill>
            <a:ln>
              <a:noFill/>
            </a:ln>
          </p:spPr>
        </p:sp>
        <p:sp>
          <p:nvSpPr>
            <p:cNvPr id="26" name="Freeform 26"/>
            <p:cNvSpPr/>
            <p:nvPr/>
          </p:nvSpPr>
          <p:spPr>
            <a:xfrm>
              <a:off x="685800" y="3552825"/>
              <a:ext cx="10287000" cy="9525"/>
            </a:xfrm>
            <a:custGeom>
              <a:avLst/>
              <a:gdLst/>
              <a:ahLst/>
              <a:cxnLst/>
              <a:rect l="l" t="t" r="r" b="b"/>
              <a:pathLst>
                <a:path w="10287000" h="9525">
                  <a:moveTo>
                    <a:pt x="0" y="0"/>
                  </a:moveTo>
                  <a:lnTo>
                    <a:pt x="10287000" y="0"/>
                  </a:lnTo>
                </a:path>
              </a:pathLst>
            </a:custGeom>
            <a:noFill/>
            <a:ln w="9525">
              <a:solidFill>
                <a:srgbClr val="E8E8E8"/>
              </a:solidFill>
            </a:ln>
          </p:spPr>
        </p:sp>
        <p:sp>
          <p:nvSpPr>
            <p:cNvPr id="27" name="Freeform 27"/>
            <p:cNvSpPr/>
            <p:nvPr/>
          </p:nvSpPr>
          <p:spPr>
            <a:xfrm>
              <a:off x="685800" y="2333625"/>
              <a:ext cx="9525" cy="3048000"/>
            </a:xfrm>
            <a:custGeom>
              <a:avLst/>
              <a:gdLst/>
              <a:ahLst/>
              <a:cxnLst/>
              <a:rect l="l" t="t" r="r" b="b"/>
              <a:pathLst>
                <a:path w="9525" h="3048000">
                  <a:moveTo>
                    <a:pt x="0" y="0"/>
                  </a:moveTo>
                  <a:lnTo>
                    <a:pt x="0" y="3048000"/>
                  </a:lnTo>
                </a:path>
              </a:pathLst>
            </a:custGeom>
            <a:noFill/>
            <a:ln w="9525">
              <a:solidFill>
                <a:srgbClr val="E8E8E8"/>
              </a:solidFill>
            </a:ln>
          </p:spPr>
        </p:sp>
        <p:sp>
          <p:nvSpPr>
            <p:cNvPr id="28" name="TextBox 28"/>
            <p:cNvSpPr txBox="1"/>
            <p:nvPr/>
          </p:nvSpPr>
          <p:spPr>
            <a:xfrm>
              <a:off x="794004" y="3023235"/>
              <a:ext cx="1242377" cy="234696"/>
            </a:xfrm>
            <a:prstGeom prst="rect">
              <a:avLst/>
            </a:prstGeom>
            <a:noFill/>
            <a:ln>
              <a:noFill/>
            </a:ln>
          </p:spPr>
          <p:txBody>
            <a:bodyPr wrap="none" lIns="0" tIns="0" rIns="0" bIns="0" anchor="t" anchorCtr="0">
              <a:spAutoFit/>
            </a:bodyPr>
            <a:lstStyle/>
            <a:p>
              <a:pPr algn="l"/>
              <a:r>
                <a:rPr lang="vi-VN" sz="1200" b="1" dirty="0">
                  <a:solidFill>
                    <a:srgbClr val="1A1A1A"/>
                  </a:solidFill>
                  <a:latin typeface="Arial"/>
                  <a:ea typeface="Arial"/>
                  <a:cs typeface="Arial"/>
                </a:rPr>
                <a:t>Dương Đức Duy</a:t>
              </a:r>
            </a:p>
          </p:txBody>
        </p:sp>
        <p:sp>
          <p:nvSpPr>
            <p:cNvPr id="29" name="Freeform 29"/>
            <p:cNvSpPr/>
            <p:nvPr/>
          </p:nvSpPr>
          <p:spPr>
            <a:xfrm>
              <a:off x="3067050" y="2333625"/>
              <a:ext cx="9525" cy="3048000"/>
            </a:xfrm>
            <a:custGeom>
              <a:avLst/>
              <a:gdLst/>
              <a:ahLst/>
              <a:cxnLst/>
              <a:rect l="l" t="t" r="r" b="b"/>
              <a:pathLst>
                <a:path w="9525" h="3048000">
                  <a:moveTo>
                    <a:pt x="0" y="0"/>
                  </a:moveTo>
                  <a:lnTo>
                    <a:pt x="0" y="3048000"/>
                  </a:lnTo>
                </a:path>
              </a:pathLst>
            </a:custGeom>
            <a:noFill/>
            <a:ln w="9525">
              <a:solidFill>
                <a:srgbClr val="E8E8E8"/>
              </a:solidFill>
            </a:ln>
          </p:spPr>
        </p:sp>
        <p:sp>
          <p:nvSpPr>
            <p:cNvPr id="30" name="TextBox 30"/>
            <p:cNvSpPr txBox="1"/>
            <p:nvPr/>
          </p:nvSpPr>
          <p:spPr>
            <a:xfrm>
              <a:off x="3175254" y="3023235"/>
              <a:ext cx="1158529" cy="234696"/>
            </a:xfrm>
            <a:prstGeom prst="rect">
              <a:avLst/>
            </a:prstGeom>
            <a:noFill/>
            <a:ln>
              <a:noFill/>
            </a:ln>
          </p:spPr>
          <p:txBody>
            <a:bodyPr wrap="none" lIns="0" tIns="0" rIns="0" bIns="0" anchor="t" anchorCtr="0">
              <a:spAutoFit/>
            </a:bodyPr>
            <a:lstStyle/>
            <a:p>
              <a:pPr algn="l"/>
              <a:r>
                <a:rPr lang="vi-VN" sz="1200" dirty="0">
                  <a:solidFill>
                    <a:srgbClr val="1A1A1A"/>
                  </a:solidFill>
                  <a:latin typeface="Arial"/>
                  <a:ea typeface="Arial"/>
                  <a:cs typeface="Arial"/>
                </a:rPr>
                <a:t>Giám đốc dự án</a:t>
              </a:r>
            </a:p>
          </p:txBody>
        </p:sp>
        <p:sp>
          <p:nvSpPr>
            <p:cNvPr id="31" name="Freeform 31"/>
            <p:cNvSpPr/>
            <p:nvPr/>
          </p:nvSpPr>
          <p:spPr>
            <a:xfrm>
              <a:off x="5257800" y="2333625"/>
              <a:ext cx="9525" cy="3048000"/>
            </a:xfrm>
            <a:custGeom>
              <a:avLst/>
              <a:gdLst/>
              <a:ahLst/>
              <a:cxnLst/>
              <a:rect l="l" t="t" r="r" b="b"/>
              <a:pathLst>
                <a:path w="9525" h="3048000">
                  <a:moveTo>
                    <a:pt x="0" y="0"/>
                  </a:moveTo>
                  <a:lnTo>
                    <a:pt x="0" y="3048000"/>
                  </a:lnTo>
                </a:path>
              </a:pathLst>
            </a:custGeom>
            <a:noFill/>
            <a:ln w="9525">
              <a:solidFill>
                <a:srgbClr val="E8E8E8"/>
              </a:solidFill>
            </a:ln>
          </p:spPr>
        </p:sp>
        <p:sp>
          <p:nvSpPr>
            <p:cNvPr id="32" name="TextBox 32"/>
            <p:cNvSpPr txBox="1"/>
            <p:nvPr/>
          </p:nvSpPr>
          <p:spPr>
            <a:xfrm>
              <a:off x="5366004" y="3023235"/>
              <a:ext cx="236770" cy="234696"/>
            </a:xfrm>
            <a:prstGeom prst="rect">
              <a:avLst/>
            </a:prstGeom>
            <a:noFill/>
            <a:ln>
              <a:noFill/>
            </a:ln>
          </p:spPr>
          <p:txBody>
            <a:bodyPr wrap="none" lIns="0" tIns="0" rIns="0" bIns="0" anchor="t" anchorCtr="0">
              <a:spAutoFit/>
            </a:bodyPr>
            <a:lstStyle/>
            <a:p>
              <a:pPr algn="l"/>
              <a:r>
                <a:rPr lang="vi-VN" sz="1200" dirty="0">
                  <a:solidFill>
                    <a:srgbClr val="1A1A1A"/>
                  </a:solidFill>
                  <a:latin typeface="Arial"/>
                  <a:ea typeface="Arial"/>
                  <a:cs typeface="Arial"/>
                </a:rPr>
                <a:t>7,5</a:t>
              </a:r>
            </a:p>
          </p:txBody>
        </p:sp>
        <p:sp>
          <p:nvSpPr>
            <p:cNvPr id="33" name="Freeform 33"/>
            <p:cNvSpPr/>
            <p:nvPr/>
          </p:nvSpPr>
          <p:spPr>
            <a:xfrm>
              <a:off x="6400800" y="2333625"/>
              <a:ext cx="9525" cy="3048000"/>
            </a:xfrm>
            <a:custGeom>
              <a:avLst/>
              <a:gdLst/>
              <a:ahLst/>
              <a:cxnLst/>
              <a:rect l="l" t="t" r="r" b="b"/>
              <a:pathLst>
                <a:path w="9525" h="3048000">
                  <a:moveTo>
                    <a:pt x="0" y="0"/>
                  </a:moveTo>
                  <a:lnTo>
                    <a:pt x="0" y="3048000"/>
                  </a:lnTo>
                </a:path>
              </a:pathLst>
            </a:custGeom>
            <a:noFill/>
            <a:ln w="9525">
              <a:solidFill>
                <a:srgbClr val="E8E8E8"/>
              </a:solidFill>
            </a:ln>
          </p:spPr>
        </p:sp>
        <p:sp>
          <p:nvSpPr>
            <p:cNvPr id="34" name="TextBox 34"/>
            <p:cNvSpPr txBox="1"/>
            <p:nvPr/>
          </p:nvSpPr>
          <p:spPr>
            <a:xfrm>
              <a:off x="6509004" y="3023235"/>
              <a:ext cx="3475316" cy="234696"/>
            </a:xfrm>
            <a:prstGeom prst="rect">
              <a:avLst/>
            </a:prstGeom>
            <a:noFill/>
            <a:ln>
              <a:noFill/>
            </a:ln>
          </p:spPr>
          <p:txBody>
            <a:bodyPr wrap="none" lIns="0" tIns="0" rIns="0" bIns="0" anchor="t" anchorCtr="0">
              <a:spAutoFit/>
            </a:bodyPr>
            <a:lstStyle/>
            <a:p>
              <a:pPr algn="l"/>
              <a:r>
                <a:rPr lang="vi-VN" sz="1200" dirty="0">
                  <a:solidFill>
                    <a:srgbClr val="1A1A1A"/>
                  </a:solidFill>
                  <a:latin typeface="Arial"/>
                  <a:ea typeface="Arial"/>
                  <a:cs typeface="Arial"/>
                </a:rPr>
                <a:t>Lập kế hoạch, tiến độ, rủi ro, nguồn lực, tổng kết</a:t>
              </a:r>
            </a:p>
          </p:txBody>
        </p:sp>
        <p:sp>
          <p:nvSpPr>
            <p:cNvPr id="35" name="Freeform 35"/>
            <p:cNvSpPr/>
            <p:nvPr/>
          </p:nvSpPr>
          <p:spPr>
            <a:xfrm>
              <a:off x="10972800" y="2333625"/>
              <a:ext cx="9525" cy="3048000"/>
            </a:xfrm>
            <a:custGeom>
              <a:avLst/>
              <a:gdLst/>
              <a:ahLst/>
              <a:cxnLst/>
              <a:rect l="l" t="t" r="r" b="b"/>
              <a:pathLst>
                <a:path w="9525" h="3048000">
                  <a:moveTo>
                    <a:pt x="0" y="0"/>
                  </a:moveTo>
                  <a:lnTo>
                    <a:pt x="0" y="3048000"/>
                  </a:lnTo>
                </a:path>
              </a:pathLst>
            </a:custGeom>
            <a:noFill/>
            <a:ln w="9525">
              <a:solidFill>
                <a:srgbClr val="E8E8E8"/>
              </a:solidFill>
            </a:ln>
          </p:spPr>
        </p:sp>
        <p:sp>
          <p:nvSpPr>
            <p:cNvPr id="36" name="Rectangle 36"/>
            <p:cNvSpPr/>
            <p:nvPr/>
          </p:nvSpPr>
          <p:spPr>
            <a:xfrm>
              <a:off x="685800" y="3552825"/>
              <a:ext cx="10287000" cy="609600"/>
            </a:xfrm>
            <a:prstGeom prst="rect">
              <a:avLst/>
            </a:prstGeom>
            <a:solidFill>
              <a:srgbClr val="FFFFFF"/>
            </a:solidFill>
            <a:ln>
              <a:noFill/>
            </a:ln>
          </p:spPr>
        </p:sp>
        <p:sp>
          <p:nvSpPr>
            <p:cNvPr id="37" name="Freeform 37"/>
            <p:cNvSpPr/>
            <p:nvPr/>
          </p:nvSpPr>
          <p:spPr>
            <a:xfrm>
              <a:off x="685800" y="4162425"/>
              <a:ext cx="10287000" cy="9525"/>
            </a:xfrm>
            <a:custGeom>
              <a:avLst/>
              <a:gdLst/>
              <a:ahLst/>
              <a:cxnLst/>
              <a:rect l="l" t="t" r="r" b="b"/>
              <a:pathLst>
                <a:path w="10287000" h="9525">
                  <a:moveTo>
                    <a:pt x="0" y="0"/>
                  </a:moveTo>
                  <a:lnTo>
                    <a:pt x="10287000" y="0"/>
                  </a:lnTo>
                </a:path>
              </a:pathLst>
            </a:custGeom>
            <a:noFill/>
            <a:ln w="9525">
              <a:solidFill>
                <a:srgbClr val="E8E8E8"/>
              </a:solidFill>
            </a:ln>
          </p:spPr>
        </p:sp>
        <p:sp>
          <p:nvSpPr>
            <p:cNvPr id="38" name="Freeform 38"/>
            <p:cNvSpPr/>
            <p:nvPr/>
          </p:nvSpPr>
          <p:spPr>
            <a:xfrm>
              <a:off x="685800" y="2333625"/>
              <a:ext cx="9525" cy="3048000"/>
            </a:xfrm>
            <a:custGeom>
              <a:avLst/>
              <a:gdLst/>
              <a:ahLst/>
              <a:cxnLst/>
              <a:rect l="l" t="t" r="r" b="b"/>
              <a:pathLst>
                <a:path w="9525" h="3048000">
                  <a:moveTo>
                    <a:pt x="0" y="0"/>
                  </a:moveTo>
                  <a:lnTo>
                    <a:pt x="0" y="3048000"/>
                  </a:lnTo>
                </a:path>
              </a:pathLst>
            </a:custGeom>
            <a:noFill/>
            <a:ln w="9525">
              <a:solidFill>
                <a:srgbClr val="E8E8E8"/>
              </a:solidFill>
            </a:ln>
          </p:spPr>
        </p:sp>
        <p:sp>
          <p:nvSpPr>
            <p:cNvPr id="39" name="TextBox 39"/>
            <p:cNvSpPr txBox="1"/>
            <p:nvPr/>
          </p:nvSpPr>
          <p:spPr>
            <a:xfrm>
              <a:off x="794004" y="3632835"/>
              <a:ext cx="1609586" cy="234696"/>
            </a:xfrm>
            <a:prstGeom prst="rect">
              <a:avLst/>
            </a:prstGeom>
            <a:noFill/>
            <a:ln>
              <a:noFill/>
            </a:ln>
          </p:spPr>
          <p:txBody>
            <a:bodyPr wrap="none" lIns="0" tIns="0" rIns="0" bIns="0" anchor="t" anchorCtr="0">
              <a:spAutoFit/>
            </a:bodyPr>
            <a:lstStyle/>
            <a:p>
              <a:pPr algn="l"/>
              <a:r>
                <a:rPr lang="vi-VN" sz="1200" b="1" dirty="0">
                  <a:solidFill>
                    <a:srgbClr val="1A1A1A"/>
                  </a:solidFill>
                  <a:latin typeface="Arial"/>
                  <a:ea typeface="Arial"/>
                  <a:cs typeface="Arial"/>
                </a:rPr>
                <a:t>Nguyễn Long Quyền</a:t>
              </a:r>
            </a:p>
          </p:txBody>
        </p:sp>
        <p:sp>
          <p:nvSpPr>
            <p:cNvPr id="40" name="Freeform 40"/>
            <p:cNvSpPr/>
            <p:nvPr/>
          </p:nvSpPr>
          <p:spPr>
            <a:xfrm>
              <a:off x="3067050" y="2333625"/>
              <a:ext cx="9525" cy="3048000"/>
            </a:xfrm>
            <a:custGeom>
              <a:avLst/>
              <a:gdLst/>
              <a:ahLst/>
              <a:cxnLst/>
              <a:rect l="l" t="t" r="r" b="b"/>
              <a:pathLst>
                <a:path w="9525" h="3048000">
                  <a:moveTo>
                    <a:pt x="0" y="0"/>
                  </a:moveTo>
                  <a:lnTo>
                    <a:pt x="0" y="3048000"/>
                  </a:lnTo>
                </a:path>
              </a:pathLst>
            </a:custGeom>
            <a:noFill/>
            <a:ln w="9525">
              <a:solidFill>
                <a:srgbClr val="E8E8E8"/>
              </a:solidFill>
            </a:ln>
          </p:spPr>
        </p:sp>
        <p:sp>
          <p:nvSpPr>
            <p:cNvPr id="41" name="TextBox 41"/>
            <p:cNvSpPr txBox="1"/>
            <p:nvPr/>
          </p:nvSpPr>
          <p:spPr>
            <a:xfrm>
              <a:off x="3175254" y="3632835"/>
              <a:ext cx="1344747" cy="234696"/>
            </a:xfrm>
            <a:prstGeom prst="rect">
              <a:avLst/>
            </a:prstGeom>
            <a:noFill/>
            <a:ln>
              <a:noFill/>
            </a:ln>
          </p:spPr>
          <p:txBody>
            <a:bodyPr wrap="none" lIns="0" tIns="0" rIns="0" bIns="0" anchor="t" anchorCtr="0">
              <a:spAutoFit/>
            </a:bodyPr>
            <a:lstStyle/>
            <a:p>
              <a:pPr algn="l"/>
              <a:r>
                <a:rPr lang="vi-VN" sz="1200" dirty="0">
                  <a:solidFill>
                    <a:srgbClr val="1A1A1A"/>
                  </a:solidFill>
                  <a:latin typeface="Arial"/>
                  <a:ea typeface="Arial"/>
                  <a:cs typeface="Arial"/>
                </a:rPr>
                <a:t>Máy chủ và CSDL</a:t>
              </a:r>
            </a:p>
          </p:txBody>
        </p:sp>
        <p:sp>
          <p:nvSpPr>
            <p:cNvPr id="42" name="Freeform 42"/>
            <p:cNvSpPr/>
            <p:nvPr/>
          </p:nvSpPr>
          <p:spPr>
            <a:xfrm>
              <a:off x="5257800" y="2333625"/>
              <a:ext cx="9525" cy="3048000"/>
            </a:xfrm>
            <a:custGeom>
              <a:avLst/>
              <a:gdLst/>
              <a:ahLst/>
              <a:cxnLst/>
              <a:rect l="l" t="t" r="r" b="b"/>
              <a:pathLst>
                <a:path w="9525" h="3048000">
                  <a:moveTo>
                    <a:pt x="0" y="0"/>
                  </a:moveTo>
                  <a:lnTo>
                    <a:pt x="0" y="3048000"/>
                  </a:lnTo>
                </a:path>
              </a:pathLst>
            </a:custGeom>
            <a:noFill/>
            <a:ln w="9525">
              <a:solidFill>
                <a:srgbClr val="E8E8E8"/>
              </a:solidFill>
            </a:ln>
          </p:spPr>
        </p:sp>
        <p:sp>
          <p:nvSpPr>
            <p:cNvPr id="43" name="TextBox 43"/>
            <p:cNvSpPr txBox="1"/>
            <p:nvPr/>
          </p:nvSpPr>
          <p:spPr>
            <a:xfrm>
              <a:off x="5366004" y="3632835"/>
              <a:ext cx="191894" cy="234696"/>
            </a:xfrm>
            <a:prstGeom prst="rect">
              <a:avLst/>
            </a:prstGeom>
            <a:noFill/>
            <a:ln>
              <a:noFill/>
            </a:ln>
          </p:spPr>
          <p:txBody>
            <a:bodyPr wrap="none" lIns="0" tIns="0" rIns="0" bIns="0" anchor="t" anchorCtr="0">
              <a:spAutoFit/>
            </a:bodyPr>
            <a:lstStyle/>
            <a:p>
              <a:pPr algn="l"/>
              <a:r>
                <a:rPr lang="vi-VN" sz="1200" dirty="0">
                  <a:solidFill>
                    <a:srgbClr val="1A1A1A"/>
                  </a:solidFill>
                  <a:latin typeface="Arial"/>
                  <a:ea typeface="Arial"/>
                  <a:cs typeface="Arial"/>
                </a:rPr>
                <a:t>58</a:t>
              </a:r>
            </a:p>
          </p:txBody>
        </p:sp>
        <p:sp>
          <p:nvSpPr>
            <p:cNvPr id="44" name="Freeform 44"/>
            <p:cNvSpPr/>
            <p:nvPr/>
          </p:nvSpPr>
          <p:spPr>
            <a:xfrm>
              <a:off x="6400800" y="2333625"/>
              <a:ext cx="9525" cy="3048000"/>
            </a:xfrm>
            <a:custGeom>
              <a:avLst/>
              <a:gdLst/>
              <a:ahLst/>
              <a:cxnLst/>
              <a:rect l="l" t="t" r="r" b="b"/>
              <a:pathLst>
                <a:path w="9525" h="3048000">
                  <a:moveTo>
                    <a:pt x="0" y="0"/>
                  </a:moveTo>
                  <a:lnTo>
                    <a:pt x="0" y="3048000"/>
                  </a:lnTo>
                </a:path>
              </a:pathLst>
            </a:custGeom>
            <a:noFill/>
            <a:ln w="9525">
              <a:solidFill>
                <a:srgbClr val="E8E8E8"/>
              </a:solidFill>
            </a:ln>
          </p:spPr>
        </p:sp>
        <p:sp>
          <p:nvSpPr>
            <p:cNvPr id="45" name="TextBox 45"/>
            <p:cNvSpPr txBox="1"/>
            <p:nvPr/>
          </p:nvSpPr>
          <p:spPr>
            <a:xfrm>
              <a:off x="6509004" y="3632835"/>
              <a:ext cx="3637903" cy="234696"/>
            </a:xfrm>
            <a:prstGeom prst="rect">
              <a:avLst/>
            </a:prstGeom>
            <a:noFill/>
            <a:ln>
              <a:noFill/>
            </a:ln>
          </p:spPr>
          <p:txBody>
            <a:bodyPr wrap="none" lIns="0" tIns="0" rIns="0" bIns="0" anchor="t" anchorCtr="0">
              <a:spAutoFit/>
            </a:bodyPr>
            <a:lstStyle/>
            <a:p>
              <a:pPr algn="l"/>
              <a:r>
                <a:rPr lang="vi-VN" sz="1200" dirty="0">
                  <a:solidFill>
                    <a:srgbClr val="1A1A1A"/>
                  </a:solidFill>
                  <a:latin typeface="Arial"/>
                  <a:ea typeface="Arial"/>
                  <a:cs typeface="Arial"/>
                </a:rPr>
                <a:t>Kiến trúc, API nghiệp vụ, CSDL, hạ tầng triển khai</a:t>
              </a:r>
            </a:p>
          </p:txBody>
        </p:sp>
        <p:sp>
          <p:nvSpPr>
            <p:cNvPr id="46" name="Freeform 46"/>
            <p:cNvSpPr/>
            <p:nvPr/>
          </p:nvSpPr>
          <p:spPr>
            <a:xfrm>
              <a:off x="10972800" y="2333625"/>
              <a:ext cx="9525" cy="3048000"/>
            </a:xfrm>
            <a:custGeom>
              <a:avLst/>
              <a:gdLst/>
              <a:ahLst/>
              <a:cxnLst/>
              <a:rect l="l" t="t" r="r" b="b"/>
              <a:pathLst>
                <a:path w="9525" h="3048000">
                  <a:moveTo>
                    <a:pt x="0" y="0"/>
                  </a:moveTo>
                  <a:lnTo>
                    <a:pt x="0" y="3048000"/>
                  </a:lnTo>
                </a:path>
              </a:pathLst>
            </a:custGeom>
            <a:noFill/>
            <a:ln w="9525">
              <a:solidFill>
                <a:srgbClr val="E8E8E8"/>
              </a:solidFill>
            </a:ln>
          </p:spPr>
        </p:sp>
        <p:sp>
          <p:nvSpPr>
            <p:cNvPr id="47" name="Rectangle 47"/>
            <p:cNvSpPr/>
            <p:nvPr/>
          </p:nvSpPr>
          <p:spPr>
            <a:xfrm>
              <a:off x="685800" y="4162425"/>
              <a:ext cx="10287000" cy="609600"/>
            </a:xfrm>
            <a:prstGeom prst="rect">
              <a:avLst/>
            </a:prstGeom>
            <a:solidFill>
              <a:srgbClr val="FFFFFF"/>
            </a:solidFill>
            <a:ln>
              <a:noFill/>
            </a:ln>
          </p:spPr>
        </p:sp>
        <p:sp>
          <p:nvSpPr>
            <p:cNvPr id="48" name="Freeform 48"/>
            <p:cNvSpPr/>
            <p:nvPr/>
          </p:nvSpPr>
          <p:spPr>
            <a:xfrm>
              <a:off x="685800" y="4772025"/>
              <a:ext cx="10287000" cy="9525"/>
            </a:xfrm>
            <a:custGeom>
              <a:avLst/>
              <a:gdLst/>
              <a:ahLst/>
              <a:cxnLst/>
              <a:rect l="l" t="t" r="r" b="b"/>
              <a:pathLst>
                <a:path w="10287000" h="9525">
                  <a:moveTo>
                    <a:pt x="0" y="0"/>
                  </a:moveTo>
                  <a:lnTo>
                    <a:pt x="10287000" y="0"/>
                  </a:lnTo>
                </a:path>
              </a:pathLst>
            </a:custGeom>
            <a:noFill/>
            <a:ln w="9525">
              <a:solidFill>
                <a:srgbClr val="E8E8E8"/>
              </a:solidFill>
            </a:ln>
          </p:spPr>
        </p:sp>
        <p:sp>
          <p:nvSpPr>
            <p:cNvPr id="49" name="Freeform 49"/>
            <p:cNvSpPr/>
            <p:nvPr/>
          </p:nvSpPr>
          <p:spPr>
            <a:xfrm>
              <a:off x="685800" y="2333625"/>
              <a:ext cx="9525" cy="3048000"/>
            </a:xfrm>
            <a:custGeom>
              <a:avLst/>
              <a:gdLst/>
              <a:ahLst/>
              <a:cxnLst/>
              <a:rect l="l" t="t" r="r" b="b"/>
              <a:pathLst>
                <a:path w="9525" h="3048000">
                  <a:moveTo>
                    <a:pt x="0" y="0"/>
                  </a:moveTo>
                  <a:lnTo>
                    <a:pt x="0" y="3048000"/>
                  </a:lnTo>
                </a:path>
              </a:pathLst>
            </a:custGeom>
            <a:noFill/>
            <a:ln w="9525">
              <a:solidFill>
                <a:srgbClr val="E8E8E8"/>
              </a:solidFill>
            </a:ln>
          </p:spPr>
        </p:sp>
        <p:sp>
          <p:nvSpPr>
            <p:cNvPr id="50" name="TextBox 50"/>
            <p:cNvSpPr txBox="1"/>
            <p:nvPr/>
          </p:nvSpPr>
          <p:spPr>
            <a:xfrm>
              <a:off x="794004" y="4242435"/>
              <a:ext cx="1277386" cy="234696"/>
            </a:xfrm>
            <a:prstGeom prst="rect">
              <a:avLst/>
            </a:prstGeom>
            <a:noFill/>
            <a:ln>
              <a:noFill/>
            </a:ln>
          </p:spPr>
          <p:txBody>
            <a:bodyPr wrap="none" lIns="0" tIns="0" rIns="0" bIns="0" anchor="t" anchorCtr="0">
              <a:spAutoFit/>
            </a:bodyPr>
            <a:lstStyle/>
            <a:p>
              <a:pPr algn="l"/>
              <a:r>
                <a:rPr lang="vi-VN" sz="1200" b="1" dirty="0">
                  <a:solidFill>
                    <a:srgbClr val="1A1A1A"/>
                  </a:solidFill>
                  <a:latin typeface="Arial"/>
                  <a:ea typeface="Arial"/>
                  <a:cs typeface="Arial"/>
                </a:rPr>
                <a:t>Nguyễn Hữu Đại</a:t>
              </a:r>
            </a:p>
          </p:txBody>
        </p:sp>
        <p:sp>
          <p:nvSpPr>
            <p:cNvPr id="51" name="Freeform 51"/>
            <p:cNvSpPr/>
            <p:nvPr/>
          </p:nvSpPr>
          <p:spPr>
            <a:xfrm>
              <a:off x="3067050" y="2333625"/>
              <a:ext cx="9525" cy="3048000"/>
            </a:xfrm>
            <a:custGeom>
              <a:avLst/>
              <a:gdLst/>
              <a:ahLst/>
              <a:cxnLst/>
              <a:rect l="l" t="t" r="r" b="b"/>
              <a:pathLst>
                <a:path w="9525" h="3048000">
                  <a:moveTo>
                    <a:pt x="0" y="0"/>
                  </a:moveTo>
                  <a:lnTo>
                    <a:pt x="0" y="3048000"/>
                  </a:lnTo>
                </a:path>
              </a:pathLst>
            </a:custGeom>
            <a:noFill/>
            <a:ln w="9525">
              <a:solidFill>
                <a:srgbClr val="E8E8E8"/>
              </a:solidFill>
            </a:ln>
          </p:spPr>
        </p:sp>
        <p:sp>
          <p:nvSpPr>
            <p:cNvPr id="52" name="TextBox 52"/>
            <p:cNvSpPr txBox="1"/>
            <p:nvPr/>
          </p:nvSpPr>
          <p:spPr>
            <a:xfrm>
              <a:off x="3175254" y="4242435"/>
              <a:ext cx="957399" cy="234696"/>
            </a:xfrm>
            <a:prstGeom prst="rect">
              <a:avLst/>
            </a:prstGeom>
            <a:noFill/>
            <a:ln>
              <a:noFill/>
            </a:ln>
          </p:spPr>
          <p:txBody>
            <a:bodyPr wrap="none" lIns="0" tIns="0" rIns="0" bIns="0" anchor="t" anchorCtr="0">
              <a:spAutoFit/>
            </a:bodyPr>
            <a:lstStyle/>
            <a:p>
              <a:pPr algn="l"/>
              <a:r>
                <a:rPr lang="vi-VN" sz="1200" dirty="0">
                  <a:solidFill>
                    <a:srgbClr val="1A1A1A"/>
                  </a:solidFill>
                  <a:latin typeface="Arial"/>
                  <a:ea typeface="Arial"/>
                  <a:cs typeface="Arial"/>
                </a:rPr>
                <a:t>BA và UI/UX</a:t>
              </a:r>
            </a:p>
          </p:txBody>
        </p:sp>
        <p:sp>
          <p:nvSpPr>
            <p:cNvPr id="53" name="Freeform 53"/>
            <p:cNvSpPr/>
            <p:nvPr/>
          </p:nvSpPr>
          <p:spPr>
            <a:xfrm>
              <a:off x="5257800" y="2333625"/>
              <a:ext cx="9525" cy="3048000"/>
            </a:xfrm>
            <a:custGeom>
              <a:avLst/>
              <a:gdLst/>
              <a:ahLst/>
              <a:cxnLst/>
              <a:rect l="l" t="t" r="r" b="b"/>
              <a:pathLst>
                <a:path w="9525" h="3048000">
                  <a:moveTo>
                    <a:pt x="0" y="0"/>
                  </a:moveTo>
                  <a:lnTo>
                    <a:pt x="0" y="3048000"/>
                  </a:lnTo>
                </a:path>
              </a:pathLst>
            </a:custGeom>
            <a:noFill/>
            <a:ln w="9525">
              <a:solidFill>
                <a:srgbClr val="E8E8E8"/>
              </a:solidFill>
            </a:ln>
          </p:spPr>
        </p:sp>
        <p:sp>
          <p:nvSpPr>
            <p:cNvPr id="54" name="TextBox 54"/>
            <p:cNvSpPr txBox="1"/>
            <p:nvPr/>
          </p:nvSpPr>
          <p:spPr>
            <a:xfrm>
              <a:off x="5366004" y="4242435"/>
              <a:ext cx="326621" cy="234696"/>
            </a:xfrm>
            <a:prstGeom prst="rect">
              <a:avLst/>
            </a:prstGeom>
            <a:noFill/>
            <a:ln>
              <a:noFill/>
            </a:ln>
          </p:spPr>
          <p:txBody>
            <a:bodyPr wrap="none" lIns="0" tIns="0" rIns="0" bIns="0" anchor="t" anchorCtr="0">
              <a:spAutoFit/>
            </a:bodyPr>
            <a:lstStyle/>
            <a:p>
              <a:pPr algn="l"/>
              <a:r>
                <a:rPr lang="vi-VN" sz="1200" dirty="0">
                  <a:solidFill>
                    <a:srgbClr val="1A1A1A"/>
                  </a:solidFill>
                  <a:latin typeface="Arial"/>
                  <a:ea typeface="Arial"/>
                  <a:cs typeface="Arial"/>
                </a:rPr>
                <a:t>57,5</a:t>
              </a:r>
            </a:p>
          </p:txBody>
        </p:sp>
        <p:sp>
          <p:nvSpPr>
            <p:cNvPr id="55" name="Freeform 55"/>
            <p:cNvSpPr/>
            <p:nvPr/>
          </p:nvSpPr>
          <p:spPr>
            <a:xfrm>
              <a:off x="6400800" y="2333625"/>
              <a:ext cx="9525" cy="3048000"/>
            </a:xfrm>
            <a:custGeom>
              <a:avLst/>
              <a:gdLst/>
              <a:ahLst/>
              <a:cxnLst/>
              <a:rect l="l" t="t" r="r" b="b"/>
              <a:pathLst>
                <a:path w="9525" h="3048000">
                  <a:moveTo>
                    <a:pt x="0" y="0"/>
                  </a:moveTo>
                  <a:lnTo>
                    <a:pt x="0" y="3048000"/>
                  </a:lnTo>
                </a:path>
              </a:pathLst>
            </a:custGeom>
            <a:noFill/>
            <a:ln w="9525">
              <a:solidFill>
                <a:srgbClr val="E8E8E8"/>
              </a:solidFill>
            </a:ln>
          </p:spPr>
        </p:sp>
        <p:sp>
          <p:nvSpPr>
            <p:cNvPr id="56" name="TextBox 56"/>
            <p:cNvSpPr txBox="1"/>
            <p:nvPr/>
          </p:nvSpPr>
          <p:spPr>
            <a:xfrm>
              <a:off x="6509004" y="4242435"/>
              <a:ext cx="3221688" cy="234696"/>
            </a:xfrm>
            <a:prstGeom prst="rect">
              <a:avLst/>
            </a:prstGeom>
            <a:noFill/>
            <a:ln>
              <a:noFill/>
            </a:ln>
          </p:spPr>
          <p:txBody>
            <a:bodyPr wrap="none" lIns="0" tIns="0" rIns="0" bIns="0" anchor="t" anchorCtr="0">
              <a:spAutoFit/>
            </a:bodyPr>
            <a:lstStyle/>
            <a:p>
              <a:pPr algn="l"/>
              <a:r>
                <a:rPr lang="vi-VN" sz="1200" dirty="0">
                  <a:solidFill>
                    <a:srgbClr val="1A1A1A"/>
                  </a:solidFill>
                  <a:latin typeface="Arial"/>
                  <a:ea typeface="Arial"/>
                  <a:cs typeface="Arial"/>
                </a:rPr>
                <a:t>Khảo sát, SRS, giao diện, luồng dữ liệu logic</a:t>
              </a:r>
            </a:p>
          </p:txBody>
        </p:sp>
        <p:sp>
          <p:nvSpPr>
            <p:cNvPr id="57" name="Freeform 57"/>
            <p:cNvSpPr/>
            <p:nvPr/>
          </p:nvSpPr>
          <p:spPr>
            <a:xfrm>
              <a:off x="10972800" y="2333625"/>
              <a:ext cx="9525" cy="3048000"/>
            </a:xfrm>
            <a:custGeom>
              <a:avLst/>
              <a:gdLst/>
              <a:ahLst/>
              <a:cxnLst/>
              <a:rect l="l" t="t" r="r" b="b"/>
              <a:pathLst>
                <a:path w="9525" h="3048000">
                  <a:moveTo>
                    <a:pt x="0" y="0"/>
                  </a:moveTo>
                  <a:lnTo>
                    <a:pt x="0" y="3048000"/>
                  </a:lnTo>
                </a:path>
              </a:pathLst>
            </a:custGeom>
            <a:noFill/>
            <a:ln w="9525">
              <a:solidFill>
                <a:srgbClr val="E8E8E8"/>
              </a:solidFill>
            </a:ln>
          </p:spPr>
        </p:sp>
        <p:sp>
          <p:nvSpPr>
            <p:cNvPr id="58" name="Rectangle 58"/>
            <p:cNvSpPr/>
            <p:nvPr/>
          </p:nvSpPr>
          <p:spPr>
            <a:xfrm>
              <a:off x="685800" y="4772025"/>
              <a:ext cx="10287000" cy="609600"/>
            </a:xfrm>
            <a:prstGeom prst="rect">
              <a:avLst/>
            </a:prstGeom>
            <a:solidFill>
              <a:srgbClr val="FFFFFF"/>
            </a:solidFill>
            <a:ln>
              <a:noFill/>
            </a:ln>
          </p:spPr>
        </p:sp>
        <p:sp>
          <p:nvSpPr>
            <p:cNvPr id="59" name="Freeform 59"/>
            <p:cNvSpPr/>
            <p:nvPr/>
          </p:nvSpPr>
          <p:spPr>
            <a:xfrm>
              <a:off x="685800" y="5381625"/>
              <a:ext cx="10287000" cy="9525"/>
            </a:xfrm>
            <a:custGeom>
              <a:avLst/>
              <a:gdLst/>
              <a:ahLst/>
              <a:cxnLst/>
              <a:rect l="l" t="t" r="r" b="b"/>
              <a:pathLst>
                <a:path w="10287000" h="9525">
                  <a:moveTo>
                    <a:pt x="0" y="0"/>
                  </a:moveTo>
                  <a:lnTo>
                    <a:pt x="10287000" y="0"/>
                  </a:lnTo>
                </a:path>
              </a:pathLst>
            </a:custGeom>
            <a:noFill/>
            <a:ln w="9525">
              <a:solidFill>
                <a:srgbClr val="E8E8E8"/>
              </a:solidFill>
            </a:ln>
          </p:spPr>
        </p:sp>
        <p:sp>
          <p:nvSpPr>
            <p:cNvPr id="60" name="Freeform 60"/>
            <p:cNvSpPr/>
            <p:nvPr/>
          </p:nvSpPr>
          <p:spPr>
            <a:xfrm>
              <a:off x="685800" y="2333625"/>
              <a:ext cx="9525" cy="3048000"/>
            </a:xfrm>
            <a:custGeom>
              <a:avLst/>
              <a:gdLst/>
              <a:ahLst/>
              <a:cxnLst/>
              <a:rect l="l" t="t" r="r" b="b"/>
              <a:pathLst>
                <a:path w="9525" h="3048000">
                  <a:moveTo>
                    <a:pt x="0" y="0"/>
                  </a:moveTo>
                  <a:lnTo>
                    <a:pt x="0" y="3048000"/>
                  </a:lnTo>
                </a:path>
              </a:pathLst>
            </a:custGeom>
            <a:noFill/>
            <a:ln w="9525">
              <a:solidFill>
                <a:srgbClr val="E8E8E8"/>
              </a:solidFill>
            </a:ln>
          </p:spPr>
        </p:sp>
        <p:sp>
          <p:nvSpPr>
            <p:cNvPr id="61" name="TextBox 61"/>
            <p:cNvSpPr txBox="1"/>
            <p:nvPr/>
          </p:nvSpPr>
          <p:spPr>
            <a:xfrm>
              <a:off x="794004" y="4852035"/>
              <a:ext cx="1573284" cy="234696"/>
            </a:xfrm>
            <a:prstGeom prst="rect">
              <a:avLst/>
            </a:prstGeom>
            <a:noFill/>
            <a:ln>
              <a:noFill/>
            </a:ln>
          </p:spPr>
          <p:txBody>
            <a:bodyPr wrap="none" lIns="0" tIns="0" rIns="0" bIns="0" anchor="t" anchorCtr="0">
              <a:spAutoFit/>
            </a:bodyPr>
            <a:lstStyle/>
            <a:p>
              <a:pPr algn="l"/>
              <a:r>
                <a:rPr lang="vi-VN" sz="1200" b="1" dirty="0">
                  <a:solidFill>
                    <a:srgbClr val="1A1A1A"/>
                  </a:solidFill>
                  <a:latin typeface="Arial"/>
                  <a:ea typeface="Arial"/>
                  <a:cs typeface="Arial"/>
                </a:rPr>
                <a:t>Phạm Trường Giang</a:t>
              </a:r>
            </a:p>
          </p:txBody>
        </p:sp>
        <p:sp>
          <p:nvSpPr>
            <p:cNvPr id="62" name="Freeform 62"/>
            <p:cNvSpPr/>
            <p:nvPr/>
          </p:nvSpPr>
          <p:spPr>
            <a:xfrm>
              <a:off x="3067050" y="2333625"/>
              <a:ext cx="9525" cy="3048000"/>
            </a:xfrm>
            <a:custGeom>
              <a:avLst/>
              <a:gdLst/>
              <a:ahLst/>
              <a:cxnLst/>
              <a:rect l="l" t="t" r="r" b="b"/>
              <a:pathLst>
                <a:path w="9525" h="3048000">
                  <a:moveTo>
                    <a:pt x="0" y="0"/>
                  </a:moveTo>
                  <a:lnTo>
                    <a:pt x="0" y="3048000"/>
                  </a:lnTo>
                </a:path>
              </a:pathLst>
            </a:custGeom>
            <a:noFill/>
            <a:ln w="9525">
              <a:solidFill>
                <a:srgbClr val="E8E8E8"/>
              </a:solidFill>
            </a:ln>
          </p:spPr>
        </p:sp>
        <p:sp>
          <p:nvSpPr>
            <p:cNvPr id="63" name="TextBox 63"/>
            <p:cNvSpPr txBox="1"/>
            <p:nvPr/>
          </p:nvSpPr>
          <p:spPr>
            <a:xfrm>
              <a:off x="3175254" y="4852035"/>
              <a:ext cx="1514498" cy="234696"/>
            </a:xfrm>
            <a:prstGeom prst="rect">
              <a:avLst/>
            </a:prstGeom>
            <a:noFill/>
            <a:ln>
              <a:noFill/>
            </a:ln>
          </p:spPr>
          <p:txBody>
            <a:bodyPr wrap="none" lIns="0" tIns="0" rIns="0" bIns="0" anchor="t" anchorCtr="0">
              <a:spAutoFit/>
            </a:bodyPr>
            <a:lstStyle/>
            <a:p>
              <a:pPr algn="l"/>
              <a:r>
                <a:rPr lang="vi-VN" sz="1200" dirty="0">
                  <a:solidFill>
                    <a:srgbClr val="1A1A1A"/>
                  </a:solidFill>
                  <a:latin typeface="Arial"/>
                  <a:ea typeface="Arial"/>
                  <a:cs typeface="Arial"/>
                </a:rPr>
                <a:t>Giao diện và QA/QC</a:t>
              </a:r>
            </a:p>
          </p:txBody>
        </p:sp>
        <p:sp>
          <p:nvSpPr>
            <p:cNvPr id="64" name="Freeform 64"/>
            <p:cNvSpPr/>
            <p:nvPr/>
          </p:nvSpPr>
          <p:spPr>
            <a:xfrm>
              <a:off x="5257800" y="2333625"/>
              <a:ext cx="9525" cy="3048000"/>
            </a:xfrm>
            <a:custGeom>
              <a:avLst/>
              <a:gdLst/>
              <a:ahLst/>
              <a:cxnLst/>
              <a:rect l="l" t="t" r="r" b="b"/>
              <a:pathLst>
                <a:path w="9525" h="3048000">
                  <a:moveTo>
                    <a:pt x="0" y="0"/>
                  </a:moveTo>
                  <a:lnTo>
                    <a:pt x="0" y="3048000"/>
                  </a:lnTo>
                </a:path>
              </a:pathLst>
            </a:custGeom>
            <a:noFill/>
            <a:ln w="9525">
              <a:solidFill>
                <a:srgbClr val="E8E8E8"/>
              </a:solidFill>
            </a:ln>
          </p:spPr>
        </p:sp>
        <p:sp>
          <p:nvSpPr>
            <p:cNvPr id="65" name="TextBox 65"/>
            <p:cNvSpPr txBox="1"/>
            <p:nvPr/>
          </p:nvSpPr>
          <p:spPr>
            <a:xfrm>
              <a:off x="5366004" y="4852035"/>
              <a:ext cx="326621" cy="234696"/>
            </a:xfrm>
            <a:prstGeom prst="rect">
              <a:avLst/>
            </a:prstGeom>
            <a:noFill/>
            <a:ln>
              <a:noFill/>
            </a:ln>
          </p:spPr>
          <p:txBody>
            <a:bodyPr wrap="none" lIns="0" tIns="0" rIns="0" bIns="0" anchor="t" anchorCtr="0">
              <a:spAutoFit/>
            </a:bodyPr>
            <a:lstStyle/>
            <a:p>
              <a:pPr algn="l"/>
              <a:r>
                <a:rPr lang="vi-VN" sz="1200" dirty="0">
                  <a:solidFill>
                    <a:srgbClr val="1A1A1A"/>
                  </a:solidFill>
                  <a:latin typeface="Arial"/>
                  <a:ea typeface="Arial"/>
                  <a:cs typeface="Arial"/>
                </a:rPr>
                <a:t>56,5</a:t>
              </a:r>
            </a:p>
          </p:txBody>
        </p:sp>
        <p:sp>
          <p:nvSpPr>
            <p:cNvPr id="66" name="Freeform 66"/>
            <p:cNvSpPr/>
            <p:nvPr/>
          </p:nvSpPr>
          <p:spPr>
            <a:xfrm>
              <a:off x="6400800" y="2333625"/>
              <a:ext cx="9525" cy="3048000"/>
            </a:xfrm>
            <a:custGeom>
              <a:avLst/>
              <a:gdLst/>
              <a:ahLst/>
              <a:cxnLst/>
              <a:rect l="l" t="t" r="r" b="b"/>
              <a:pathLst>
                <a:path w="9525" h="3048000">
                  <a:moveTo>
                    <a:pt x="0" y="0"/>
                  </a:moveTo>
                  <a:lnTo>
                    <a:pt x="0" y="3048000"/>
                  </a:lnTo>
                </a:path>
              </a:pathLst>
            </a:custGeom>
            <a:noFill/>
            <a:ln w="9525">
              <a:solidFill>
                <a:srgbClr val="E8E8E8"/>
              </a:solidFill>
            </a:ln>
          </p:spPr>
        </p:sp>
        <p:sp>
          <p:nvSpPr>
            <p:cNvPr id="67" name="TextBox 67"/>
            <p:cNvSpPr txBox="1"/>
            <p:nvPr/>
          </p:nvSpPr>
          <p:spPr>
            <a:xfrm>
              <a:off x="6509004" y="4852035"/>
              <a:ext cx="3931208" cy="234696"/>
            </a:xfrm>
            <a:prstGeom prst="rect">
              <a:avLst/>
            </a:prstGeom>
            <a:noFill/>
            <a:ln>
              <a:noFill/>
            </a:ln>
          </p:spPr>
          <p:txBody>
            <a:bodyPr wrap="none" lIns="0" tIns="0" rIns="0" bIns="0" anchor="t" anchorCtr="0">
              <a:spAutoFit/>
            </a:bodyPr>
            <a:lstStyle/>
            <a:p>
              <a:pPr algn="l"/>
              <a:r>
                <a:rPr lang="vi-VN" sz="1200" dirty="0">
                  <a:solidFill>
                    <a:srgbClr val="1A1A1A"/>
                  </a:solidFill>
                  <a:latin typeface="Arial"/>
                  <a:ea typeface="Arial"/>
                  <a:cs typeface="Arial"/>
                </a:rPr>
                <a:t>Giao diện, kịch bản kiểm thử, kiểm thử module và UAT</a:t>
              </a:r>
            </a:p>
          </p:txBody>
        </p:sp>
        <p:sp>
          <p:nvSpPr>
            <p:cNvPr id="68" name="Freeform 68"/>
            <p:cNvSpPr/>
            <p:nvPr/>
          </p:nvSpPr>
          <p:spPr>
            <a:xfrm>
              <a:off x="10972800" y="2333625"/>
              <a:ext cx="9525" cy="3048000"/>
            </a:xfrm>
            <a:custGeom>
              <a:avLst/>
              <a:gdLst/>
              <a:ahLst/>
              <a:cxnLst/>
              <a:rect l="l" t="t" r="r" b="b"/>
              <a:pathLst>
                <a:path w="9525" h="3048000">
                  <a:moveTo>
                    <a:pt x="0" y="0"/>
                  </a:moveTo>
                  <a:lnTo>
                    <a:pt x="0" y="3048000"/>
                  </a:lnTo>
                </a:path>
              </a:pathLst>
            </a:custGeom>
            <a:noFill/>
            <a:ln w="9525">
              <a:solidFill>
                <a:srgbClr val="E8E8E8"/>
              </a:solidFill>
            </a:ln>
          </p:spPr>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bg-fill"/>
          <p:cNvSpPr/>
          <p:nvPr/>
        </p:nvSpPr>
        <p:spPr>
          <a:xfrm>
            <a:off x="-9525" y="-9525"/>
            <a:ext cx="12211050" cy="6877050"/>
          </a:xfrm>
          <a:prstGeom prst="rect">
            <a:avLst/>
          </a:prstGeom>
          <a:solidFill>
            <a:srgbClr val="FFFFFF"/>
          </a:solidFill>
          <a:ln>
            <a:noFill/>
          </a:ln>
        </p:spPr>
      </p:sp>
      <p:grpSp>
        <p:nvGrpSpPr>
          <p:cNvPr id="5" name="top-rule"/>
          <p:cNvGrpSpPr/>
          <p:nvPr/>
        </p:nvGrpSpPr>
        <p:grpSpPr>
          <a:xfrm>
            <a:off x="685800" y="723900"/>
            <a:ext cx="10820400" cy="38100"/>
            <a:chOff x="685800" y="723900"/>
            <a:chExt cx="10820400" cy="38100"/>
          </a:xfrm>
        </p:grpSpPr>
        <p:sp>
          <p:nvSpPr>
            <p:cNvPr id="3" name="Rectangle 3"/>
            <p:cNvSpPr/>
            <p:nvPr/>
          </p:nvSpPr>
          <p:spPr>
            <a:xfrm>
              <a:off x="685800" y="723900"/>
              <a:ext cx="10820400" cy="38100"/>
            </a:xfrm>
            <a:prstGeom prst="rect">
              <a:avLst/>
            </a:prstGeom>
            <a:solidFill>
              <a:srgbClr val="E8E8E8"/>
            </a:solidFill>
            <a:ln>
              <a:noFill/>
            </a:ln>
          </p:spPr>
        </p:sp>
        <p:sp>
          <p:nvSpPr>
            <p:cNvPr id="4" name="Rectangle 4"/>
            <p:cNvSpPr/>
            <p:nvPr/>
          </p:nvSpPr>
          <p:spPr>
            <a:xfrm>
              <a:off x="685800" y="723900"/>
              <a:ext cx="7574280" cy="38100"/>
            </a:xfrm>
            <a:prstGeom prst="rect">
              <a:avLst/>
            </a:prstGeom>
            <a:solidFill>
              <a:srgbClr val="C8102E"/>
            </a:solidFill>
            <a:ln>
              <a:noFill/>
            </a:ln>
          </p:spPr>
        </p:sp>
      </p:grpSp>
      <p:grpSp>
        <p:nvGrpSpPr>
          <p:cNvPr id="8" name="title"/>
          <p:cNvGrpSpPr/>
          <p:nvPr/>
        </p:nvGrpSpPr>
        <p:grpSpPr>
          <a:xfrm>
            <a:off x="652272" y="977265"/>
            <a:ext cx="6273892" cy="1193482"/>
            <a:chOff x="652272" y="977265"/>
            <a:chExt cx="6273892" cy="1193482"/>
          </a:xfrm>
        </p:grpSpPr>
        <p:sp>
          <p:nvSpPr>
            <p:cNvPr id="6" name="TextBox 6"/>
            <p:cNvSpPr txBox="1"/>
            <p:nvPr/>
          </p:nvSpPr>
          <p:spPr>
            <a:xfrm>
              <a:off x="652272" y="977265"/>
              <a:ext cx="5428484" cy="645414"/>
            </a:xfrm>
            <a:prstGeom prst="rect">
              <a:avLst/>
            </a:prstGeom>
            <a:noFill/>
            <a:ln>
              <a:noFill/>
            </a:ln>
          </p:spPr>
          <p:txBody>
            <a:bodyPr wrap="none" lIns="0" tIns="0" rIns="0" bIns="0" anchor="t" anchorCtr="0">
              <a:spAutoFit/>
            </a:bodyPr>
            <a:lstStyle/>
            <a:p>
              <a:pPr algn="l"/>
              <a:r>
                <a:rPr lang="vi-VN" sz="3300" b="1" dirty="0">
                  <a:solidFill>
                    <a:srgbClr val="111111"/>
                  </a:solidFill>
                  <a:latin typeface="Arial"/>
                  <a:ea typeface="Arial"/>
                  <a:cs typeface="Arial"/>
                </a:rPr>
                <a:t>Thời gian thực hiện dự án</a:t>
              </a:r>
            </a:p>
          </p:txBody>
        </p:sp>
        <p:sp>
          <p:nvSpPr>
            <p:cNvPr id="7" name="TextBox 7"/>
            <p:cNvSpPr txBox="1"/>
            <p:nvPr/>
          </p:nvSpPr>
          <p:spPr>
            <a:xfrm>
              <a:off x="677418" y="1848040"/>
              <a:ext cx="6248746" cy="322707"/>
            </a:xfrm>
            <a:prstGeom prst="rect">
              <a:avLst/>
            </a:prstGeom>
            <a:noFill/>
            <a:ln>
              <a:noFill/>
            </a:ln>
          </p:spPr>
          <p:txBody>
            <a:bodyPr wrap="none" lIns="0" tIns="0" rIns="0" bIns="0" anchor="t" anchorCtr="0">
              <a:spAutoFit/>
            </a:bodyPr>
            <a:lstStyle/>
            <a:p>
              <a:pPr algn="l"/>
              <a:r>
                <a:rPr lang="vi-VN" sz="1650" dirty="0">
                  <a:solidFill>
                    <a:srgbClr val="6E6E6E"/>
                  </a:solidFill>
                  <a:latin typeface="Arial"/>
                  <a:ea typeface="Arial"/>
                  <a:cs typeface="Arial"/>
                </a:rPr>
                <a:t>Kế hoạch 06 tháng được chia theo mốc bàn giao và nghiệm thu</a:t>
              </a:r>
            </a:p>
          </p:txBody>
        </p:sp>
      </p:grpSp>
      <p:grpSp>
        <p:nvGrpSpPr>
          <p:cNvPr id="12" name="footer"/>
          <p:cNvGrpSpPr/>
          <p:nvPr/>
        </p:nvGrpSpPr>
        <p:grpSpPr>
          <a:xfrm>
            <a:off x="680085" y="6286500"/>
            <a:ext cx="10831830" cy="327184"/>
            <a:chOff x="680085" y="6286500"/>
            <a:chExt cx="10831830" cy="327184"/>
          </a:xfrm>
        </p:grpSpPr>
        <p:sp>
          <p:nvSpPr>
            <p:cNvPr id="9" name="Freeform 9"/>
            <p:cNvSpPr/>
            <p:nvPr/>
          </p:nvSpPr>
          <p:spPr>
            <a:xfrm>
              <a:off x="685800" y="6286500"/>
              <a:ext cx="10820400" cy="9525"/>
            </a:xfrm>
            <a:custGeom>
              <a:avLst/>
              <a:gdLst/>
              <a:ahLst/>
              <a:cxnLst/>
              <a:rect l="l" t="t" r="r" b="b"/>
              <a:pathLst>
                <a:path w="10820400" h="9525">
                  <a:moveTo>
                    <a:pt x="0" y="0"/>
                  </a:moveTo>
                  <a:lnTo>
                    <a:pt x="10820400" y="0"/>
                  </a:lnTo>
                </a:path>
              </a:pathLst>
            </a:custGeom>
            <a:noFill/>
            <a:ln w="9525">
              <a:solidFill>
                <a:srgbClr val="E8E8E8"/>
              </a:solidFill>
            </a:ln>
          </p:spPr>
        </p:sp>
        <p:sp>
          <p:nvSpPr>
            <p:cNvPr id="10" name="TextBox 10"/>
            <p:cNvSpPr txBox="1"/>
            <p:nvPr/>
          </p:nvSpPr>
          <p:spPr>
            <a:xfrm>
              <a:off x="680085" y="6393656"/>
              <a:ext cx="2914269" cy="220028"/>
            </a:xfrm>
            <a:prstGeom prst="rect">
              <a:avLst/>
            </a:prstGeom>
            <a:noFill/>
            <a:ln>
              <a:noFill/>
            </a:ln>
          </p:spPr>
          <p:txBody>
            <a:bodyPr wrap="none" lIns="0" tIns="0" rIns="0" bIns="0" anchor="t" anchorCtr="0">
              <a:spAutoFit/>
            </a:bodyPr>
            <a:lstStyle/>
            <a:p>
              <a:pPr algn="l"/>
              <a:r>
                <a:rPr lang="vi-VN" sz="1120" dirty="0">
                  <a:solidFill>
                    <a:srgbClr val="6E6E6E"/>
                  </a:solidFill>
                  <a:latin typeface="Arial"/>
                  <a:ea typeface="Arial"/>
                  <a:cs typeface="Arial"/>
                </a:rPr>
                <a:t>Nhóm 04 | Lớp 765643-QTDA-VB2-20261</a:t>
              </a:r>
            </a:p>
          </p:txBody>
        </p:sp>
        <p:sp>
          <p:nvSpPr>
            <p:cNvPr id="11" name="TextBox 11"/>
            <p:cNvSpPr txBox="1"/>
            <p:nvPr/>
          </p:nvSpPr>
          <p:spPr>
            <a:xfrm>
              <a:off x="11332764" y="6393656"/>
              <a:ext cx="179151" cy="220028"/>
            </a:xfrm>
            <a:prstGeom prst="rect">
              <a:avLst/>
            </a:prstGeom>
            <a:noFill/>
            <a:ln>
              <a:noFill/>
            </a:ln>
          </p:spPr>
          <p:txBody>
            <a:bodyPr wrap="none" lIns="0" tIns="0" rIns="0" bIns="0" anchor="t" anchorCtr="0">
              <a:spAutoFit/>
            </a:bodyPr>
            <a:lstStyle/>
            <a:p>
              <a:pPr algn="r"/>
              <a:r>
                <a:rPr lang="vi-VN" sz="1120" dirty="0">
                  <a:solidFill>
                    <a:srgbClr val="6E6E6E"/>
                  </a:solidFill>
                  <a:latin typeface="Arial"/>
                  <a:ea typeface="Arial"/>
                  <a:cs typeface="Arial"/>
                </a:rPr>
                <a:t>14</a:t>
              </a:r>
            </a:p>
          </p:txBody>
        </p:sp>
      </p:grpSp>
      <p:grpSp>
        <p:nvGrpSpPr>
          <p:cNvPr id="53" name="timeline"/>
          <p:cNvGrpSpPr/>
          <p:nvPr/>
        </p:nvGrpSpPr>
        <p:grpSpPr>
          <a:xfrm>
            <a:off x="685800" y="3124200"/>
            <a:ext cx="10363200" cy="2066925"/>
            <a:chOff x="685800" y="3124200"/>
            <a:chExt cx="10363200" cy="2066925"/>
          </a:xfrm>
        </p:grpSpPr>
        <p:sp>
          <p:nvSpPr>
            <p:cNvPr id="13" name="Freeform 13"/>
            <p:cNvSpPr/>
            <p:nvPr/>
          </p:nvSpPr>
          <p:spPr>
            <a:xfrm>
              <a:off x="1352550" y="3286125"/>
              <a:ext cx="8953500" cy="9525"/>
            </a:xfrm>
            <a:custGeom>
              <a:avLst/>
              <a:gdLst/>
              <a:ahLst/>
              <a:cxnLst/>
              <a:rect l="l" t="t" r="r" b="b"/>
              <a:pathLst>
                <a:path w="8953500" h="9525">
                  <a:moveTo>
                    <a:pt x="0" y="0"/>
                  </a:moveTo>
                  <a:lnTo>
                    <a:pt x="8953500" y="0"/>
                  </a:lnTo>
                </a:path>
              </a:pathLst>
            </a:custGeom>
            <a:noFill/>
            <a:ln w="38100">
              <a:solidFill>
                <a:srgbClr val="E8E8E8"/>
              </a:solidFill>
            </a:ln>
          </p:spPr>
        </p:sp>
        <p:sp>
          <p:nvSpPr>
            <p:cNvPr id="14" name="Ellipse 14"/>
            <p:cNvSpPr/>
            <p:nvPr/>
          </p:nvSpPr>
          <p:spPr>
            <a:xfrm>
              <a:off x="1476375" y="3124200"/>
              <a:ext cx="323850" cy="323850"/>
            </a:xfrm>
            <a:prstGeom prst="ellipse">
              <a:avLst/>
            </a:prstGeom>
            <a:solidFill>
              <a:srgbClr val="C8102E"/>
            </a:solidFill>
            <a:ln>
              <a:noFill/>
            </a:ln>
          </p:spPr>
        </p:sp>
        <p:sp>
          <p:nvSpPr>
            <p:cNvPr id="15" name="TextBox 15"/>
            <p:cNvSpPr txBox="1"/>
            <p:nvPr/>
          </p:nvSpPr>
          <p:spPr>
            <a:xfrm>
              <a:off x="1587279" y="3213735"/>
              <a:ext cx="102043" cy="234696"/>
            </a:xfrm>
            <a:prstGeom prst="rect">
              <a:avLst/>
            </a:prstGeom>
            <a:noFill/>
            <a:ln>
              <a:noFill/>
            </a:ln>
          </p:spPr>
          <p:txBody>
            <a:bodyPr wrap="none" lIns="0" tIns="0" rIns="0" bIns="0" anchor="t" anchorCtr="0">
              <a:spAutoFit/>
            </a:bodyPr>
            <a:lstStyle/>
            <a:p>
              <a:pPr algn="ctr"/>
              <a:r>
                <a:rPr lang="vi-VN" sz="1200" b="1" dirty="0">
                  <a:solidFill>
                    <a:srgbClr val="FFFFFF"/>
                  </a:solidFill>
                  <a:latin typeface="Arial"/>
                  <a:ea typeface="Arial"/>
                  <a:cs typeface="Arial"/>
                </a:rPr>
                <a:t>1</a:t>
              </a:r>
            </a:p>
          </p:txBody>
        </p:sp>
        <p:sp>
          <p:nvSpPr>
            <p:cNvPr id="16" name="Rectangle 16"/>
            <p:cNvSpPr/>
            <p:nvPr/>
          </p:nvSpPr>
          <p:spPr>
            <a:xfrm>
              <a:off x="685800" y="3667125"/>
              <a:ext cx="1905000" cy="1524000"/>
            </a:xfrm>
            <a:prstGeom prst="rect">
              <a:avLst/>
            </a:prstGeom>
            <a:solidFill>
              <a:srgbClr val="F5F5F5"/>
            </a:solidFill>
            <a:ln w="9525">
              <a:solidFill>
                <a:srgbClr val="E8E8E8"/>
              </a:solidFill>
            </a:ln>
          </p:spPr>
        </p:sp>
        <p:sp>
          <p:nvSpPr>
            <p:cNvPr id="17" name="TextBox 17"/>
            <p:cNvSpPr txBox="1"/>
            <p:nvPr/>
          </p:nvSpPr>
          <p:spPr>
            <a:xfrm>
              <a:off x="848106" y="3806190"/>
              <a:ext cx="894260" cy="352044"/>
            </a:xfrm>
            <a:prstGeom prst="rect">
              <a:avLst/>
            </a:prstGeom>
            <a:noFill/>
            <a:ln>
              <a:noFill/>
            </a:ln>
          </p:spPr>
          <p:txBody>
            <a:bodyPr wrap="none" lIns="0" tIns="0" rIns="0" bIns="0" anchor="t" anchorCtr="0">
              <a:spAutoFit/>
            </a:bodyPr>
            <a:lstStyle/>
            <a:p>
              <a:pPr algn="l"/>
              <a:r>
                <a:rPr lang="vi-VN" sz="1800" b="1" dirty="0">
                  <a:solidFill>
                    <a:srgbClr val="C8102E"/>
                  </a:solidFill>
                  <a:latin typeface="Arial"/>
                  <a:ea typeface="Arial"/>
                  <a:cs typeface="Arial"/>
                </a:rPr>
                <a:t>09/2026</a:t>
              </a:r>
            </a:p>
          </p:txBody>
        </p:sp>
        <p:sp>
          <p:nvSpPr>
            <p:cNvPr id="18" name="TextBox 18"/>
            <p:cNvSpPr txBox="1"/>
            <p:nvPr/>
          </p:nvSpPr>
          <p:spPr>
            <a:xfrm>
              <a:off x="850392" y="4178618"/>
              <a:ext cx="1474198" cy="264033"/>
            </a:xfrm>
            <a:prstGeom prst="rect">
              <a:avLst/>
            </a:prstGeom>
            <a:noFill/>
            <a:ln>
              <a:noFill/>
            </a:ln>
          </p:spPr>
          <p:txBody>
            <a:bodyPr wrap="none" lIns="0" tIns="0" rIns="0" bIns="0" anchor="t" anchorCtr="0">
              <a:spAutoFit/>
            </a:bodyPr>
            <a:lstStyle/>
            <a:p>
              <a:pPr algn="l"/>
              <a:r>
                <a:rPr lang="vi-VN" sz="1350" b="1" dirty="0">
                  <a:solidFill>
                    <a:srgbClr val="111111"/>
                  </a:solidFill>
                  <a:latin typeface="Arial"/>
                  <a:ea typeface="Arial"/>
                  <a:cs typeface="Arial"/>
                </a:rPr>
                <a:t>Khởi tạo và khảo</a:t>
              </a:r>
            </a:p>
          </p:txBody>
        </p:sp>
        <p:sp>
          <p:nvSpPr>
            <p:cNvPr id="19" name="TextBox 19"/>
            <p:cNvSpPr txBox="1"/>
            <p:nvPr/>
          </p:nvSpPr>
          <p:spPr>
            <a:xfrm>
              <a:off x="850392" y="4369118"/>
              <a:ext cx="276399" cy="264033"/>
            </a:xfrm>
            <a:prstGeom prst="rect">
              <a:avLst/>
            </a:prstGeom>
            <a:noFill/>
            <a:ln>
              <a:noFill/>
            </a:ln>
          </p:spPr>
          <p:txBody>
            <a:bodyPr wrap="none" lIns="0" tIns="0" rIns="0" bIns="0" anchor="t" anchorCtr="0">
              <a:spAutoFit/>
            </a:bodyPr>
            <a:lstStyle/>
            <a:p>
              <a:pPr algn="l"/>
              <a:r>
                <a:rPr lang="vi-VN" sz="1350" b="1" dirty="0">
                  <a:solidFill>
                    <a:srgbClr val="111111"/>
                  </a:solidFill>
                  <a:latin typeface="Arial"/>
                  <a:ea typeface="Arial"/>
                  <a:cs typeface="Arial"/>
                </a:rPr>
                <a:t>sát</a:t>
              </a:r>
            </a:p>
          </p:txBody>
        </p:sp>
        <p:sp>
          <p:nvSpPr>
            <p:cNvPr id="20" name="TextBox 20"/>
            <p:cNvSpPr txBox="1"/>
            <p:nvPr/>
          </p:nvSpPr>
          <p:spPr>
            <a:xfrm>
              <a:off x="851535" y="4609177"/>
              <a:ext cx="1592370" cy="220028"/>
            </a:xfrm>
            <a:prstGeom prst="rect">
              <a:avLst/>
            </a:prstGeom>
            <a:noFill/>
            <a:ln>
              <a:noFill/>
            </a:ln>
          </p:spPr>
          <p:txBody>
            <a:bodyPr wrap="none" lIns="0" tIns="0" rIns="0" bIns="0" anchor="t" anchorCtr="0">
              <a:spAutoFit/>
            </a:bodyPr>
            <a:lstStyle/>
            <a:p>
              <a:pPr algn="l"/>
              <a:r>
                <a:rPr lang="vi-VN" sz="1120" dirty="0">
                  <a:solidFill>
                    <a:srgbClr val="6E6E6E"/>
                  </a:solidFill>
                  <a:latin typeface="Arial"/>
                  <a:ea typeface="Arial"/>
                  <a:cs typeface="Arial"/>
                </a:rPr>
                <a:t>Kế hoạch dự án, tài liệu</a:t>
              </a:r>
            </a:p>
          </p:txBody>
        </p:sp>
        <p:sp>
          <p:nvSpPr>
            <p:cNvPr id="21" name="TextBox 21"/>
            <p:cNvSpPr txBox="1"/>
            <p:nvPr/>
          </p:nvSpPr>
          <p:spPr>
            <a:xfrm>
              <a:off x="851535" y="4780627"/>
              <a:ext cx="339001" cy="220028"/>
            </a:xfrm>
            <a:prstGeom prst="rect">
              <a:avLst/>
            </a:prstGeom>
            <a:noFill/>
            <a:ln>
              <a:noFill/>
            </a:ln>
          </p:spPr>
          <p:txBody>
            <a:bodyPr wrap="none" lIns="0" tIns="0" rIns="0" bIns="0" anchor="t" anchorCtr="0">
              <a:spAutoFit/>
            </a:bodyPr>
            <a:lstStyle/>
            <a:p>
              <a:pPr algn="l"/>
              <a:r>
                <a:rPr lang="vi-VN" sz="1120" dirty="0">
                  <a:solidFill>
                    <a:srgbClr val="6E6E6E"/>
                  </a:solidFill>
                  <a:latin typeface="Arial"/>
                  <a:ea typeface="Arial"/>
                  <a:cs typeface="Arial"/>
                </a:rPr>
                <a:t>SRS</a:t>
              </a:r>
            </a:p>
          </p:txBody>
        </p:sp>
        <p:sp>
          <p:nvSpPr>
            <p:cNvPr id="22" name="Ellipse 22"/>
            <p:cNvSpPr/>
            <p:nvPr/>
          </p:nvSpPr>
          <p:spPr>
            <a:xfrm>
              <a:off x="3590925" y="3124200"/>
              <a:ext cx="323850" cy="323850"/>
            </a:xfrm>
            <a:prstGeom prst="ellipse">
              <a:avLst/>
            </a:prstGeom>
            <a:solidFill>
              <a:srgbClr val="111111"/>
            </a:solidFill>
            <a:ln>
              <a:noFill/>
            </a:ln>
          </p:spPr>
        </p:sp>
        <p:sp>
          <p:nvSpPr>
            <p:cNvPr id="23" name="TextBox 23"/>
            <p:cNvSpPr txBox="1"/>
            <p:nvPr/>
          </p:nvSpPr>
          <p:spPr>
            <a:xfrm>
              <a:off x="3701829" y="3213735"/>
              <a:ext cx="102043" cy="234696"/>
            </a:xfrm>
            <a:prstGeom prst="rect">
              <a:avLst/>
            </a:prstGeom>
            <a:noFill/>
            <a:ln>
              <a:noFill/>
            </a:ln>
          </p:spPr>
          <p:txBody>
            <a:bodyPr wrap="none" lIns="0" tIns="0" rIns="0" bIns="0" anchor="t" anchorCtr="0">
              <a:spAutoFit/>
            </a:bodyPr>
            <a:lstStyle/>
            <a:p>
              <a:pPr algn="ctr"/>
              <a:r>
                <a:rPr lang="vi-VN" sz="1200" b="1" dirty="0">
                  <a:solidFill>
                    <a:srgbClr val="FFFFFF"/>
                  </a:solidFill>
                  <a:latin typeface="Arial"/>
                  <a:ea typeface="Arial"/>
                  <a:cs typeface="Arial"/>
                </a:rPr>
                <a:t>2</a:t>
              </a:r>
            </a:p>
          </p:txBody>
        </p:sp>
        <p:sp>
          <p:nvSpPr>
            <p:cNvPr id="24" name="Rectangle 24"/>
            <p:cNvSpPr/>
            <p:nvPr/>
          </p:nvSpPr>
          <p:spPr>
            <a:xfrm>
              <a:off x="2800350" y="3667125"/>
              <a:ext cx="1905000" cy="1524000"/>
            </a:xfrm>
            <a:prstGeom prst="rect">
              <a:avLst/>
            </a:prstGeom>
            <a:solidFill>
              <a:srgbClr val="F5F5F5"/>
            </a:solidFill>
            <a:ln w="9525">
              <a:solidFill>
                <a:srgbClr val="E8E8E8"/>
              </a:solidFill>
            </a:ln>
          </p:spPr>
        </p:sp>
        <p:sp>
          <p:nvSpPr>
            <p:cNvPr id="25" name="TextBox 25"/>
            <p:cNvSpPr txBox="1"/>
            <p:nvPr/>
          </p:nvSpPr>
          <p:spPr>
            <a:xfrm>
              <a:off x="2962656" y="3806190"/>
              <a:ext cx="894260" cy="352044"/>
            </a:xfrm>
            <a:prstGeom prst="rect">
              <a:avLst/>
            </a:prstGeom>
            <a:noFill/>
            <a:ln>
              <a:noFill/>
            </a:ln>
          </p:spPr>
          <p:txBody>
            <a:bodyPr wrap="none" lIns="0" tIns="0" rIns="0" bIns="0" anchor="t" anchorCtr="0">
              <a:spAutoFit/>
            </a:bodyPr>
            <a:lstStyle/>
            <a:p>
              <a:pPr algn="l"/>
              <a:r>
                <a:rPr lang="vi-VN" sz="1800" b="1" dirty="0">
                  <a:solidFill>
                    <a:srgbClr val="111111"/>
                  </a:solidFill>
                  <a:latin typeface="Arial"/>
                  <a:ea typeface="Arial"/>
                  <a:cs typeface="Arial"/>
                </a:rPr>
                <a:t>10/2026</a:t>
              </a:r>
            </a:p>
          </p:txBody>
        </p:sp>
        <p:sp>
          <p:nvSpPr>
            <p:cNvPr id="26" name="TextBox 26"/>
            <p:cNvSpPr txBox="1"/>
            <p:nvPr/>
          </p:nvSpPr>
          <p:spPr>
            <a:xfrm>
              <a:off x="2964942" y="4178618"/>
              <a:ext cx="1524031" cy="264033"/>
            </a:xfrm>
            <a:prstGeom prst="rect">
              <a:avLst/>
            </a:prstGeom>
            <a:noFill/>
            <a:ln>
              <a:noFill/>
            </a:ln>
          </p:spPr>
          <p:txBody>
            <a:bodyPr wrap="none" lIns="0" tIns="0" rIns="0" bIns="0" anchor="t" anchorCtr="0">
              <a:spAutoFit/>
            </a:bodyPr>
            <a:lstStyle/>
            <a:p>
              <a:pPr algn="l"/>
              <a:r>
                <a:rPr lang="vi-VN" sz="1350" b="1" dirty="0">
                  <a:solidFill>
                    <a:srgbClr val="111111"/>
                  </a:solidFill>
                  <a:latin typeface="Arial"/>
                  <a:ea typeface="Arial"/>
                  <a:cs typeface="Arial"/>
                </a:rPr>
                <a:t>Phân tích và thiết</a:t>
              </a:r>
            </a:p>
          </p:txBody>
        </p:sp>
        <p:sp>
          <p:nvSpPr>
            <p:cNvPr id="27" name="TextBox 27"/>
            <p:cNvSpPr txBox="1"/>
            <p:nvPr/>
          </p:nvSpPr>
          <p:spPr>
            <a:xfrm>
              <a:off x="2964942" y="4369118"/>
              <a:ext cx="215880" cy="264033"/>
            </a:xfrm>
            <a:prstGeom prst="rect">
              <a:avLst/>
            </a:prstGeom>
            <a:noFill/>
            <a:ln>
              <a:noFill/>
            </a:ln>
          </p:spPr>
          <p:txBody>
            <a:bodyPr wrap="none" lIns="0" tIns="0" rIns="0" bIns="0" anchor="t" anchorCtr="0">
              <a:spAutoFit/>
            </a:bodyPr>
            <a:lstStyle/>
            <a:p>
              <a:pPr algn="l"/>
              <a:r>
                <a:rPr lang="vi-VN" sz="1350" b="1" dirty="0">
                  <a:solidFill>
                    <a:srgbClr val="111111"/>
                  </a:solidFill>
                  <a:latin typeface="Arial"/>
                  <a:ea typeface="Arial"/>
                  <a:cs typeface="Arial"/>
                </a:rPr>
                <a:t>kế</a:t>
              </a:r>
            </a:p>
          </p:txBody>
        </p:sp>
        <p:sp>
          <p:nvSpPr>
            <p:cNvPr id="28" name="TextBox 28"/>
            <p:cNvSpPr txBox="1"/>
            <p:nvPr/>
          </p:nvSpPr>
          <p:spPr>
            <a:xfrm>
              <a:off x="2966085" y="4609177"/>
              <a:ext cx="1239444" cy="220028"/>
            </a:xfrm>
            <a:prstGeom prst="rect">
              <a:avLst/>
            </a:prstGeom>
            <a:noFill/>
            <a:ln>
              <a:noFill/>
            </a:ln>
          </p:spPr>
          <p:txBody>
            <a:bodyPr wrap="none" lIns="0" tIns="0" rIns="0" bIns="0" anchor="t" anchorCtr="0">
              <a:spAutoFit/>
            </a:bodyPr>
            <a:lstStyle/>
            <a:p>
              <a:pPr algn="l"/>
              <a:r>
                <a:rPr lang="vi-VN" sz="1120" dirty="0">
                  <a:solidFill>
                    <a:srgbClr val="6E6E6E"/>
                  </a:solidFill>
                  <a:latin typeface="Arial"/>
                  <a:ea typeface="Arial"/>
                  <a:cs typeface="Arial"/>
                </a:rPr>
                <a:t>Tài liệu thiết kế hệ</a:t>
              </a:r>
            </a:p>
          </p:txBody>
        </p:sp>
        <p:sp>
          <p:nvSpPr>
            <p:cNvPr id="29" name="TextBox 29"/>
            <p:cNvSpPr txBox="1"/>
            <p:nvPr/>
          </p:nvSpPr>
          <p:spPr>
            <a:xfrm>
              <a:off x="2966085" y="4780627"/>
              <a:ext cx="1654419" cy="220028"/>
            </a:xfrm>
            <a:prstGeom prst="rect">
              <a:avLst/>
            </a:prstGeom>
            <a:noFill/>
            <a:ln>
              <a:noFill/>
            </a:ln>
          </p:spPr>
          <p:txBody>
            <a:bodyPr wrap="none" lIns="0" tIns="0" rIns="0" bIns="0" anchor="t" anchorCtr="0">
              <a:spAutoFit/>
            </a:bodyPr>
            <a:lstStyle/>
            <a:p>
              <a:pPr algn="l"/>
              <a:r>
                <a:rPr lang="vi-VN" sz="1120" dirty="0">
                  <a:solidFill>
                    <a:srgbClr val="6E6E6E"/>
                  </a:solidFill>
                  <a:latin typeface="Arial"/>
                  <a:ea typeface="Arial"/>
                  <a:cs typeface="Arial"/>
                </a:rPr>
                <a:t>thống, mockup giao diện</a:t>
              </a:r>
            </a:p>
          </p:txBody>
        </p:sp>
        <p:sp>
          <p:nvSpPr>
            <p:cNvPr id="30" name="Ellipse 30"/>
            <p:cNvSpPr/>
            <p:nvPr/>
          </p:nvSpPr>
          <p:spPr>
            <a:xfrm>
              <a:off x="5705475" y="3124200"/>
              <a:ext cx="323850" cy="323850"/>
            </a:xfrm>
            <a:prstGeom prst="ellipse">
              <a:avLst/>
            </a:prstGeom>
            <a:solidFill>
              <a:srgbClr val="C8102E"/>
            </a:solidFill>
            <a:ln>
              <a:noFill/>
            </a:ln>
          </p:spPr>
        </p:sp>
        <p:sp>
          <p:nvSpPr>
            <p:cNvPr id="31" name="TextBox 31"/>
            <p:cNvSpPr txBox="1"/>
            <p:nvPr/>
          </p:nvSpPr>
          <p:spPr>
            <a:xfrm>
              <a:off x="5816379" y="3213735"/>
              <a:ext cx="102043" cy="234696"/>
            </a:xfrm>
            <a:prstGeom prst="rect">
              <a:avLst/>
            </a:prstGeom>
            <a:noFill/>
            <a:ln>
              <a:noFill/>
            </a:ln>
          </p:spPr>
          <p:txBody>
            <a:bodyPr wrap="none" lIns="0" tIns="0" rIns="0" bIns="0" anchor="t" anchorCtr="0">
              <a:spAutoFit/>
            </a:bodyPr>
            <a:lstStyle/>
            <a:p>
              <a:pPr algn="ctr"/>
              <a:r>
                <a:rPr lang="vi-VN" sz="1200" b="1" dirty="0">
                  <a:solidFill>
                    <a:srgbClr val="FFFFFF"/>
                  </a:solidFill>
                  <a:latin typeface="Arial"/>
                  <a:ea typeface="Arial"/>
                  <a:cs typeface="Arial"/>
                </a:rPr>
                <a:t>3</a:t>
              </a:r>
            </a:p>
          </p:txBody>
        </p:sp>
        <p:sp>
          <p:nvSpPr>
            <p:cNvPr id="32" name="Rectangle 32"/>
            <p:cNvSpPr/>
            <p:nvPr/>
          </p:nvSpPr>
          <p:spPr>
            <a:xfrm>
              <a:off x="4914900" y="3667125"/>
              <a:ext cx="1905000" cy="1524000"/>
            </a:xfrm>
            <a:prstGeom prst="rect">
              <a:avLst/>
            </a:prstGeom>
            <a:solidFill>
              <a:srgbClr val="F5F5F5"/>
            </a:solidFill>
            <a:ln w="9525">
              <a:solidFill>
                <a:srgbClr val="E8E8E8"/>
              </a:solidFill>
            </a:ln>
          </p:spPr>
        </p:sp>
        <p:sp>
          <p:nvSpPr>
            <p:cNvPr id="33" name="TextBox 33"/>
            <p:cNvSpPr txBox="1"/>
            <p:nvPr/>
          </p:nvSpPr>
          <p:spPr>
            <a:xfrm>
              <a:off x="5077206" y="3806190"/>
              <a:ext cx="1244504" cy="352044"/>
            </a:xfrm>
            <a:prstGeom prst="rect">
              <a:avLst/>
            </a:prstGeom>
            <a:noFill/>
            <a:ln>
              <a:noFill/>
            </a:ln>
          </p:spPr>
          <p:txBody>
            <a:bodyPr wrap="none" lIns="0" tIns="0" rIns="0" bIns="0" anchor="t" anchorCtr="0">
              <a:spAutoFit/>
            </a:bodyPr>
            <a:lstStyle/>
            <a:p>
              <a:pPr algn="l"/>
              <a:r>
                <a:rPr lang="vi-VN" sz="1800" b="1" dirty="0">
                  <a:solidFill>
                    <a:srgbClr val="C8102E"/>
                  </a:solidFill>
                  <a:latin typeface="Arial"/>
                  <a:ea typeface="Arial"/>
                  <a:cs typeface="Arial"/>
                </a:rPr>
                <a:t>11-12/2026</a:t>
              </a:r>
            </a:p>
          </p:txBody>
        </p:sp>
        <p:sp>
          <p:nvSpPr>
            <p:cNvPr id="34" name="TextBox 34"/>
            <p:cNvSpPr txBox="1"/>
            <p:nvPr/>
          </p:nvSpPr>
          <p:spPr>
            <a:xfrm>
              <a:off x="5079492" y="4178618"/>
              <a:ext cx="1493672" cy="264033"/>
            </a:xfrm>
            <a:prstGeom prst="rect">
              <a:avLst/>
            </a:prstGeom>
            <a:noFill/>
            <a:ln>
              <a:noFill/>
            </a:ln>
          </p:spPr>
          <p:txBody>
            <a:bodyPr wrap="none" lIns="0" tIns="0" rIns="0" bIns="0" anchor="t" anchorCtr="0">
              <a:spAutoFit/>
            </a:bodyPr>
            <a:lstStyle/>
            <a:p>
              <a:pPr algn="l"/>
              <a:r>
                <a:rPr lang="vi-VN" sz="1350" b="1" dirty="0">
                  <a:solidFill>
                    <a:srgbClr val="111111"/>
                  </a:solidFill>
                  <a:latin typeface="Arial"/>
                  <a:ea typeface="Arial"/>
                  <a:cs typeface="Arial"/>
                </a:rPr>
                <a:t>Lập trình module</a:t>
              </a:r>
            </a:p>
          </p:txBody>
        </p:sp>
        <p:sp>
          <p:nvSpPr>
            <p:cNvPr id="35" name="TextBox 35"/>
            <p:cNvSpPr txBox="1"/>
            <p:nvPr/>
          </p:nvSpPr>
          <p:spPr>
            <a:xfrm>
              <a:off x="5079492" y="4369118"/>
              <a:ext cx="498300" cy="264033"/>
            </a:xfrm>
            <a:prstGeom prst="rect">
              <a:avLst/>
            </a:prstGeom>
            <a:noFill/>
            <a:ln>
              <a:noFill/>
            </a:ln>
          </p:spPr>
          <p:txBody>
            <a:bodyPr wrap="none" lIns="0" tIns="0" rIns="0" bIns="0" anchor="t" anchorCtr="0">
              <a:spAutoFit/>
            </a:bodyPr>
            <a:lstStyle/>
            <a:p>
              <a:pPr algn="l"/>
              <a:r>
                <a:rPr lang="vi-VN" sz="1350" b="1" dirty="0">
                  <a:solidFill>
                    <a:srgbClr val="111111"/>
                  </a:solidFill>
                  <a:latin typeface="Arial"/>
                  <a:ea typeface="Arial"/>
                  <a:cs typeface="Arial"/>
                </a:rPr>
                <a:t>chính</a:t>
              </a:r>
            </a:p>
          </p:txBody>
        </p:sp>
        <p:sp>
          <p:nvSpPr>
            <p:cNvPr id="36" name="TextBox 36"/>
            <p:cNvSpPr txBox="1"/>
            <p:nvPr/>
          </p:nvSpPr>
          <p:spPr>
            <a:xfrm>
              <a:off x="5080635" y="4609177"/>
              <a:ext cx="1675918" cy="220028"/>
            </a:xfrm>
            <a:prstGeom prst="rect">
              <a:avLst/>
            </a:prstGeom>
            <a:noFill/>
            <a:ln>
              <a:noFill/>
            </a:ln>
          </p:spPr>
          <p:txBody>
            <a:bodyPr wrap="none" lIns="0" tIns="0" rIns="0" bIns="0" anchor="t" anchorCtr="0">
              <a:spAutoFit/>
            </a:bodyPr>
            <a:lstStyle/>
            <a:p>
              <a:pPr algn="l"/>
              <a:r>
                <a:rPr lang="vi-VN" sz="1120" dirty="0">
                  <a:solidFill>
                    <a:srgbClr val="6E6E6E"/>
                  </a:solidFill>
                  <a:latin typeface="Arial"/>
                  <a:ea typeface="Arial"/>
                  <a:cs typeface="Arial"/>
                </a:rPr>
                <a:t>Source code các module</a:t>
              </a:r>
            </a:p>
          </p:txBody>
        </p:sp>
        <p:sp>
          <p:nvSpPr>
            <p:cNvPr id="37" name="TextBox 37"/>
            <p:cNvSpPr txBox="1"/>
            <p:nvPr/>
          </p:nvSpPr>
          <p:spPr>
            <a:xfrm>
              <a:off x="5080635" y="4780627"/>
              <a:ext cx="1755742" cy="220028"/>
            </a:xfrm>
            <a:prstGeom prst="rect">
              <a:avLst/>
            </a:prstGeom>
            <a:noFill/>
            <a:ln>
              <a:noFill/>
            </a:ln>
          </p:spPr>
          <p:txBody>
            <a:bodyPr wrap="none" lIns="0" tIns="0" rIns="0" bIns="0" anchor="t" anchorCtr="0">
              <a:spAutoFit/>
            </a:bodyPr>
            <a:lstStyle/>
            <a:p>
              <a:pPr algn="l"/>
              <a:r>
                <a:rPr lang="vi-VN" sz="1120" dirty="0">
                  <a:solidFill>
                    <a:srgbClr val="6E6E6E"/>
                  </a:solidFill>
                  <a:latin typeface="Arial"/>
                  <a:ea typeface="Arial"/>
                  <a:cs typeface="Arial"/>
                </a:rPr>
                <a:t>Kho, Bán hàng, Bảo hành</a:t>
              </a:r>
            </a:p>
          </p:txBody>
        </p:sp>
        <p:sp>
          <p:nvSpPr>
            <p:cNvPr id="38" name="Ellipse 38"/>
            <p:cNvSpPr/>
            <p:nvPr/>
          </p:nvSpPr>
          <p:spPr>
            <a:xfrm>
              <a:off x="7820025" y="3124200"/>
              <a:ext cx="323850" cy="323850"/>
            </a:xfrm>
            <a:prstGeom prst="ellipse">
              <a:avLst/>
            </a:prstGeom>
            <a:solidFill>
              <a:srgbClr val="111111"/>
            </a:solidFill>
            <a:ln>
              <a:noFill/>
            </a:ln>
          </p:spPr>
        </p:sp>
        <p:sp>
          <p:nvSpPr>
            <p:cNvPr id="39" name="TextBox 39"/>
            <p:cNvSpPr txBox="1"/>
            <p:nvPr/>
          </p:nvSpPr>
          <p:spPr>
            <a:xfrm>
              <a:off x="7930929" y="3213735"/>
              <a:ext cx="102043" cy="234696"/>
            </a:xfrm>
            <a:prstGeom prst="rect">
              <a:avLst/>
            </a:prstGeom>
            <a:noFill/>
            <a:ln>
              <a:noFill/>
            </a:ln>
          </p:spPr>
          <p:txBody>
            <a:bodyPr wrap="none" lIns="0" tIns="0" rIns="0" bIns="0" anchor="t" anchorCtr="0">
              <a:spAutoFit/>
            </a:bodyPr>
            <a:lstStyle/>
            <a:p>
              <a:pPr algn="ctr"/>
              <a:r>
                <a:rPr lang="vi-VN" sz="1200" b="1" dirty="0">
                  <a:solidFill>
                    <a:srgbClr val="FFFFFF"/>
                  </a:solidFill>
                  <a:latin typeface="Arial"/>
                  <a:ea typeface="Arial"/>
                  <a:cs typeface="Arial"/>
                </a:rPr>
                <a:t>4</a:t>
              </a:r>
            </a:p>
          </p:txBody>
        </p:sp>
        <p:sp>
          <p:nvSpPr>
            <p:cNvPr id="40" name="Rectangle 40"/>
            <p:cNvSpPr/>
            <p:nvPr/>
          </p:nvSpPr>
          <p:spPr>
            <a:xfrm>
              <a:off x="7029450" y="3667125"/>
              <a:ext cx="1905000" cy="1524000"/>
            </a:xfrm>
            <a:prstGeom prst="rect">
              <a:avLst/>
            </a:prstGeom>
            <a:solidFill>
              <a:srgbClr val="F5F5F5"/>
            </a:solidFill>
            <a:ln w="9525">
              <a:solidFill>
                <a:srgbClr val="E8E8E8"/>
              </a:solidFill>
            </a:ln>
          </p:spPr>
        </p:sp>
        <p:sp>
          <p:nvSpPr>
            <p:cNvPr id="41" name="TextBox 41"/>
            <p:cNvSpPr txBox="1"/>
            <p:nvPr/>
          </p:nvSpPr>
          <p:spPr>
            <a:xfrm>
              <a:off x="7191756" y="3806190"/>
              <a:ext cx="894260" cy="352044"/>
            </a:xfrm>
            <a:prstGeom prst="rect">
              <a:avLst/>
            </a:prstGeom>
            <a:noFill/>
            <a:ln>
              <a:noFill/>
            </a:ln>
          </p:spPr>
          <p:txBody>
            <a:bodyPr wrap="none" lIns="0" tIns="0" rIns="0" bIns="0" anchor="t" anchorCtr="0">
              <a:spAutoFit/>
            </a:bodyPr>
            <a:lstStyle/>
            <a:p>
              <a:pPr algn="l"/>
              <a:r>
                <a:rPr lang="vi-VN" sz="1800" b="1" dirty="0">
                  <a:solidFill>
                    <a:srgbClr val="111111"/>
                  </a:solidFill>
                  <a:latin typeface="Arial"/>
                  <a:ea typeface="Arial"/>
                  <a:cs typeface="Arial"/>
                </a:rPr>
                <a:t>01/2027</a:t>
              </a:r>
            </a:p>
          </p:txBody>
        </p:sp>
        <p:sp>
          <p:nvSpPr>
            <p:cNvPr id="42" name="TextBox 42"/>
            <p:cNvSpPr txBox="1"/>
            <p:nvPr/>
          </p:nvSpPr>
          <p:spPr>
            <a:xfrm>
              <a:off x="7194042" y="4178618"/>
              <a:ext cx="1248145" cy="264033"/>
            </a:xfrm>
            <a:prstGeom prst="rect">
              <a:avLst/>
            </a:prstGeom>
            <a:noFill/>
            <a:ln>
              <a:noFill/>
            </a:ln>
          </p:spPr>
          <p:txBody>
            <a:bodyPr wrap="none" lIns="0" tIns="0" rIns="0" bIns="0" anchor="t" anchorCtr="0">
              <a:spAutoFit/>
            </a:bodyPr>
            <a:lstStyle/>
            <a:p>
              <a:pPr algn="l"/>
              <a:r>
                <a:rPr lang="vi-VN" sz="1350" b="1" dirty="0">
                  <a:solidFill>
                    <a:srgbClr val="111111"/>
                  </a:solidFill>
                  <a:latin typeface="Arial"/>
                  <a:ea typeface="Arial"/>
                  <a:cs typeface="Arial"/>
                </a:rPr>
                <a:t>Kiểm thử Beta</a:t>
              </a:r>
            </a:p>
          </p:txBody>
        </p:sp>
        <p:sp>
          <p:nvSpPr>
            <p:cNvPr id="43" name="TextBox 43"/>
            <p:cNvSpPr txBox="1"/>
            <p:nvPr/>
          </p:nvSpPr>
          <p:spPr>
            <a:xfrm>
              <a:off x="7195185" y="4609177"/>
              <a:ext cx="1634236" cy="220028"/>
            </a:xfrm>
            <a:prstGeom prst="rect">
              <a:avLst/>
            </a:prstGeom>
            <a:noFill/>
            <a:ln>
              <a:noFill/>
            </a:ln>
          </p:spPr>
          <p:txBody>
            <a:bodyPr wrap="none" lIns="0" tIns="0" rIns="0" bIns="0" anchor="t" anchorCtr="0">
              <a:spAutoFit/>
            </a:bodyPr>
            <a:lstStyle/>
            <a:p>
              <a:pPr algn="l"/>
              <a:r>
                <a:rPr lang="vi-VN" sz="1120" dirty="0">
                  <a:solidFill>
                    <a:srgbClr val="6E6E6E"/>
                  </a:solidFill>
                  <a:latin typeface="Arial"/>
                  <a:ea typeface="Arial"/>
                  <a:cs typeface="Arial"/>
                </a:rPr>
                <a:t>Báo cáo kiểm thử, phiên</a:t>
              </a:r>
            </a:p>
          </p:txBody>
        </p:sp>
        <p:sp>
          <p:nvSpPr>
            <p:cNvPr id="44" name="TextBox 44"/>
            <p:cNvSpPr txBox="1"/>
            <p:nvPr/>
          </p:nvSpPr>
          <p:spPr>
            <a:xfrm>
              <a:off x="7195185" y="4780627"/>
              <a:ext cx="1374825" cy="220028"/>
            </a:xfrm>
            <a:prstGeom prst="rect">
              <a:avLst/>
            </a:prstGeom>
            <a:noFill/>
            <a:ln>
              <a:noFill/>
            </a:ln>
          </p:spPr>
          <p:txBody>
            <a:bodyPr wrap="none" lIns="0" tIns="0" rIns="0" bIns="0" anchor="t" anchorCtr="0">
              <a:spAutoFit/>
            </a:bodyPr>
            <a:lstStyle/>
            <a:p>
              <a:pPr algn="l"/>
              <a:r>
                <a:rPr lang="vi-VN" sz="1120" dirty="0">
                  <a:solidFill>
                    <a:srgbClr val="6E6E6E"/>
                  </a:solidFill>
                  <a:latin typeface="Arial"/>
                  <a:ea typeface="Arial"/>
                  <a:cs typeface="Arial"/>
                </a:rPr>
                <a:t>bản phần mềm Beta</a:t>
              </a:r>
            </a:p>
          </p:txBody>
        </p:sp>
        <p:sp>
          <p:nvSpPr>
            <p:cNvPr id="45" name="Ellipse 45"/>
            <p:cNvSpPr/>
            <p:nvPr/>
          </p:nvSpPr>
          <p:spPr>
            <a:xfrm>
              <a:off x="9934575" y="3124200"/>
              <a:ext cx="323850" cy="323850"/>
            </a:xfrm>
            <a:prstGeom prst="ellipse">
              <a:avLst/>
            </a:prstGeom>
            <a:solidFill>
              <a:srgbClr val="C8102E"/>
            </a:solidFill>
            <a:ln>
              <a:noFill/>
            </a:ln>
          </p:spPr>
        </p:sp>
        <p:sp>
          <p:nvSpPr>
            <p:cNvPr id="46" name="TextBox 46"/>
            <p:cNvSpPr txBox="1"/>
            <p:nvPr/>
          </p:nvSpPr>
          <p:spPr>
            <a:xfrm>
              <a:off x="10045479" y="3213735"/>
              <a:ext cx="102043" cy="234696"/>
            </a:xfrm>
            <a:prstGeom prst="rect">
              <a:avLst/>
            </a:prstGeom>
            <a:noFill/>
            <a:ln>
              <a:noFill/>
            </a:ln>
          </p:spPr>
          <p:txBody>
            <a:bodyPr wrap="none" lIns="0" tIns="0" rIns="0" bIns="0" anchor="t" anchorCtr="0">
              <a:spAutoFit/>
            </a:bodyPr>
            <a:lstStyle/>
            <a:p>
              <a:pPr algn="ctr"/>
              <a:r>
                <a:rPr lang="vi-VN" sz="1200" b="1" dirty="0">
                  <a:solidFill>
                    <a:srgbClr val="FFFFFF"/>
                  </a:solidFill>
                  <a:latin typeface="Arial"/>
                  <a:ea typeface="Arial"/>
                  <a:cs typeface="Arial"/>
                </a:rPr>
                <a:t>5</a:t>
              </a:r>
            </a:p>
          </p:txBody>
        </p:sp>
        <p:sp>
          <p:nvSpPr>
            <p:cNvPr id="47" name="Rectangle 47"/>
            <p:cNvSpPr/>
            <p:nvPr/>
          </p:nvSpPr>
          <p:spPr>
            <a:xfrm>
              <a:off x="9144000" y="3667125"/>
              <a:ext cx="1905000" cy="1524000"/>
            </a:xfrm>
            <a:prstGeom prst="rect">
              <a:avLst/>
            </a:prstGeom>
            <a:solidFill>
              <a:srgbClr val="F5F5F5"/>
            </a:solidFill>
            <a:ln w="9525">
              <a:solidFill>
                <a:srgbClr val="E8E8E8"/>
              </a:solidFill>
            </a:ln>
          </p:spPr>
        </p:sp>
        <p:sp>
          <p:nvSpPr>
            <p:cNvPr id="48" name="TextBox 48"/>
            <p:cNvSpPr txBox="1"/>
            <p:nvPr/>
          </p:nvSpPr>
          <p:spPr>
            <a:xfrm>
              <a:off x="9306306" y="3806190"/>
              <a:ext cx="894260" cy="352044"/>
            </a:xfrm>
            <a:prstGeom prst="rect">
              <a:avLst/>
            </a:prstGeom>
            <a:noFill/>
            <a:ln>
              <a:noFill/>
            </a:ln>
          </p:spPr>
          <p:txBody>
            <a:bodyPr wrap="none" lIns="0" tIns="0" rIns="0" bIns="0" anchor="t" anchorCtr="0">
              <a:spAutoFit/>
            </a:bodyPr>
            <a:lstStyle/>
            <a:p>
              <a:pPr algn="l"/>
              <a:r>
                <a:rPr lang="vi-VN" sz="1800" b="1" dirty="0">
                  <a:solidFill>
                    <a:srgbClr val="C8102E"/>
                  </a:solidFill>
                  <a:latin typeface="Arial"/>
                  <a:ea typeface="Arial"/>
                  <a:cs typeface="Arial"/>
                </a:rPr>
                <a:t>02/2027</a:t>
              </a:r>
            </a:p>
          </p:txBody>
        </p:sp>
        <p:sp>
          <p:nvSpPr>
            <p:cNvPr id="49" name="TextBox 49"/>
            <p:cNvSpPr txBox="1"/>
            <p:nvPr/>
          </p:nvSpPr>
          <p:spPr>
            <a:xfrm>
              <a:off x="9308592" y="4178618"/>
              <a:ext cx="1574708" cy="264033"/>
            </a:xfrm>
            <a:prstGeom prst="rect">
              <a:avLst/>
            </a:prstGeom>
            <a:noFill/>
            <a:ln>
              <a:noFill/>
            </a:ln>
          </p:spPr>
          <p:txBody>
            <a:bodyPr wrap="none" lIns="0" tIns="0" rIns="0" bIns="0" anchor="t" anchorCtr="0">
              <a:spAutoFit/>
            </a:bodyPr>
            <a:lstStyle/>
            <a:p>
              <a:pPr algn="l"/>
              <a:r>
                <a:rPr lang="vi-VN" sz="1350" b="1" dirty="0">
                  <a:solidFill>
                    <a:srgbClr val="111111"/>
                  </a:solidFill>
                  <a:latin typeface="Arial"/>
                  <a:ea typeface="Arial"/>
                  <a:cs typeface="Arial"/>
                </a:rPr>
                <a:t>Triển khai và tổng</a:t>
              </a:r>
            </a:p>
          </p:txBody>
        </p:sp>
        <p:sp>
          <p:nvSpPr>
            <p:cNvPr id="50" name="TextBox 50"/>
            <p:cNvSpPr txBox="1"/>
            <p:nvPr/>
          </p:nvSpPr>
          <p:spPr>
            <a:xfrm>
              <a:off x="9308592" y="4369118"/>
              <a:ext cx="276399" cy="264033"/>
            </a:xfrm>
            <a:prstGeom prst="rect">
              <a:avLst/>
            </a:prstGeom>
            <a:noFill/>
            <a:ln>
              <a:noFill/>
            </a:ln>
          </p:spPr>
          <p:txBody>
            <a:bodyPr wrap="none" lIns="0" tIns="0" rIns="0" bIns="0" anchor="t" anchorCtr="0">
              <a:spAutoFit/>
            </a:bodyPr>
            <a:lstStyle/>
            <a:p>
              <a:pPr algn="l"/>
              <a:r>
                <a:rPr lang="vi-VN" sz="1350" b="1" dirty="0">
                  <a:solidFill>
                    <a:srgbClr val="111111"/>
                  </a:solidFill>
                  <a:latin typeface="Arial"/>
                  <a:ea typeface="Arial"/>
                  <a:cs typeface="Arial"/>
                </a:rPr>
                <a:t>kết</a:t>
              </a:r>
            </a:p>
          </p:txBody>
        </p:sp>
        <p:sp>
          <p:nvSpPr>
            <p:cNvPr id="51" name="TextBox 51"/>
            <p:cNvSpPr txBox="1"/>
            <p:nvPr/>
          </p:nvSpPr>
          <p:spPr>
            <a:xfrm>
              <a:off x="9309735" y="4609177"/>
              <a:ext cx="1508004" cy="220028"/>
            </a:xfrm>
            <a:prstGeom prst="rect">
              <a:avLst/>
            </a:prstGeom>
            <a:noFill/>
            <a:ln>
              <a:noFill/>
            </a:ln>
          </p:spPr>
          <p:txBody>
            <a:bodyPr wrap="none" lIns="0" tIns="0" rIns="0" bIns="0" anchor="t" anchorCtr="0">
              <a:spAutoFit/>
            </a:bodyPr>
            <a:lstStyle/>
            <a:p>
              <a:pPr algn="l"/>
              <a:r>
                <a:rPr lang="vi-VN" sz="1120" dirty="0">
                  <a:solidFill>
                    <a:srgbClr val="6E6E6E"/>
                  </a:solidFill>
                  <a:latin typeface="Arial"/>
                  <a:ea typeface="Arial"/>
                  <a:cs typeface="Arial"/>
                </a:rPr>
                <a:t>Triển khai thực tế, báo</a:t>
              </a:r>
            </a:p>
          </p:txBody>
        </p:sp>
        <p:sp>
          <p:nvSpPr>
            <p:cNvPr id="52" name="TextBox 52"/>
            <p:cNvSpPr txBox="1"/>
            <p:nvPr/>
          </p:nvSpPr>
          <p:spPr>
            <a:xfrm>
              <a:off x="9309735" y="4780627"/>
              <a:ext cx="1243649" cy="220028"/>
            </a:xfrm>
            <a:prstGeom prst="rect">
              <a:avLst/>
            </a:prstGeom>
            <a:noFill/>
            <a:ln>
              <a:noFill/>
            </a:ln>
          </p:spPr>
          <p:txBody>
            <a:bodyPr wrap="none" lIns="0" tIns="0" rIns="0" bIns="0" anchor="t" anchorCtr="0">
              <a:spAutoFit/>
            </a:bodyPr>
            <a:lstStyle/>
            <a:p>
              <a:pPr algn="l"/>
              <a:r>
                <a:rPr lang="vi-VN" sz="1120" dirty="0">
                  <a:solidFill>
                    <a:srgbClr val="6E6E6E"/>
                  </a:solidFill>
                  <a:latin typeface="Arial"/>
                  <a:ea typeface="Arial"/>
                  <a:cs typeface="Arial"/>
                </a:rPr>
                <a:t>cáo tổng kết đề tài</a:t>
              </a:r>
            </a:p>
          </p:txBody>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bg-fill"/>
          <p:cNvSpPr/>
          <p:nvPr/>
        </p:nvSpPr>
        <p:spPr>
          <a:xfrm>
            <a:off x="-9525" y="-9525"/>
            <a:ext cx="12211050" cy="6877050"/>
          </a:xfrm>
          <a:prstGeom prst="rect">
            <a:avLst/>
          </a:prstGeom>
          <a:solidFill>
            <a:srgbClr val="FFFFFF"/>
          </a:solidFill>
          <a:ln>
            <a:noFill/>
          </a:ln>
        </p:spPr>
      </p:sp>
      <p:grpSp>
        <p:nvGrpSpPr>
          <p:cNvPr id="5" name="top-rule"/>
          <p:cNvGrpSpPr/>
          <p:nvPr/>
        </p:nvGrpSpPr>
        <p:grpSpPr>
          <a:xfrm>
            <a:off x="685800" y="723900"/>
            <a:ext cx="10820400" cy="38100"/>
            <a:chOff x="685800" y="723900"/>
            <a:chExt cx="10820400" cy="38100"/>
          </a:xfrm>
        </p:grpSpPr>
        <p:sp>
          <p:nvSpPr>
            <p:cNvPr id="3" name="Rectangle 3"/>
            <p:cNvSpPr/>
            <p:nvPr/>
          </p:nvSpPr>
          <p:spPr>
            <a:xfrm>
              <a:off x="685800" y="723900"/>
              <a:ext cx="10820400" cy="38100"/>
            </a:xfrm>
            <a:prstGeom prst="rect">
              <a:avLst/>
            </a:prstGeom>
            <a:solidFill>
              <a:srgbClr val="E8E8E8"/>
            </a:solidFill>
            <a:ln>
              <a:noFill/>
            </a:ln>
          </p:spPr>
        </p:sp>
        <p:sp>
          <p:nvSpPr>
            <p:cNvPr id="4" name="Rectangle 4"/>
            <p:cNvSpPr/>
            <p:nvPr/>
          </p:nvSpPr>
          <p:spPr>
            <a:xfrm>
              <a:off x="685800" y="723900"/>
              <a:ext cx="8115300" cy="38100"/>
            </a:xfrm>
            <a:prstGeom prst="rect">
              <a:avLst/>
            </a:prstGeom>
            <a:solidFill>
              <a:srgbClr val="C8102E"/>
            </a:solidFill>
            <a:ln>
              <a:noFill/>
            </a:ln>
          </p:spPr>
        </p:sp>
      </p:grpSp>
      <p:grpSp>
        <p:nvGrpSpPr>
          <p:cNvPr id="8" name="title"/>
          <p:cNvGrpSpPr/>
          <p:nvPr/>
        </p:nvGrpSpPr>
        <p:grpSpPr>
          <a:xfrm>
            <a:off x="652272" y="977265"/>
            <a:ext cx="7409625" cy="1193482"/>
            <a:chOff x="652272" y="977265"/>
            <a:chExt cx="7409625" cy="1193482"/>
          </a:xfrm>
        </p:grpSpPr>
        <p:sp>
          <p:nvSpPr>
            <p:cNvPr id="6" name="TextBox 6"/>
            <p:cNvSpPr txBox="1"/>
            <p:nvPr/>
          </p:nvSpPr>
          <p:spPr>
            <a:xfrm>
              <a:off x="652272" y="977265"/>
              <a:ext cx="6276804" cy="645414"/>
            </a:xfrm>
            <a:prstGeom prst="rect">
              <a:avLst/>
            </a:prstGeom>
            <a:noFill/>
            <a:ln>
              <a:noFill/>
            </a:ln>
          </p:spPr>
          <p:txBody>
            <a:bodyPr wrap="none" lIns="0" tIns="0" rIns="0" bIns="0" anchor="t" anchorCtr="0">
              <a:spAutoFit/>
            </a:bodyPr>
            <a:lstStyle/>
            <a:p>
              <a:pPr algn="l"/>
              <a:r>
                <a:rPr lang="vi-VN" sz="3300" b="1" dirty="0">
                  <a:solidFill>
                    <a:srgbClr val="111111"/>
                  </a:solidFill>
                  <a:latin typeface="Arial"/>
                  <a:ea typeface="Arial"/>
                  <a:cs typeface="Arial"/>
                </a:rPr>
                <a:t>WBS và khối lượng công việc</a:t>
              </a:r>
            </a:p>
          </p:txBody>
        </p:sp>
        <p:sp>
          <p:nvSpPr>
            <p:cNvPr id="7" name="TextBox 7"/>
            <p:cNvSpPr txBox="1"/>
            <p:nvPr/>
          </p:nvSpPr>
          <p:spPr>
            <a:xfrm>
              <a:off x="677418" y="1848040"/>
              <a:ext cx="7384479" cy="322707"/>
            </a:xfrm>
            <a:prstGeom prst="rect">
              <a:avLst/>
            </a:prstGeom>
            <a:noFill/>
            <a:ln>
              <a:noFill/>
            </a:ln>
          </p:spPr>
          <p:txBody>
            <a:bodyPr wrap="none" lIns="0" tIns="0" rIns="0" bIns="0" anchor="t" anchorCtr="0">
              <a:spAutoFit/>
            </a:bodyPr>
            <a:lstStyle/>
            <a:p>
              <a:pPr algn="l"/>
              <a:r>
                <a:rPr lang="vi-VN" sz="1650" dirty="0">
                  <a:solidFill>
                    <a:srgbClr val="6E6E6E"/>
                  </a:solidFill>
                  <a:latin typeface="Arial"/>
                  <a:ea typeface="Arial"/>
                  <a:cs typeface="Arial"/>
                </a:rPr>
                <a:t>Bảng WBS dùng PERT, gồm 06 nhóm công việc lớn và 50 đầu việc cụ thể</a:t>
              </a:r>
            </a:p>
          </p:txBody>
        </p:sp>
      </p:grpSp>
      <p:grpSp>
        <p:nvGrpSpPr>
          <p:cNvPr id="12" name="footer"/>
          <p:cNvGrpSpPr/>
          <p:nvPr/>
        </p:nvGrpSpPr>
        <p:grpSpPr>
          <a:xfrm>
            <a:off x="680085" y="6286500"/>
            <a:ext cx="10831830" cy="327184"/>
            <a:chOff x="680085" y="6286500"/>
            <a:chExt cx="10831830" cy="327184"/>
          </a:xfrm>
        </p:grpSpPr>
        <p:sp>
          <p:nvSpPr>
            <p:cNvPr id="9" name="Freeform 9"/>
            <p:cNvSpPr/>
            <p:nvPr/>
          </p:nvSpPr>
          <p:spPr>
            <a:xfrm>
              <a:off x="685800" y="6286500"/>
              <a:ext cx="10820400" cy="9525"/>
            </a:xfrm>
            <a:custGeom>
              <a:avLst/>
              <a:gdLst/>
              <a:ahLst/>
              <a:cxnLst/>
              <a:rect l="l" t="t" r="r" b="b"/>
              <a:pathLst>
                <a:path w="10820400" h="9525">
                  <a:moveTo>
                    <a:pt x="0" y="0"/>
                  </a:moveTo>
                  <a:lnTo>
                    <a:pt x="10820400" y="0"/>
                  </a:lnTo>
                </a:path>
              </a:pathLst>
            </a:custGeom>
            <a:noFill/>
            <a:ln w="9525">
              <a:solidFill>
                <a:srgbClr val="E8E8E8"/>
              </a:solidFill>
            </a:ln>
          </p:spPr>
        </p:sp>
        <p:sp>
          <p:nvSpPr>
            <p:cNvPr id="10" name="TextBox 10"/>
            <p:cNvSpPr txBox="1"/>
            <p:nvPr/>
          </p:nvSpPr>
          <p:spPr>
            <a:xfrm>
              <a:off x="680085" y="6393656"/>
              <a:ext cx="2914269" cy="220028"/>
            </a:xfrm>
            <a:prstGeom prst="rect">
              <a:avLst/>
            </a:prstGeom>
            <a:noFill/>
            <a:ln>
              <a:noFill/>
            </a:ln>
          </p:spPr>
          <p:txBody>
            <a:bodyPr wrap="none" lIns="0" tIns="0" rIns="0" bIns="0" anchor="t" anchorCtr="0">
              <a:spAutoFit/>
            </a:bodyPr>
            <a:lstStyle/>
            <a:p>
              <a:pPr algn="l"/>
              <a:r>
                <a:rPr lang="vi-VN" sz="1120" dirty="0">
                  <a:solidFill>
                    <a:srgbClr val="6E6E6E"/>
                  </a:solidFill>
                  <a:latin typeface="Arial"/>
                  <a:ea typeface="Arial"/>
                  <a:cs typeface="Arial"/>
                </a:rPr>
                <a:t>Nhóm 04 | Lớp 765643-QTDA-VB2-20261</a:t>
              </a:r>
            </a:p>
          </p:txBody>
        </p:sp>
        <p:sp>
          <p:nvSpPr>
            <p:cNvPr id="11" name="TextBox 11"/>
            <p:cNvSpPr txBox="1"/>
            <p:nvPr/>
          </p:nvSpPr>
          <p:spPr>
            <a:xfrm>
              <a:off x="11332764" y="6393656"/>
              <a:ext cx="179151" cy="220028"/>
            </a:xfrm>
            <a:prstGeom prst="rect">
              <a:avLst/>
            </a:prstGeom>
            <a:noFill/>
            <a:ln>
              <a:noFill/>
            </a:ln>
          </p:spPr>
          <p:txBody>
            <a:bodyPr wrap="none" lIns="0" tIns="0" rIns="0" bIns="0" anchor="t" anchorCtr="0">
              <a:spAutoFit/>
            </a:bodyPr>
            <a:lstStyle/>
            <a:p>
              <a:pPr algn="r"/>
              <a:r>
                <a:rPr lang="vi-VN" sz="1120" dirty="0">
                  <a:solidFill>
                    <a:srgbClr val="6E6E6E"/>
                  </a:solidFill>
                  <a:latin typeface="Arial"/>
                  <a:ea typeface="Arial"/>
                  <a:cs typeface="Arial"/>
                </a:rPr>
                <a:t>15</a:t>
              </a:r>
            </a:p>
          </p:txBody>
        </p:sp>
      </p:grpSp>
      <p:grpSp>
        <p:nvGrpSpPr>
          <p:cNvPr id="37" name="bar-chart"/>
          <p:cNvGrpSpPr/>
          <p:nvPr/>
        </p:nvGrpSpPr>
        <p:grpSpPr>
          <a:xfrm>
            <a:off x="678942" y="2381250"/>
            <a:ext cx="8215291" cy="2394775"/>
            <a:chOff x="678942" y="2381250"/>
            <a:chExt cx="8215291" cy="2394775"/>
          </a:xfrm>
        </p:grpSpPr>
        <p:sp>
          <p:nvSpPr>
            <p:cNvPr id="13" name="TextBox 13"/>
            <p:cNvSpPr txBox="1"/>
            <p:nvPr/>
          </p:nvSpPr>
          <p:spPr>
            <a:xfrm>
              <a:off x="678942" y="2464118"/>
              <a:ext cx="1787288" cy="264033"/>
            </a:xfrm>
            <a:prstGeom prst="rect">
              <a:avLst/>
            </a:prstGeom>
            <a:noFill/>
            <a:ln>
              <a:noFill/>
            </a:ln>
          </p:spPr>
          <p:txBody>
            <a:bodyPr wrap="none" lIns="0" tIns="0" rIns="0" bIns="0" anchor="t" anchorCtr="0">
              <a:spAutoFit/>
            </a:bodyPr>
            <a:lstStyle/>
            <a:p>
              <a:pPr algn="l"/>
              <a:r>
                <a:rPr lang="vi-VN" sz="1350" b="1" dirty="0">
                  <a:solidFill>
                    <a:srgbClr val="1A1A1A"/>
                  </a:solidFill>
                  <a:latin typeface="Arial"/>
                  <a:ea typeface="Arial"/>
                  <a:cs typeface="Arial"/>
                </a:rPr>
                <a:t>Khởi tạo và khảo sát</a:t>
              </a:r>
            </a:p>
          </p:txBody>
        </p:sp>
        <p:sp>
          <p:nvSpPr>
            <p:cNvPr id="14" name="Rectangle 14"/>
            <p:cNvSpPr/>
            <p:nvPr/>
          </p:nvSpPr>
          <p:spPr>
            <a:xfrm>
              <a:off x="3257550" y="2381250"/>
              <a:ext cx="4762500" cy="266700"/>
            </a:xfrm>
            <a:prstGeom prst="rect">
              <a:avLst/>
            </a:prstGeom>
            <a:solidFill>
              <a:srgbClr val="F5F5F5"/>
            </a:solidFill>
            <a:ln>
              <a:noFill/>
            </a:ln>
          </p:spPr>
        </p:sp>
        <p:sp>
          <p:nvSpPr>
            <p:cNvPr id="15" name="Rectangle 15"/>
            <p:cNvSpPr/>
            <p:nvPr/>
          </p:nvSpPr>
          <p:spPr>
            <a:xfrm>
              <a:off x="3257550" y="2381250"/>
              <a:ext cx="1190625" cy="266700"/>
            </a:xfrm>
            <a:prstGeom prst="rect">
              <a:avLst/>
            </a:prstGeom>
            <a:solidFill>
              <a:srgbClr val="C8102E"/>
            </a:solidFill>
            <a:ln>
              <a:noFill/>
            </a:ln>
          </p:spPr>
        </p:sp>
        <p:sp>
          <p:nvSpPr>
            <p:cNvPr id="16" name="TextBox 16"/>
            <p:cNvSpPr txBox="1"/>
            <p:nvPr/>
          </p:nvSpPr>
          <p:spPr>
            <a:xfrm>
              <a:off x="8203692" y="2464118"/>
              <a:ext cx="690541" cy="264033"/>
            </a:xfrm>
            <a:prstGeom prst="rect">
              <a:avLst/>
            </a:prstGeom>
            <a:noFill/>
            <a:ln>
              <a:noFill/>
            </a:ln>
          </p:spPr>
          <p:txBody>
            <a:bodyPr wrap="none" lIns="0" tIns="0" rIns="0" bIns="0" anchor="t" anchorCtr="0">
              <a:spAutoFit/>
            </a:bodyPr>
            <a:lstStyle/>
            <a:p>
              <a:pPr algn="l"/>
              <a:r>
                <a:rPr lang="vi-VN" sz="1350" b="1" dirty="0">
                  <a:solidFill>
                    <a:srgbClr val="111111"/>
                  </a:solidFill>
                  <a:latin typeface="Arial"/>
                  <a:ea typeface="Arial"/>
                  <a:cs typeface="Arial"/>
                </a:rPr>
                <a:t>13 ngày</a:t>
              </a:r>
            </a:p>
          </p:txBody>
        </p:sp>
        <p:sp>
          <p:nvSpPr>
            <p:cNvPr id="17" name="TextBox 17"/>
            <p:cNvSpPr txBox="1"/>
            <p:nvPr/>
          </p:nvSpPr>
          <p:spPr>
            <a:xfrm>
              <a:off x="678942" y="2873692"/>
              <a:ext cx="1524031" cy="264033"/>
            </a:xfrm>
            <a:prstGeom prst="rect">
              <a:avLst/>
            </a:prstGeom>
            <a:noFill/>
            <a:ln>
              <a:noFill/>
            </a:ln>
          </p:spPr>
          <p:txBody>
            <a:bodyPr wrap="none" lIns="0" tIns="0" rIns="0" bIns="0" anchor="t" anchorCtr="0">
              <a:spAutoFit/>
            </a:bodyPr>
            <a:lstStyle/>
            <a:p>
              <a:pPr algn="l"/>
              <a:r>
                <a:rPr lang="vi-VN" sz="1350" b="1" dirty="0">
                  <a:solidFill>
                    <a:srgbClr val="1A1A1A"/>
                  </a:solidFill>
                  <a:latin typeface="Arial"/>
                  <a:ea typeface="Arial"/>
                  <a:cs typeface="Arial"/>
                </a:rPr>
                <a:t>Phân tích thiết kế</a:t>
              </a:r>
            </a:p>
          </p:txBody>
        </p:sp>
        <p:sp>
          <p:nvSpPr>
            <p:cNvPr id="18" name="Rectangle 18"/>
            <p:cNvSpPr/>
            <p:nvPr/>
          </p:nvSpPr>
          <p:spPr>
            <a:xfrm>
              <a:off x="3257550" y="2790825"/>
              <a:ext cx="4762500" cy="266700"/>
            </a:xfrm>
            <a:prstGeom prst="rect">
              <a:avLst/>
            </a:prstGeom>
            <a:solidFill>
              <a:srgbClr val="F5F5F5"/>
            </a:solidFill>
            <a:ln>
              <a:noFill/>
            </a:ln>
          </p:spPr>
        </p:sp>
        <p:sp>
          <p:nvSpPr>
            <p:cNvPr id="19" name="Rectangle 19"/>
            <p:cNvSpPr/>
            <p:nvPr/>
          </p:nvSpPr>
          <p:spPr>
            <a:xfrm>
              <a:off x="3257550" y="2790825"/>
              <a:ext cx="3938206" cy="266700"/>
            </a:xfrm>
            <a:prstGeom prst="rect">
              <a:avLst/>
            </a:prstGeom>
            <a:solidFill>
              <a:srgbClr val="C8102E"/>
            </a:solidFill>
            <a:ln>
              <a:noFill/>
            </a:ln>
          </p:spPr>
        </p:sp>
        <p:sp>
          <p:nvSpPr>
            <p:cNvPr id="20" name="TextBox 20"/>
            <p:cNvSpPr txBox="1"/>
            <p:nvPr/>
          </p:nvSpPr>
          <p:spPr>
            <a:xfrm>
              <a:off x="8203692" y="2873692"/>
              <a:ext cx="690541" cy="264033"/>
            </a:xfrm>
            <a:prstGeom prst="rect">
              <a:avLst/>
            </a:prstGeom>
            <a:noFill/>
            <a:ln>
              <a:noFill/>
            </a:ln>
          </p:spPr>
          <p:txBody>
            <a:bodyPr wrap="none" lIns="0" tIns="0" rIns="0" bIns="0" anchor="t" anchorCtr="0">
              <a:spAutoFit/>
            </a:bodyPr>
            <a:lstStyle/>
            <a:p>
              <a:pPr algn="l"/>
              <a:r>
                <a:rPr lang="vi-VN" sz="1350" b="1" dirty="0">
                  <a:solidFill>
                    <a:srgbClr val="111111"/>
                  </a:solidFill>
                  <a:latin typeface="Arial"/>
                  <a:ea typeface="Arial"/>
                  <a:cs typeface="Arial"/>
                </a:rPr>
                <a:t>43 ngày</a:t>
              </a:r>
            </a:p>
          </p:txBody>
        </p:sp>
        <p:sp>
          <p:nvSpPr>
            <p:cNvPr id="21" name="TextBox 21"/>
            <p:cNvSpPr txBox="1"/>
            <p:nvPr/>
          </p:nvSpPr>
          <p:spPr>
            <a:xfrm>
              <a:off x="678942" y="3283268"/>
              <a:ext cx="1554386" cy="264033"/>
            </a:xfrm>
            <a:prstGeom prst="rect">
              <a:avLst/>
            </a:prstGeom>
            <a:noFill/>
            <a:ln>
              <a:noFill/>
            </a:ln>
          </p:spPr>
          <p:txBody>
            <a:bodyPr wrap="none" lIns="0" tIns="0" rIns="0" bIns="0" anchor="t" anchorCtr="0">
              <a:spAutoFit/>
            </a:bodyPr>
            <a:lstStyle/>
            <a:p>
              <a:pPr algn="l"/>
              <a:r>
                <a:rPr lang="vi-VN" sz="1350" b="1" dirty="0">
                  <a:solidFill>
                    <a:srgbClr val="1A1A1A"/>
                  </a:solidFill>
                  <a:latin typeface="Arial"/>
                  <a:ea typeface="Arial"/>
                  <a:cs typeface="Arial"/>
                </a:rPr>
                <a:t>Thiết kế giao diện</a:t>
              </a:r>
            </a:p>
          </p:txBody>
        </p:sp>
        <p:sp>
          <p:nvSpPr>
            <p:cNvPr id="22" name="Rectangle 22"/>
            <p:cNvSpPr/>
            <p:nvPr/>
          </p:nvSpPr>
          <p:spPr>
            <a:xfrm>
              <a:off x="3257550" y="3200400"/>
              <a:ext cx="4762500" cy="266700"/>
            </a:xfrm>
            <a:prstGeom prst="rect">
              <a:avLst/>
            </a:prstGeom>
            <a:solidFill>
              <a:srgbClr val="F5F5F5"/>
            </a:solidFill>
            <a:ln>
              <a:noFill/>
            </a:ln>
          </p:spPr>
        </p:sp>
        <p:sp>
          <p:nvSpPr>
            <p:cNvPr id="23" name="Rectangle 23"/>
            <p:cNvSpPr/>
            <p:nvPr/>
          </p:nvSpPr>
          <p:spPr>
            <a:xfrm>
              <a:off x="3257550" y="3200400"/>
              <a:ext cx="1190625" cy="266700"/>
            </a:xfrm>
            <a:prstGeom prst="rect">
              <a:avLst/>
            </a:prstGeom>
            <a:solidFill>
              <a:srgbClr val="C8102E"/>
            </a:solidFill>
            <a:ln>
              <a:noFill/>
            </a:ln>
          </p:spPr>
        </p:sp>
        <p:sp>
          <p:nvSpPr>
            <p:cNvPr id="24" name="TextBox 24"/>
            <p:cNvSpPr txBox="1"/>
            <p:nvPr/>
          </p:nvSpPr>
          <p:spPr>
            <a:xfrm>
              <a:off x="8203692" y="3283268"/>
              <a:ext cx="690541" cy="264033"/>
            </a:xfrm>
            <a:prstGeom prst="rect">
              <a:avLst/>
            </a:prstGeom>
            <a:noFill/>
            <a:ln>
              <a:noFill/>
            </a:ln>
          </p:spPr>
          <p:txBody>
            <a:bodyPr wrap="none" lIns="0" tIns="0" rIns="0" bIns="0" anchor="t" anchorCtr="0">
              <a:spAutoFit/>
            </a:bodyPr>
            <a:lstStyle/>
            <a:p>
              <a:pPr algn="l"/>
              <a:r>
                <a:rPr lang="vi-VN" sz="1350" b="1" dirty="0">
                  <a:solidFill>
                    <a:srgbClr val="111111"/>
                  </a:solidFill>
                  <a:latin typeface="Arial"/>
                  <a:ea typeface="Arial"/>
                  <a:cs typeface="Arial"/>
                </a:rPr>
                <a:t>13 ngày</a:t>
              </a:r>
            </a:p>
          </p:txBody>
        </p:sp>
        <p:sp>
          <p:nvSpPr>
            <p:cNvPr id="25" name="TextBox 25"/>
            <p:cNvSpPr txBox="1"/>
            <p:nvPr/>
          </p:nvSpPr>
          <p:spPr>
            <a:xfrm>
              <a:off x="678942" y="3692842"/>
              <a:ext cx="1998654" cy="264033"/>
            </a:xfrm>
            <a:prstGeom prst="rect">
              <a:avLst/>
            </a:prstGeom>
            <a:noFill/>
            <a:ln>
              <a:noFill/>
            </a:ln>
          </p:spPr>
          <p:txBody>
            <a:bodyPr wrap="none" lIns="0" tIns="0" rIns="0" bIns="0" anchor="t" anchorCtr="0">
              <a:spAutoFit/>
            </a:bodyPr>
            <a:lstStyle/>
            <a:p>
              <a:pPr algn="l"/>
              <a:r>
                <a:rPr lang="vi-VN" sz="1350" b="1" dirty="0">
                  <a:solidFill>
                    <a:srgbClr val="1A1A1A"/>
                  </a:solidFill>
                  <a:latin typeface="Arial"/>
                  <a:ea typeface="Arial"/>
                  <a:cs typeface="Arial"/>
                </a:rPr>
                <a:t>Xây dựng chương trình</a:t>
              </a:r>
            </a:p>
          </p:txBody>
        </p:sp>
        <p:sp>
          <p:nvSpPr>
            <p:cNvPr id="26" name="Rectangle 26"/>
            <p:cNvSpPr/>
            <p:nvPr/>
          </p:nvSpPr>
          <p:spPr>
            <a:xfrm>
              <a:off x="3257550" y="3609975"/>
              <a:ext cx="4762500" cy="266700"/>
            </a:xfrm>
            <a:prstGeom prst="rect">
              <a:avLst/>
            </a:prstGeom>
            <a:solidFill>
              <a:srgbClr val="F5F5F5"/>
            </a:solidFill>
            <a:ln>
              <a:noFill/>
            </a:ln>
          </p:spPr>
        </p:sp>
        <p:sp>
          <p:nvSpPr>
            <p:cNvPr id="27" name="Rectangle 27"/>
            <p:cNvSpPr/>
            <p:nvPr/>
          </p:nvSpPr>
          <p:spPr>
            <a:xfrm>
              <a:off x="3257550" y="3609975"/>
              <a:ext cx="4762500" cy="266700"/>
            </a:xfrm>
            <a:prstGeom prst="rect">
              <a:avLst/>
            </a:prstGeom>
            <a:solidFill>
              <a:srgbClr val="C8102E"/>
            </a:solidFill>
            <a:ln>
              <a:noFill/>
            </a:ln>
          </p:spPr>
        </p:sp>
        <p:sp>
          <p:nvSpPr>
            <p:cNvPr id="28" name="TextBox 28"/>
            <p:cNvSpPr txBox="1"/>
            <p:nvPr/>
          </p:nvSpPr>
          <p:spPr>
            <a:xfrm>
              <a:off x="8203692" y="3692842"/>
              <a:ext cx="690541" cy="264033"/>
            </a:xfrm>
            <a:prstGeom prst="rect">
              <a:avLst/>
            </a:prstGeom>
            <a:noFill/>
            <a:ln>
              <a:noFill/>
            </a:ln>
          </p:spPr>
          <p:txBody>
            <a:bodyPr wrap="none" lIns="0" tIns="0" rIns="0" bIns="0" anchor="t" anchorCtr="0">
              <a:spAutoFit/>
            </a:bodyPr>
            <a:lstStyle/>
            <a:p>
              <a:pPr algn="l"/>
              <a:r>
                <a:rPr lang="vi-VN" sz="1350" b="1" dirty="0">
                  <a:solidFill>
                    <a:srgbClr val="111111"/>
                  </a:solidFill>
                  <a:latin typeface="Arial"/>
                  <a:ea typeface="Arial"/>
                  <a:cs typeface="Arial"/>
                </a:rPr>
                <a:t>52 ngày</a:t>
              </a:r>
            </a:p>
          </p:txBody>
        </p:sp>
        <p:sp>
          <p:nvSpPr>
            <p:cNvPr id="29" name="TextBox 29"/>
            <p:cNvSpPr txBox="1"/>
            <p:nvPr/>
          </p:nvSpPr>
          <p:spPr>
            <a:xfrm>
              <a:off x="678942" y="4102418"/>
              <a:ext cx="1958073" cy="264033"/>
            </a:xfrm>
            <a:prstGeom prst="rect">
              <a:avLst/>
            </a:prstGeom>
            <a:noFill/>
            <a:ln>
              <a:noFill/>
            </a:ln>
          </p:spPr>
          <p:txBody>
            <a:bodyPr wrap="none" lIns="0" tIns="0" rIns="0" bIns="0" anchor="t" anchorCtr="0">
              <a:spAutoFit/>
            </a:bodyPr>
            <a:lstStyle/>
            <a:p>
              <a:pPr algn="l"/>
              <a:r>
                <a:rPr lang="vi-VN" sz="1350" b="1" dirty="0">
                  <a:solidFill>
                    <a:srgbClr val="1A1A1A"/>
                  </a:solidFill>
                  <a:latin typeface="Arial"/>
                  <a:ea typeface="Arial"/>
                  <a:cs typeface="Arial"/>
                </a:rPr>
                <a:t>Kiểm thử chương trình</a:t>
              </a:r>
            </a:p>
          </p:txBody>
        </p:sp>
        <p:sp>
          <p:nvSpPr>
            <p:cNvPr id="30" name="Rectangle 30"/>
            <p:cNvSpPr/>
            <p:nvPr/>
          </p:nvSpPr>
          <p:spPr>
            <a:xfrm>
              <a:off x="3257550" y="4019550"/>
              <a:ext cx="4762500" cy="266700"/>
            </a:xfrm>
            <a:prstGeom prst="rect">
              <a:avLst/>
            </a:prstGeom>
            <a:solidFill>
              <a:srgbClr val="F5F5F5"/>
            </a:solidFill>
            <a:ln>
              <a:noFill/>
            </a:ln>
          </p:spPr>
        </p:sp>
        <p:sp>
          <p:nvSpPr>
            <p:cNvPr id="31" name="Rectangle 31"/>
            <p:cNvSpPr/>
            <p:nvPr/>
          </p:nvSpPr>
          <p:spPr>
            <a:xfrm>
              <a:off x="3257550" y="4019550"/>
              <a:ext cx="2198084" cy="266700"/>
            </a:xfrm>
            <a:prstGeom prst="rect">
              <a:avLst/>
            </a:prstGeom>
            <a:solidFill>
              <a:srgbClr val="C8102E"/>
            </a:solidFill>
            <a:ln>
              <a:noFill/>
            </a:ln>
          </p:spPr>
        </p:sp>
        <p:sp>
          <p:nvSpPr>
            <p:cNvPr id="32" name="TextBox 32"/>
            <p:cNvSpPr txBox="1"/>
            <p:nvPr/>
          </p:nvSpPr>
          <p:spPr>
            <a:xfrm>
              <a:off x="8203692" y="4102418"/>
              <a:ext cx="690541" cy="264033"/>
            </a:xfrm>
            <a:prstGeom prst="rect">
              <a:avLst/>
            </a:prstGeom>
            <a:noFill/>
            <a:ln>
              <a:noFill/>
            </a:ln>
          </p:spPr>
          <p:txBody>
            <a:bodyPr wrap="none" lIns="0" tIns="0" rIns="0" bIns="0" anchor="t" anchorCtr="0">
              <a:spAutoFit/>
            </a:bodyPr>
            <a:lstStyle/>
            <a:p>
              <a:pPr algn="l"/>
              <a:r>
                <a:rPr lang="vi-VN" sz="1350" b="1" dirty="0">
                  <a:solidFill>
                    <a:srgbClr val="111111"/>
                  </a:solidFill>
                  <a:latin typeface="Arial"/>
                  <a:ea typeface="Arial"/>
                  <a:cs typeface="Arial"/>
                </a:rPr>
                <a:t>24 ngày</a:t>
              </a:r>
            </a:p>
          </p:txBody>
        </p:sp>
        <p:sp>
          <p:nvSpPr>
            <p:cNvPr id="33" name="TextBox 33"/>
            <p:cNvSpPr txBox="1"/>
            <p:nvPr/>
          </p:nvSpPr>
          <p:spPr>
            <a:xfrm>
              <a:off x="678942" y="4511992"/>
              <a:ext cx="1695697" cy="264033"/>
            </a:xfrm>
            <a:prstGeom prst="rect">
              <a:avLst/>
            </a:prstGeom>
            <a:noFill/>
            <a:ln>
              <a:noFill/>
            </a:ln>
          </p:spPr>
          <p:txBody>
            <a:bodyPr wrap="none" lIns="0" tIns="0" rIns="0" bIns="0" anchor="t" anchorCtr="0">
              <a:spAutoFit/>
            </a:bodyPr>
            <a:lstStyle/>
            <a:p>
              <a:pPr algn="l"/>
              <a:r>
                <a:rPr lang="vi-VN" sz="1350" b="1" dirty="0">
                  <a:solidFill>
                    <a:srgbClr val="1A1A1A"/>
                  </a:solidFill>
                  <a:latin typeface="Arial"/>
                  <a:ea typeface="Arial"/>
                  <a:cs typeface="Arial"/>
                </a:rPr>
                <a:t>Triển khai hệ thống</a:t>
              </a:r>
            </a:p>
          </p:txBody>
        </p:sp>
        <p:sp>
          <p:nvSpPr>
            <p:cNvPr id="34" name="Rectangle 34"/>
            <p:cNvSpPr/>
            <p:nvPr/>
          </p:nvSpPr>
          <p:spPr>
            <a:xfrm>
              <a:off x="3257550" y="4429125"/>
              <a:ext cx="4762500" cy="266700"/>
            </a:xfrm>
            <a:prstGeom prst="rect">
              <a:avLst/>
            </a:prstGeom>
            <a:solidFill>
              <a:srgbClr val="F5F5F5"/>
            </a:solidFill>
            <a:ln>
              <a:noFill/>
            </a:ln>
          </p:spPr>
        </p:sp>
        <p:sp>
          <p:nvSpPr>
            <p:cNvPr id="35" name="Rectangle 35"/>
            <p:cNvSpPr/>
            <p:nvPr/>
          </p:nvSpPr>
          <p:spPr>
            <a:xfrm>
              <a:off x="3257550" y="4429125"/>
              <a:ext cx="915829" cy="266700"/>
            </a:xfrm>
            <a:prstGeom prst="rect">
              <a:avLst/>
            </a:prstGeom>
            <a:solidFill>
              <a:srgbClr val="C8102E"/>
            </a:solidFill>
            <a:ln>
              <a:noFill/>
            </a:ln>
          </p:spPr>
        </p:sp>
        <p:sp>
          <p:nvSpPr>
            <p:cNvPr id="36" name="TextBox 36"/>
            <p:cNvSpPr txBox="1"/>
            <p:nvPr/>
          </p:nvSpPr>
          <p:spPr>
            <a:xfrm>
              <a:off x="8203692" y="4511992"/>
              <a:ext cx="690541" cy="264033"/>
            </a:xfrm>
            <a:prstGeom prst="rect">
              <a:avLst/>
            </a:prstGeom>
            <a:noFill/>
            <a:ln>
              <a:noFill/>
            </a:ln>
          </p:spPr>
          <p:txBody>
            <a:bodyPr wrap="none" lIns="0" tIns="0" rIns="0" bIns="0" anchor="t" anchorCtr="0">
              <a:spAutoFit/>
            </a:bodyPr>
            <a:lstStyle/>
            <a:p>
              <a:pPr algn="l"/>
              <a:r>
                <a:rPr lang="vi-VN" sz="1350" b="1" dirty="0">
                  <a:solidFill>
                    <a:srgbClr val="111111"/>
                  </a:solidFill>
                  <a:latin typeface="Arial"/>
                  <a:ea typeface="Arial"/>
                  <a:cs typeface="Arial"/>
                </a:rPr>
                <a:t>10 ngày</a:t>
              </a:r>
            </a:p>
          </p:txBody>
        </p:sp>
      </p:grpSp>
      <p:grpSp>
        <p:nvGrpSpPr>
          <p:cNvPr id="43" name="wbs-note"/>
          <p:cNvGrpSpPr/>
          <p:nvPr/>
        </p:nvGrpSpPr>
        <p:grpSpPr>
          <a:xfrm>
            <a:off x="9137142" y="2579370"/>
            <a:ext cx="2441414" cy="2682431"/>
            <a:chOff x="9137142" y="2579370"/>
            <a:chExt cx="2441414" cy="2682431"/>
          </a:xfrm>
        </p:grpSpPr>
        <p:sp>
          <p:nvSpPr>
            <p:cNvPr id="38" name="TextBox 38"/>
            <p:cNvSpPr txBox="1"/>
            <p:nvPr/>
          </p:nvSpPr>
          <p:spPr>
            <a:xfrm>
              <a:off x="9315450" y="2579370"/>
              <a:ext cx="928102" cy="1047750"/>
            </a:xfrm>
            <a:prstGeom prst="rect">
              <a:avLst/>
            </a:prstGeom>
            <a:noFill/>
            <a:ln>
              <a:noFill/>
            </a:ln>
          </p:spPr>
          <p:txBody>
            <a:bodyPr wrap="none" lIns="0" tIns="0" rIns="0" bIns="0" anchor="t" anchorCtr="0">
              <a:spAutoFit/>
            </a:bodyPr>
            <a:lstStyle/>
            <a:p>
              <a:pPr algn="l"/>
              <a:r>
                <a:rPr lang="vi-VN" sz="5400" b="1" dirty="0">
                  <a:solidFill>
                    <a:srgbClr val="C8102E"/>
                  </a:solidFill>
                  <a:latin typeface="Arial Black"/>
                  <a:ea typeface="Arial Black"/>
                  <a:cs typeface="Arial Black"/>
                </a:rPr>
                <a:t>50</a:t>
              </a:r>
            </a:p>
          </p:txBody>
        </p:sp>
        <p:sp>
          <p:nvSpPr>
            <p:cNvPr id="39" name="TextBox 39"/>
            <p:cNvSpPr txBox="1"/>
            <p:nvPr/>
          </p:nvSpPr>
          <p:spPr>
            <a:xfrm>
              <a:off x="9326880" y="3343275"/>
              <a:ext cx="1304977" cy="293370"/>
            </a:xfrm>
            <a:prstGeom prst="rect">
              <a:avLst/>
            </a:prstGeom>
            <a:noFill/>
            <a:ln>
              <a:noFill/>
            </a:ln>
          </p:spPr>
          <p:txBody>
            <a:bodyPr wrap="none" lIns="0" tIns="0" rIns="0" bIns="0" anchor="t" anchorCtr="0">
              <a:spAutoFit/>
            </a:bodyPr>
            <a:lstStyle/>
            <a:p>
              <a:pPr algn="l"/>
              <a:r>
                <a:rPr lang="vi-VN" sz="1500" dirty="0">
                  <a:solidFill>
                    <a:srgbClr val="6E6E6E"/>
                  </a:solidFill>
                  <a:latin typeface="Arial"/>
                  <a:ea typeface="Arial"/>
                  <a:cs typeface="Arial"/>
                </a:rPr>
                <a:t>đầu việc WBS</a:t>
              </a:r>
            </a:p>
          </p:txBody>
        </p:sp>
        <p:sp>
          <p:nvSpPr>
            <p:cNvPr id="40" name="TextBox 40"/>
            <p:cNvSpPr txBox="1"/>
            <p:nvPr/>
          </p:nvSpPr>
          <p:spPr>
            <a:xfrm>
              <a:off x="9315450" y="3760470"/>
              <a:ext cx="2263106" cy="1047750"/>
            </a:xfrm>
            <a:prstGeom prst="rect">
              <a:avLst/>
            </a:prstGeom>
            <a:noFill/>
            <a:ln>
              <a:noFill/>
            </a:ln>
          </p:spPr>
          <p:txBody>
            <a:bodyPr wrap="none" lIns="0" tIns="0" rIns="0" bIns="0" anchor="t" anchorCtr="0">
              <a:spAutoFit/>
            </a:bodyPr>
            <a:lstStyle/>
            <a:p>
              <a:pPr algn="l"/>
              <a:r>
                <a:rPr lang="vi-VN" sz="5400" b="1" dirty="0">
                  <a:solidFill>
                    <a:srgbClr val="111111"/>
                  </a:solidFill>
                  <a:latin typeface="Arial Black"/>
                  <a:ea typeface="Arial Black"/>
                  <a:cs typeface="Arial Black"/>
                </a:rPr>
                <a:t>179,5</a:t>
              </a:r>
            </a:p>
          </p:txBody>
        </p:sp>
        <p:sp>
          <p:nvSpPr>
            <p:cNvPr id="41" name="TextBox 41"/>
            <p:cNvSpPr txBox="1"/>
            <p:nvPr/>
          </p:nvSpPr>
          <p:spPr>
            <a:xfrm>
              <a:off x="9326880" y="4524375"/>
              <a:ext cx="1417271" cy="293370"/>
            </a:xfrm>
            <a:prstGeom prst="rect">
              <a:avLst/>
            </a:prstGeom>
            <a:noFill/>
            <a:ln>
              <a:noFill/>
            </a:ln>
          </p:spPr>
          <p:txBody>
            <a:bodyPr wrap="none" lIns="0" tIns="0" rIns="0" bIns="0" anchor="t" anchorCtr="0">
              <a:spAutoFit/>
            </a:bodyPr>
            <a:lstStyle/>
            <a:p>
              <a:pPr algn="l"/>
              <a:r>
                <a:rPr lang="vi-VN" sz="1500" dirty="0">
                  <a:solidFill>
                    <a:srgbClr val="6E6E6E"/>
                  </a:solidFill>
                  <a:latin typeface="Arial"/>
                  <a:ea typeface="Arial"/>
                  <a:cs typeface="Arial"/>
                </a:rPr>
                <a:t>ngày công EST</a:t>
              </a:r>
            </a:p>
          </p:txBody>
        </p:sp>
        <p:sp>
          <p:nvSpPr>
            <p:cNvPr id="42" name="TextBox 42"/>
            <p:cNvSpPr txBox="1"/>
            <p:nvPr/>
          </p:nvSpPr>
          <p:spPr>
            <a:xfrm>
              <a:off x="9137142" y="4997768"/>
              <a:ext cx="2044591" cy="264033"/>
            </a:xfrm>
            <a:prstGeom prst="rect">
              <a:avLst/>
            </a:prstGeom>
            <a:noFill/>
            <a:ln>
              <a:noFill/>
            </a:ln>
          </p:spPr>
          <p:txBody>
            <a:bodyPr wrap="none" lIns="0" tIns="0" rIns="0" bIns="0" anchor="t" anchorCtr="0">
              <a:spAutoFit/>
            </a:bodyPr>
            <a:lstStyle/>
            <a:p>
              <a:pPr algn="l"/>
              <a:r>
                <a:rPr lang="vi-VN" sz="1350" dirty="0">
                  <a:solidFill>
                    <a:srgbClr val="6E6E6E"/>
                  </a:solidFill>
                  <a:latin typeface="Arial"/>
                  <a:ea typeface="Arial"/>
                  <a:cs typeface="Arial"/>
                </a:rPr>
                <a:t>155 ngày theo nhóm việc</a:t>
              </a:r>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bg-fill"/>
          <p:cNvSpPr/>
          <p:nvPr/>
        </p:nvSpPr>
        <p:spPr>
          <a:xfrm>
            <a:off x="-9525" y="-9525"/>
            <a:ext cx="12211050" cy="6877050"/>
          </a:xfrm>
          <a:prstGeom prst="rect">
            <a:avLst/>
          </a:prstGeom>
          <a:solidFill>
            <a:srgbClr val="FFFFFF"/>
          </a:solidFill>
          <a:ln>
            <a:noFill/>
          </a:ln>
        </p:spPr>
      </p:sp>
      <p:grpSp>
        <p:nvGrpSpPr>
          <p:cNvPr id="5" name="top-rule"/>
          <p:cNvGrpSpPr/>
          <p:nvPr/>
        </p:nvGrpSpPr>
        <p:grpSpPr>
          <a:xfrm>
            <a:off x="685800" y="723900"/>
            <a:ext cx="10820400" cy="38100"/>
            <a:chOff x="685800" y="723900"/>
            <a:chExt cx="10820400" cy="38100"/>
          </a:xfrm>
        </p:grpSpPr>
        <p:sp>
          <p:nvSpPr>
            <p:cNvPr id="3" name="Rectangle 3"/>
            <p:cNvSpPr/>
            <p:nvPr/>
          </p:nvSpPr>
          <p:spPr>
            <a:xfrm>
              <a:off x="685800" y="723900"/>
              <a:ext cx="10820400" cy="38100"/>
            </a:xfrm>
            <a:prstGeom prst="rect">
              <a:avLst/>
            </a:prstGeom>
            <a:solidFill>
              <a:srgbClr val="E8E8E8"/>
            </a:solidFill>
            <a:ln>
              <a:noFill/>
            </a:ln>
          </p:spPr>
        </p:sp>
        <p:sp>
          <p:nvSpPr>
            <p:cNvPr id="4" name="Rectangle 4"/>
            <p:cNvSpPr/>
            <p:nvPr/>
          </p:nvSpPr>
          <p:spPr>
            <a:xfrm>
              <a:off x="685800" y="723900"/>
              <a:ext cx="8656320" cy="38100"/>
            </a:xfrm>
            <a:prstGeom prst="rect">
              <a:avLst/>
            </a:prstGeom>
            <a:solidFill>
              <a:srgbClr val="C8102E"/>
            </a:solidFill>
            <a:ln>
              <a:noFill/>
            </a:ln>
          </p:spPr>
        </p:sp>
      </p:grpSp>
      <p:grpSp>
        <p:nvGrpSpPr>
          <p:cNvPr id="8" name="title"/>
          <p:cNvGrpSpPr/>
          <p:nvPr/>
        </p:nvGrpSpPr>
        <p:grpSpPr>
          <a:xfrm>
            <a:off x="652272" y="977265"/>
            <a:ext cx="6742433" cy="1193482"/>
            <a:chOff x="652272" y="977265"/>
            <a:chExt cx="6742433" cy="1193482"/>
          </a:xfrm>
        </p:grpSpPr>
        <p:sp>
          <p:nvSpPr>
            <p:cNvPr id="6" name="TextBox 6"/>
            <p:cNvSpPr txBox="1"/>
            <p:nvPr/>
          </p:nvSpPr>
          <p:spPr>
            <a:xfrm>
              <a:off x="652272" y="977265"/>
              <a:ext cx="4739227" cy="645414"/>
            </a:xfrm>
            <a:prstGeom prst="rect">
              <a:avLst/>
            </a:prstGeom>
            <a:noFill/>
            <a:ln>
              <a:noFill/>
            </a:ln>
          </p:spPr>
          <p:txBody>
            <a:bodyPr wrap="none" lIns="0" tIns="0" rIns="0" bIns="0" anchor="t" anchorCtr="0">
              <a:spAutoFit/>
            </a:bodyPr>
            <a:lstStyle/>
            <a:p>
              <a:pPr algn="l"/>
              <a:r>
                <a:rPr lang="vi-VN" sz="3300" b="1" dirty="0">
                  <a:solidFill>
                    <a:srgbClr val="111111"/>
                  </a:solidFill>
                  <a:latin typeface="Arial"/>
                  <a:ea typeface="Arial"/>
                  <a:cs typeface="Arial"/>
                </a:rPr>
                <a:t>Kinh phí và cơ cấu chi</a:t>
              </a:r>
            </a:p>
          </p:txBody>
        </p:sp>
        <p:sp>
          <p:nvSpPr>
            <p:cNvPr id="7" name="TextBox 7"/>
            <p:cNvSpPr txBox="1"/>
            <p:nvPr/>
          </p:nvSpPr>
          <p:spPr>
            <a:xfrm>
              <a:off x="677418" y="1848040"/>
              <a:ext cx="6717287" cy="322707"/>
            </a:xfrm>
            <a:prstGeom prst="rect">
              <a:avLst/>
            </a:prstGeom>
            <a:noFill/>
            <a:ln>
              <a:noFill/>
            </a:ln>
          </p:spPr>
          <p:txBody>
            <a:bodyPr wrap="none" lIns="0" tIns="0" rIns="0" bIns="0" anchor="t" anchorCtr="0">
              <a:spAutoFit/>
            </a:bodyPr>
            <a:lstStyle/>
            <a:p>
              <a:pPr algn="l"/>
              <a:r>
                <a:rPr lang="vi-VN" sz="1650" dirty="0">
                  <a:solidFill>
                    <a:srgbClr val="6E6E6E"/>
                  </a:solidFill>
                  <a:latin typeface="Arial"/>
                  <a:ea typeface="Arial"/>
                  <a:cs typeface="Arial"/>
                </a:rPr>
                <a:t>Ngân sách khoán chi 200 triệu VNĐ, tập trung vào nhân công dự án</a:t>
              </a:r>
            </a:p>
          </p:txBody>
        </p:sp>
      </p:grpSp>
      <p:grpSp>
        <p:nvGrpSpPr>
          <p:cNvPr id="12" name="footer"/>
          <p:cNvGrpSpPr/>
          <p:nvPr/>
        </p:nvGrpSpPr>
        <p:grpSpPr>
          <a:xfrm>
            <a:off x="680085" y="6286500"/>
            <a:ext cx="10831830" cy="327184"/>
            <a:chOff x="680085" y="6286500"/>
            <a:chExt cx="10831830" cy="327184"/>
          </a:xfrm>
        </p:grpSpPr>
        <p:sp>
          <p:nvSpPr>
            <p:cNvPr id="9" name="Freeform 9"/>
            <p:cNvSpPr/>
            <p:nvPr/>
          </p:nvSpPr>
          <p:spPr>
            <a:xfrm>
              <a:off x="685800" y="6286500"/>
              <a:ext cx="10820400" cy="9525"/>
            </a:xfrm>
            <a:custGeom>
              <a:avLst/>
              <a:gdLst/>
              <a:ahLst/>
              <a:cxnLst/>
              <a:rect l="l" t="t" r="r" b="b"/>
              <a:pathLst>
                <a:path w="10820400" h="9525">
                  <a:moveTo>
                    <a:pt x="0" y="0"/>
                  </a:moveTo>
                  <a:lnTo>
                    <a:pt x="10820400" y="0"/>
                  </a:lnTo>
                </a:path>
              </a:pathLst>
            </a:custGeom>
            <a:noFill/>
            <a:ln w="9525">
              <a:solidFill>
                <a:srgbClr val="E8E8E8"/>
              </a:solidFill>
            </a:ln>
          </p:spPr>
        </p:sp>
        <p:sp>
          <p:nvSpPr>
            <p:cNvPr id="10" name="TextBox 10"/>
            <p:cNvSpPr txBox="1"/>
            <p:nvPr/>
          </p:nvSpPr>
          <p:spPr>
            <a:xfrm>
              <a:off x="680085" y="6393656"/>
              <a:ext cx="2914269" cy="220028"/>
            </a:xfrm>
            <a:prstGeom prst="rect">
              <a:avLst/>
            </a:prstGeom>
            <a:noFill/>
            <a:ln>
              <a:noFill/>
            </a:ln>
          </p:spPr>
          <p:txBody>
            <a:bodyPr wrap="none" lIns="0" tIns="0" rIns="0" bIns="0" anchor="t" anchorCtr="0">
              <a:spAutoFit/>
            </a:bodyPr>
            <a:lstStyle/>
            <a:p>
              <a:pPr algn="l"/>
              <a:r>
                <a:rPr lang="vi-VN" sz="1120" dirty="0">
                  <a:solidFill>
                    <a:srgbClr val="6E6E6E"/>
                  </a:solidFill>
                  <a:latin typeface="Arial"/>
                  <a:ea typeface="Arial"/>
                  <a:cs typeface="Arial"/>
                </a:rPr>
                <a:t>Nhóm 04 | Lớp 765643-QTDA-VB2-20261</a:t>
              </a:r>
            </a:p>
          </p:txBody>
        </p:sp>
        <p:sp>
          <p:nvSpPr>
            <p:cNvPr id="11" name="TextBox 11"/>
            <p:cNvSpPr txBox="1"/>
            <p:nvPr/>
          </p:nvSpPr>
          <p:spPr>
            <a:xfrm>
              <a:off x="11332764" y="6393656"/>
              <a:ext cx="179151" cy="220028"/>
            </a:xfrm>
            <a:prstGeom prst="rect">
              <a:avLst/>
            </a:prstGeom>
            <a:noFill/>
            <a:ln>
              <a:noFill/>
            </a:ln>
          </p:spPr>
          <p:txBody>
            <a:bodyPr wrap="none" lIns="0" tIns="0" rIns="0" bIns="0" anchor="t" anchorCtr="0">
              <a:spAutoFit/>
            </a:bodyPr>
            <a:lstStyle/>
            <a:p>
              <a:pPr algn="r"/>
              <a:r>
                <a:rPr lang="vi-VN" sz="1120" dirty="0">
                  <a:solidFill>
                    <a:srgbClr val="6E6E6E"/>
                  </a:solidFill>
                  <a:latin typeface="Arial"/>
                  <a:ea typeface="Arial"/>
                  <a:cs typeface="Arial"/>
                </a:rPr>
                <a:t>16</a:t>
              </a:r>
            </a:p>
          </p:txBody>
        </p:sp>
      </p:grpSp>
      <p:grpSp>
        <p:nvGrpSpPr>
          <p:cNvPr id="17" name="budget-metrics"/>
          <p:cNvGrpSpPr/>
          <p:nvPr/>
        </p:nvGrpSpPr>
        <p:grpSpPr>
          <a:xfrm>
            <a:off x="669036" y="2644140"/>
            <a:ext cx="4962144" cy="2173605"/>
            <a:chOff x="669036" y="2644140"/>
            <a:chExt cx="4962144" cy="2173605"/>
          </a:xfrm>
        </p:grpSpPr>
        <p:sp>
          <p:nvSpPr>
            <p:cNvPr id="13" name="TextBox 13"/>
            <p:cNvSpPr txBox="1"/>
            <p:nvPr/>
          </p:nvSpPr>
          <p:spPr>
            <a:xfrm>
              <a:off x="669036" y="2644140"/>
              <a:ext cx="4962144" cy="645414"/>
            </a:xfrm>
            <a:prstGeom prst="rect">
              <a:avLst/>
            </a:prstGeom>
            <a:noFill/>
            <a:ln>
              <a:noFill/>
            </a:ln>
          </p:spPr>
          <p:txBody>
            <a:bodyPr wrap="none" lIns="0" tIns="0" rIns="0" bIns="0" anchor="t" anchorCtr="0">
              <a:spAutoFit/>
            </a:bodyPr>
            <a:lstStyle/>
            <a:p>
              <a:pPr algn="l"/>
              <a:r>
                <a:rPr lang="vi-VN" sz="3300" b="1" dirty="0">
                  <a:solidFill>
                    <a:srgbClr val="111111"/>
                  </a:solidFill>
                  <a:latin typeface="Arial Black"/>
                  <a:ea typeface="Arial Black"/>
                  <a:cs typeface="Arial Black"/>
                </a:rPr>
                <a:t>200.000.000 VNĐ</a:t>
              </a:r>
            </a:p>
          </p:txBody>
        </p:sp>
        <p:sp>
          <p:nvSpPr>
            <p:cNvPr id="14" name="TextBox 14"/>
            <p:cNvSpPr txBox="1"/>
            <p:nvPr/>
          </p:nvSpPr>
          <p:spPr>
            <a:xfrm>
              <a:off x="677418" y="3212782"/>
              <a:ext cx="1893925" cy="322707"/>
            </a:xfrm>
            <a:prstGeom prst="rect">
              <a:avLst/>
            </a:prstGeom>
            <a:noFill/>
            <a:ln>
              <a:noFill/>
            </a:ln>
          </p:spPr>
          <p:txBody>
            <a:bodyPr wrap="none" lIns="0" tIns="0" rIns="0" bIns="0" anchor="t" anchorCtr="0">
              <a:spAutoFit/>
            </a:bodyPr>
            <a:lstStyle/>
            <a:p>
              <a:pPr algn="l"/>
              <a:r>
                <a:rPr lang="vi-VN" sz="1650" dirty="0">
                  <a:solidFill>
                    <a:srgbClr val="6E6E6E"/>
                  </a:solidFill>
                  <a:latin typeface="Arial"/>
                  <a:ea typeface="Arial"/>
                  <a:cs typeface="Arial"/>
                </a:rPr>
                <a:t>tổng kinh phí đề tài</a:t>
              </a:r>
            </a:p>
          </p:txBody>
        </p:sp>
        <p:sp>
          <p:nvSpPr>
            <p:cNvPr id="15" name="TextBox 15"/>
            <p:cNvSpPr txBox="1"/>
            <p:nvPr/>
          </p:nvSpPr>
          <p:spPr>
            <a:xfrm>
              <a:off x="669798" y="3993832"/>
              <a:ext cx="4736592" cy="616077"/>
            </a:xfrm>
            <a:prstGeom prst="rect">
              <a:avLst/>
            </a:prstGeom>
            <a:noFill/>
            <a:ln>
              <a:noFill/>
            </a:ln>
          </p:spPr>
          <p:txBody>
            <a:bodyPr wrap="none" lIns="0" tIns="0" rIns="0" bIns="0" anchor="t" anchorCtr="0">
              <a:spAutoFit/>
            </a:bodyPr>
            <a:lstStyle/>
            <a:p>
              <a:pPr algn="l"/>
              <a:r>
                <a:rPr lang="vi-VN" sz="3150" b="1" dirty="0">
                  <a:solidFill>
                    <a:srgbClr val="C8102E"/>
                  </a:solidFill>
                  <a:latin typeface="Arial Black"/>
                  <a:ea typeface="Arial Black"/>
                  <a:cs typeface="Arial Black"/>
                </a:rPr>
                <a:t>171.000.000 VNĐ</a:t>
              </a:r>
            </a:p>
          </p:txBody>
        </p:sp>
        <p:sp>
          <p:nvSpPr>
            <p:cNvPr id="16" name="TextBox 16"/>
            <p:cNvSpPr txBox="1"/>
            <p:nvPr/>
          </p:nvSpPr>
          <p:spPr>
            <a:xfrm>
              <a:off x="678180" y="4524375"/>
              <a:ext cx="3450352" cy="293370"/>
            </a:xfrm>
            <a:prstGeom prst="rect">
              <a:avLst/>
            </a:prstGeom>
            <a:noFill/>
            <a:ln>
              <a:noFill/>
            </a:ln>
          </p:spPr>
          <p:txBody>
            <a:bodyPr wrap="none" lIns="0" tIns="0" rIns="0" bIns="0" anchor="t" anchorCtr="0">
              <a:spAutoFit/>
            </a:bodyPr>
            <a:lstStyle/>
            <a:p>
              <a:pPr algn="l"/>
              <a:r>
                <a:rPr lang="vi-VN" sz="1500" dirty="0">
                  <a:solidFill>
                    <a:srgbClr val="6E6E6E"/>
                  </a:solidFill>
                  <a:latin typeface="Arial"/>
                  <a:ea typeface="Arial"/>
                  <a:cs typeface="Arial"/>
                </a:rPr>
                <a:t>thuê khoán chuyên môn, chiếm 85,5%</a:t>
              </a:r>
            </a:p>
          </p:txBody>
        </p:sp>
      </p:grpSp>
      <p:grpSp>
        <p:nvGrpSpPr>
          <p:cNvPr id="25" name="budget-bars"/>
          <p:cNvGrpSpPr/>
          <p:nvPr/>
        </p:nvGrpSpPr>
        <p:grpSpPr>
          <a:xfrm>
            <a:off x="6468618" y="2667000"/>
            <a:ext cx="4104132" cy="2629281"/>
            <a:chOff x="6468618" y="2667000"/>
            <a:chExt cx="4104132" cy="2629281"/>
          </a:xfrm>
        </p:grpSpPr>
        <p:sp>
          <p:nvSpPr>
            <p:cNvPr id="18" name="Rectangle 18"/>
            <p:cNvSpPr/>
            <p:nvPr/>
          </p:nvSpPr>
          <p:spPr>
            <a:xfrm>
              <a:off x="6477000" y="2667000"/>
              <a:ext cx="4095750" cy="400050"/>
            </a:xfrm>
            <a:prstGeom prst="rect">
              <a:avLst/>
            </a:prstGeom>
            <a:solidFill>
              <a:srgbClr val="F5F5F5"/>
            </a:solidFill>
            <a:ln>
              <a:noFill/>
            </a:ln>
          </p:spPr>
        </p:sp>
        <p:sp>
          <p:nvSpPr>
            <p:cNvPr id="19" name="Rectangle 19"/>
            <p:cNvSpPr/>
            <p:nvPr/>
          </p:nvSpPr>
          <p:spPr>
            <a:xfrm>
              <a:off x="6477000" y="2667000"/>
              <a:ext cx="3501866" cy="400050"/>
            </a:xfrm>
            <a:prstGeom prst="rect">
              <a:avLst/>
            </a:prstGeom>
            <a:solidFill>
              <a:srgbClr val="C8102E"/>
            </a:solidFill>
            <a:ln>
              <a:noFill/>
            </a:ln>
          </p:spPr>
        </p:sp>
        <p:sp>
          <p:nvSpPr>
            <p:cNvPr id="20" name="TextBox 20"/>
            <p:cNvSpPr txBox="1"/>
            <p:nvPr/>
          </p:nvSpPr>
          <p:spPr>
            <a:xfrm>
              <a:off x="6468618" y="3203258"/>
              <a:ext cx="2782988" cy="322707"/>
            </a:xfrm>
            <a:prstGeom prst="rect">
              <a:avLst/>
            </a:prstGeom>
            <a:noFill/>
            <a:ln>
              <a:noFill/>
            </a:ln>
          </p:spPr>
          <p:txBody>
            <a:bodyPr wrap="none" lIns="0" tIns="0" rIns="0" bIns="0" anchor="t" anchorCtr="0">
              <a:spAutoFit/>
            </a:bodyPr>
            <a:lstStyle/>
            <a:p>
              <a:pPr algn="l"/>
              <a:r>
                <a:rPr lang="vi-VN" sz="1650" b="1" dirty="0">
                  <a:solidFill>
                    <a:srgbClr val="111111"/>
                  </a:solidFill>
                  <a:latin typeface="Arial"/>
                  <a:ea typeface="Arial"/>
                  <a:cs typeface="Arial"/>
                </a:rPr>
                <a:t>Nhân công: 171 triệu VNĐ</a:t>
              </a:r>
            </a:p>
          </p:txBody>
        </p:sp>
        <p:sp>
          <p:nvSpPr>
            <p:cNvPr id="21" name="Rectangle 21"/>
            <p:cNvSpPr/>
            <p:nvPr/>
          </p:nvSpPr>
          <p:spPr>
            <a:xfrm>
              <a:off x="6477000" y="3905250"/>
              <a:ext cx="4095750" cy="400050"/>
            </a:xfrm>
            <a:prstGeom prst="rect">
              <a:avLst/>
            </a:prstGeom>
            <a:solidFill>
              <a:srgbClr val="F5F5F5"/>
            </a:solidFill>
            <a:ln>
              <a:noFill/>
            </a:ln>
          </p:spPr>
        </p:sp>
        <p:sp>
          <p:nvSpPr>
            <p:cNvPr id="22" name="Rectangle 22"/>
            <p:cNvSpPr/>
            <p:nvPr/>
          </p:nvSpPr>
          <p:spPr>
            <a:xfrm>
              <a:off x="6477000" y="3905250"/>
              <a:ext cx="593884" cy="400050"/>
            </a:xfrm>
            <a:prstGeom prst="rect">
              <a:avLst/>
            </a:prstGeom>
            <a:solidFill>
              <a:srgbClr val="111111"/>
            </a:solidFill>
            <a:ln>
              <a:noFill/>
            </a:ln>
          </p:spPr>
        </p:sp>
        <p:sp>
          <p:nvSpPr>
            <p:cNvPr id="23" name="TextBox 23"/>
            <p:cNvSpPr txBox="1"/>
            <p:nvPr/>
          </p:nvSpPr>
          <p:spPr>
            <a:xfrm>
              <a:off x="6468618" y="4441508"/>
              <a:ext cx="3791886" cy="322707"/>
            </a:xfrm>
            <a:prstGeom prst="rect">
              <a:avLst/>
            </a:prstGeom>
            <a:noFill/>
            <a:ln>
              <a:noFill/>
            </a:ln>
          </p:spPr>
          <p:txBody>
            <a:bodyPr wrap="none" lIns="0" tIns="0" rIns="0" bIns="0" anchor="t" anchorCtr="0">
              <a:spAutoFit/>
            </a:bodyPr>
            <a:lstStyle/>
            <a:p>
              <a:pPr algn="l"/>
              <a:r>
                <a:rPr lang="vi-VN" sz="1650" b="1" dirty="0">
                  <a:solidFill>
                    <a:srgbClr val="111111"/>
                  </a:solidFill>
                  <a:latin typeface="Arial"/>
                  <a:ea typeface="Arial"/>
                  <a:cs typeface="Arial"/>
                </a:rPr>
                <a:t>Vật tư, khảo sát, in ấn: 29 triệu VNĐ</a:t>
              </a:r>
            </a:p>
          </p:txBody>
        </p:sp>
        <p:sp>
          <p:nvSpPr>
            <p:cNvPr id="24" name="TextBox 24"/>
            <p:cNvSpPr txBox="1"/>
            <p:nvPr/>
          </p:nvSpPr>
          <p:spPr>
            <a:xfrm>
              <a:off x="6470904" y="5061585"/>
              <a:ext cx="3843850" cy="234696"/>
            </a:xfrm>
            <a:prstGeom prst="rect">
              <a:avLst/>
            </a:prstGeom>
            <a:noFill/>
            <a:ln>
              <a:noFill/>
            </a:ln>
          </p:spPr>
          <p:txBody>
            <a:bodyPr wrap="none" lIns="0" tIns="0" rIns="0" bIns="0" anchor="t" anchorCtr="0">
              <a:spAutoFit/>
            </a:bodyPr>
            <a:lstStyle/>
            <a:p>
              <a:pPr algn="l"/>
              <a:r>
                <a:rPr lang="vi-VN" sz="1200" dirty="0">
                  <a:solidFill>
                    <a:srgbClr val="6E6E6E"/>
                  </a:solidFill>
                  <a:latin typeface="Arial"/>
                  <a:ea typeface="Arial"/>
                  <a:cs typeface="Arial"/>
                </a:rPr>
                <a:t>Giải ngân: lưu bảng chấm công, biên bản và chứng từ</a:t>
              </a:r>
            </a:p>
          </p:txBody>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bg-fill"/>
          <p:cNvSpPr/>
          <p:nvPr/>
        </p:nvSpPr>
        <p:spPr>
          <a:xfrm>
            <a:off x="-9525" y="-9525"/>
            <a:ext cx="12211050" cy="6877050"/>
          </a:xfrm>
          <a:prstGeom prst="rect">
            <a:avLst/>
          </a:prstGeom>
          <a:solidFill>
            <a:srgbClr val="FFFFFF"/>
          </a:solidFill>
          <a:ln>
            <a:noFill/>
          </a:ln>
        </p:spPr>
      </p:sp>
      <p:grpSp>
        <p:nvGrpSpPr>
          <p:cNvPr id="5" name="top-rule"/>
          <p:cNvGrpSpPr/>
          <p:nvPr/>
        </p:nvGrpSpPr>
        <p:grpSpPr>
          <a:xfrm>
            <a:off x="685800" y="723900"/>
            <a:ext cx="10820400" cy="38100"/>
            <a:chOff x="685800" y="723900"/>
            <a:chExt cx="10820400" cy="38100"/>
          </a:xfrm>
        </p:grpSpPr>
        <p:sp>
          <p:nvSpPr>
            <p:cNvPr id="3" name="Rectangle 3"/>
            <p:cNvSpPr/>
            <p:nvPr/>
          </p:nvSpPr>
          <p:spPr>
            <a:xfrm>
              <a:off x="685800" y="723900"/>
              <a:ext cx="10820400" cy="38100"/>
            </a:xfrm>
            <a:prstGeom prst="rect">
              <a:avLst/>
            </a:prstGeom>
            <a:solidFill>
              <a:srgbClr val="E8E8E8"/>
            </a:solidFill>
            <a:ln>
              <a:noFill/>
            </a:ln>
          </p:spPr>
        </p:sp>
        <p:sp>
          <p:nvSpPr>
            <p:cNvPr id="4" name="Rectangle 4"/>
            <p:cNvSpPr/>
            <p:nvPr/>
          </p:nvSpPr>
          <p:spPr>
            <a:xfrm>
              <a:off x="685800" y="723900"/>
              <a:ext cx="9197340" cy="38100"/>
            </a:xfrm>
            <a:prstGeom prst="rect">
              <a:avLst/>
            </a:prstGeom>
            <a:solidFill>
              <a:srgbClr val="C8102E"/>
            </a:solidFill>
            <a:ln>
              <a:noFill/>
            </a:ln>
          </p:spPr>
        </p:sp>
      </p:grpSp>
      <p:grpSp>
        <p:nvGrpSpPr>
          <p:cNvPr id="8" name="title"/>
          <p:cNvGrpSpPr/>
          <p:nvPr/>
        </p:nvGrpSpPr>
        <p:grpSpPr>
          <a:xfrm>
            <a:off x="652272" y="977265"/>
            <a:ext cx="6665266" cy="1193482"/>
            <a:chOff x="652272" y="977265"/>
            <a:chExt cx="6665266" cy="1193482"/>
          </a:xfrm>
        </p:grpSpPr>
        <p:sp>
          <p:nvSpPr>
            <p:cNvPr id="6" name="TextBox 6"/>
            <p:cNvSpPr txBox="1"/>
            <p:nvPr/>
          </p:nvSpPr>
          <p:spPr>
            <a:xfrm>
              <a:off x="652272" y="977265"/>
              <a:ext cx="6368474" cy="645414"/>
            </a:xfrm>
            <a:prstGeom prst="rect">
              <a:avLst/>
            </a:prstGeom>
            <a:noFill/>
            <a:ln>
              <a:noFill/>
            </a:ln>
          </p:spPr>
          <p:txBody>
            <a:bodyPr wrap="none" lIns="0" tIns="0" rIns="0" bIns="0" anchor="t" anchorCtr="0">
              <a:spAutoFit/>
            </a:bodyPr>
            <a:lstStyle/>
            <a:p>
              <a:pPr algn="l"/>
              <a:r>
                <a:rPr lang="vi-VN" sz="3300" b="1" dirty="0">
                  <a:solidFill>
                    <a:srgbClr val="111111"/>
                  </a:solidFill>
                  <a:latin typeface="Arial"/>
                  <a:ea typeface="Arial"/>
                  <a:cs typeface="Arial"/>
                </a:rPr>
                <a:t>Kế hoạch đảm bảo chất lượng</a:t>
              </a:r>
            </a:p>
          </p:txBody>
        </p:sp>
        <p:sp>
          <p:nvSpPr>
            <p:cNvPr id="7" name="TextBox 7"/>
            <p:cNvSpPr txBox="1"/>
            <p:nvPr/>
          </p:nvSpPr>
          <p:spPr>
            <a:xfrm>
              <a:off x="677418" y="1848040"/>
              <a:ext cx="6640120" cy="322707"/>
            </a:xfrm>
            <a:prstGeom prst="rect">
              <a:avLst/>
            </a:prstGeom>
            <a:noFill/>
            <a:ln>
              <a:noFill/>
            </a:ln>
          </p:spPr>
          <p:txBody>
            <a:bodyPr wrap="none" lIns="0" tIns="0" rIns="0" bIns="0" anchor="t" anchorCtr="0">
              <a:spAutoFit/>
            </a:bodyPr>
            <a:lstStyle/>
            <a:p>
              <a:pPr algn="l"/>
              <a:r>
                <a:rPr lang="vi-VN" sz="1650" dirty="0">
                  <a:solidFill>
                    <a:srgbClr val="6E6E6E"/>
                  </a:solidFill>
                  <a:latin typeface="Arial"/>
                  <a:ea typeface="Arial"/>
                  <a:cs typeface="Arial"/>
                </a:rPr>
                <a:t>Chất lượng được kiểm soát từ tài liệu, mã nguồn, kiểm thử đến UAT</a:t>
              </a:r>
            </a:p>
          </p:txBody>
        </p:sp>
      </p:grpSp>
      <p:grpSp>
        <p:nvGrpSpPr>
          <p:cNvPr id="12" name="footer"/>
          <p:cNvGrpSpPr/>
          <p:nvPr/>
        </p:nvGrpSpPr>
        <p:grpSpPr>
          <a:xfrm>
            <a:off x="680085" y="6286500"/>
            <a:ext cx="10831830" cy="327184"/>
            <a:chOff x="680085" y="6286500"/>
            <a:chExt cx="10831830" cy="327184"/>
          </a:xfrm>
        </p:grpSpPr>
        <p:sp>
          <p:nvSpPr>
            <p:cNvPr id="9" name="Freeform 9"/>
            <p:cNvSpPr/>
            <p:nvPr/>
          </p:nvSpPr>
          <p:spPr>
            <a:xfrm>
              <a:off x="685800" y="6286500"/>
              <a:ext cx="10820400" cy="9525"/>
            </a:xfrm>
            <a:custGeom>
              <a:avLst/>
              <a:gdLst/>
              <a:ahLst/>
              <a:cxnLst/>
              <a:rect l="l" t="t" r="r" b="b"/>
              <a:pathLst>
                <a:path w="10820400" h="9525">
                  <a:moveTo>
                    <a:pt x="0" y="0"/>
                  </a:moveTo>
                  <a:lnTo>
                    <a:pt x="10820400" y="0"/>
                  </a:lnTo>
                </a:path>
              </a:pathLst>
            </a:custGeom>
            <a:noFill/>
            <a:ln w="9525">
              <a:solidFill>
                <a:srgbClr val="E8E8E8"/>
              </a:solidFill>
            </a:ln>
          </p:spPr>
        </p:sp>
        <p:sp>
          <p:nvSpPr>
            <p:cNvPr id="10" name="TextBox 10"/>
            <p:cNvSpPr txBox="1"/>
            <p:nvPr/>
          </p:nvSpPr>
          <p:spPr>
            <a:xfrm>
              <a:off x="680085" y="6393656"/>
              <a:ext cx="2914269" cy="220028"/>
            </a:xfrm>
            <a:prstGeom prst="rect">
              <a:avLst/>
            </a:prstGeom>
            <a:noFill/>
            <a:ln>
              <a:noFill/>
            </a:ln>
          </p:spPr>
          <p:txBody>
            <a:bodyPr wrap="none" lIns="0" tIns="0" rIns="0" bIns="0" anchor="t" anchorCtr="0">
              <a:spAutoFit/>
            </a:bodyPr>
            <a:lstStyle/>
            <a:p>
              <a:pPr algn="l"/>
              <a:r>
                <a:rPr lang="vi-VN" sz="1120" dirty="0">
                  <a:solidFill>
                    <a:srgbClr val="6E6E6E"/>
                  </a:solidFill>
                  <a:latin typeface="Arial"/>
                  <a:ea typeface="Arial"/>
                  <a:cs typeface="Arial"/>
                </a:rPr>
                <a:t>Nhóm 04 | Lớp 765643-QTDA-VB2-20261</a:t>
              </a:r>
            </a:p>
          </p:txBody>
        </p:sp>
        <p:sp>
          <p:nvSpPr>
            <p:cNvPr id="11" name="TextBox 11"/>
            <p:cNvSpPr txBox="1"/>
            <p:nvPr/>
          </p:nvSpPr>
          <p:spPr>
            <a:xfrm>
              <a:off x="11332764" y="6393656"/>
              <a:ext cx="179151" cy="220028"/>
            </a:xfrm>
            <a:prstGeom prst="rect">
              <a:avLst/>
            </a:prstGeom>
            <a:noFill/>
            <a:ln>
              <a:noFill/>
            </a:ln>
          </p:spPr>
          <p:txBody>
            <a:bodyPr wrap="none" lIns="0" tIns="0" rIns="0" bIns="0" anchor="t" anchorCtr="0">
              <a:spAutoFit/>
            </a:bodyPr>
            <a:lstStyle/>
            <a:p>
              <a:pPr algn="r"/>
              <a:r>
                <a:rPr lang="vi-VN" sz="1120" dirty="0">
                  <a:solidFill>
                    <a:srgbClr val="6E6E6E"/>
                  </a:solidFill>
                  <a:latin typeface="Arial"/>
                  <a:ea typeface="Arial"/>
                  <a:cs typeface="Arial"/>
                </a:rPr>
                <a:t>17</a:t>
              </a:r>
            </a:p>
          </p:txBody>
        </p:sp>
      </p:grpSp>
      <p:grpSp>
        <p:nvGrpSpPr>
          <p:cNvPr id="39" name="quality-kpi-checklist"/>
          <p:cNvGrpSpPr/>
          <p:nvPr/>
        </p:nvGrpSpPr>
        <p:grpSpPr>
          <a:xfrm>
            <a:off x="685800" y="2266950"/>
            <a:ext cx="10287000" cy="3028950"/>
            <a:chOff x="685800" y="2266950"/>
            <a:chExt cx="10287000" cy="3028950"/>
          </a:xfrm>
        </p:grpSpPr>
        <p:sp>
          <p:nvSpPr>
            <p:cNvPr id="13" name="Rectangle 13"/>
            <p:cNvSpPr/>
            <p:nvPr/>
          </p:nvSpPr>
          <p:spPr>
            <a:xfrm>
              <a:off x="685800" y="2266950"/>
              <a:ext cx="10287000" cy="514350"/>
            </a:xfrm>
            <a:prstGeom prst="rect">
              <a:avLst/>
            </a:prstGeom>
            <a:solidFill>
              <a:srgbClr val="FFFFFF"/>
            </a:solidFill>
            <a:ln w="9525">
              <a:solidFill>
                <a:srgbClr val="E8E8E8"/>
              </a:solidFill>
            </a:ln>
          </p:spPr>
        </p:sp>
        <p:sp>
          <p:nvSpPr>
            <p:cNvPr id="14" name="Rectangle 14"/>
            <p:cNvSpPr/>
            <p:nvPr/>
          </p:nvSpPr>
          <p:spPr>
            <a:xfrm>
              <a:off x="914400" y="2362200"/>
              <a:ext cx="1219200" cy="323850"/>
            </a:xfrm>
            <a:prstGeom prst="rect">
              <a:avLst/>
            </a:prstGeom>
            <a:solidFill>
              <a:srgbClr val="F5F5F5"/>
            </a:solidFill>
            <a:ln w="9525">
              <a:solidFill>
                <a:srgbClr val="E8E8E8"/>
              </a:solidFill>
            </a:ln>
          </p:spPr>
        </p:sp>
        <p:sp>
          <p:nvSpPr>
            <p:cNvPr id="15" name="TextBox 15"/>
            <p:cNvSpPr txBox="1"/>
            <p:nvPr/>
          </p:nvSpPr>
          <p:spPr>
            <a:xfrm>
              <a:off x="1243977" y="2420779"/>
              <a:ext cx="560045" cy="308039"/>
            </a:xfrm>
            <a:prstGeom prst="rect">
              <a:avLst/>
            </a:prstGeom>
            <a:noFill/>
            <a:ln>
              <a:noFill/>
            </a:ln>
          </p:spPr>
          <p:txBody>
            <a:bodyPr wrap="none" lIns="0" tIns="0" rIns="0" bIns="0" anchor="t" anchorCtr="0">
              <a:spAutoFit/>
            </a:bodyPr>
            <a:lstStyle/>
            <a:p>
              <a:pPr algn="ctr"/>
              <a:r>
                <a:rPr lang="vi-VN" sz="1580" b="1" dirty="0">
                  <a:solidFill>
                    <a:srgbClr val="C8102E"/>
                  </a:solidFill>
                  <a:latin typeface="Arial"/>
                  <a:ea typeface="Arial"/>
                  <a:cs typeface="Arial"/>
                </a:rPr>
                <a:t>100%</a:t>
              </a:r>
            </a:p>
          </p:txBody>
        </p:sp>
        <p:sp>
          <p:nvSpPr>
            <p:cNvPr id="16" name="TextBox 16"/>
            <p:cNvSpPr txBox="1"/>
            <p:nvPr/>
          </p:nvSpPr>
          <p:spPr>
            <a:xfrm>
              <a:off x="2468499" y="2420779"/>
              <a:ext cx="1122668" cy="308039"/>
            </a:xfrm>
            <a:prstGeom prst="rect">
              <a:avLst/>
            </a:prstGeom>
            <a:noFill/>
            <a:ln>
              <a:noFill/>
            </a:ln>
          </p:spPr>
          <p:txBody>
            <a:bodyPr wrap="none" lIns="0" tIns="0" rIns="0" bIns="0" anchor="t" anchorCtr="0">
              <a:spAutoFit/>
            </a:bodyPr>
            <a:lstStyle/>
            <a:p>
              <a:pPr algn="l"/>
              <a:r>
                <a:rPr lang="vi-VN" sz="1580" b="1" dirty="0">
                  <a:solidFill>
                    <a:srgbClr val="111111"/>
                  </a:solidFill>
                  <a:latin typeface="Arial"/>
                  <a:ea typeface="Arial"/>
                  <a:cs typeface="Arial"/>
                </a:rPr>
                <a:t>Chức năng</a:t>
              </a:r>
            </a:p>
          </p:txBody>
        </p:sp>
        <p:sp>
          <p:nvSpPr>
            <p:cNvPr id="17" name="TextBox 17"/>
            <p:cNvSpPr txBox="1"/>
            <p:nvPr/>
          </p:nvSpPr>
          <p:spPr>
            <a:xfrm>
              <a:off x="4517898" y="2424589"/>
              <a:ext cx="4243848" cy="249364"/>
            </a:xfrm>
            <a:prstGeom prst="rect">
              <a:avLst/>
            </a:prstGeom>
            <a:noFill/>
            <a:ln>
              <a:noFill/>
            </a:ln>
          </p:spPr>
          <p:txBody>
            <a:bodyPr wrap="none" lIns="0" tIns="0" rIns="0" bIns="0" anchor="t" anchorCtr="0">
              <a:spAutoFit/>
            </a:bodyPr>
            <a:lstStyle/>
            <a:p>
              <a:pPr algn="l"/>
              <a:r>
                <a:rPr lang="vi-VN" sz="1280" dirty="0">
                  <a:solidFill>
                    <a:srgbClr val="1A1A1A"/>
                  </a:solidFill>
                  <a:latin typeface="Arial"/>
                  <a:ea typeface="Arial"/>
                  <a:cs typeface="Arial"/>
                </a:rPr>
                <a:t>Đáp ứng toàn bộ yêu cầu nghiệp vụ ưu tiên cao đã chốt</a:t>
              </a:r>
            </a:p>
          </p:txBody>
        </p:sp>
        <p:sp>
          <p:nvSpPr>
            <p:cNvPr id="18" name="Rectangle 18"/>
            <p:cNvSpPr/>
            <p:nvPr/>
          </p:nvSpPr>
          <p:spPr>
            <a:xfrm>
              <a:off x="685800" y="2895600"/>
              <a:ext cx="10287000" cy="514350"/>
            </a:xfrm>
            <a:prstGeom prst="rect">
              <a:avLst/>
            </a:prstGeom>
            <a:solidFill>
              <a:srgbClr val="FFFFFF"/>
            </a:solidFill>
            <a:ln w="9525">
              <a:solidFill>
                <a:srgbClr val="E8E8E8"/>
              </a:solidFill>
            </a:ln>
          </p:spPr>
        </p:sp>
        <p:sp>
          <p:nvSpPr>
            <p:cNvPr id="19" name="Rectangle 19"/>
            <p:cNvSpPr/>
            <p:nvPr/>
          </p:nvSpPr>
          <p:spPr>
            <a:xfrm>
              <a:off x="914400" y="2990850"/>
              <a:ext cx="1219200" cy="323850"/>
            </a:xfrm>
            <a:prstGeom prst="rect">
              <a:avLst/>
            </a:prstGeom>
            <a:solidFill>
              <a:srgbClr val="F5F5F5"/>
            </a:solidFill>
            <a:ln w="9525">
              <a:solidFill>
                <a:srgbClr val="E8E8E8"/>
              </a:solidFill>
            </a:ln>
          </p:spPr>
        </p:sp>
        <p:sp>
          <p:nvSpPr>
            <p:cNvPr id="20" name="TextBox 20"/>
            <p:cNvSpPr txBox="1"/>
            <p:nvPr/>
          </p:nvSpPr>
          <p:spPr>
            <a:xfrm>
              <a:off x="1362281" y="3049429"/>
              <a:ext cx="323438" cy="308039"/>
            </a:xfrm>
            <a:prstGeom prst="rect">
              <a:avLst/>
            </a:prstGeom>
            <a:noFill/>
            <a:ln>
              <a:noFill/>
            </a:ln>
          </p:spPr>
          <p:txBody>
            <a:bodyPr wrap="none" lIns="0" tIns="0" rIns="0" bIns="0" anchor="t" anchorCtr="0">
              <a:spAutoFit/>
            </a:bodyPr>
            <a:lstStyle/>
            <a:p>
              <a:pPr algn="ctr"/>
              <a:r>
                <a:rPr lang="vi-VN" sz="1580" b="1" dirty="0">
                  <a:solidFill>
                    <a:srgbClr val="C8102E"/>
                  </a:solidFill>
                  <a:latin typeface="Arial"/>
                  <a:ea typeface="Arial"/>
                  <a:cs typeface="Arial"/>
                </a:rPr>
                <a:t>0%</a:t>
              </a:r>
            </a:p>
          </p:txBody>
        </p:sp>
        <p:sp>
          <p:nvSpPr>
            <p:cNvPr id="21" name="TextBox 21"/>
            <p:cNvSpPr txBox="1"/>
            <p:nvPr/>
          </p:nvSpPr>
          <p:spPr>
            <a:xfrm>
              <a:off x="2468499" y="3049429"/>
              <a:ext cx="1759759" cy="308039"/>
            </a:xfrm>
            <a:prstGeom prst="rect">
              <a:avLst/>
            </a:prstGeom>
            <a:noFill/>
            <a:ln>
              <a:noFill/>
            </a:ln>
          </p:spPr>
          <p:txBody>
            <a:bodyPr wrap="none" lIns="0" tIns="0" rIns="0" bIns="0" anchor="t" anchorCtr="0">
              <a:spAutoFit/>
            </a:bodyPr>
            <a:lstStyle/>
            <a:p>
              <a:pPr algn="l"/>
              <a:r>
                <a:rPr lang="vi-VN" sz="1580" b="1" dirty="0">
                  <a:solidFill>
                    <a:srgbClr val="111111"/>
                  </a:solidFill>
                  <a:latin typeface="Arial"/>
                  <a:ea typeface="Arial"/>
                  <a:cs typeface="Arial"/>
                </a:rPr>
                <a:t>Lỗi nghiêm trọng</a:t>
              </a:r>
            </a:p>
          </p:txBody>
        </p:sp>
        <p:sp>
          <p:nvSpPr>
            <p:cNvPr id="22" name="TextBox 22"/>
            <p:cNvSpPr txBox="1"/>
            <p:nvPr/>
          </p:nvSpPr>
          <p:spPr>
            <a:xfrm>
              <a:off x="4517898" y="3053239"/>
              <a:ext cx="4210084" cy="249364"/>
            </a:xfrm>
            <a:prstGeom prst="rect">
              <a:avLst/>
            </a:prstGeom>
            <a:noFill/>
            <a:ln>
              <a:noFill/>
            </a:ln>
          </p:spPr>
          <p:txBody>
            <a:bodyPr wrap="none" lIns="0" tIns="0" rIns="0" bIns="0" anchor="t" anchorCtr="0">
              <a:spAutoFit/>
            </a:bodyPr>
            <a:lstStyle/>
            <a:p>
              <a:pPr algn="l"/>
              <a:r>
                <a:rPr lang="vi-VN" sz="1280" dirty="0">
                  <a:solidFill>
                    <a:srgbClr val="1A1A1A"/>
                  </a:solidFill>
                  <a:latin typeface="Arial"/>
                  <a:ea typeface="Arial"/>
                  <a:cs typeface="Arial"/>
                </a:rPr>
                <a:t>Không còn lỗi nghiêm trọng tại thời điểm bàn giao Beta</a:t>
              </a:r>
            </a:p>
          </p:txBody>
        </p:sp>
        <p:sp>
          <p:nvSpPr>
            <p:cNvPr id="23" name="Rectangle 23"/>
            <p:cNvSpPr/>
            <p:nvPr/>
          </p:nvSpPr>
          <p:spPr>
            <a:xfrm>
              <a:off x="685800" y="3524250"/>
              <a:ext cx="10287000" cy="514350"/>
            </a:xfrm>
            <a:prstGeom prst="rect">
              <a:avLst/>
            </a:prstGeom>
            <a:solidFill>
              <a:srgbClr val="FFFFFF"/>
            </a:solidFill>
            <a:ln w="9525">
              <a:solidFill>
                <a:srgbClr val="E8E8E8"/>
              </a:solidFill>
            </a:ln>
          </p:spPr>
        </p:sp>
        <p:sp>
          <p:nvSpPr>
            <p:cNvPr id="24" name="Rectangle 24"/>
            <p:cNvSpPr/>
            <p:nvPr/>
          </p:nvSpPr>
          <p:spPr>
            <a:xfrm>
              <a:off x="914400" y="3619500"/>
              <a:ext cx="1219200" cy="323850"/>
            </a:xfrm>
            <a:prstGeom prst="rect">
              <a:avLst/>
            </a:prstGeom>
            <a:solidFill>
              <a:srgbClr val="F5F5F5"/>
            </a:solidFill>
            <a:ln w="9525">
              <a:solidFill>
                <a:srgbClr val="E8E8E8"/>
              </a:solidFill>
            </a:ln>
          </p:spPr>
        </p:sp>
        <p:sp>
          <p:nvSpPr>
            <p:cNvPr id="25" name="TextBox 25"/>
            <p:cNvSpPr txBox="1"/>
            <p:nvPr/>
          </p:nvSpPr>
          <p:spPr>
            <a:xfrm>
              <a:off x="1303129" y="3678079"/>
              <a:ext cx="441742" cy="308039"/>
            </a:xfrm>
            <a:prstGeom prst="rect">
              <a:avLst/>
            </a:prstGeom>
            <a:noFill/>
            <a:ln>
              <a:noFill/>
            </a:ln>
          </p:spPr>
          <p:txBody>
            <a:bodyPr wrap="none" lIns="0" tIns="0" rIns="0" bIns="0" anchor="t" anchorCtr="0">
              <a:spAutoFit/>
            </a:bodyPr>
            <a:lstStyle/>
            <a:p>
              <a:pPr algn="ctr"/>
              <a:r>
                <a:rPr lang="vi-VN" sz="1580" b="1" dirty="0">
                  <a:solidFill>
                    <a:srgbClr val="C8102E"/>
                  </a:solidFill>
                  <a:latin typeface="Arial"/>
                  <a:ea typeface="Arial"/>
                  <a:cs typeface="Arial"/>
                </a:rPr>
                <a:t>90%</a:t>
              </a:r>
            </a:p>
          </p:txBody>
        </p:sp>
        <p:sp>
          <p:nvSpPr>
            <p:cNvPr id="26" name="TextBox 26"/>
            <p:cNvSpPr txBox="1"/>
            <p:nvPr/>
          </p:nvSpPr>
          <p:spPr>
            <a:xfrm>
              <a:off x="2468499" y="3678079"/>
              <a:ext cx="636202" cy="308039"/>
            </a:xfrm>
            <a:prstGeom prst="rect">
              <a:avLst/>
            </a:prstGeom>
            <a:noFill/>
            <a:ln>
              <a:noFill/>
            </a:ln>
          </p:spPr>
          <p:txBody>
            <a:bodyPr wrap="none" lIns="0" tIns="0" rIns="0" bIns="0" anchor="t" anchorCtr="0">
              <a:spAutoFit/>
            </a:bodyPr>
            <a:lstStyle/>
            <a:p>
              <a:pPr algn="l"/>
              <a:r>
                <a:rPr lang="vi-VN" sz="1580" b="1" dirty="0">
                  <a:solidFill>
                    <a:srgbClr val="111111"/>
                  </a:solidFill>
                  <a:latin typeface="Arial"/>
                  <a:ea typeface="Arial"/>
                  <a:cs typeface="Arial"/>
                </a:rPr>
                <a:t>Sprint</a:t>
              </a:r>
            </a:p>
          </p:txBody>
        </p:sp>
        <p:sp>
          <p:nvSpPr>
            <p:cNvPr id="27" name="TextBox 27"/>
            <p:cNvSpPr txBox="1"/>
            <p:nvPr/>
          </p:nvSpPr>
          <p:spPr>
            <a:xfrm>
              <a:off x="4517898" y="3681889"/>
              <a:ext cx="4722318" cy="249364"/>
            </a:xfrm>
            <a:prstGeom prst="rect">
              <a:avLst/>
            </a:prstGeom>
            <a:noFill/>
            <a:ln>
              <a:noFill/>
            </a:ln>
          </p:spPr>
          <p:txBody>
            <a:bodyPr wrap="none" lIns="0" tIns="0" rIns="0" bIns="0" anchor="t" anchorCtr="0">
              <a:spAutoFit/>
            </a:bodyPr>
            <a:lstStyle/>
            <a:p>
              <a:pPr algn="l"/>
              <a:r>
                <a:rPr lang="vi-VN" sz="1280" dirty="0">
                  <a:solidFill>
                    <a:srgbClr val="1A1A1A"/>
                  </a:solidFill>
                  <a:latin typeface="Arial"/>
                  <a:ea typeface="Arial"/>
                  <a:cs typeface="Arial"/>
                </a:rPr>
                <a:t>Hoàn thành tối thiểu câu chuyện người dùng đã cam kết trong</a:t>
              </a:r>
            </a:p>
          </p:txBody>
        </p:sp>
        <p:sp>
          <p:nvSpPr>
            <p:cNvPr id="28" name="TextBox 28"/>
            <p:cNvSpPr txBox="1"/>
            <p:nvPr/>
          </p:nvSpPr>
          <p:spPr>
            <a:xfrm>
              <a:off x="4517898" y="3862864"/>
              <a:ext cx="793519" cy="249364"/>
            </a:xfrm>
            <a:prstGeom prst="rect">
              <a:avLst/>
            </a:prstGeom>
            <a:noFill/>
            <a:ln>
              <a:noFill/>
            </a:ln>
          </p:spPr>
          <p:txBody>
            <a:bodyPr wrap="none" lIns="0" tIns="0" rIns="0" bIns="0" anchor="t" anchorCtr="0">
              <a:spAutoFit/>
            </a:bodyPr>
            <a:lstStyle/>
            <a:p>
              <a:pPr algn="l"/>
              <a:r>
                <a:rPr lang="vi-VN" sz="1280" dirty="0">
                  <a:solidFill>
                    <a:srgbClr val="1A1A1A"/>
                  </a:solidFill>
                  <a:latin typeface="Arial"/>
                  <a:ea typeface="Arial"/>
                  <a:cs typeface="Arial"/>
                </a:rPr>
                <a:t>mỗi Sprint</a:t>
              </a:r>
            </a:p>
          </p:txBody>
        </p:sp>
        <p:sp>
          <p:nvSpPr>
            <p:cNvPr id="29" name="Rectangle 29"/>
            <p:cNvSpPr/>
            <p:nvPr/>
          </p:nvSpPr>
          <p:spPr>
            <a:xfrm>
              <a:off x="685800" y="4152900"/>
              <a:ext cx="10287000" cy="514350"/>
            </a:xfrm>
            <a:prstGeom prst="rect">
              <a:avLst/>
            </a:prstGeom>
            <a:solidFill>
              <a:srgbClr val="FFFFFF"/>
            </a:solidFill>
            <a:ln w="9525">
              <a:solidFill>
                <a:srgbClr val="E8E8E8"/>
              </a:solidFill>
            </a:ln>
          </p:spPr>
        </p:sp>
        <p:sp>
          <p:nvSpPr>
            <p:cNvPr id="30" name="Rectangle 30"/>
            <p:cNvSpPr/>
            <p:nvPr/>
          </p:nvSpPr>
          <p:spPr>
            <a:xfrm>
              <a:off x="914400" y="4248150"/>
              <a:ext cx="1219200" cy="323850"/>
            </a:xfrm>
            <a:prstGeom prst="rect">
              <a:avLst/>
            </a:prstGeom>
            <a:solidFill>
              <a:srgbClr val="F5F5F5"/>
            </a:solidFill>
            <a:ln w="9525">
              <a:solidFill>
                <a:srgbClr val="E8E8E8"/>
              </a:solidFill>
            </a:ln>
          </p:spPr>
        </p:sp>
        <p:sp>
          <p:nvSpPr>
            <p:cNvPr id="31" name="TextBox 31"/>
            <p:cNvSpPr txBox="1"/>
            <p:nvPr/>
          </p:nvSpPr>
          <p:spPr>
            <a:xfrm>
              <a:off x="1303129" y="4306729"/>
              <a:ext cx="441742" cy="308039"/>
            </a:xfrm>
            <a:prstGeom prst="rect">
              <a:avLst/>
            </a:prstGeom>
            <a:noFill/>
            <a:ln>
              <a:noFill/>
            </a:ln>
          </p:spPr>
          <p:txBody>
            <a:bodyPr wrap="none" lIns="0" tIns="0" rIns="0" bIns="0" anchor="t" anchorCtr="0">
              <a:spAutoFit/>
            </a:bodyPr>
            <a:lstStyle/>
            <a:p>
              <a:pPr algn="ctr"/>
              <a:r>
                <a:rPr lang="vi-VN" sz="1580" b="1" dirty="0">
                  <a:solidFill>
                    <a:srgbClr val="C8102E"/>
                  </a:solidFill>
                  <a:latin typeface="Arial"/>
                  <a:ea typeface="Arial"/>
                  <a:cs typeface="Arial"/>
                </a:rPr>
                <a:t>80%</a:t>
              </a:r>
            </a:p>
          </p:txBody>
        </p:sp>
        <p:sp>
          <p:nvSpPr>
            <p:cNvPr id="32" name="TextBox 32"/>
            <p:cNvSpPr txBox="1"/>
            <p:nvPr/>
          </p:nvSpPr>
          <p:spPr>
            <a:xfrm>
              <a:off x="2468499" y="4306729"/>
              <a:ext cx="477886" cy="308039"/>
            </a:xfrm>
            <a:prstGeom prst="rect">
              <a:avLst/>
            </a:prstGeom>
            <a:noFill/>
            <a:ln>
              <a:noFill/>
            </a:ln>
          </p:spPr>
          <p:txBody>
            <a:bodyPr wrap="none" lIns="0" tIns="0" rIns="0" bIns="0" anchor="t" anchorCtr="0">
              <a:spAutoFit/>
            </a:bodyPr>
            <a:lstStyle/>
            <a:p>
              <a:pPr algn="l"/>
              <a:r>
                <a:rPr lang="vi-VN" sz="1580" b="1" dirty="0">
                  <a:solidFill>
                    <a:srgbClr val="111111"/>
                  </a:solidFill>
                  <a:latin typeface="Arial"/>
                  <a:ea typeface="Arial"/>
                  <a:cs typeface="Arial"/>
                </a:rPr>
                <a:t>UAT</a:t>
              </a:r>
            </a:p>
          </p:txBody>
        </p:sp>
        <p:sp>
          <p:nvSpPr>
            <p:cNvPr id="33" name="TextBox 33"/>
            <p:cNvSpPr txBox="1"/>
            <p:nvPr/>
          </p:nvSpPr>
          <p:spPr>
            <a:xfrm>
              <a:off x="4517898" y="4310539"/>
              <a:ext cx="4023576" cy="249364"/>
            </a:xfrm>
            <a:prstGeom prst="rect">
              <a:avLst/>
            </a:prstGeom>
            <a:noFill/>
            <a:ln>
              <a:noFill/>
            </a:ln>
          </p:spPr>
          <p:txBody>
            <a:bodyPr wrap="none" lIns="0" tIns="0" rIns="0" bIns="0" anchor="t" anchorCtr="0">
              <a:spAutoFit/>
            </a:bodyPr>
            <a:lstStyle/>
            <a:p>
              <a:pPr algn="l"/>
              <a:r>
                <a:rPr lang="vi-VN" sz="1280" dirty="0">
                  <a:solidFill>
                    <a:srgbClr val="1A1A1A"/>
                  </a:solidFill>
                  <a:latin typeface="Arial"/>
                  <a:ea typeface="Arial"/>
                  <a:cs typeface="Arial"/>
                </a:rPr>
                <a:t>Nhân viên thử nghiệm đánh giá hệ thống dễ sử dụng</a:t>
              </a:r>
            </a:p>
          </p:txBody>
        </p:sp>
        <p:sp>
          <p:nvSpPr>
            <p:cNvPr id="34" name="Rectangle 34"/>
            <p:cNvSpPr/>
            <p:nvPr/>
          </p:nvSpPr>
          <p:spPr>
            <a:xfrm>
              <a:off x="685800" y="4781550"/>
              <a:ext cx="10287000" cy="514350"/>
            </a:xfrm>
            <a:prstGeom prst="rect">
              <a:avLst/>
            </a:prstGeom>
            <a:solidFill>
              <a:srgbClr val="FFFFFF"/>
            </a:solidFill>
            <a:ln w="9525">
              <a:solidFill>
                <a:srgbClr val="E8E8E8"/>
              </a:solidFill>
            </a:ln>
          </p:spPr>
        </p:sp>
        <p:sp>
          <p:nvSpPr>
            <p:cNvPr id="35" name="Rectangle 35"/>
            <p:cNvSpPr/>
            <p:nvPr/>
          </p:nvSpPr>
          <p:spPr>
            <a:xfrm>
              <a:off x="914400" y="4876800"/>
              <a:ext cx="1219200" cy="323850"/>
            </a:xfrm>
            <a:prstGeom prst="rect">
              <a:avLst/>
            </a:prstGeom>
            <a:solidFill>
              <a:srgbClr val="F5F5F5"/>
            </a:solidFill>
            <a:ln w="9525">
              <a:solidFill>
                <a:srgbClr val="E8E8E8"/>
              </a:solidFill>
            </a:ln>
          </p:spPr>
        </p:sp>
        <p:sp>
          <p:nvSpPr>
            <p:cNvPr id="36" name="TextBox 36"/>
            <p:cNvSpPr txBox="1"/>
            <p:nvPr/>
          </p:nvSpPr>
          <p:spPr>
            <a:xfrm>
              <a:off x="1092512" y="4935379"/>
              <a:ext cx="862975" cy="308039"/>
            </a:xfrm>
            <a:prstGeom prst="rect">
              <a:avLst/>
            </a:prstGeom>
            <a:noFill/>
            <a:ln>
              <a:noFill/>
            </a:ln>
          </p:spPr>
          <p:txBody>
            <a:bodyPr wrap="none" lIns="0" tIns="0" rIns="0" bIns="0" anchor="t" anchorCtr="0">
              <a:spAutoFit/>
            </a:bodyPr>
            <a:lstStyle/>
            <a:p>
              <a:pPr algn="ctr"/>
              <a:r>
                <a:rPr lang="vi-VN" sz="1580" b="1" dirty="0">
                  <a:solidFill>
                    <a:srgbClr val="111111"/>
                  </a:solidFill>
                  <a:latin typeface="Arial"/>
                  <a:ea typeface="Arial"/>
                  <a:cs typeface="Arial"/>
                </a:rPr>
                <a:t>Đều đặn</a:t>
              </a:r>
            </a:p>
          </p:txBody>
        </p:sp>
        <p:sp>
          <p:nvSpPr>
            <p:cNvPr id="37" name="TextBox 37"/>
            <p:cNvSpPr txBox="1"/>
            <p:nvPr/>
          </p:nvSpPr>
          <p:spPr>
            <a:xfrm>
              <a:off x="2468499" y="4935379"/>
              <a:ext cx="967970" cy="308039"/>
            </a:xfrm>
            <a:prstGeom prst="rect">
              <a:avLst/>
            </a:prstGeom>
            <a:noFill/>
            <a:ln>
              <a:noFill/>
            </a:ln>
          </p:spPr>
          <p:txBody>
            <a:bodyPr wrap="none" lIns="0" tIns="0" rIns="0" bIns="0" anchor="t" anchorCtr="0">
              <a:spAutoFit/>
            </a:bodyPr>
            <a:lstStyle/>
            <a:p>
              <a:pPr algn="l"/>
              <a:r>
                <a:rPr lang="vi-VN" sz="1580" b="1" dirty="0">
                  <a:solidFill>
                    <a:srgbClr val="111111"/>
                  </a:solidFill>
                  <a:latin typeface="Arial"/>
                  <a:ea typeface="Arial"/>
                  <a:cs typeface="Arial"/>
                </a:rPr>
                <a:t>Quy trình</a:t>
              </a:r>
            </a:p>
          </p:txBody>
        </p:sp>
        <p:sp>
          <p:nvSpPr>
            <p:cNvPr id="38" name="TextBox 38"/>
            <p:cNvSpPr txBox="1"/>
            <p:nvPr/>
          </p:nvSpPr>
          <p:spPr>
            <a:xfrm>
              <a:off x="4517898" y="4939189"/>
              <a:ext cx="4062930" cy="249364"/>
            </a:xfrm>
            <a:prstGeom prst="rect">
              <a:avLst/>
            </a:prstGeom>
            <a:noFill/>
            <a:ln>
              <a:noFill/>
            </a:ln>
          </p:spPr>
          <p:txBody>
            <a:bodyPr wrap="none" lIns="0" tIns="0" rIns="0" bIns="0" anchor="t" anchorCtr="0">
              <a:spAutoFit/>
            </a:bodyPr>
            <a:lstStyle/>
            <a:p>
              <a:pPr algn="l"/>
              <a:r>
                <a:rPr lang="vi-VN" sz="1280" dirty="0">
                  <a:solidFill>
                    <a:srgbClr val="1A1A1A"/>
                  </a:solidFill>
                  <a:latin typeface="Arial"/>
                  <a:ea typeface="Arial"/>
                  <a:cs typeface="Arial"/>
                </a:rPr>
                <a:t>Rà soát SRS, thiết kế, pull request và tổng kết Sprint</a:t>
              </a:r>
            </a:p>
          </p:txBody>
        </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bg-fill"/>
          <p:cNvSpPr/>
          <p:nvPr/>
        </p:nvSpPr>
        <p:spPr>
          <a:xfrm>
            <a:off x="-9525" y="-9525"/>
            <a:ext cx="12211050" cy="6877050"/>
          </a:xfrm>
          <a:prstGeom prst="rect">
            <a:avLst/>
          </a:prstGeom>
          <a:solidFill>
            <a:srgbClr val="FFFFFF"/>
          </a:solidFill>
          <a:ln>
            <a:noFill/>
          </a:ln>
        </p:spPr>
      </p:sp>
      <p:grpSp>
        <p:nvGrpSpPr>
          <p:cNvPr id="5" name="top-rule"/>
          <p:cNvGrpSpPr/>
          <p:nvPr/>
        </p:nvGrpSpPr>
        <p:grpSpPr>
          <a:xfrm>
            <a:off x="685800" y="723900"/>
            <a:ext cx="10820400" cy="38100"/>
            <a:chOff x="685800" y="723900"/>
            <a:chExt cx="10820400" cy="38100"/>
          </a:xfrm>
        </p:grpSpPr>
        <p:sp>
          <p:nvSpPr>
            <p:cNvPr id="3" name="Rectangle 3"/>
            <p:cNvSpPr/>
            <p:nvPr/>
          </p:nvSpPr>
          <p:spPr>
            <a:xfrm>
              <a:off x="685800" y="723900"/>
              <a:ext cx="10820400" cy="38100"/>
            </a:xfrm>
            <a:prstGeom prst="rect">
              <a:avLst/>
            </a:prstGeom>
            <a:solidFill>
              <a:srgbClr val="E8E8E8"/>
            </a:solidFill>
            <a:ln>
              <a:noFill/>
            </a:ln>
          </p:spPr>
        </p:sp>
        <p:sp>
          <p:nvSpPr>
            <p:cNvPr id="4" name="Rectangle 4"/>
            <p:cNvSpPr/>
            <p:nvPr/>
          </p:nvSpPr>
          <p:spPr>
            <a:xfrm>
              <a:off x="685800" y="723900"/>
              <a:ext cx="9738360" cy="38100"/>
            </a:xfrm>
            <a:prstGeom prst="rect">
              <a:avLst/>
            </a:prstGeom>
            <a:solidFill>
              <a:srgbClr val="C8102E"/>
            </a:solidFill>
            <a:ln>
              <a:noFill/>
            </a:ln>
          </p:spPr>
        </p:sp>
      </p:grpSp>
      <p:grpSp>
        <p:nvGrpSpPr>
          <p:cNvPr id="8" name="title"/>
          <p:cNvGrpSpPr/>
          <p:nvPr/>
        </p:nvGrpSpPr>
        <p:grpSpPr>
          <a:xfrm>
            <a:off x="652272" y="977265"/>
            <a:ext cx="7927601" cy="1193482"/>
            <a:chOff x="652272" y="977265"/>
            <a:chExt cx="7927601" cy="1193482"/>
          </a:xfrm>
        </p:grpSpPr>
        <p:sp>
          <p:nvSpPr>
            <p:cNvPr id="6" name="TextBox 6"/>
            <p:cNvSpPr txBox="1"/>
            <p:nvPr/>
          </p:nvSpPr>
          <p:spPr>
            <a:xfrm>
              <a:off x="652272" y="977265"/>
              <a:ext cx="7651724" cy="645414"/>
            </a:xfrm>
            <a:prstGeom prst="rect">
              <a:avLst/>
            </a:prstGeom>
            <a:noFill/>
            <a:ln>
              <a:noFill/>
            </a:ln>
          </p:spPr>
          <p:txBody>
            <a:bodyPr wrap="none" lIns="0" tIns="0" rIns="0" bIns="0" anchor="t" anchorCtr="0">
              <a:spAutoFit/>
            </a:bodyPr>
            <a:lstStyle/>
            <a:p>
              <a:pPr algn="l"/>
              <a:r>
                <a:rPr lang="vi-VN" sz="3300" b="1" dirty="0">
                  <a:solidFill>
                    <a:srgbClr val="111111"/>
                  </a:solidFill>
                  <a:latin typeface="Arial"/>
                  <a:ea typeface="Arial"/>
                  <a:cs typeface="Arial"/>
                </a:rPr>
                <a:t>Rủi ro chính và biện pháp kiểm soát</a:t>
              </a:r>
            </a:p>
          </p:txBody>
        </p:sp>
        <p:sp>
          <p:nvSpPr>
            <p:cNvPr id="7" name="TextBox 7"/>
            <p:cNvSpPr txBox="1"/>
            <p:nvPr/>
          </p:nvSpPr>
          <p:spPr>
            <a:xfrm>
              <a:off x="677418" y="1848040"/>
              <a:ext cx="7902455" cy="322707"/>
            </a:xfrm>
            <a:prstGeom prst="rect">
              <a:avLst/>
            </a:prstGeom>
            <a:noFill/>
            <a:ln>
              <a:noFill/>
            </a:ln>
          </p:spPr>
          <p:txBody>
            <a:bodyPr wrap="none" lIns="0" tIns="0" rIns="0" bIns="0" anchor="t" anchorCtr="0">
              <a:spAutoFit/>
            </a:bodyPr>
            <a:lstStyle/>
            <a:p>
              <a:pPr algn="l"/>
              <a:r>
                <a:rPr lang="vi-VN" sz="1650" dirty="0">
                  <a:solidFill>
                    <a:srgbClr val="6E6E6E"/>
                  </a:solidFill>
                  <a:latin typeface="Arial"/>
                  <a:ea typeface="Arial"/>
                  <a:cs typeface="Arial"/>
                </a:rPr>
                <a:t>Danh sách rủi ro tập trung vào phạm vi, dữ liệu, nhân sự, kỹ thuật và người dùng</a:t>
              </a:r>
            </a:p>
          </p:txBody>
        </p:sp>
      </p:grpSp>
      <p:grpSp>
        <p:nvGrpSpPr>
          <p:cNvPr id="12" name="footer"/>
          <p:cNvGrpSpPr/>
          <p:nvPr/>
        </p:nvGrpSpPr>
        <p:grpSpPr>
          <a:xfrm>
            <a:off x="680085" y="6286500"/>
            <a:ext cx="10831830" cy="327184"/>
            <a:chOff x="680085" y="6286500"/>
            <a:chExt cx="10831830" cy="327184"/>
          </a:xfrm>
        </p:grpSpPr>
        <p:sp>
          <p:nvSpPr>
            <p:cNvPr id="9" name="Freeform 9"/>
            <p:cNvSpPr/>
            <p:nvPr/>
          </p:nvSpPr>
          <p:spPr>
            <a:xfrm>
              <a:off x="685800" y="6286500"/>
              <a:ext cx="10820400" cy="9525"/>
            </a:xfrm>
            <a:custGeom>
              <a:avLst/>
              <a:gdLst/>
              <a:ahLst/>
              <a:cxnLst/>
              <a:rect l="l" t="t" r="r" b="b"/>
              <a:pathLst>
                <a:path w="10820400" h="9525">
                  <a:moveTo>
                    <a:pt x="0" y="0"/>
                  </a:moveTo>
                  <a:lnTo>
                    <a:pt x="10820400" y="0"/>
                  </a:lnTo>
                </a:path>
              </a:pathLst>
            </a:custGeom>
            <a:noFill/>
            <a:ln w="9525">
              <a:solidFill>
                <a:srgbClr val="E8E8E8"/>
              </a:solidFill>
            </a:ln>
          </p:spPr>
        </p:sp>
        <p:sp>
          <p:nvSpPr>
            <p:cNvPr id="10" name="TextBox 10"/>
            <p:cNvSpPr txBox="1"/>
            <p:nvPr/>
          </p:nvSpPr>
          <p:spPr>
            <a:xfrm>
              <a:off x="680085" y="6393656"/>
              <a:ext cx="2914269" cy="220028"/>
            </a:xfrm>
            <a:prstGeom prst="rect">
              <a:avLst/>
            </a:prstGeom>
            <a:noFill/>
            <a:ln>
              <a:noFill/>
            </a:ln>
          </p:spPr>
          <p:txBody>
            <a:bodyPr wrap="none" lIns="0" tIns="0" rIns="0" bIns="0" anchor="t" anchorCtr="0">
              <a:spAutoFit/>
            </a:bodyPr>
            <a:lstStyle/>
            <a:p>
              <a:pPr algn="l"/>
              <a:r>
                <a:rPr lang="vi-VN" sz="1120" dirty="0">
                  <a:solidFill>
                    <a:srgbClr val="6E6E6E"/>
                  </a:solidFill>
                  <a:latin typeface="Arial"/>
                  <a:ea typeface="Arial"/>
                  <a:cs typeface="Arial"/>
                </a:rPr>
                <a:t>Nhóm 04 | Lớp 765643-QTDA-VB2-20261</a:t>
              </a:r>
            </a:p>
          </p:txBody>
        </p:sp>
        <p:sp>
          <p:nvSpPr>
            <p:cNvPr id="11" name="TextBox 11"/>
            <p:cNvSpPr txBox="1"/>
            <p:nvPr/>
          </p:nvSpPr>
          <p:spPr>
            <a:xfrm>
              <a:off x="11332764" y="6393656"/>
              <a:ext cx="179151" cy="220028"/>
            </a:xfrm>
            <a:prstGeom prst="rect">
              <a:avLst/>
            </a:prstGeom>
            <a:noFill/>
            <a:ln>
              <a:noFill/>
            </a:ln>
          </p:spPr>
          <p:txBody>
            <a:bodyPr wrap="none" lIns="0" tIns="0" rIns="0" bIns="0" anchor="t" anchorCtr="0">
              <a:spAutoFit/>
            </a:bodyPr>
            <a:lstStyle/>
            <a:p>
              <a:pPr algn="r"/>
              <a:r>
                <a:rPr lang="vi-VN" sz="1120" dirty="0">
                  <a:solidFill>
                    <a:srgbClr val="6E6E6E"/>
                  </a:solidFill>
                  <a:latin typeface="Arial"/>
                  <a:ea typeface="Arial"/>
                  <a:cs typeface="Arial"/>
                </a:rPr>
                <a:t>18</a:t>
              </a:r>
            </a:p>
          </p:txBody>
        </p:sp>
      </p:grpSp>
      <p:grpSp>
        <p:nvGrpSpPr>
          <p:cNvPr id="41" name="risk-control-list"/>
          <p:cNvGrpSpPr/>
          <p:nvPr/>
        </p:nvGrpSpPr>
        <p:grpSpPr>
          <a:xfrm>
            <a:off x="679323" y="2209800"/>
            <a:ext cx="10293477" cy="3635978"/>
            <a:chOff x="679323" y="2209800"/>
            <a:chExt cx="10293477" cy="3635978"/>
          </a:xfrm>
        </p:grpSpPr>
        <p:sp>
          <p:nvSpPr>
            <p:cNvPr id="13" name="Rectangle 13"/>
            <p:cNvSpPr/>
            <p:nvPr/>
          </p:nvSpPr>
          <p:spPr>
            <a:xfrm>
              <a:off x="685800" y="2209800"/>
              <a:ext cx="10287000" cy="514350"/>
            </a:xfrm>
            <a:prstGeom prst="rect">
              <a:avLst/>
            </a:prstGeom>
            <a:solidFill>
              <a:srgbClr val="FFFFFF"/>
            </a:solidFill>
            <a:ln w="9525">
              <a:solidFill>
                <a:srgbClr val="E8E8E8"/>
              </a:solidFill>
            </a:ln>
          </p:spPr>
        </p:sp>
        <p:sp>
          <p:nvSpPr>
            <p:cNvPr id="14" name="Rectangle 14"/>
            <p:cNvSpPr/>
            <p:nvPr/>
          </p:nvSpPr>
          <p:spPr>
            <a:xfrm>
              <a:off x="685800" y="2209800"/>
              <a:ext cx="457200" cy="514350"/>
            </a:xfrm>
            <a:prstGeom prst="rect">
              <a:avLst/>
            </a:prstGeom>
            <a:solidFill>
              <a:srgbClr val="C8102E"/>
            </a:solidFill>
            <a:ln>
              <a:noFill/>
            </a:ln>
          </p:spPr>
        </p:sp>
        <p:sp>
          <p:nvSpPr>
            <p:cNvPr id="15" name="TextBox 15"/>
            <p:cNvSpPr txBox="1"/>
            <p:nvPr/>
          </p:nvSpPr>
          <p:spPr>
            <a:xfrm>
              <a:off x="864910" y="2339340"/>
              <a:ext cx="98979" cy="352044"/>
            </a:xfrm>
            <a:prstGeom prst="rect">
              <a:avLst/>
            </a:prstGeom>
            <a:noFill/>
            <a:ln>
              <a:noFill/>
            </a:ln>
          </p:spPr>
          <p:txBody>
            <a:bodyPr wrap="none" lIns="0" tIns="0" rIns="0" bIns="0" anchor="t" anchorCtr="0">
              <a:spAutoFit/>
            </a:bodyPr>
            <a:lstStyle/>
            <a:p>
              <a:pPr algn="ctr"/>
              <a:r>
                <a:rPr lang="vi-VN" sz="1800" b="1" dirty="0">
                  <a:solidFill>
                    <a:srgbClr val="FFFFFF"/>
                  </a:solidFill>
                  <a:latin typeface="Arial"/>
                  <a:ea typeface="Arial"/>
                  <a:cs typeface="Arial"/>
                </a:rPr>
                <a:t>!</a:t>
              </a:r>
            </a:p>
          </p:txBody>
        </p:sp>
        <p:sp>
          <p:nvSpPr>
            <p:cNvPr id="16" name="TextBox 16"/>
            <p:cNvSpPr txBox="1"/>
            <p:nvPr/>
          </p:nvSpPr>
          <p:spPr>
            <a:xfrm>
              <a:off x="1373505" y="2371725"/>
              <a:ext cx="1638259" cy="293370"/>
            </a:xfrm>
            <a:prstGeom prst="rect">
              <a:avLst/>
            </a:prstGeom>
            <a:noFill/>
            <a:ln>
              <a:noFill/>
            </a:ln>
          </p:spPr>
          <p:txBody>
            <a:bodyPr wrap="none" lIns="0" tIns="0" rIns="0" bIns="0" anchor="t" anchorCtr="0">
              <a:spAutoFit/>
            </a:bodyPr>
            <a:lstStyle/>
            <a:p>
              <a:pPr algn="l"/>
              <a:r>
                <a:rPr lang="vi-VN" sz="1500" b="1" dirty="0">
                  <a:solidFill>
                    <a:srgbClr val="C8102E"/>
                  </a:solidFill>
                  <a:latin typeface="Arial"/>
                  <a:ea typeface="Arial"/>
                  <a:cs typeface="Arial"/>
                </a:rPr>
                <a:t>Mở rộng phạm vi</a:t>
              </a:r>
            </a:p>
          </p:txBody>
        </p:sp>
        <p:sp>
          <p:nvSpPr>
            <p:cNvPr id="17" name="TextBox 17"/>
            <p:cNvSpPr txBox="1"/>
            <p:nvPr/>
          </p:nvSpPr>
          <p:spPr>
            <a:xfrm>
              <a:off x="4089654" y="2375535"/>
              <a:ext cx="4824444" cy="234696"/>
            </a:xfrm>
            <a:prstGeom prst="rect">
              <a:avLst/>
            </a:prstGeom>
            <a:noFill/>
            <a:ln>
              <a:noFill/>
            </a:ln>
          </p:spPr>
          <p:txBody>
            <a:bodyPr wrap="none" lIns="0" tIns="0" rIns="0" bIns="0" anchor="t" anchorCtr="0">
              <a:spAutoFit/>
            </a:bodyPr>
            <a:lstStyle/>
            <a:p>
              <a:pPr algn="l"/>
              <a:r>
                <a:rPr lang="vi-VN" sz="1200" dirty="0">
                  <a:solidFill>
                    <a:srgbClr val="1A1A1A"/>
                  </a:solidFill>
                  <a:latin typeface="Arial"/>
                  <a:ea typeface="Arial"/>
                  <a:cs typeface="Arial"/>
                </a:rPr>
                <a:t>Chốt SRS sớm, dùng Change Request, nêu rõ phần ngoài phạm vi</a:t>
              </a:r>
            </a:p>
          </p:txBody>
        </p:sp>
        <p:sp>
          <p:nvSpPr>
            <p:cNvPr id="18" name="Rectangle 18"/>
            <p:cNvSpPr/>
            <p:nvPr/>
          </p:nvSpPr>
          <p:spPr>
            <a:xfrm>
              <a:off x="685800" y="2838450"/>
              <a:ext cx="10287000" cy="514350"/>
            </a:xfrm>
            <a:prstGeom prst="rect">
              <a:avLst/>
            </a:prstGeom>
            <a:solidFill>
              <a:srgbClr val="F5F5F5"/>
            </a:solidFill>
            <a:ln w="9525">
              <a:solidFill>
                <a:srgbClr val="E8E8E8"/>
              </a:solidFill>
            </a:ln>
          </p:spPr>
        </p:sp>
        <p:sp>
          <p:nvSpPr>
            <p:cNvPr id="19" name="Rectangle 19"/>
            <p:cNvSpPr/>
            <p:nvPr/>
          </p:nvSpPr>
          <p:spPr>
            <a:xfrm>
              <a:off x="685800" y="2838450"/>
              <a:ext cx="457200" cy="514350"/>
            </a:xfrm>
            <a:prstGeom prst="rect">
              <a:avLst/>
            </a:prstGeom>
            <a:solidFill>
              <a:srgbClr val="111111"/>
            </a:solidFill>
            <a:ln>
              <a:noFill/>
            </a:ln>
          </p:spPr>
        </p:sp>
        <p:sp>
          <p:nvSpPr>
            <p:cNvPr id="20" name="TextBox 20"/>
            <p:cNvSpPr txBox="1"/>
            <p:nvPr/>
          </p:nvSpPr>
          <p:spPr>
            <a:xfrm>
              <a:off x="864910" y="2967990"/>
              <a:ext cx="98979" cy="352044"/>
            </a:xfrm>
            <a:prstGeom prst="rect">
              <a:avLst/>
            </a:prstGeom>
            <a:noFill/>
            <a:ln>
              <a:noFill/>
            </a:ln>
          </p:spPr>
          <p:txBody>
            <a:bodyPr wrap="none" lIns="0" tIns="0" rIns="0" bIns="0" anchor="t" anchorCtr="0">
              <a:spAutoFit/>
            </a:bodyPr>
            <a:lstStyle/>
            <a:p>
              <a:pPr algn="ctr"/>
              <a:r>
                <a:rPr lang="vi-VN" sz="1800" b="1" dirty="0">
                  <a:solidFill>
                    <a:srgbClr val="FFFFFF"/>
                  </a:solidFill>
                  <a:latin typeface="Arial"/>
                  <a:ea typeface="Arial"/>
                  <a:cs typeface="Arial"/>
                </a:rPr>
                <a:t>!</a:t>
              </a:r>
            </a:p>
          </p:txBody>
        </p:sp>
        <p:sp>
          <p:nvSpPr>
            <p:cNvPr id="21" name="TextBox 21"/>
            <p:cNvSpPr txBox="1"/>
            <p:nvPr/>
          </p:nvSpPr>
          <p:spPr>
            <a:xfrm>
              <a:off x="1373505" y="3000375"/>
              <a:ext cx="1828117" cy="293370"/>
            </a:xfrm>
            <a:prstGeom prst="rect">
              <a:avLst/>
            </a:prstGeom>
            <a:noFill/>
            <a:ln>
              <a:noFill/>
            </a:ln>
          </p:spPr>
          <p:txBody>
            <a:bodyPr wrap="none" lIns="0" tIns="0" rIns="0" bIns="0" anchor="t" anchorCtr="0">
              <a:spAutoFit/>
            </a:bodyPr>
            <a:lstStyle/>
            <a:p>
              <a:pPr algn="l"/>
              <a:r>
                <a:rPr lang="vi-VN" sz="1500" b="1" dirty="0">
                  <a:solidFill>
                    <a:srgbClr val="111111"/>
                  </a:solidFill>
                  <a:latin typeface="Arial"/>
                  <a:ea typeface="Arial"/>
                  <a:cs typeface="Arial"/>
                </a:rPr>
                <a:t>Chuyển đổi dữ liệu</a:t>
              </a:r>
            </a:p>
          </p:txBody>
        </p:sp>
        <p:sp>
          <p:nvSpPr>
            <p:cNvPr id="22" name="TextBox 22"/>
            <p:cNvSpPr txBox="1"/>
            <p:nvPr/>
          </p:nvSpPr>
          <p:spPr>
            <a:xfrm>
              <a:off x="4089654" y="3004185"/>
              <a:ext cx="4692983" cy="234696"/>
            </a:xfrm>
            <a:prstGeom prst="rect">
              <a:avLst/>
            </a:prstGeom>
            <a:noFill/>
            <a:ln>
              <a:noFill/>
            </a:ln>
          </p:spPr>
          <p:txBody>
            <a:bodyPr wrap="none" lIns="0" tIns="0" rIns="0" bIns="0" anchor="t" anchorCtr="0">
              <a:spAutoFit/>
            </a:bodyPr>
            <a:lstStyle/>
            <a:p>
              <a:pPr algn="l"/>
              <a:r>
                <a:rPr lang="vi-VN" sz="1200" dirty="0">
                  <a:solidFill>
                    <a:srgbClr val="1A1A1A"/>
                  </a:solidFill>
                  <a:latin typeface="Arial"/>
                  <a:ea typeface="Arial"/>
                  <a:cs typeface="Arial"/>
                </a:rPr>
                <a:t>Chuẩn hóa Excel mẫu, import có kiểm tra lỗi, chạy song song 1-2</a:t>
              </a:r>
            </a:p>
          </p:txBody>
        </p:sp>
        <p:sp>
          <p:nvSpPr>
            <p:cNvPr id="23" name="TextBox 23"/>
            <p:cNvSpPr txBox="1"/>
            <p:nvPr/>
          </p:nvSpPr>
          <p:spPr>
            <a:xfrm>
              <a:off x="4089654" y="3175635"/>
              <a:ext cx="326621" cy="234696"/>
            </a:xfrm>
            <a:prstGeom prst="rect">
              <a:avLst/>
            </a:prstGeom>
            <a:noFill/>
            <a:ln>
              <a:noFill/>
            </a:ln>
          </p:spPr>
          <p:txBody>
            <a:bodyPr wrap="none" lIns="0" tIns="0" rIns="0" bIns="0" anchor="t" anchorCtr="0">
              <a:spAutoFit/>
            </a:bodyPr>
            <a:lstStyle/>
            <a:p>
              <a:pPr algn="l"/>
              <a:r>
                <a:rPr lang="vi-VN" sz="1200" dirty="0">
                  <a:solidFill>
                    <a:srgbClr val="1A1A1A"/>
                  </a:solidFill>
                  <a:latin typeface="Arial"/>
                  <a:ea typeface="Arial"/>
                  <a:cs typeface="Arial"/>
                </a:rPr>
                <a:t>tuần</a:t>
              </a:r>
            </a:p>
          </p:txBody>
        </p:sp>
        <p:sp>
          <p:nvSpPr>
            <p:cNvPr id="24" name="Rectangle 24"/>
            <p:cNvSpPr/>
            <p:nvPr/>
          </p:nvSpPr>
          <p:spPr>
            <a:xfrm>
              <a:off x="685800" y="3467100"/>
              <a:ext cx="10287000" cy="514350"/>
            </a:xfrm>
            <a:prstGeom prst="rect">
              <a:avLst/>
            </a:prstGeom>
            <a:solidFill>
              <a:srgbClr val="FFFFFF"/>
            </a:solidFill>
            <a:ln w="9525">
              <a:solidFill>
                <a:srgbClr val="E8E8E8"/>
              </a:solidFill>
            </a:ln>
          </p:spPr>
        </p:sp>
        <p:sp>
          <p:nvSpPr>
            <p:cNvPr id="25" name="Rectangle 25"/>
            <p:cNvSpPr/>
            <p:nvPr/>
          </p:nvSpPr>
          <p:spPr>
            <a:xfrm>
              <a:off x="685800" y="3467100"/>
              <a:ext cx="457200" cy="514350"/>
            </a:xfrm>
            <a:prstGeom prst="rect">
              <a:avLst/>
            </a:prstGeom>
            <a:solidFill>
              <a:srgbClr val="111111"/>
            </a:solidFill>
            <a:ln>
              <a:noFill/>
            </a:ln>
          </p:spPr>
        </p:sp>
        <p:sp>
          <p:nvSpPr>
            <p:cNvPr id="26" name="TextBox 26"/>
            <p:cNvSpPr txBox="1"/>
            <p:nvPr/>
          </p:nvSpPr>
          <p:spPr>
            <a:xfrm>
              <a:off x="864910" y="3596640"/>
              <a:ext cx="98979" cy="352044"/>
            </a:xfrm>
            <a:prstGeom prst="rect">
              <a:avLst/>
            </a:prstGeom>
            <a:noFill/>
            <a:ln>
              <a:noFill/>
            </a:ln>
          </p:spPr>
          <p:txBody>
            <a:bodyPr wrap="none" lIns="0" tIns="0" rIns="0" bIns="0" anchor="t" anchorCtr="0">
              <a:spAutoFit/>
            </a:bodyPr>
            <a:lstStyle/>
            <a:p>
              <a:pPr algn="ctr"/>
              <a:r>
                <a:rPr lang="vi-VN" sz="1800" b="1" dirty="0">
                  <a:solidFill>
                    <a:srgbClr val="FFFFFF"/>
                  </a:solidFill>
                  <a:latin typeface="Arial"/>
                  <a:ea typeface="Arial"/>
                  <a:cs typeface="Arial"/>
                </a:rPr>
                <a:t>!</a:t>
              </a:r>
            </a:p>
          </p:txBody>
        </p:sp>
        <p:sp>
          <p:nvSpPr>
            <p:cNvPr id="27" name="TextBox 27"/>
            <p:cNvSpPr txBox="1"/>
            <p:nvPr/>
          </p:nvSpPr>
          <p:spPr>
            <a:xfrm>
              <a:off x="1373505" y="3629025"/>
              <a:ext cx="1839796" cy="293370"/>
            </a:xfrm>
            <a:prstGeom prst="rect">
              <a:avLst/>
            </a:prstGeom>
            <a:noFill/>
            <a:ln>
              <a:noFill/>
            </a:ln>
          </p:spPr>
          <p:txBody>
            <a:bodyPr wrap="none" lIns="0" tIns="0" rIns="0" bIns="0" anchor="t" anchorCtr="0">
              <a:spAutoFit/>
            </a:bodyPr>
            <a:lstStyle/>
            <a:p>
              <a:pPr algn="l"/>
              <a:r>
                <a:rPr lang="vi-VN" sz="1500" b="1" dirty="0">
                  <a:solidFill>
                    <a:srgbClr val="111111"/>
                  </a:solidFill>
                  <a:latin typeface="Arial"/>
                  <a:ea typeface="Arial"/>
                  <a:cs typeface="Arial"/>
                </a:rPr>
                <a:t>Phụ thuộc nhân sự</a:t>
              </a:r>
            </a:p>
          </p:txBody>
        </p:sp>
        <p:sp>
          <p:nvSpPr>
            <p:cNvPr id="28" name="TextBox 28"/>
            <p:cNvSpPr txBox="1"/>
            <p:nvPr/>
          </p:nvSpPr>
          <p:spPr>
            <a:xfrm>
              <a:off x="4089654" y="3632835"/>
              <a:ext cx="3888356" cy="234696"/>
            </a:xfrm>
            <a:prstGeom prst="rect">
              <a:avLst/>
            </a:prstGeom>
            <a:noFill/>
            <a:ln>
              <a:noFill/>
            </a:ln>
          </p:spPr>
          <p:txBody>
            <a:bodyPr wrap="none" lIns="0" tIns="0" rIns="0" bIns="0" anchor="t" anchorCtr="0">
              <a:spAutoFit/>
            </a:bodyPr>
            <a:lstStyle/>
            <a:p>
              <a:pPr algn="l"/>
              <a:r>
                <a:rPr lang="vi-VN" sz="1200" dirty="0">
                  <a:solidFill>
                    <a:srgbClr val="1A1A1A"/>
                  </a:solidFill>
                  <a:latin typeface="Arial"/>
                  <a:ea typeface="Arial"/>
                  <a:cs typeface="Arial"/>
                </a:rPr>
                <a:t>Đào tạo chéo, lưu tài liệu và mã nguồn trên kho chung</a:t>
              </a:r>
            </a:p>
          </p:txBody>
        </p:sp>
        <p:sp>
          <p:nvSpPr>
            <p:cNvPr id="29" name="Rectangle 29"/>
            <p:cNvSpPr/>
            <p:nvPr/>
          </p:nvSpPr>
          <p:spPr>
            <a:xfrm>
              <a:off x="685800" y="4095750"/>
              <a:ext cx="10287000" cy="514350"/>
            </a:xfrm>
            <a:prstGeom prst="rect">
              <a:avLst/>
            </a:prstGeom>
            <a:solidFill>
              <a:srgbClr val="F5F5F5"/>
            </a:solidFill>
            <a:ln w="9525">
              <a:solidFill>
                <a:srgbClr val="E8E8E8"/>
              </a:solidFill>
            </a:ln>
          </p:spPr>
        </p:sp>
        <p:sp>
          <p:nvSpPr>
            <p:cNvPr id="30" name="Rectangle 30"/>
            <p:cNvSpPr/>
            <p:nvPr/>
          </p:nvSpPr>
          <p:spPr>
            <a:xfrm>
              <a:off x="685800" y="4095750"/>
              <a:ext cx="457200" cy="514350"/>
            </a:xfrm>
            <a:prstGeom prst="rect">
              <a:avLst/>
            </a:prstGeom>
            <a:solidFill>
              <a:srgbClr val="C8102E"/>
            </a:solidFill>
            <a:ln>
              <a:noFill/>
            </a:ln>
          </p:spPr>
        </p:sp>
        <p:sp>
          <p:nvSpPr>
            <p:cNvPr id="31" name="TextBox 31"/>
            <p:cNvSpPr txBox="1"/>
            <p:nvPr/>
          </p:nvSpPr>
          <p:spPr>
            <a:xfrm>
              <a:off x="864910" y="4225290"/>
              <a:ext cx="98979" cy="352044"/>
            </a:xfrm>
            <a:prstGeom prst="rect">
              <a:avLst/>
            </a:prstGeom>
            <a:noFill/>
            <a:ln>
              <a:noFill/>
            </a:ln>
          </p:spPr>
          <p:txBody>
            <a:bodyPr wrap="none" lIns="0" tIns="0" rIns="0" bIns="0" anchor="t" anchorCtr="0">
              <a:spAutoFit/>
            </a:bodyPr>
            <a:lstStyle/>
            <a:p>
              <a:pPr algn="ctr"/>
              <a:r>
                <a:rPr lang="vi-VN" sz="1800" b="1" dirty="0">
                  <a:solidFill>
                    <a:srgbClr val="FFFFFF"/>
                  </a:solidFill>
                  <a:latin typeface="Arial"/>
                  <a:ea typeface="Arial"/>
                  <a:cs typeface="Arial"/>
                </a:rPr>
                <a:t>!</a:t>
              </a:r>
            </a:p>
          </p:txBody>
        </p:sp>
        <p:sp>
          <p:nvSpPr>
            <p:cNvPr id="32" name="TextBox 32"/>
            <p:cNvSpPr txBox="1"/>
            <p:nvPr/>
          </p:nvSpPr>
          <p:spPr>
            <a:xfrm>
              <a:off x="1373505" y="4257675"/>
              <a:ext cx="1667628" cy="293370"/>
            </a:xfrm>
            <a:prstGeom prst="rect">
              <a:avLst/>
            </a:prstGeom>
            <a:noFill/>
            <a:ln>
              <a:noFill/>
            </a:ln>
          </p:spPr>
          <p:txBody>
            <a:bodyPr wrap="none" lIns="0" tIns="0" rIns="0" bIns="0" anchor="t" anchorCtr="0">
              <a:spAutoFit/>
            </a:bodyPr>
            <a:lstStyle/>
            <a:p>
              <a:pPr algn="l"/>
              <a:r>
                <a:rPr lang="vi-VN" sz="1500" b="1" dirty="0">
                  <a:solidFill>
                    <a:srgbClr val="C8102E"/>
                  </a:solidFill>
                  <a:latin typeface="Arial"/>
                  <a:ea typeface="Arial"/>
                  <a:cs typeface="Arial"/>
                </a:rPr>
                <a:t>Logic Serial/IMEI</a:t>
              </a:r>
            </a:p>
          </p:txBody>
        </p:sp>
        <p:sp>
          <p:nvSpPr>
            <p:cNvPr id="33" name="TextBox 33"/>
            <p:cNvSpPr txBox="1"/>
            <p:nvPr/>
          </p:nvSpPr>
          <p:spPr>
            <a:xfrm>
              <a:off x="4089654" y="4261485"/>
              <a:ext cx="4565919" cy="234696"/>
            </a:xfrm>
            <a:prstGeom prst="rect">
              <a:avLst/>
            </a:prstGeom>
            <a:noFill/>
            <a:ln>
              <a:noFill/>
            </a:ln>
          </p:spPr>
          <p:txBody>
            <a:bodyPr wrap="none" lIns="0" tIns="0" rIns="0" bIns="0" anchor="t" anchorCtr="0">
              <a:spAutoFit/>
            </a:bodyPr>
            <a:lstStyle/>
            <a:p>
              <a:pPr algn="l"/>
              <a:r>
                <a:rPr lang="vi-VN" sz="1200" dirty="0">
                  <a:solidFill>
                    <a:srgbClr val="1A1A1A"/>
                  </a:solidFill>
                  <a:latin typeface="Arial"/>
                  <a:ea typeface="Arial"/>
                  <a:cs typeface="Arial"/>
                </a:rPr>
                <a:t>Chốt sớm mô hình CSDL, kiểm thử chặt luồng cập nhật tồn kho</a:t>
              </a:r>
            </a:p>
          </p:txBody>
        </p:sp>
        <p:sp>
          <p:nvSpPr>
            <p:cNvPr id="34" name="Rectangle 34"/>
            <p:cNvSpPr/>
            <p:nvPr/>
          </p:nvSpPr>
          <p:spPr>
            <a:xfrm>
              <a:off x="685800" y="4724400"/>
              <a:ext cx="10287000" cy="514350"/>
            </a:xfrm>
            <a:prstGeom prst="rect">
              <a:avLst/>
            </a:prstGeom>
            <a:solidFill>
              <a:srgbClr val="FFFFFF"/>
            </a:solidFill>
            <a:ln w="9525">
              <a:solidFill>
                <a:srgbClr val="E8E8E8"/>
              </a:solidFill>
            </a:ln>
          </p:spPr>
        </p:sp>
        <p:sp>
          <p:nvSpPr>
            <p:cNvPr id="35" name="Rectangle 35"/>
            <p:cNvSpPr/>
            <p:nvPr/>
          </p:nvSpPr>
          <p:spPr>
            <a:xfrm>
              <a:off x="685800" y="4724400"/>
              <a:ext cx="457200" cy="514350"/>
            </a:xfrm>
            <a:prstGeom prst="rect">
              <a:avLst/>
            </a:prstGeom>
            <a:solidFill>
              <a:srgbClr val="111111"/>
            </a:solidFill>
            <a:ln>
              <a:noFill/>
            </a:ln>
          </p:spPr>
        </p:sp>
        <p:sp>
          <p:nvSpPr>
            <p:cNvPr id="36" name="TextBox 36"/>
            <p:cNvSpPr txBox="1"/>
            <p:nvPr/>
          </p:nvSpPr>
          <p:spPr>
            <a:xfrm>
              <a:off x="864910" y="4853940"/>
              <a:ext cx="98979" cy="352044"/>
            </a:xfrm>
            <a:prstGeom prst="rect">
              <a:avLst/>
            </a:prstGeom>
            <a:noFill/>
            <a:ln>
              <a:noFill/>
            </a:ln>
          </p:spPr>
          <p:txBody>
            <a:bodyPr wrap="none" lIns="0" tIns="0" rIns="0" bIns="0" anchor="t" anchorCtr="0">
              <a:spAutoFit/>
            </a:bodyPr>
            <a:lstStyle/>
            <a:p>
              <a:pPr algn="ctr"/>
              <a:r>
                <a:rPr lang="vi-VN" sz="1800" b="1" dirty="0">
                  <a:solidFill>
                    <a:srgbClr val="FFFFFF"/>
                  </a:solidFill>
                  <a:latin typeface="Arial"/>
                  <a:ea typeface="Arial"/>
                  <a:cs typeface="Arial"/>
                </a:rPr>
                <a:t>!</a:t>
              </a:r>
            </a:p>
          </p:txBody>
        </p:sp>
        <p:sp>
          <p:nvSpPr>
            <p:cNvPr id="37" name="TextBox 37"/>
            <p:cNvSpPr txBox="1"/>
            <p:nvPr/>
          </p:nvSpPr>
          <p:spPr>
            <a:xfrm>
              <a:off x="1373505" y="4886325"/>
              <a:ext cx="2602804" cy="293370"/>
            </a:xfrm>
            <a:prstGeom prst="rect">
              <a:avLst/>
            </a:prstGeom>
            <a:noFill/>
            <a:ln>
              <a:noFill/>
            </a:ln>
          </p:spPr>
          <p:txBody>
            <a:bodyPr wrap="none" lIns="0" tIns="0" rIns="0" bIns="0" anchor="t" anchorCtr="0">
              <a:spAutoFit/>
            </a:bodyPr>
            <a:lstStyle/>
            <a:p>
              <a:pPr algn="l"/>
              <a:r>
                <a:rPr lang="vi-VN" sz="1500" b="1" dirty="0">
                  <a:solidFill>
                    <a:srgbClr val="111111"/>
                  </a:solidFill>
                  <a:latin typeface="Arial"/>
                  <a:ea typeface="Arial"/>
                  <a:cs typeface="Arial"/>
                </a:rPr>
                <a:t>Người dùng chưa sẵn sàng</a:t>
              </a:r>
            </a:p>
          </p:txBody>
        </p:sp>
        <p:sp>
          <p:nvSpPr>
            <p:cNvPr id="38" name="TextBox 38"/>
            <p:cNvSpPr txBox="1"/>
            <p:nvPr/>
          </p:nvSpPr>
          <p:spPr>
            <a:xfrm>
              <a:off x="4089654" y="4890135"/>
              <a:ext cx="4588901" cy="234696"/>
            </a:xfrm>
            <a:prstGeom prst="rect">
              <a:avLst/>
            </a:prstGeom>
            <a:noFill/>
            <a:ln>
              <a:noFill/>
            </a:ln>
          </p:spPr>
          <p:txBody>
            <a:bodyPr wrap="none" lIns="0" tIns="0" rIns="0" bIns="0" anchor="t" anchorCtr="0">
              <a:spAutoFit/>
            </a:bodyPr>
            <a:lstStyle/>
            <a:p>
              <a:pPr algn="l"/>
              <a:r>
                <a:rPr lang="vi-VN" sz="1200" dirty="0">
                  <a:solidFill>
                    <a:srgbClr val="1A1A1A"/>
                  </a:solidFill>
                  <a:latin typeface="Arial"/>
                  <a:ea typeface="Arial"/>
                  <a:cs typeface="Arial"/>
                </a:rPr>
                <a:t>Giao diện dễ học, tài liệu hướng dẫn và đào tạo trực tiếp khi bàn</a:t>
              </a:r>
            </a:p>
          </p:txBody>
        </p:sp>
        <p:sp>
          <p:nvSpPr>
            <p:cNvPr id="39" name="TextBox 39"/>
            <p:cNvSpPr txBox="1"/>
            <p:nvPr/>
          </p:nvSpPr>
          <p:spPr>
            <a:xfrm>
              <a:off x="4089654" y="5061585"/>
              <a:ext cx="317639" cy="234696"/>
            </a:xfrm>
            <a:prstGeom prst="rect">
              <a:avLst/>
            </a:prstGeom>
            <a:noFill/>
            <a:ln>
              <a:noFill/>
            </a:ln>
          </p:spPr>
          <p:txBody>
            <a:bodyPr wrap="none" lIns="0" tIns="0" rIns="0" bIns="0" anchor="t" anchorCtr="0">
              <a:spAutoFit/>
            </a:bodyPr>
            <a:lstStyle/>
            <a:p>
              <a:pPr algn="l"/>
              <a:r>
                <a:rPr lang="vi-VN" sz="1200" dirty="0">
                  <a:solidFill>
                    <a:srgbClr val="1A1A1A"/>
                  </a:solidFill>
                  <a:latin typeface="Arial"/>
                  <a:ea typeface="Arial"/>
                  <a:cs typeface="Arial"/>
                </a:rPr>
                <a:t>giao</a:t>
              </a:r>
            </a:p>
          </p:txBody>
        </p:sp>
        <p:sp>
          <p:nvSpPr>
            <p:cNvPr id="40" name="TextBox 40"/>
            <p:cNvSpPr txBox="1"/>
            <p:nvPr/>
          </p:nvSpPr>
          <p:spPr>
            <a:xfrm>
              <a:off x="679323" y="5596414"/>
              <a:ext cx="7019811" cy="249364"/>
            </a:xfrm>
            <a:prstGeom prst="rect">
              <a:avLst/>
            </a:prstGeom>
            <a:noFill/>
            <a:ln>
              <a:noFill/>
            </a:ln>
          </p:spPr>
          <p:txBody>
            <a:bodyPr wrap="none" lIns="0" tIns="0" rIns="0" bIns="0" anchor="t" anchorCtr="0">
              <a:spAutoFit/>
            </a:bodyPr>
            <a:lstStyle/>
            <a:p>
              <a:pPr algn="l"/>
              <a:r>
                <a:rPr lang="vi-VN" sz="1280" dirty="0">
                  <a:solidFill>
                    <a:srgbClr val="6E6E6E"/>
                  </a:solidFill>
                  <a:latin typeface="Arial"/>
                  <a:ea typeface="Arial"/>
                  <a:cs typeface="Arial"/>
                </a:rPr>
                <a:t>Các cảnh báo được kiểm soát bằng SRS, yêu cầu thay đổi, đào tạo chéo, kiểm thử và UAT.</a:t>
              </a:r>
            </a:p>
          </p:txBody>
        </p:sp>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bg-fill"/>
          <p:cNvSpPr/>
          <p:nvPr/>
        </p:nvSpPr>
        <p:spPr>
          <a:xfrm>
            <a:off x="-9525" y="-9525"/>
            <a:ext cx="12211050" cy="6877050"/>
          </a:xfrm>
          <a:prstGeom prst="rect">
            <a:avLst/>
          </a:prstGeom>
          <a:solidFill>
            <a:srgbClr val="FFFFFF"/>
          </a:solidFill>
          <a:ln>
            <a:noFill/>
          </a:ln>
        </p:spPr>
      </p:sp>
      <p:grpSp>
        <p:nvGrpSpPr>
          <p:cNvPr id="5" name="top-rule"/>
          <p:cNvGrpSpPr/>
          <p:nvPr/>
        </p:nvGrpSpPr>
        <p:grpSpPr>
          <a:xfrm>
            <a:off x="685800" y="723900"/>
            <a:ext cx="10820400" cy="38100"/>
            <a:chOff x="685800" y="723900"/>
            <a:chExt cx="10820400" cy="38100"/>
          </a:xfrm>
        </p:grpSpPr>
        <p:sp>
          <p:nvSpPr>
            <p:cNvPr id="3" name="Rectangle 3"/>
            <p:cNvSpPr/>
            <p:nvPr/>
          </p:nvSpPr>
          <p:spPr>
            <a:xfrm>
              <a:off x="685800" y="723900"/>
              <a:ext cx="10820400" cy="38100"/>
            </a:xfrm>
            <a:prstGeom prst="rect">
              <a:avLst/>
            </a:prstGeom>
            <a:solidFill>
              <a:srgbClr val="E8E8E8"/>
            </a:solidFill>
            <a:ln>
              <a:noFill/>
            </a:ln>
          </p:spPr>
        </p:sp>
        <p:sp>
          <p:nvSpPr>
            <p:cNvPr id="4" name="Rectangle 4"/>
            <p:cNvSpPr/>
            <p:nvPr/>
          </p:nvSpPr>
          <p:spPr>
            <a:xfrm>
              <a:off x="685800" y="723900"/>
              <a:ext cx="10279380" cy="38100"/>
            </a:xfrm>
            <a:prstGeom prst="rect">
              <a:avLst/>
            </a:prstGeom>
            <a:solidFill>
              <a:srgbClr val="C8102E"/>
            </a:solidFill>
            <a:ln>
              <a:noFill/>
            </a:ln>
          </p:spPr>
        </p:sp>
      </p:grpSp>
      <p:grpSp>
        <p:nvGrpSpPr>
          <p:cNvPr id="8" name="title"/>
          <p:cNvGrpSpPr/>
          <p:nvPr/>
        </p:nvGrpSpPr>
        <p:grpSpPr>
          <a:xfrm>
            <a:off x="652272" y="977265"/>
            <a:ext cx="5084089" cy="1193482"/>
            <a:chOff x="652272" y="977265"/>
            <a:chExt cx="5084089" cy="1193482"/>
          </a:xfrm>
        </p:grpSpPr>
        <p:sp>
          <p:nvSpPr>
            <p:cNvPr id="6" name="TextBox 6"/>
            <p:cNvSpPr txBox="1"/>
            <p:nvPr/>
          </p:nvSpPr>
          <p:spPr>
            <a:xfrm>
              <a:off x="652272" y="977265"/>
              <a:ext cx="5084089" cy="645414"/>
            </a:xfrm>
            <a:prstGeom prst="rect">
              <a:avLst/>
            </a:prstGeom>
            <a:noFill/>
            <a:ln>
              <a:noFill/>
            </a:ln>
          </p:spPr>
          <p:txBody>
            <a:bodyPr wrap="none" lIns="0" tIns="0" rIns="0" bIns="0" anchor="t" anchorCtr="0">
              <a:spAutoFit/>
            </a:bodyPr>
            <a:lstStyle/>
            <a:p>
              <a:pPr algn="l"/>
              <a:r>
                <a:rPr lang="vi-VN" sz="3300" b="1" dirty="0">
                  <a:solidFill>
                    <a:srgbClr val="111111"/>
                  </a:solidFill>
                  <a:latin typeface="Arial"/>
                  <a:ea typeface="Arial"/>
                  <a:cs typeface="Arial"/>
                </a:rPr>
                <a:t>Kết quả thực hiện dự án</a:t>
              </a:r>
            </a:p>
          </p:txBody>
        </p:sp>
        <p:sp>
          <p:nvSpPr>
            <p:cNvPr id="7" name="TextBox 7"/>
            <p:cNvSpPr txBox="1"/>
            <p:nvPr/>
          </p:nvSpPr>
          <p:spPr>
            <a:xfrm>
              <a:off x="677418" y="1848040"/>
              <a:ext cx="4975515" cy="322707"/>
            </a:xfrm>
            <a:prstGeom prst="rect">
              <a:avLst/>
            </a:prstGeom>
            <a:noFill/>
            <a:ln>
              <a:noFill/>
            </a:ln>
          </p:spPr>
          <p:txBody>
            <a:bodyPr wrap="none" lIns="0" tIns="0" rIns="0" bIns="0" anchor="t" anchorCtr="0">
              <a:spAutoFit/>
            </a:bodyPr>
            <a:lstStyle/>
            <a:p>
              <a:pPr algn="l"/>
              <a:r>
                <a:rPr lang="vi-VN" sz="1650" dirty="0">
                  <a:solidFill>
                    <a:srgbClr val="6E6E6E"/>
                  </a:solidFill>
                  <a:latin typeface="Arial"/>
                  <a:ea typeface="Arial"/>
                  <a:cs typeface="Arial"/>
                </a:rPr>
                <a:t>Đầu ra và tiêu chí nghiệm thu theo tài liệu báo cáo</a:t>
              </a:r>
            </a:p>
          </p:txBody>
        </p:sp>
      </p:grpSp>
      <p:grpSp>
        <p:nvGrpSpPr>
          <p:cNvPr id="12" name="footer"/>
          <p:cNvGrpSpPr/>
          <p:nvPr/>
        </p:nvGrpSpPr>
        <p:grpSpPr>
          <a:xfrm>
            <a:off x="680085" y="6286500"/>
            <a:ext cx="10831830" cy="327184"/>
            <a:chOff x="680085" y="6286500"/>
            <a:chExt cx="10831830" cy="327184"/>
          </a:xfrm>
        </p:grpSpPr>
        <p:sp>
          <p:nvSpPr>
            <p:cNvPr id="9" name="Freeform 9"/>
            <p:cNvSpPr/>
            <p:nvPr/>
          </p:nvSpPr>
          <p:spPr>
            <a:xfrm>
              <a:off x="685800" y="6286500"/>
              <a:ext cx="10820400" cy="9525"/>
            </a:xfrm>
            <a:custGeom>
              <a:avLst/>
              <a:gdLst/>
              <a:ahLst/>
              <a:cxnLst/>
              <a:rect l="l" t="t" r="r" b="b"/>
              <a:pathLst>
                <a:path w="10820400" h="9525">
                  <a:moveTo>
                    <a:pt x="0" y="0"/>
                  </a:moveTo>
                  <a:lnTo>
                    <a:pt x="10820400" y="0"/>
                  </a:lnTo>
                </a:path>
              </a:pathLst>
            </a:custGeom>
            <a:noFill/>
            <a:ln w="9525">
              <a:solidFill>
                <a:srgbClr val="E8E8E8"/>
              </a:solidFill>
            </a:ln>
          </p:spPr>
        </p:sp>
        <p:sp>
          <p:nvSpPr>
            <p:cNvPr id="10" name="TextBox 10"/>
            <p:cNvSpPr txBox="1"/>
            <p:nvPr/>
          </p:nvSpPr>
          <p:spPr>
            <a:xfrm>
              <a:off x="680085" y="6393656"/>
              <a:ext cx="2914269" cy="220028"/>
            </a:xfrm>
            <a:prstGeom prst="rect">
              <a:avLst/>
            </a:prstGeom>
            <a:noFill/>
            <a:ln>
              <a:noFill/>
            </a:ln>
          </p:spPr>
          <p:txBody>
            <a:bodyPr wrap="none" lIns="0" tIns="0" rIns="0" bIns="0" anchor="t" anchorCtr="0">
              <a:spAutoFit/>
            </a:bodyPr>
            <a:lstStyle/>
            <a:p>
              <a:pPr algn="l"/>
              <a:r>
                <a:rPr lang="vi-VN" sz="1120" dirty="0">
                  <a:solidFill>
                    <a:srgbClr val="6E6E6E"/>
                  </a:solidFill>
                  <a:latin typeface="Arial"/>
                  <a:ea typeface="Arial"/>
                  <a:cs typeface="Arial"/>
                </a:rPr>
                <a:t>Nhóm 04 | Lớp 765643-QTDA-VB2-20261</a:t>
              </a:r>
            </a:p>
          </p:txBody>
        </p:sp>
        <p:sp>
          <p:nvSpPr>
            <p:cNvPr id="11" name="TextBox 11"/>
            <p:cNvSpPr txBox="1"/>
            <p:nvPr/>
          </p:nvSpPr>
          <p:spPr>
            <a:xfrm>
              <a:off x="11332764" y="6393656"/>
              <a:ext cx="179151" cy="220028"/>
            </a:xfrm>
            <a:prstGeom prst="rect">
              <a:avLst/>
            </a:prstGeom>
            <a:noFill/>
            <a:ln>
              <a:noFill/>
            </a:ln>
          </p:spPr>
          <p:txBody>
            <a:bodyPr wrap="none" lIns="0" tIns="0" rIns="0" bIns="0" anchor="t" anchorCtr="0">
              <a:spAutoFit/>
            </a:bodyPr>
            <a:lstStyle/>
            <a:p>
              <a:pPr algn="r"/>
              <a:r>
                <a:rPr lang="vi-VN" sz="1120" dirty="0">
                  <a:solidFill>
                    <a:srgbClr val="6E6E6E"/>
                  </a:solidFill>
                  <a:latin typeface="Arial"/>
                  <a:ea typeface="Arial"/>
                  <a:cs typeface="Arial"/>
                </a:rPr>
                <a:t>19</a:t>
              </a:r>
            </a:p>
          </p:txBody>
        </p:sp>
      </p:grpSp>
      <p:grpSp>
        <p:nvGrpSpPr>
          <p:cNvPr id="37" name="result-deliverables"/>
          <p:cNvGrpSpPr/>
          <p:nvPr/>
        </p:nvGrpSpPr>
        <p:grpSpPr>
          <a:xfrm>
            <a:off x="685800" y="2381250"/>
            <a:ext cx="9906000" cy="3095625"/>
            <a:chOff x="685800" y="2381250"/>
            <a:chExt cx="9906000" cy="3095625"/>
          </a:xfrm>
        </p:grpSpPr>
        <p:sp>
          <p:nvSpPr>
            <p:cNvPr id="13" name="Rectangle 13"/>
            <p:cNvSpPr/>
            <p:nvPr/>
          </p:nvSpPr>
          <p:spPr>
            <a:xfrm>
              <a:off x="685800" y="2381250"/>
              <a:ext cx="3048000" cy="2095500"/>
            </a:xfrm>
            <a:prstGeom prst="rect">
              <a:avLst/>
            </a:prstGeom>
            <a:solidFill>
              <a:srgbClr val="F5F5F5"/>
            </a:solidFill>
            <a:ln w="9525">
              <a:solidFill>
                <a:srgbClr val="E8E8E8"/>
              </a:solidFill>
            </a:ln>
          </p:spPr>
        </p:sp>
        <p:sp>
          <p:nvSpPr>
            <p:cNvPr id="14" name="TextBox 14"/>
            <p:cNvSpPr txBox="1"/>
            <p:nvPr/>
          </p:nvSpPr>
          <p:spPr>
            <a:xfrm>
              <a:off x="907923" y="2643664"/>
              <a:ext cx="700671" cy="249364"/>
            </a:xfrm>
            <a:prstGeom prst="rect">
              <a:avLst/>
            </a:prstGeom>
            <a:noFill/>
            <a:ln>
              <a:noFill/>
            </a:ln>
          </p:spPr>
          <p:txBody>
            <a:bodyPr wrap="none" lIns="0" tIns="0" rIns="0" bIns="0" anchor="t" anchorCtr="0">
              <a:spAutoFit/>
            </a:bodyPr>
            <a:lstStyle/>
            <a:p>
              <a:pPr algn="l"/>
              <a:r>
                <a:rPr lang="vi-VN" sz="1280" b="1" dirty="0">
                  <a:solidFill>
                    <a:srgbClr val="6E6E6E"/>
                  </a:solidFill>
                  <a:latin typeface="Arial"/>
                  <a:ea typeface="Arial"/>
                  <a:cs typeface="Arial"/>
                </a:rPr>
                <a:t>Đầu ra 1</a:t>
              </a:r>
            </a:p>
          </p:txBody>
        </p:sp>
        <p:sp>
          <p:nvSpPr>
            <p:cNvPr id="15" name="TextBox 15"/>
            <p:cNvSpPr txBox="1"/>
            <p:nvPr/>
          </p:nvSpPr>
          <p:spPr>
            <a:xfrm>
              <a:off x="905256" y="2834640"/>
              <a:ext cx="2139938" cy="352044"/>
            </a:xfrm>
            <a:prstGeom prst="rect">
              <a:avLst/>
            </a:prstGeom>
            <a:noFill/>
            <a:ln>
              <a:noFill/>
            </a:ln>
          </p:spPr>
          <p:txBody>
            <a:bodyPr wrap="none" lIns="0" tIns="0" rIns="0" bIns="0" anchor="t" anchorCtr="0">
              <a:spAutoFit/>
            </a:bodyPr>
            <a:lstStyle/>
            <a:p>
              <a:pPr algn="l"/>
              <a:r>
                <a:rPr lang="vi-VN" sz="1800" b="1" dirty="0">
                  <a:solidFill>
                    <a:srgbClr val="111111"/>
                  </a:solidFill>
                  <a:latin typeface="Arial"/>
                  <a:ea typeface="Arial"/>
                  <a:cs typeface="Arial"/>
                </a:rPr>
                <a:t>Tài liệu quản lý dự</a:t>
              </a:r>
            </a:p>
          </p:txBody>
        </p:sp>
        <p:sp>
          <p:nvSpPr>
            <p:cNvPr id="16" name="TextBox 16"/>
            <p:cNvSpPr txBox="1"/>
            <p:nvPr/>
          </p:nvSpPr>
          <p:spPr>
            <a:xfrm>
              <a:off x="905256" y="3082290"/>
              <a:ext cx="1232256" cy="352044"/>
            </a:xfrm>
            <a:prstGeom prst="rect">
              <a:avLst/>
            </a:prstGeom>
            <a:noFill/>
            <a:ln>
              <a:noFill/>
            </a:ln>
          </p:spPr>
          <p:txBody>
            <a:bodyPr wrap="none" lIns="0" tIns="0" rIns="0" bIns="0" anchor="t" anchorCtr="0">
              <a:spAutoFit/>
            </a:bodyPr>
            <a:lstStyle/>
            <a:p>
              <a:pPr algn="l"/>
              <a:r>
                <a:rPr lang="vi-VN" sz="1800" b="1" dirty="0">
                  <a:solidFill>
                    <a:srgbClr val="111111"/>
                  </a:solidFill>
                  <a:latin typeface="Arial"/>
                  <a:ea typeface="Arial"/>
                  <a:cs typeface="Arial"/>
                </a:rPr>
                <a:t>án và SRS</a:t>
              </a:r>
            </a:p>
          </p:txBody>
        </p:sp>
        <p:sp>
          <p:nvSpPr>
            <p:cNvPr id="17" name="TextBox 17"/>
            <p:cNvSpPr txBox="1"/>
            <p:nvPr/>
          </p:nvSpPr>
          <p:spPr>
            <a:xfrm>
              <a:off x="907923" y="3815239"/>
              <a:ext cx="2337260" cy="249364"/>
            </a:xfrm>
            <a:prstGeom prst="rect">
              <a:avLst/>
            </a:prstGeom>
            <a:noFill/>
            <a:ln>
              <a:noFill/>
            </a:ln>
          </p:spPr>
          <p:txBody>
            <a:bodyPr wrap="none" lIns="0" tIns="0" rIns="0" bIns="0" anchor="t" anchorCtr="0">
              <a:spAutoFit/>
            </a:bodyPr>
            <a:lstStyle/>
            <a:p>
              <a:pPr algn="l"/>
              <a:r>
                <a:rPr lang="vi-VN" sz="1280" dirty="0">
                  <a:solidFill>
                    <a:srgbClr val="1A1A1A"/>
                  </a:solidFill>
                  <a:latin typeface="Arial"/>
                  <a:ea typeface="Arial"/>
                  <a:cs typeface="Arial"/>
                </a:rPr>
                <a:t>Có kế hoạch, use case nghiệp</a:t>
              </a:r>
            </a:p>
          </p:txBody>
        </p:sp>
        <p:sp>
          <p:nvSpPr>
            <p:cNvPr id="18" name="TextBox 18"/>
            <p:cNvSpPr txBox="1"/>
            <p:nvPr/>
          </p:nvSpPr>
          <p:spPr>
            <a:xfrm>
              <a:off x="907923" y="4015264"/>
              <a:ext cx="2263680" cy="249364"/>
            </a:xfrm>
            <a:prstGeom prst="rect">
              <a:avLst/>
            </a:prstGeom>
            <a:noFill/>
            <a:ln>
              <a:noFill/>
            </a:ln>
          </p:spPr>
          <p:txBody>
            <a:bodyPr wrap="none" lIns="0" tIns="0" rIns="0" bIns="0" anchor="t" anchorCtr="0">
              <a:spAutoFit/>
            </a:bodyPr>
            <a:lstStyle/>
            <a:p>
              <a:pPr algn="l"/>
              <a:r>
                <a:rPr lang="vi-VN" sz="1280" dirty="0">
                  <a:solidFill>
                    <a:srgbClr val="1A1A1A"/>
                  </a:solidFill>
                  <a:latin typeface="Arial"/>
                  <a:ea typeface="Arial"/>
                  <a:cs typeface="Arial"/>
                </a:rPr>
                <a:t>vụ, rủi ro, phạm vi và yêu cầu</a:t>
              </a:r>
            </a:p>
          </p:txBody>
        </p:sp>
        <p:sp>
          <p:nvSpPr>
            <p:cNvPr id="19" name="TextBox 19"/>
            <p:cNvSpPr txBox="1"/>
            <p:nvPr/>
          </p:nvSpPr>
          <p:spPr>
            <a:xfrm>
              <a:off x="907923" y="4215289"/>
              <a:ext cx="558947" cy="249364"/>
            </a:xfrm>
            <a:prstGeom prst="rect">
              <a:avLst/>
            </a:prstGeom>
            <a:noFill/>
            <a:ln>
              <a:noFill/>
            </a:ln>
          </p:spPr>
          <p:txBody>
            <a:bodyPr wrap="none" lIns="0" tIns="0" rIns="0" bIns="0" anchor="t" anchorCtr="0">
              <a:spAutoFit/>
            </a:bodyPr>
            <a:lstStyle/>
            <a:p>
              <a:pPr algn="l"/>
              <a:r>
                <a:rPr lang="vi-VN" sz="1280" dirty="0">
                  <a:solidFill>
                    <a:srgbClr val="1A1A1A"/>
                  </a:solidFill>
                  <a:latin typeface="Arial"/>
                  <a:ea typeface="Arial"/>
                  <a:cs typeface="Arial"/>
                </a:rPr>
                <a:t>rõ ràng</a:t>
              </a:r>
            </a:p>
          </p:txBody>
        </p:sp>
        <p:sp>
          <p:nvSpPr>
            <p:cNvPr id="20" name="Rectangle 20"/>
            <p:cNvSpPr/>
            <p:nvPr/>
          </p:nvSpPr>
          <p:spPr>
            <a:xfrm>
              <a:off x="4114800" y="2381250"/>
              <a:ext cx="3048000" cy="2095500"/>
            </a:xfrm>
            <a:prstGeom prst="rect">
              <a:avLst/>
            </a:prstGeom>
            <a:solidFill>
              <a:srgbClr val="F5F5F5"/>
            </a:solidFill>
            <a:ln w="9525">
              <a:solidFill>
                <a:srgbClr val="E8E8E8"/>
              </a:solidFill>
            </a:ln>
          </p:spPr>
        </p:sp>
        <p:sp>
          <p:nvSpPr>
            <p:cNvPr id="21" name="TextBox 21"/>
            <p:cNvSpPr txBox="1"/>
            <p:nvPr/>
          </p:nvSpPr>
          <p:spPr>
            <a:xfrm>
              <a:off x="4336923" y="2643664"/>
              <a:ext cx="700671" cy="249364"/>
            </a:xfrm>
            <a:prstGeom prst="rect">
              <a:avLst/>
            </a:prstGeom>
            <a:noFill/>
            <a:ln>
              <a:noFill/>
            </a:ln>
          </p:spPr>
          <p:txBody>
            <a:bodyPr wrap="none" lIns="0" tIns="0" rIns="0" bIns="0" anchor="t" anchorCtr="0">
              <a:spAutoFit/>
            </a:bodyPr>
            <a:lstStyle/>
            <a:p>
              <a:pPr algn="l"/>
              <a:r>
                <a:rPr lang="vi-VN" sz="1280" b="1" dirty="0">
                  <a:solidFill>
                    <a:srgbClr val="6E6E6E"/>
                  </a:solidFill>
                  <a:latin typeface="Arial"/>
                  <a:ea typeface="Arial"/>
                  <a:cs typeface="Arial"/>
                </a:rPr>
                <a:t>Đầu ra 2</a:t>
              </a:r>
            </a:p>
          </p:txBody>
        </p:sp>
        <p:sp>
          <p:nvSpPr>
            <p:cNvPr id="22" name="TextBox 22"/>
            <p:cNvSpPr txBox="1"/>
            <p:nvPr/>
          </p:nvSpPr>
          <p:spPr>
            <a:xfrm>
              <a:off x="4334256" y="2834640"/>
              <a:ext cx="2126308" cy="352044"/>
            </a:xfrm>
            <a:prstGeom prst="rect">
              <a:avLst/>
            </a:prstGeom>
            <a:noFill/>
            <a:ln>
              <a:noFill/>
            </a:ln>
          </p:spPr>
          <p:txBody>
            <a:bodyPr wrap="none" lIns="0" tIns="0" rIns="0" bIns="0" anchor="t" anchorCtr="0">
              <a:spAutoFit/>
            </a:bodyPr>
            <a:lstStyle/>
            <a:p>
              <a:pPr algn="l"/>
              <a:r>
                <a:rPr lang="vi-VN" sz="1800" b="1" dirty="0">
                  <a:solidFill>
                    <a:srgbClr val="111111"/>
                  </a:solidFill>
                  <a:latin typeface="Arial"/>
                  <a:ea typeface="Arial"/>
                  <a:cs typeface="Arial"/>
                </a:rPr>
                <a:t>Tài liệu thiết kế hệ</a:t>
              </a:r>
            </a:p>
          </p:txBody>
        </p:sp>
        <p:sp>
          <p:nvSpPr>
            <p:cNvPr id="23" name="TextBox 23"/>
            <p:cNvSpPr txBox="1"/>
            <p:nvPr/>
          </p:nvSpPr>
          <p:spPr>
            <a:xfrm>
              <a:off x="4334256" y="3082290"/>
              <a:ext cx="691006" cy="352044"/>
            </a:xfrm>
            <a:prstGeom prst="rect">
              <a:avLst/>
            </a:prstGeom>
            <a:noFill/>
            <a:ln>
              <a:noFill/>
            </a:ln>
          </p:spPr>
          <p:txBody>
            <a:bodyPr wrap="none" lIns="0" tIns="0" rIns="0" bIns="0" anchor="t" anchorCtr="0">
              <a:spAutoFit/>
            </a:bodyPr>
            <a:lstStyle/>
            <a:p>
              <a:pPr algn="l"/>
              <a:r>
                <a:rPr lang="vi-VN" sz="1800" b="1" dirty="0">
                  <a:solidFill>
                    <a:srgbClr val="111111"/>
                  </a:solidFill>
                  <a:latin typeface="Arial"/>
                  <a:ea typeface="Arial"/>
                  <a:cs typeface="Arial"/>
                </a:rPr>
                <a:t>thống</a:t>
              </a:r>
            </a:p>
          </p:txBody>
        </p:sp>
        <p:sp>
          <p:nvSpPr>
            <p:cNvPr id="24" name="TextBox 24"/>
            <p:cNvSpPr txBox="1"/>
            <p:nvPr/>
          </p:nvSpPr>
          <p:spPr>
            <a:xfrm>
              <a:off x="4336923" y="3815239"/>
              <a:ext cx="2460810" cy="249364"/>
            </a:xfrm>
            <a:prstGeom prst="rect">
              <a:avLst/>
            </a:prstGeom>
            <a:noFill/>
            <a:ln>
              <a:noFill/>
            </a:ln>
          </p:spPr>
          <p:txBody>
            <a:bodyPr wrap="none" lIns="0" tIns="0" rIns="0" bIns="0" anchor="t" anchorCtr="0">
              <a:spAutoFit/>
            </a:bodyPr>
            <a:lstStyle/>
            <a:p>
              <a:pPr algn="l"/>
              <a:r>
                <a:rPr lang="vi-VN" sz="1280" dirty="0">
                  <a:solidFill>
                    <a:srgbClr val="1A1A1A"/>
                  </a:solidFill>
                  <a:latin typeface="Arial"/>
                  <a:ea typeface="Arial"/>
                  <a:cs typeface="Arial"/>
                </a:rPr>
                <a:t>Bao gồm UI/UX, sơ đồ cơ sở dữ</a:t>
              </a:r>
            </a:p>
          </p:txBody>
        </p:sp>
        <p:sp>
          <p:nvSpPr>
            <p:cNvPr id="25" name="TextBox 25"/>
            <p:cNvSpPr txBox="1"/>
            <p:nvPr/>
          </p:nvSpPr>
          <p:spPr>
            <a:xfrm>
              <a:off x="4336923" y="4015264"/>
              <a:ext cx="2062969" cy="249364"/>
            </a:xfrm>
            <a:prstGeom prst="rect">
              <a:avLst/>
            </a:prstGeom>
            <a:noFill/>
            <a:ln>
              <a:noFill/>
            </a:ln>
          </p:spPr>
          <p:txBody>
            <a:bodyPr wrap="none" lIns="0" tIns="0" rIns="0" bIns="0" anchor="t" anchorCtr="0">
              <a:spAutoFit/>
            </a:bodyPr>
            <a:lstStyle/>
            <a:p>
              <a:pPr algn="l"/>
              <a:r>
                <a:rPr lang="vi-VN" sz="1280" dirty="0">
                  <a:solidFill>
                    <a:srgbClr val="1A1A1A"/>
                  </a:solidFill>
                  <a:latin typeface="Arial"/>
                  <a:ea typeface="Arial"/>
                  <a:cs typeface="Arial"/>
                </a:rPr>
                <a:t>liệu chuẩn hóa và kiến trúc</a:t>
              </a:r>
            </a:p>
          </p:txBody>
        </p:sp>
        <p:sp>
          <p:nvSpPr>
            <p:cNvPr id="26" name="TextBox 26"/>
            <p:cNvSpPr txBox="1"/>
            <p:nvPr/>
          </p:nvSpPr>
          <p:spPr>
            <a:xfrm>
              <a:off x="4336923" y="4215289"/>
              <a:ext cx="367369" cy="249364"/>
            </a:xfrm>
            <a:prstGeom prst="rect">
              <a:avLst/>
            </a:prstGeom>
            <a:noFill/>
            <a:ln>
              <a:noFill/>
            </a:ln>
          </p:spPr>
          <p:txBody>
            <a:bodyPr wrap="none" lIns="0" tIns="0" rIns="0" bIns="0" anchor="t" anchorCtr="0">
              <a:spAutoFit/>
            </a:bodyPr>
            <a:lstStyle/>
            <a:p>
              <a:pPr algn="l"/>
              <a:r>
                <a:rPr lang="vi-VN" sz="1280" dirty="0">
                  <a:solidFill>
                    <a:srgbClr val="1A1A1A"/>
                  </a:solidFill>
                  <a:latin typeface="Arial"/>
                  <a:ea typeface="Arial"/>
                  <a:cs typeface="Arial"/>
                </a:rPr>
                <a:t>logic</a:t>
              </a:r>
            </a:p>
          </p:txBody>
        </p:sp>
        <p:sp>
          <p:nvSpPr>
            <p:cNvPr id="27" name="Rectangle 27"/>
            <p:cNvSpPr/>
            <p:nvPr/>
          </p:nvSpPr>
          <p:spPr>
            <a:xfrm>
              <a:off x="7543800" y="2381250"/>
              <a:ext cx="3048000" cy="2095500"/>
            </a:xfrm>
            <a:prstGeom prst="rect">
              <a:avLst/>
            </a:prstGeom>
            <a:solidFill>
              <a:srgbClr val="F5F5F5"/>
            </a:solidFill>
            <a:ln w="9525">
              <a:solidFill>
                <a:srgbClr val="E8E8E8"/>
              </a:solidFill>
            </a:ln>
          </p:spPr>
        </p:sp>
        <p:sp>
          <p:nvSpPr>
            <p:cNvPr id="28" name="TextBox 28"/>
            <p:cNvSpPr txBox="1"/>
            <p:nvPr/>
          </p:nvSpPr>
          <p:spPr>
            <a:xfrm>
              <a:off x="7765923" y="2643664"/>
              <a:ext cx="700671" cy="249364"/>
            </a:xfrm>
            <a:prstGeom prst="rect">
              <a:avLst/>
            </a:prstGeom>
            <a:noFill/>
            <a:ln>
              <a:noFill/>
            </a:ln>
          </p:spPr>
          <p:txBody>
            <a:bodyPr wrap="none" lIns="0" tIns="0" rIns="0" bIns="0" anchor="t" anchorCtr="0">
              <a:spAutoFit/>
            </a:bodyPr>
            <a:lstStyle/>
            <a:p>
              <a:pPr algn="l"/>
              <a:r>
                <a:rPr lang="vi-VN" sz="1280" b="1" dirty="0">
                  <a:solidFill>
                    <a:srgbClr val="6E6E6E"/>
                  </a:solidFill>
                  <a:latin typeface="Arial"/>
                  <a:ea typeface="Arial"/>
                  <a:cs typeface="Arial"/>
                </a:rPr>
                <a:t>Đầu ra 3</a:t>
              </a:r>
            </a:p>
          </p:txBody>
        </p:sp>
        <p:sp>
          <p:nvSpPr>
            <p:cNvPr id="29" name="TextBox 29"/>
            <p:cNvSpPr txBox="1"/>
            <p:nvPr/>
          </p:nvSpPr>
          <p:spPr>
            <a:xfrm>
              <a:off x="7763256" y="2834640"/>
              <a:ext cx="2464456" cy="352044"/>
            </a:xfrm>
            <a:prstGeom prst="rect">
              <a:avLst/>
            </a:prstGeom>
            <a:noFill/>
            <a:ln>
              <a:noFill/>
            </a:ln>
          </p:spPr>
          <p:txBody>
            <a:bodyPr wrap="none" lIns="0" tIns="0" rIns="0" bIns="0" anchor="t" anchorCtr="0">
              <a:spAutoFit/>
            </a:bodyPr>
            <a:lstStyle/>
            <a:p>
              <a:pPr algn="l"/>
              <a:r>
                <a:rPr lang="vi-VN" sz="1800" b="1" dirty="0">
                  <a:solidFill>
                    <a:srgbClr val="C8102E"/>
                  </a:solidFill>
                  <a:latin typeface="Arial"/>
                  <a:ea typeface="Arial"/>
                  <a:cs typeface="Arial"/>
                </a:rPr>
                <a:t>Phiên bản phần mềm</a:t>
              </a:r>
            </a:p>
          </p:txBody>
        </p:sp>
        <p:sp>
          <p:nvSpPr>
            <p:cNvPr id="30" name="TextBox 30"/>
            <p:cNvSpPr txBox="1"/>
            <p:nvPr/>
          </p:nvSpPr>
          <p:spPr>
            <a:xfrm>
              <a:off x="7763256" y="3082290"/>
              <a:ext cx="550965" cy="352044"/>
            </a:xfrm>
            <a:prstGeom prst="rect">
              <a:avLst/>
            </a:prstGeom>
            <a:noFill/>
            <a:ln>
              <a:noFill/>
            </a:ln>
          </p:spPr>
          <p:txBody>
            <a:bodyPr wrap="none" lIns="0" tIns="0" rIns="0" bIns="0" anchor="t" anchorCtr="0">
              <a:spAutoFit/>
            </a:bodyPr>
            <a:lstStyle/>
            <a:p>
              <a:pPr algn="l"/>
              <a:r>
                <a:rPr lang="vi-VN" sz="1800" b="1" dirty="0">
                  <a:solidFill>
                    <a:srgbClr val="C8102E"/>
                  </a:solidFill>
                  <a:latin typeface="Arial"/>
                  <a:ea typeface="Arial"/>
                  <a:cs typeface="Arial"/>
                </a:rPr>
                <a:t>Beta</a:t>
              </a:r>
            </a:p>
          </p:txBody>
        </p:sp>
        <p:sp>
          <p:nvSpPr>
            <p:cNvPr id="31" name="TextBox 31"/>
            <p:cNvSpPr txBox="1"/>
            <p:nvPr/>
          </p:nvSpPr>
          <p:spPr>
            <a:xfrm>
              <a:off x="7765923" y="3815239"/>
              <a:ext cx="2625260" cy="249364"/>
            </a:xfrm>
            <a:prstGeom prst="rect">
              <a:avLst/>
            </a:prstGeom>
            <a:noFill/>
            <a:ln>
              <a:noFill/>
            </a:ln>
          </p:spPr>
          <p:txBody>
            <a:bodyPr wrap="none" lIns="0" tIns="0" rIns="0" bIns="0" anchor="t" anchorCtr="0">
              <a:spAutoFit/>
            </a:bodyPr>
            <a:lstStyle/>
            <a:p>
              <a:pPr algn="l"/>
              <a:r>
                <a:rPr lang="vi-VN" sz="1280" dirty="0">
                  <a:solidFill>
                    <a:srgbClr val="1A1A1A"/>
                  </a:solidFill>
                  <a:latin typeface="Arial"/>
                  <a:ea typeface="Arial"/>
                  <a:cs typeface="Arial"/>
                </a:rPr>
                <a:t>Module Kho, Bán hàng, Bảo hành</a:t>
              </a:r>
            </a:p>
          </p:txBody>
        </p:sp>
        <p:sp>
          <p:nvSpPr>
            <p:cNvPr id="32" name="TextBox 32"/>
            <p:cNvSpPr txBox="1"/>
            <p:nvPr/>
          </p:nvSpPr>
          <p:spPr>
            <a:xfrm>
              <a:off x="7765923" y="4015264"/>
              <a:ext cx="1926144" cy="249364"/>
            </a:xfrm>
            <a:prstGeom prst="rect">
              <a:avLst/>
            </a:prstGeom>
            <a:noFill/>
            <a:ln>
              <a:noFill/>
            </a:ln>
          </p:spPr>
          <p:txBody>
            <a:bodyPr wrap="none" lIns="0" tIns="0" rIns="0" bIns="0" anchor="t" anchorCtr="0">
              <a:spAutoFit/>
            </a:bodyPr>
            <a:lstStyle/>
            <a:p>
              <a:pPr algn="l"/>
              <a:r>
                <a:rPr lang="vi-VN" sz="1280" dirty="0">
                  <a:solidFill>
                    <a:srgbClr val="1A1A1A"/>
                  </a:solidFill>
                  <a:latin typeface="Arial"/>
                  <a:ea typeface="Arial"/>
                  <a:cs typeface="Arial"/>
                </a:rPr>
                <a:t>được kiểm thử trước UAT</a:t>
              </a:r>
            </a:p>
          </p:txBody>
        </p:sp>
        <p:sp>
          <p:nvSpPr>
            <p:cNvPr id="33" name="Rectangle 33"/>
            <p:cNvSpPr/>
            <p:nvPr/>
          </p:nvSpPr>
          <p:spPr>
            <a:xfrm>
              <a:off x="685800" y="4810125"/>
              <a:ext cx="9906000" cy="666750"/>
            </a:xfrm>
            <a:prstGeom prst="rect">
              <a:avLst/>
            </a:prstGeom>
            <a:solidFill>
              <a:srgbClr val="FFFFFF"/>
            </a:solidFill>
            <a:ln w="9525">
              <a:solidFill>
                <a:srgbClr val="E8E8E8"/>
              </a:solidFill>
            </a:ln>
          </p:spPr>
        </p:sp>
        <p:sp>
          <p:nvSpPr>
            <p:cNvPr id="34" name="TextBox 34"/>
            <p:cNvSpPr txBox="1"/>
            <p:nvPr/>
          </p:nvSpPr>
          <p:spPr>
            <a:xfrm>
              <a:off x="906780" y="5057775"/>
              <a:ext cx="1872953" cy="293370"/>
            </a:xfrm>
            <a:prstGeom prst="rect">
              <a:avLst/>
            </a:prstGeom>
            <a:noFill/>
            <a:ln>
              <a:noFill/>
            </a:ln>
          </p:spPr>
          <p:txBody>
            <a:bodyPr wrap="none" lIns="0" tIns="0" rIns="0" bIns="0" anchor="t" anchorCtr="0">
              <a:spAutoFit/>
            </a:bodyPr>
            <a:lstStyle/>
            <a:p>
              <a:pPr algn="l"/>
              <a:r>
                <a:rPr lang="vi-VN" sz="1500" b="1" dirty="0">
                  <a:solidFill>
                    <a:srgbClr val="111111"/>
                  </a:solidFill>
                  <a:latin typeface="Arial"/>
                  <a:ea typeface="Arial"/>
                  <a:cs typeface="Arial"/>
                </a:rPr>
                <a:t>Phụ trợ nghiệm thu</a:t>
              </a:r>
            </a:p>
          </p:txBody>
        </p:sp>
        <p:sp>
          <p:nvSpPr>
            <p:cNvPr id="35" name="TextBox 35"/>
            <p:cNvSpPr txBox="1"/>
            <p:nvPr/>
          </p:nvSpPr>
          <p:spPr>
            <a:xfrm>
              <a:off x="3184017" y="5073968"/>
              <a:ext cx="2675798" cy="264033"/>
            </a:xfrm>
            <a:prstGeom prst="rect">
              <a:avLst/>
            </a:prstGeom>
            <a:noFill/>
            <a:ln>
              <a:noFill/>
            </a:ln>
          </p:spPr>
          <p:txBody>
            <a:bodyPr wrap="none" lIns="0" tIns="0" rIns="0" bIns="0" anchor="t" anchorCtr="0">
              <a:spAutoFit/>
            </a:bodyPr>
            <a:lstStyle/>
            <a:p>
              <a:pPr algn="l"/>
              <a:r>
                <a:rPr lang="vi-VN" sz="1350" b="1" dirty="0">
                  <a:solidFill>
                    <a:srgbClr val="1A1A1A"/>
                  </a:solidFill>
                  <a:latin typeface="Arial"/>
                  <a:ea typeface="Arial"/>
                  <a:cs typeface="Arial"/>
                </a:rPr>
                <a:t>Hướng dẫn sử dụng và đào tạo</a:t>
              </a:r>
            </a:p>
          </p:txBody>
        </p:sp>
        <p:sp>
          <p:nvSpPr>
            <p:cNvPr id="36" name="TextBox 36"/>
            <p:cNvSpPr txBox="1"/>
            <p:nvPr/>
          </p:nvSpPr>
          <p:spPr>
            <a:xfrm>
              <a:off x="6089142" y="5073968"/>
              <a:ext cx="2009301" cy="264033"/>
            </a:xfrm>
            <a:prstGeom prst="rect">
              <a:avLst/>
            </a:prstGeom>
            <a:noFill/>
            <a:ln>
              <a:noFill/>
            </a:ln>
          </p:spPr>
          <p:txBody>
            <a:bodyPr wrap="none" lIns="0" tIns="0" rIns="0" bIns="0" anchor="t" anchorCtr="0">
              <a:spAutoFit/>
            </a:bodyPr>
            <a:lstStyle/>
            <a:p>
              <a:pPr algn="l"/>
              <a:r>
                <a:rPr lang="vi-VN" sz="1350" b="1" dirty="0">
                  <a:solidFill>
                    <a:srgbClr val="1A1A1A"/>
                  </a:solidFill>
                  <a:latin typeface="Arial"/>
                  <a:ea typeface="Arial"/>
                  <a:cs typeface="Arial"/>
                </a:rPr>
                <a:t>Báo cáo tổng kết đề tài</a:t>
              </a:r>
            </a:p>
          </p:txBody>
        </p:sp>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bg-fill"/>
          <p:cNvSpPr/>
          <p:nvPr/>
        </p:nvSpPr>
        <p:spPr>
          <a:xfrm>
            <a:off x="-9525" y="-9525"/>
            <a:ext cx="12211050" cy="6877050"/>
          </a:xfrm>
          <a:prstGeom prst="rect">
            <a:avLst/>
          </a:prstGeom>
          <a:solidFill>
            <a:srgbClr val="FFFFFF"/>
          </a:solidFill>
          <a:ln>
            <a:noFill/>
          </a:ln>
        </p:spPr>
      </p:sp>
      <p:grpSp>
        <p:nvGrpSpPr>
          <p:cNvPr id="5" name="top-rule"/>
          <p:cNvGrpSpPr/>
          <p:nvPr/>
        </p:nvGrpSpPr>
        <p:grpSpPr>
          <a:xfrm>
            <a:off x="685800" y="723900"/>
            <a:ext cx="10820400" cy="38100"/>
            <a:chOff x="685800" y="723900"/>
            <a:chExt cx="10820400" cy="38100"/>
          </a:xfrm>
        </p:grpSpPr>
        <p:sp>
          <p:nvSpPr>
            <p:cNvPr id="3" name="Rectangle 3"/>
            <p:cNvSpPr/>
            <p:nvPr/>
          </p:nvSpPr>
          <p:spPr>
            <a:xfrm>
              <a:off x="685800" y="723900"/>
              <a:ext cx="10820400" cy="38100"/>
            </a:xfrm>
            <a:prstGeom prst="rect">
              <a:avLst/>
            </a:prstGeom>
            <a:solidFill>
              <a:srgbClr val="E8E8E8"/>
            </a:solidFill>
            <a:ln>
              <a:noFill/>
            </a:ln>
          </p:spPr>
        </p:sp>
        <p:sp>
          <p:nvSpPr>
            <p:cNvPr id="4" name="Rectangle 4"/>
            <p:cNvSpPr/>
            <p:nvPr/>
          </p:nvSpPr>
          <p:spPr>
            <a:xfrm>
              <a:off x="685800" y="723900"/>
              <a:ext cx="10820400" cy="38100"/>
            </a:xfrm>
            <a:prstGeom prst="rect">
              <a:avLst/>
            </a:prstGeom>
            <a:solidFill>
              <a:srgbClr val="C8102E"/>
            </a:solidFill>
            <a:ln>
              <a:noFill/>
            </a:ln>
          </p:spPr>
        </p:sp>
      </p:grpSp>
      <p:grpSp>
        <p:nvGrpSpPr>
          <p:cNvPr id="8" name="title"/>
          <p:cNvGrpSpPr/>
          <p:nvPr/>
        </p:nvGrpSpPr>
        <p:grpSpPr>
          <a:xfrm>
            <a:off x="652272" y="977265"/>
            <a:ext cx="7187736" cy="1193482"/>
            <a:chOff x="652272" y="977265"/>
            <a:chExt cx="7187736" cy="1193482"/>
          </a:xfrm>
        </p:grpSpPr>
        <p:sp>
          <p:nvSpPr>
            <p:cNvPr id="6" name="TextBox 6"/>
            <p:cNvSpPr txBox="1"/>
            <p:nvPr/>
          </p:nvSpPr>
          <p:spPr>
            <a:xfrm>
              <a:off x="652272" y="977265"/>
              <a:ext cx="6045698" cy="645414"/>
            </a:xfrm>
            <a:prstGeom prst="rect">
              <a:avLst/>
            </a:prstGeom>
            <a:noFill/>
            <a:ln>
              <a:noFill/>
            </a:ln>
          </p:spPr>
          <p:txBody>
            <a:bodyPr wrap="none" lIns="0" tIns="0" rIns="0" bIns="0" anchor="t" anchorCtr="0">
              <a:spAutoFit/>
            </a:bodyPr>
            <a:lstStyle/>
            <a:p>
              <a:pPr algn="l"/>
              <a:r>
                <a:rPr lang="vi-VN" sz="3300" b="1" dirty="0">
                  <a:solidFill>
                    <a:srgbClr val="111111"/>
                  </a:solidFill>
                  <a:latin typeface="Arial"/>
                  <a:ea typeface="Arial"/>
                  <a:cs typeface="Arial"/>
                </a:rPr>
                <a:t>Kết luận và hướng phát triển</a:t>
              </a:r>
            </a:p>
          </p:txBody>
        </p:sp>
        <p:sp>
          <p:nvSpPr>
            <p:cNvPr id="7" name="TextBox 7"/>
            <p:cNvSpPr txBox="1"/>
            <p:nvPr/>
          </p:nvSpPr>
          <p:spPr>
            <a:xfrm>
              <a:off x="677418" y="1848040"/>
              <a:ext cx="7162590" cy="322707"/>
            </a:xfrm>
            <a:prstGeom prst="rect">
              <a:avLst/>
            </a:prstGeom>
            <a:noFill/>
            <a:ln>
              <a:noFill/>
            </a:ln>
          </p:spPr>
          <p:txBody>
            <a:bodyPr wrap="none" lIns="0" tIns="0" rIns="0" bIns="0" anchor="t" anchorCtr="0">
              <a:spAutoFit/>
            </a:bodyPr>
            <a:lstStyle/>
            <a:p>
              <a:pPr algn="l"/>
              <a:r>
                <a:rPr lang="vi-VN" sz="1650" dirty="0">
                  <a:solidFill>
                    <a:srgbClr val="6E6E6E"/>
                  </a:solidFill>
                  <a:latin typeface="Arial"/>
                  <a:ea typeface="Arial"/>
                  <a:cs typeface="Arial"/>
                </a:rPr>
                <a:t>Dự án đáp ứng yêu cầu báo cáo quản trị dự án và có hướng mở rộng tiếp</a:t>
              </a:r>
            </a:p>
          </p:txBody>
        </p:sp>
      </p:grpSp>
      <p:grpSp>
        <p:nvGrpSpPr>
          <p:cNvPr id="12" name="footer"/>
          <p:cNvGrpSpPr/>
          <p:nvPr/>
        </p:nvGrpSpPr>
        <p:grpSpPr>
          <a:xfrm>
            <a:off x="680085" y="6286500"/>
            <a:ext cx="10831830" cy="327184"/>
            <a:chOff x="680085" y="6286500"/>
            <a:chExt cx="10831830" cy="327184"/>
          </a:xfrm>
        </p:grpSpPr>
        <p:sp>
          <p:nvSpPr>
            <p:cNvPr id="9" name="Freeform 9"/>
            <p:cNvSpPr/>
            <p:nvPr/>
          </p:nvSpPr>
          <p:spPr>
            <a:xfrm>
              <a:off x="685800" y="6286500"/>
              <a:ext cx="10820400" cy="9525"/>
            </a:xfrm>
            <a:custGeom>
              <a:avLst/>
              <a:gdLst/>
              <a:ahLst/>
              <a:cxnLst/>
              <a:rect l="l" t="t" r="r" b="b"/>
              <a:pathLst>
                <a:path w="10820400" h="9525">
                  <a:moveTo>
                    <a:pt x="0" y="0"/>
                  </a:moveTo>
                  <a:lnTo>
                    <a:pt x="10820400" y="0"/>
                  </a:lnTo>
                </a:path>
              </a:pathLst>
            </a:custGeom>
            <a:noFill/>
            <a:ln w="9525">
              <a:solidFill>
                <a:srgbClr val="E8E8E8"/>
              </a:solidFill>
            </a:ln>
          </p:spPr>
        </p:sp>
        <p:sp>
          <p:nvSpPr>
            <p:cNvPr id="10" name="TextBox 10"/>
            <p:cNvSpPr txBox="1"/>
            <p:nvPr/>
          </p:nvSpPr>
          <p:spPr>
            <a:xfrm>
              <a:off x="680085" y="6393656"/>
              <a:ext cx="2914269" cy="220028"/>
            </a:xfrm>
            <a:prstGeom prst="rect">
              <a:avLst/>
            </a:prstGeom>
            <a:noFill/>
            <a:ln>
              <a:noFill/>
            </a:ln>
          </p:spPr>
          <p:txBody>
            <a:bodyPr wrap="none" lIns="0" tIns="0" rIns="0" bIns="0" anchor="t" anchorCtr="0">
              <a:spAutoFit/>
            </a:bodyPr>
            <a:lstStyle/>
            <a:p>
              <a:pPr algn="l"/>
              <a:r>
                <a:rPr lang="vi-VN" sz="1120" dirty="0">
                  <a:solidFill>
                    <a:srgbClr val="6E6E6E"/>
                  </a:solidFill>
                  <a:latin typeface="Arial"/>
                  <a:ea typeface="Arial"/>
                  <a:cs typeface="Arial"/>
                </a:rPr>
                <a:t>Nhóm 04 | Lớp 765643-QTDA-VB2-20261</a:t>
              </a:r>
            </a:p>
          </p:txBody>
        </p:sp>
        <p:sp>
          <p:nvSpPr>
            <p:cNvPr id="11" name="TextBox 11"/>
            <p:cNvSpPr txBox="1"/>
            <p:nvPr/>
          </p:nvSpPr>
          <p:spPr>
            <a:xfrm>
              <a:off x="11332764" y="6393656"/>
              <a:ext cx="179151" cy="220028"/>
            </a:xfrm>
            <a:prstGeom prst="rect">
              <a:avLst/>
            </a:prstGeom>
            <a:noFill/>
            <a:ln>
              <a:noFill/>
            </a:ln>
          </p:spPr>
          <p:txBody>
            <a:bodyPr wrap="none" lIns="0" tIns="0" rIns="0" bIns="0" anchor="t" anchorCtr="0">
              <a:spAutoFit/>
            </a:bodyPr>
            <a:lstStyle/>
            <a:p>
              <a:pPr algn="r"/>
              <a:r>
                <a:rPr lang="vi-VN" sz="1120" dirty="0">
                  <a:solidFill>
                    <a:srgbClr val="6E6E6E"/>
                  </a:solidFill>
                  <a:latin typeface="Arial"/>
                  <a:ea typeface="Arial"/>
                  <a:cs typeface="Arial"/>
                </a:rPr>
                <a:t>20</a:t>
              </a:r>
            </a:p>
          </p:txBody>
        </p:sp>
      </p:grpSp>
      <p:grpSp>
        <p:nvGrpSpPr>
          <p:cNvPr id="25" name="lessons"/>
          <p:cNvGrpSpPr/>
          <p:nvPr/>
        </p:nvGrpSpPr>
        <p:grpSpPr>
          <a:xfrm>
            <a:off x="677799" y="2287429"/>
            <a:ext cx="7098536" cy="2484025"/>
            <a:chOff x="677799" y="2287429"/>
            <a:chExt cx="7098536" cy="2484025"/>
          </a:xfrm>
        </p:grpSpPr>
        <p:sp>
          <p:nvSpPr>
            <p:cNvPr id="13" name="TextBox 13"/>
            <p:cNvSpPr txBox="1"/>
            <p:nvPr/>
          </p:nvSpPr>
          <p:spPr>
            <a:xfrm>
              <a:off x="677799" y="2287429"/>
              <a:ext cx="90468" cy="308039"/>
            </a:xfrm>
            <a:prstGeom prst="rect">
              <a:avLst/>
            </a:prstGeom>
            <a:noFill/>
            <a:ln>
              <a:noFill/>
            </a:ln>
          </p:spPr>
          <p:txBody>
            <a:bodyPr wrap="none" lIns="0" tIns="0" rIns="0" bIns="0" anchor="t" anchorCtr="0">
              <a:spAutoFit/>
            </a:bodyPr>
            <a:lstStyle/>
            <a:p>
              <a:pPr algn="l"/>
              <a:r>
                <a:rPr lang="vi-VN" sz="1580" b="1" dirty="0">
                  <a:solidFill>
                    <a:srgbClr val="C8102E"/>
                  </a:solidFill>
                  <a:latin typeface="Arial"/>
                  <a:ea typeface="Arial"/>
                  <a:cs typeface="Arial"/>
                </a:rPr>
                <a:t>•</a:t>
              </a:r>
            </a:p>
          </p:txBody>
        </p:sp>
        <p:sp>
          <p:nvSpPr>
            <p:cNvPr id="14" name="TextBox 14"/>
            <p:cNvSpPr txBox="1"/>
            <p:nvPr/>
          </p:nvSpPr>
          <p:spPr>
            <a:xfrm>
              <a:off x="906399" y="2287429"/>
              <a:ext cx="6691636" cy="308039"/>
            </a:xfrm>
            <a:prstGeom prst="rect">
              <a:avLst/>
            </a:prstGeom>
            <a:noFill/>
            <a:ln>
              <a:noFill/>
            </a:ln>
          </p:spPr>
          <p:txBody>
            <a:bodyPr wrap="none" lIns="0" tIns="0" rIns="0" bIns="0" anchor="t" anchorCtr="0">
              <a:spAutoFit/>
            </a:bodyPr>
            <a:lstStyle/>
            <a:p>
              <a:pPr algn="l"/>
              <a:r>
                <a:rPr lang="vi-VN" sz="1580" dirty="0">
                  <a:solidFill>
                    <a:srgbClr val="1A1A1A"/>
                  </a:solidFill>
                  <a:latin typeface="Arial"/>
                  <a:ea typeface="Arial"/>
                  <a:cs typeface="Arial"/>
                </a:rPr>
                <a:t>Khảo sát kỹ trước khi thiết kế giúp hệ thống bám sát nghiệp vụ và giảm</a:t>
              </a:r>
            </a:p>
          </p:txBody>
        </p:sp>
        <p:sp>
          <p:nvSpPr>
            <p:cNvPr id="15" name="TextBox 15"/>
            <p:cNvSpPr txBox="1"/>
            <p:nvPr/>
          </p:nvSpPr>
          <p:spPr>
            <a:xfrm>
              <a:off x="906399" y="2557462"/>
              <a:ext cx="1777793" cy="308039"/>
            </a:xfrm>
            <a:prstGeom prst="rect">
              <a:avLst/>
            </a:prstGeom>
            <a:noFill/>
            <a:ln>
              <a:noFill/>
            </a:ln>
          </p:spPr>
          <p:txBody>
            <a:bodyPr wrap="none" lIns="0" tIns="0" rIns="0" bIns="0" anchor="t" anchorCtr="0">
              <a:spAutoFit/>
            </a:bodyPr>
            <a:lstStyle/>
            <a:p>
              <a:pPr algn="l"/>
              <a:r>
                <a:rPr lang="vi-VN" sz="1580" dirty="0">
                  <a:solidFill>
                    <a:srgbClr val="1A1A1A"/>
                  </a:solidFill>
                  <a:latin typeface="Arial"/>
                  <a:ea typeface="Arial"/>
                  <a:cs typeface="Arial"/>
                </a:rPr>
                <a:t>nguy cơ thiết kế lại</a:t>
              </a:r>
            </a:p>
          </p:txBody>
        </p:sp>
        <p:sp>
          <p:nvSpPr>
            <p:cNvPr id="16" name="TextBox 16"/>
            <p:cNvSpPr txBox="1"/>
            <p:nvPr/>
          </p:nvSpPr>
          <p:spPr>
            <a:xfrm>
              <a:off x="677799" y="2922746"/>
              <a:ext cx="90468" cy="308039"/>
            </a:xfrm>
            <a:prstGeom prst="rect">
              <a:avLst/>
            </a:prstGeom>
            <a:noFill/>
            <a:ln>
              <a:noFill/>
            </a:ln>
          </p:spPr>
          <p:txBody>
            <a:bodyPr wrap="none" lIns="0" tIns="0" rIns="0" bIns="0" anchor="t" anchorCtr="0">
              <a:spAutoFit/>
            </a:bodyPr>
            <a:lstStyle/>
            <a:p>
              <a:pPr algn="l"/>
              <a:r>
                <a:rPr lang="vi-VN" sz="1580" b="1" dirty="0">
                  <a:solidFill>
                    <a:srgbClr val="C8102E"/>
                  </a:solidFill>
                  <a:latin typeface="Arial"/>
                  <a:ea typeface="Arial"/>
                  <a:cs typeface="Arial"/>
                </a:rPr>
                <a:t>•</a:t>
              </a:r>
            </a:p>
          </p:txBody>
        </p:sp>
        <p:sp>
          <p:nvSpPr>
            <p:cNvPr id="17" name="TextBox 17"/>
            <p:cNvSpPr txBox="1"/>
            <p:nvPr/>
          </p:nvSpPr>
          <p:spPr>
            <a:xfrm>
              <a:off x="906399" y="2922746"/>
              <a:ext cx="6869936" cy="308039"/>
            </a:xfrm>
            <a:prstGeom prst="rect">
              <a:avLst/>
            </a:prstGeom>
            <a:noFill/>
            <a:ln>
              <a:noFill/>
            </a:ln>
          </p:spPr>
          <p:txBody>
            <a:bodyPr wrap="none" lIns="0" tIns="0" rIns="0" bIns="0" anchor="t" anchorCtr="0">
              <a:spAutoFit/>
            </a:bodyPr>
            <a:lstStyle/>
            <a:p>
              <a:pPr algn="l"/>
              <a:r>
                <a:rPr lang="vi-VN" sz="1580" dirty="0">
                  <a:solidFill>
                    <a:srgbClr val="1A1A1A"/>
                  </a:solidFill>
                  <a:latin typeface="Arial"/>
                  <a:ea typeface="Arial"/>
                  <a:cs typeface="Arial"/>
                </a:rPr>
                <a:t>Đội 4 người cần đào tạo chéo và lưu tài liệu, mã nguồn tập trung để giảm</a:t>
              </a:r>
            </a:p>
          </p:txBody>
        </p:sp>
        <p:sp>
          <p:nvSpPr>
            <p:cNvPr id="18" name="TextBox 18"/>
            <p:cNvSpPr txBox="1"/>
            <p:nvPr/>
          </p:nvSpPr>
          <p:spPr>
            <a:xfrm>
              <a:off x="906399" y="3192780"/>
              <a:ext cx="1766392" cy="308039"/>
            </a:xfrm>
            <a:prstGeom prst="rect">
              <a:avLst/>
            </a:prstGeom>
            <a:noFill/>
            <a:ln>
              <a:noFill/>
            </a:ln>
          </p:spPr>
          <p:txBody>
            <a:bodyPr wrap="none" lIns="0" tIns="0" rIns="0" bIns="0" anchor="t" anchorCtr="0">
              <a:spAutoFit/>
            </a:bodyPr>
            <a:lstStyle/>
            <a:p>
              <a:pPr algn="l"/>
              <a:r>
                <a:rPr lang="vi-VN" sz="1580" dirty="0">
                  <a:solidFill>
                    <a:srgbClr val="1A1A1A"/>
                  </a:solidFill>
                  <a:latin typeface="Arial"/>
                  <a:ea typeface="Arial"/>
                  <a:cs typeface="Arial"/>
                </a:rPr>
                <a:t>phụ thuộc cá nhân</a:t>
              </a:r>
            </a:p>
          </p:txBody>
        </p:sp>
        <p:sp>
          <p:nvSpPr>
            <p:cNvPr id="19" name="TextBox 19"/>
            <p:cNvSpPr txBox="1"/>
            <p:nvPr/>
          </p:nvSpPr>
          <p:spPr>
            <a:xfrm>
              <a:off x="677799" y="3558064"/>
              <a:ext cx="90468" cy="308039"/>
            </a:xfrm>
            <a:prstGeom prst="rect">
              <a:avLst/>
            </a:prstGeom>
            <a:noFill/>
            <a:ln>
              <a:noFill/>
            </a:ln>
          </p:spPr>
          <p:txBody>
            <a:bodyPr wrap="none" lIns="0" tIns="0" rIns="0" bIns="0" anchor="t" anchorCtr="0">
              <a:spAutoFit/>
            </a:bodyPr>
            <a:lstStyle/>
            <a:p>
              <a:pPr algn="l"/>
              <a:r>
                <a:rPr lang="vi-VN" sz="1580" b="1" dirty="0">
                  <a:solidFill>
                    <a:srgbClr val="C8102E"/>
                  </a:solidFill>
                  <a:latin typeface="Arial"/>
                  <a:ea typeface="Arial"/>
                  <a:cs typeface="Arial"/>
                </a:rPr>
                <a:t>•</a:t>
              </a:r>
            </a:p>
          </p:txBody>
        </p:sp>
        <p:sp>
          <p:nvSpPr>
            <p:cNvPr id="20" name="TextBox 20"/>
            <p:cNvSpPr txBox="1"/>
            <p:nvPr/>
          </p:nvSpPr>
          <p:spPr>
            <a:xfrm>
              <a:off x="906399" y="3558064"/>
              <a:ext cx="6593264" cy="308039"/>
            </a:xfrm>
            <a:prstGeom prst="rect">
              <a:avLst/>
            </a:prstGeom>
            <a:noFill/>
            <a:ln>
              <a:noFill/>
            </a:ln>
          </p:spPr>
          <p:txBody>
            <a:bodyPr wrap="none" lIns="0" tIns="0" rIns="0" bIns="0" anchor="t" anchorCtr="0">
              <a:spAutoFit/>
            </a:bodyPr>
            <a:lstStyle/>
            <a:p>
              <a:pPr algn="l"/>
              <a:r>
                <a:rPr lang="vi-VN" sz="1580" dirty="0">
                  <a:solidFill>
                    <a:srgbClr val="1A1A1A"/>
                  </a:solidFill>
                  <a:latin typeface="Arial"/>
                  <a:ea typeface="Arial"/>
                  <a:cs typeface="Arial"/>
                </a:rPr>
                <a:t>SRS và kiểm soát thay đổi là điều kiện để Agile không làm trôi tiến độ</a:t>
              </a:r>
            </a:p>
          </p:txBody>
        </p:sp>
        <p:sp>
          <p:nvSpPr>
            <p:cNvPr id="21" name="TextBox 21"/>
            <p:cNvSpPr txBox="1"/>
            <p:nvPr/>
          </p:nvSpPr>
          <p:spPr>
            <a:xfrm>
              <a:off x="906399" y="3828098"/>
              <a:ext cx="2192132" cy="308039"/>
            </a:xfrm>
            <a:prstGeom prst="rect">
              <a:avLst/>
            </a:prstGeom>
            <a:noFill/>
            <a:ln>
              <a:noFill/>
            </a:ln>
          </p:spPr>
          <p:txBody>
            <a:bodyPr wrap="none" lIns="0" tIns="0" rIns="0" bIns="0" anchor="t" anchorCtr="0">
              <a:spAutoFit/>
            </a:bodyPr>
            <a:lstStyle/>
            <a:p>
              <a:pPr algn="l"/>
              <a:r>
                <a:rPr lang="vi-VN" sz="1580" dirty="0">
                  <a:solidFill>
                    <a:srgbClr val="1A1A1A"/>
                  </a:solidFill>
                  <a:latin typeface="Arial"/>
                  <a:ea typeface="Arial"/>
                  <a:cs typeface="Arial"/>
                </a:rPr>
                <a:t>trong hợp đồng cố định</a:t>
              </a:r>
            </a:p>
          </p:txBody>
        </p:sp>
        <p:sp>
          <p:nvSpPr>
            <p:cNvPr id="22" name="TextBox 22"/>
            <p:cNvSpPr txBox="1"/>
            <p:nvPr/>
          </p:nvSpPr>
          <p:spPr>
            <a:xfrm>
              <a:off x="677799" y="4193381"/>
              <a:ext cx="90468" cy="308039"/>
            </a:xfrm>
            <a:prstGeom prst="rect">
              <a:avLst/>
            </a:prstGeom>
            <a:noFill/>
            <a:ln>
              <a:noFill/>
            </a:ln>
          </p:spPr>
          <p:txBody>
            <a:bodyPr wrap="none" lIns="0" tIns="0" rIns="0" bIns="0" anchor="t" anchorCtr="0">
              <a:spAutoFit/>
            </a:bodyPr>
            <a:lstStyle/>
            <a:p>
              <a:pPr algn="l"/>
              <a:r>
                <a:rPr lang="vi-VN" sz="1580" b="1" dirty="0">
                  <a:solidFill>
                    <a:srgbClr val="C8102E"/>
                  </a:solidFill>
                  <a:latin typeface="Arial"/>
                  <a:ea typeface="Arial"/>
                  <a:cs typeface="Arial"/>
                </a:rPr>
                <a:t>•</a:t>
              </a:r>
            </a:p>
          </p:txBody>
        </p:sp>
        <p:sp>
          <p:nvSpPr>
            <p:cNvPr id="23" name="TextBox 23"/>
            <p:cNvSpPr txBox="1"/>
            <p:nvPr/>
          </p:nvSpPr>
          <p:spPr>
            <a:xfrm>
              <a:off x="906399" y="4193381"/>
              <a:ext cx="6364378" cy="308039"/>
            </a:xfrm>
            <a:prstGeom prst="rect">
              <a:avLst/>
            </a:prstGeom>
            <a:noFill/>
            <a:ln>
              <a:noFill/>
            </a:ln>
          </p:spPr>
          <p:txBody>
            <a:bodyPr wrap="none" lIns="0" tIns="0" rIns="0" bIns="0" anchor="t" anchorCtr="0">
              <a:spAutoFit/>
            </a:bodyPr>
            <a:lstStyle/>
            <a:p>
              <a:pPr algn="l"/>
              <a:r>
                <a:rPr lang="vi-VN" sz="1580" dirty="0">
                  <a:solidFill>
                    <a:srgbClr val="1A1A1A"/>
                  </a:solidFill>
                  <a:latin typeface="Arial"/>
                  <a:ea typeface="Arial"/>
                  <a:cs typeface="Arial"/>
                </a:rPr>
                <a:t>Sản phẩm có thể mở rộng theo hướng SaaS, thanh toán trực tuyến,</a:t>
              </a:r>
            </a:p>
          </p:txBody>
        </p:sp>
        <p:sp>
          <p:nvSpPr>
            <p:cNvPr id="24" name="TextBox 24"/>
            <p:cNvSpPr txBox="1"/>
            <p:nvPr/>
          </p:nvSpPr>
          <p:spPr>
            <a:xfrm>
              <a:off x="906399" y="4463415"/>
              <a:ext cx="3918529" cy="308039"/>
            </a:xfrm>
            <a:prstGeom prst="rect">
              <a:avLst/>
            </a:prstGeom>
            <a:noFill/>
            <a:ln>
              <a:noFill/>
            </a:ln>
          </p:spPr>
          <p:txBody>
            <a:bodyPr wrap="none" lIns="0" tIns="0" rIns="0" bIns="0" anchor="t" anchorCtr="0">
              <a:spAutoFit/>
            </a:bodyPr>
            <a:lstStyle/>
            <a:p>
              <a:pPr algn="l"/>
              <a:r>
                <a:rPr lang="vi-VN" sz="1580" dirty="0">
                  <a:solidFill>
                    <a:srgbClr val="1A1A1A"/>
                  </a:solidFill>
                  <a:latin typeface="Arial"/>
                  <a:ea typeface="Arial"/>
                  <a:cs typeface="Arial"/>
                </a:rPr>
                <a:t>logistics, đa chi nhánh và bảo hành ngoài</a:t>
              </a:r>
            </a:p>
          </p:txBody>
        </p:sp>
      </p:grpSp>
      <p:grpSp>
        <p:nvGrpSpPr>
          <p:cNvPr id="31" name="final-callout"/>
          <p:cNvGrpSpPr/>
          <p:nvPr/>
        </p:nvGrpSpPr>
        <p:grpSpPr>
          <a:xfrm>
            <a:off x="8556498" y="2898458"/>
            <a:ext cx="1809284" cy="1922907"/>
            <a:chOff x="8556498" y="2898458"/>
            <a:chExt cx="1809284" cy="1922907"/>
          </a:xfrm>
        </p:grpSpPr>
        <p:sp>
          <p:nvSpPr>
            <p:cNvPr id="26" name="TextBox 26"/>
            <p:cNvSpPr txBox="1"/>
            <p:nvPr/>
          </p:nvSpPr>
          <p:spPr>
            <a:xfrm>
              <a:off x="8556498" y="2898458"/>
              <a:ext cx="1718335" cy="616077"/>
            </a:xfrm>
            <a:prstGeom prst="rect">
              <a:avLst/>
            </a:prstGeom>
            <a:noFill/>
            <a:ln>
              <a:noFill/>
            </a:ln>
          </p:spPr>
          <p:txBody>
            <a:bodyPr wrap="none" lIns="0" tIns="0" rIns="0" bIns="0" anchor="t" anchorCtr="0">
              <a:spAutoFit/>
            </a:bodyPr>
            <a:lstStyle/>
            <a:p>
              <a:pPr algn="l"/>
              <a:r>
                <a:rPr lang="vi-VN" sz="3150" b="1" dirty="0">
                  <a:solidFill>
                    <a:srgbClr val="C8102E"/>
                  </a:solidFill>
                  <a:latin typeface="Arial"/>
                  <a:ea typeface="Arial"/>
                  <a:cs typeface="Arial"/>
                </a:rPr>
                <a:t>Kết luận</a:t>
              </a:r>
            </a:p>
          </p:txBody>
        </p:sp>
        <p:sp>
          <p:nvSpPr>
            <p:cNvPr id="27" name="TextBox 27"/>
            <p:cNvSpPr txBox="1"/>
            <p:nvPr/>
          </p:nvSpPr>
          <p:spPr>
            <a:xfrm>
              <a:off x="8564118" y="3555682"/>
              <a:ext cx="1801664" cy="322707"/>
            </a:xfrm>
            <a:prstGeom prst="rect">
              <a:avLst/>
            </a:prstGeom>
            <a:noFill/>
            <a:ln>
              <a:noFill/>
            </a:ln>
          </p:spPr>
          <p:txBody>
            <a:bodyPr wrap="none" lIns="0" tIns="0" rIns="0" bIns="0" anchor="t" anchorCtr="0">
              <a:spAutoFit/>
            </a:bodyPr>
            <a:lstStyle/>
            <a:p>
              <a:pPr algn="l"/>
              <a:r>
                <a:rPr lang="vi-VN" sz="1650" b="1" dirty="0">
                  <a:solidFill>
                    <a:srgbClr val="111111"/>
                  </a:solidFill>
                  <a:latin typeface="Arial"/>
                  <a:ea typeface="Arial"/>
                  <a:cs typeface="Arial"/>
                </a:rPr>
                <a:t>Dự án khả thi khi</a:t>
              </a:r>
            </a:p>
          </p:txBody>
        </p:sp>
        <p:sp>
          <p:nvSpPr>
            <p:cNvPr id="28" name="TextBox 28"/>
            <p:cNvSpPr txBox="1"/>
            <p:nvPr/>
          </p:nvSpPr>
          <p:spPr>
            <a:xfrm>
              <a:off x="8564118" y="3870008"/>
              <a:ext cx="1559941" cy="322707"/>
            </a:xfrm>
            <a:prstGeom prst="rect">
              <a:avLst/>
            </a:prstGeom>
            <a:noFill/>
            <a:ln>
              <a:noFill/>
            </a:ln>
          </p:spPr>
          <p:txBody>
            <a:bodyPr wrap="none" lIns="0" tIns="0" rIns="0" bIns="0" anchor="t" anchorCtr="0">
              <a:spAutoFit/>
            </a:bodyPr>
            <a:lstStyle/>
            <a:p>
              <a:pPr algn="l"/>
              <a:r>
                <a:rPr lang="vi-VN" sz="1650" b="1" dirty="0">
                  <a:solidFill>
                    <a:srgbClr val="111111"/>
                  </a:solidFill>
                  <a:latin typeface="Arial"/>
                  <a:ea typeface="Arial"/>
                  <a:cs typeface="Arial"/>
                </a:rPr>
                <a:t>kiểm soát chặt</a:t>
              </a:r>
            </a:p>
          </p:txBody>
        </p:sp>
        <p:sp>
          <p:nvSpPr>
            <p:cNvPr id="29" name="TextBox 29"/>
            <p:cNvSpPr txBox="1"/>
            <p:nvPr/>
          </p:nvSpPr>
          <p:spPr>
            <a:xfrm>
              <a:off x="8564118" y="4184332"/>
              <a:ext cx="1756920" cy="322707"/>
            </a:xfrm>
            <a:prstGeom prst="rect">
              <a:avLst/>
            </a:prstGeom>
            <a:noFill/>
            <a:ln>
              <a:noFill/>
            </a:ln>
          </p:spPr>
          <p:txBody>
            <a:bodyPr wrap="none" lIns="0" tIns="0" rIns="0" bIns="0" anchor="t" anchorCtr="0">
              <a:spAutoFit/>
            </a:bodyPr>
            <a:lstStyle/>
            <a:p>
              <a:pPr algn="l"/>
              <a:r>
                <a:rPr lang="vi-VN" sz="1650" b="1" dirty="0">
                  <a:solidFill>
                    <a:srgbClr val="111111"/>
                  </a:solidFill>
                  <a:latin typeface="Arial"/>
                  <a:ea typeface="Arial"/>
                  <a:cs typeface="Arial"/>
                </a:rPr>
                <a:t>phạm vi, dữ liệu,</a:t>
              </a:r>
            </a:p>
          </p:txBody>
        </p:sp>
        <p:sp>
          <p:nvSpPr>
            <p:cNvPr id="30" name="TextBox 30"/>
            <p:cNvSpPr txBox="1"/>
            <p:nvPr/>
          </p:nvSpPr>
          <p:spPr>
            <a:xfrm>
              <a:off x="8564118" y="4498658"/>
              <a:ext cx="1783829" cy="322707"/>
            </a:xfrm>
            <a:prstGeom prst="rect">
              <a:avLst/>
            </a:prstGeom>
            <a:noFill/>
            <a:ln>
              <a:noFill/>
            </a:ln>
          </p:spPr>
          <p:txBody>
            <a:bodyPr wrap="none" lIns="0" tIns="0" rIns="0" bIns="0" anchor="t" anchorCtr="0">
              <a:spAutoFit/>
            </a:bodyPr>
            <a:lstStyle/>
            <a:p>
              <a:pPr algn="l"/>
              <a:r>
                <a:rPr lang="vi-VN" sz="1650" b="1" dirty="0">
                  <a:solidFill>
                    <a:srgbClr val="111111"/>
                  </a:solidFill>
                  <a:latin typeface="Arial"/>
                  <a:ea typeface="Arial"/>
                  <a:cs typeface="Arial"/>
                </a:rPr>
                <a:t>nhân sự và UAT.</a:t>
              </a:r>
            </a:p>
          </p:txBody>
        </p:sp>
      </p:grpSp>
    </p:spTree>
  </p:cSld>
  <p:clrMapOvr>
    <a:masterClrMapping/>
  </p:clrMapOvr>
</p:sld>
</file>

<file path=ppt/theme/theme1.xml><?xml version="1.0" encoding="utf-8"?>
<a:theme xmlns:a="http://schemas.openxmlformats.org/drawingml/2006/main" name="ppt169_solar_cheapest_power">
  <a:themeElements>
    <a:clrScheme name="ppt169_solar_cheapest_power">
      <a:dk1>
        <a:srgbClr val="1A1A1A"/>
      </a:dk1>
      <a:lt1>
        <a:srgbClr val="FFFFFF"/>
      </a:lt1>
      <a:dk2>
        <a:srgbClr val="1F497D"/>
      </a:dk2>
      <a:lt2>
        <a:srgbClr val="F2F2F2"/>
      </a:lt2>
      <a:accent1>
        <a:srgbClr val="111111"/>
      </a:accent1>
      <a:accent2>
        <a:srgbClr val="C8102E"/>
      </a:accent2>
      <a:accent3>
        <a:srgbClr val="6E6E6E"/>
      </a:accent3>
      <a:accent4>
        <a:srgbClr val="111111"/>
      </a:accent4>
      <a:accent5>
        <a:srgbClr val="6E6E6E"/>
      </a:accent5>
      <a:accent6>
        <a:srgbClr val="D4D4D4"/>
      </a:accent6>
      <a:hlink>
        <a:srgbClr val="C8102E"/>
      </a:hlink>
      <a:folHlink>
        <a:srgbClr val="6E6E6E"/>
      </a:folHlink>
    </a:clrScheme>
    <a:fontScheme name="ppt169_solar_cheapest_power">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pt169_solar_cheapest_power">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ppt169_solar_cheapest_power">
  <a:themeElements>
    <a:clrScheme name="ppt169_solar_cheapest_power">
      <a:dk1>
        <a:srgbClr val="1A1A1A"/>
      </a:dk1>
      <a:lt1>
        <a:srgbClr val="FFFFFF"/>
      </a:lt1>
      <a:dk2>
        <a:srgbClr val="1F497D"/>
      </a:dk2>
      <a:lt2>
        <a:srgbClr val="F2F2F2"/>
      </a:lt2>
      <a:accent1>
        <a:srgbClr val="111111"/>
      </a:accent1>
      <a:accent2>
        <a:srgbClr val="C8102E"/>
      </a:accent2>
      <a:accent3>
        <a:srgbClr val="6E6E6E"/>
      </a:accent3>
      <a:accent4>
        <a:srgbClr val="111111"/>
      </a:accent4>
      <a:accent5>
        <a:srgbClr val="6E6E6E"/>
      </a:accent5>
      <a:accent6>
        <a:srgbClr val="D4D4D4"/>
      </a:accent6>
      <a:hlink>
        <a:srgbClr val="C8102E"/>
      </a:hlink>
      <a:folHlink>
        <a:srgbClr val="6E6E6E"/>
      </a:folHlink>
    </a:clrScheme>
    <a:fontScheme name="ppt169_solar_cheapest_power">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pt169_solar_cheapest_power">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7BB4CB8C644074DA8C0D9544B46C45A" ma:contentTypeVersion="10" ma:contentTypeDescription="Create a new document." ma:contentTypeScope="" ma:versionID="6cd6a6fc9d500661ae2c712001574a63">
  <xsd:schema xmlns:xsd="http://www.w3.org/2001/XMLSchema" xmlns:xs="http://www.w3.org/2001/XMLSchema" xmlns:p="http://schemas.microsoft.com/office/2006/metadata/properties" xmlns:ns2="6ab11da6-c5b9-49cb-ad83-ae21ec205006" xmlns:ns3="8620256f-1d2f-43d2-8d17-c8c02a124848" targetNamespace="http://schemas.microsoft.com/office/2006/metadata/properties" ma:root="true" ma:fieldsID="5a8690fc04d69f1d5e321c6403e17232" ns2:_="" ns3:_="">
    <xsd:import namespace="6ab11da6-c5b9-49cb-ad83-ae21ec205006"/>
    <xsd:import namespace="8620256f-1d2f-43d2-8d17-c8c02a124848"/>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ab11da6-c5b9-49cb-ad83-ae21ec20500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546fe6cf-c6c6-432e-bc3b-e1a865b2857d"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8620256f-1d2f-43d2-8d17-c8c02a124848"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cc5c2c83-07ff-4f8e-b7a6-caccdf7c6711}" ma:internalName="TaxCatchAll" ma:showField="CatchAllData" ma:web="8620256f-1d2f-43d2-8d17-c8c02a124848">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6ab11da6-c5b9-49cb-ad83-ae21ec205006">
      <Terms xmlns="http://schemas.microsoft.com/office/infopath/2007/PartnerControls"/>
    </lcf76f155ced4ddcb4097134ff3c332f>
    <TaxCatchAll xmlns="8620256f-1d2f-43d2-8d17-c8c02a124848" xsi:nil="true"/>
  </documentManagement>
</p:properties>
</file>

<file path=customXml/itemProps1.xml><?xml version="1.0" encoding="utf-8"?>
<ds:datastoreItem xmlns:ds="http://schemas.openxmlformats.org/officeDocument/2006/customXml" ds:itemID="{DED716AE-5FA5-49FF-B606-40C302AB6DA2}"/>
</file>

<file path=customXml/itemProps2.xml><?xml version="1.0" encoding="utf-8"?>
<ds:datastoreItem xmlns:ds="http://schemas.openxmlformats.org/officeDocument/2006/customXml" ds:itemID="{1878AA60-0728-4814-94EC-134249BB0C4A}"/>
</file>

<file path=customXml/itemProps3.xml><?xml version="1.0" encoding="utf-8"?>
<ds:datastoreItem xmlns:ds="http://schemas.openxmlformats.org/officeDocument/2006/customXml" ds:itemID="{EC4CF15A-6938-4A2B-886A-8C0151BE57BB}"/>
</file>

<file path=docProps/app.xml><?xml version="1.0" encoding="utf-8"?>
<Properties xmlns="http://schemas.openxmlformats.org/officeDocument/2006/extended-properties" xmlns:vt="http://schemas.openxmlformats.org/officeDocument/2006/docPropsVTypes">
  <TotalTime>10</TotalTime>
  <Words>4630</Words>
  <Application>Microsoft Office PowerPoint</Application>
  <PresentationFormat>Widescreen</PresentationFormat>
  <Paragraphs>459</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Arial Black</vt:lpstr>
      <vt:lpstr>ppt169_solar_cheapest_power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cp:lastModifiedBy>Hoang Anh</cp:lastModifiedBy>
  <cp:revision>2</cp:revision>
  <dcterms:created xsi:type="dcterms:W3CDTF">2026-09-05T04:30:39Z</dcterms:created>
  <dcterms:modified xsi:type="dcterms:W3CDTF">2026-09-18T17:31:48Z</dcterms:modified>
  <cp:category/>
  <cp:contentStatus/>
  <dc:language>zh-CN</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0x01010007BB4CB8C644074DA8C0D9544B46C45A</vt:lpwstr>
  </property>
</Properties>
</file>