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Tồn</c:v>
                </c:pt>
              </c:strCache>
            </c:strRef>
          </c:tx>
          <c:spPr>
            <a:solidFill>
              <a:srgbClr val="C810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1D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5A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C00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40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Đen/S</c:v>
                  </c:pt>
                  <c:pt idx="1">
                    <c:v>Đen/M</c:v>
                  </c:pt>
                  <c:pt idx="2">
                    <c:v>Đen/L</c:v>
                  </c:pt>
                  <c:pt idx="3">
                    <c:v>Trắng/S</c:v>
                  </c:pt>
                  <c:pt idx="4">
                    <c:v>Trắng/M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1500</c:v>
                </c:pt>
                <c:pt idx="2">
                  <c:v>800</c:v>
                </c:pt>
                <c:pt idx="3">
                  <c:v>1200</c:v>
                </c:pt>
                <c:pt idx="4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3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Ngày-người</c:v>
                </c:pt>
              </c:strCache>
            </c:strRef>
          </c:tx>
          <c:spPr>
            <a:solidFill>
              <a:srgbClr val="C810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27.13</c:v>
                </c:pt>
                <c:pt idx="1">
                  <c:v>41.07</c:v>
                </c:pt>
                <c:pt idx="2">
                  <c:v>29.88</c:v>
                </c:pt>
                <c:pt idx="3">
                  <c:v>69.3</c:v>
                </c:pt>
                <c:pt idx="4">
                  <c:v>41.07</c:v>
                </c:pt>
                <c:pt idx="5">
                  <c:v>13.38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3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Ngày-người</c:v>
                </c:pt>
              </c:strCache>
            </c:strRef>
          </c:tx>
          <c:spPr>
            <a:solidFill>
              <a:srgbClr val="C810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1D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5C1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1D1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0C00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 01/09–25/09</c:v>
                  </c:pt>
                  <c:pt idx="1">
                    <c:v>B 26/09–20/11</c:v>
                  </c:pt>
                  <c:pt idx="2">
                    <c:v>C 21/11–25/12</c:v>
                  </c:pt>
                  <c:pt idx="3">
                    <c:v>D 26/12–15/02</c:v>
                  </c:pt>
                  <c:pt idx="4">
                    <c:v>E 16/02–15/03</c:v>
                  </c:pt>
                  <c:pt idx="5">
                    <c:v>F 16/03–31/03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27.13</c:v>
                </c:pt>
                <c:pt idx="1">
                  <c:v>41.07</c:v>
                </c:pt>
                <c:pt idx="2">
                  <c:v>29.88</c:v>
                </c:pt>
                <c:pt idx="3">
                  <c:v>69.3</c:v>
                </c:pt>
                <c:pt idx="4">
                  <c:v>41.07</c:v>
                </c:pt>
                <c:pt idx="5">
                  <c:v>13.38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3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Kinh phí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8"/>
              </a:solidFill>
              <a:effectLst/>
            </c:spPr>
          </c:dPt>
          <c:dPt>
            <c:idx val="1"/>
            <c:bubble3D val="0"/>
            <c:spPr>
              <a:solidFill>
                <a:srgbClr val="9D1D1F"/>
              </a:solidFill>
              <a:effectLst/>
            </c:spPr>
          </c:dPt>
          <c:dPt>
            <c:idx val="2"/>
            <c:bubble3D val="0"/>
            <c:spPr>
              <a:solidFill>
                <a:srgbClr val="F0C00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Công lao động 70%</c:v>
                </c:pt>
                <c:pt idx="1">
                  <c:v>Vật tư, thiết bị 18%</c:v>
                </c:pt>
                <c:pt idx="2">
                  <c:v>Chi khác 12%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285396650</c:v>
                </c:pt>
                <c:pt idx="1">
                  <c:v>73800000</c:v>
                </c:pt>
                <c:pt idx="2">
                  <c:v>49000000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Triệu VNĐ</c:v>
                </c:pt>
              </c:strCache>
            </c:strRef>
          </c:tx>
          <c:spPr>
            <a:solidFill>
              <a:srgbClr val="C810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 9,5</c:v>
                  </c:pt>
                  <c:pt idx="1">
                    <c:v>B 19,5</c:v>
                  </c:pt>
                  <c:pt idx="2">
                    <c:v>C 17,1</c:v>
                  </c:pt>
                  <c:pt idx="3">
                    <c:v>D 32,0</c:v>
                  </c:pt>
                  <c:pt idx="4">
                    <c:v>E 22,6</c:v>
                  </c:pt>
                  <c:pt idx="5">
                    <c:v>F 22,1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9.5</c:v>
                </c:pt>
                <c:pt idx="1">
                  <c:v>19.5</c:v>
                </c:pt>
                <c:pt idx="2">
                  <c:v>17.1</c:v>
                </c:pt>
                <c:pt idx="3">
                  <c:v>32</c:v>
                </c:pt>
                <c:pt idx="4">
                  <c:v>22.6</c:v>
                </c:pt>
                <c:pt idx="5">
                  <c:v>22.1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3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C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pic>
        <p:nvPicPr>
          <p:cNvPr id="3" name="Image 0" descr="C:\Dev\Learning\VIII.HUST\Quản trị dự án\slide\hu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840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BÁCH KHOA HÀ NỘI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6400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Công nghệ Thông tin và Truyền thông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1480" y="1207008"/>
            <a:ext cx="2331720" cy="292608"/>
          </a:xfrm>
          <a:prstGeom prst="roundRect">
            <a:avLst>
              <a:gd name="adj" fmla="val 25000"/>
            </a:avLst>
          </a:prstGeom>
          <a:solidFill>
            <a:srgbClr val="7A5C00"/>
          </a:solidFill>
          <a:ln w="12700">
            <a:solidFill>
              <a:srgbClr val="7A5C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070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lớn · CNTT20261_N01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645920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hàng hóa và kho bãi sản phẩm thời trang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1480" y="2724912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dự án xây dựng hệ thống · Báo cáo phân tích và thiết kế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3246120"/>
            <a:ext cx="1938528" cy="1051560"/>
          </a:xfrm>
          <a:prstGeom prst="roundRect">
            <a:avLst>
              <a:gd name="adj" fmla="val 6957"/>
            </a:avLst>
          </a:prstGeom>
          <a:solidFill>
            <a:srgbClr val="9D1D1F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3649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" y="363931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sách + Excel rời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68880" y="3246120"/>
            <a:ext cx="1938528" cy="1051560"/>
          </a:xfrm>
          <a:prstGeom prst="roundRect">
            <a:avLst>
              <a:gd name="adj" fmla="val 6957"/>
            </a:avLst>
          </a:prstGeom>
          <a:solidFill>
            <a:srgbClr val="9D1D1F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33649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42032" y="363931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hàng hóa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26280" y="3246120"/>
            <a:ext cx="1938528" cy="1051560"/>
          </a:xfrm>
          <a:prstGeom prst="roundRect">
            <a:avLst>
              <a:gd name="adj" fmla="val 6957"/>
            </a:avLst>
          </a:prstGeom>
          <a:solidFill>
            <a:srgbClr val="9D1D1F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336499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TỒN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99432" y="363931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+ màu + size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11480" y="5989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6199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– 31/03/2027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514600" y="5989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PHÍ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514600" y="6199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408.196.650 VNĐ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617720" y="5989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617720" y="6199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Lê Thị Hoa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040880" y="3474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LỚP K6901 CNTT VB2CQ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40880" y="5852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7040880" y="1078992"/>
            <a:ext cx="384048" cy="384048"/>
          </a:xfrm>
          <a:prstGeom prst="ellipse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4088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543800" y="10058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Tuấn Anh · 202490032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543800" y="12801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dự án, Phân tích nghiệp vụ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040880" y="1792224"/>
            <a:ext cx="384048" cy="384048"/>
          </a:xfrm>
          <a:prstGeom prst="ellipse">
            <a:avLst/>
          </a:prstGeom>
          <a:solidFill>
            <a:srgbClr val="F0C008"/>
          </a:solidFill>
          <a:ln w="12700">
            <a:solidFill>
              <a:srgbClr val="F0C00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4088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543800" y="17190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Quốc Luýt · 202490069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543800" y="199339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Trưởng nhóm kỹ thuật, Lập trình Back-end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040880" y="2505456"/>
            <a:ext cx="384048" cy="384048"/>
          </a:xfrm>
          <a:prstGeom prst="ellipse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408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543800" y="243230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Vũ Quang Minh · 202490071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7543800" y="270662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Back-end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040880" y="3218688"/>
            <a:ext cx="384048" cy="384048"/>
          </a:xfrm>
          <a:prstGeom prst="ellipse">
            <a:avLst/>
          </a:prstGeom>
          <a:solidFill>
            <a:srgbClr val="F0C008"/>
          </a:solidFill>
          <a:ln w="12700">
            <a:solidFill>
              <a:srgbClr val="F0C00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408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543800" y="314553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Bạch Minh Quang · 202490077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543800" y="341985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UI/UX, Lập trình Front-end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040880" y="3931920"/>
            <a:ext cx="384048" cy="384048"/>
          </a:xfrm>
          <a:prstGeom prst="ellipse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408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543800" y="38587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Đoàn Bảo Thiên · 202490090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7543800" y="41330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CSDL, Kiểm thử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040880" y="4617720"/>
            <a:ext cx="4754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78040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hồ sơ · 5 tài liệu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7178040" y="5047488"/>
            <a:ext cx="735178" cy="1280160"/>
          </a:xfrm>
          <a:prstGeom prst="roundRect">
            <a:avLst>
              <a:gd name="adj" fmla="val 995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178040" y="5084064"/>
            <a:ext cx="7351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214616" y="5248656"/>
            <a:ext cx="66202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913218" y="5047488"/>
            <a:ext cx="201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8114386" y="5047488"/>
            <a:ext cx="735178" cy="1280160"/>
          </a:xfrm>
          <a:prstGeom prst="roundRect">
            <a:avLst>
              <a:gd name="adj" fmla="val 995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114386" y="5084064"/>
            <a:ext cx="7351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8150962" y="5248656"/>
            <a:ext cx="66202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PTTK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8849563" y="5047488"/>
            <a:ext cx="201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9050731" y="5047488"/>
            <a:ext cx="735178" cy="1280160"/>
          </a:xfrm>
          <a:prstGeom prst="roundRect">
            <a:avLst>
              <a:gd name="adj" fmla="val 995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050731" y="5084064"/>
            <a:ext cx="7351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087307" y="5248656"/>
            <a:ext cx="66202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9785909" y="5047488"/>
            <a:ext cx="201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9987077" y="5047488"/>
            <a:ext cx="735178" cy="1280160"/>
          </a:xfrm>
          <a:prstGeom prst="roundRect">
            <a:avLst>
              <a:gd name="adj" fmla="val 995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987077" y="5084064"/>
            <a:ext cx="7351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10023653" y="5248656"/>
            <a:ext cx="66202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phí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10722254" y="5047488"/>
            <a:ext cx="201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10923422" y="5047488"/>
            <a:ext cx="735178" cy="1280160"/>
          </a:xfrm>
          <a:prstGeom prst="roundRect">
            <a:avLst>
              <a:gd name="adj" fmla="val 995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923422" y="5084064"/>
            <a:ext cx="7351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10959998" y="5248656"/>
            <a:ext cx="66202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Chất lượng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HỒ SƠ NHÓM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tài liệu và sáu chương PTTK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267712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0624" y="1268730"/>
            <a:ext cx="215798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chức năng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24912" y="841248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914400"/>
            <a:ext cx="2267712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79776" y="1268730"/>
            <a:ext cx="215798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phi chức năng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84064" y="841248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914400"/>
            <a:ext cx="2267712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38928" y="1268730"/>
            <a:ext cx="215798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có đặc tả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43216" y="841248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3216" y="914400"/>
            <a:ext cx="2267712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0" y="1268730"/>
            <a:ext cx="215798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CSDL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02368" y="841248"/>
            <a:ext cx="22677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914400"/>
            <a:ext cx="2267712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57232" y="1268730"/>
            <a:ext cx="215798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11457432" cy="2240280"/>
        </p:xfrm>
        <a:graphic>
          <a:graphicData uri="http://schemas.openxmlformats.org/drawingml/2006/table">
            <a:tbl>
              <a:tblPr/>
              <a:tblGrid>
                <a:gridCol w="640080"/>
                <a:gridCol w="4389120"/>
                <a:gridCol w="6428232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liệu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khảo sát hiện trạng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Bối cảnh, quy trình kho, vấn đề khách hàng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phân tích và thiết kế hệ thống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FR, NFR, QT, use case, kiến trúc, CSDL, giao diện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phân rã công việc và tôn chỉ dự 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Danh sách công việc, tiến độ, phân công, tôn chỉ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dự toán kinh phí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thực hiện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 hoạch quản lý chất lượng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soát chất lượng từng giai đoạn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365760" y="4114800"/>
            <a:ext cx="1145743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1879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PTTK — 6 chương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" y="4526280"/>
            <a:ext cx="16962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562856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9496" y="4727448"/>
            <a:ext cx="16230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hiện trạng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199132" y="45262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400300" y="4526280"/>
            <a:ext cx="16962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00300" y="4562856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436876" y="4727448"/>
            <a:ext cx="16230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yêu cầu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096512" y="45262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297680" y="4526280"/>
            <a:ext cx="16962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97680" y="4562856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334256" y="4727448"/>
            <a:ext cx="16230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993892" y="45262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195060" y="4526280"/>
            <a:ext cx="16962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95060" y="4562856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231636" y="4727448"/>
            <a:ext cx="16230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&amp; triển khai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891272" y="45262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092440" y="4526280"/>
            <a:ext cx="16962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92440" y="4562856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129016" y="4727448"/>
            <a:ext cx="16230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chi tiết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788652" y="45262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9989820" y="4526280"/>
            <a:ext cx="16962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989820" y="4562856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0026396" y="4727448"/>
            <a:ext cx="16230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02920" y="568756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76072" y="5687568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biểu đồ tuần tự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297680" y="568756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370832" y="5687568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biểu đồ hoạt động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8092440" y="568756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165592" y="5687568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biểu đồ trạng thái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 · Chủ trì: Bùi Tuấn Anh · 5 TV · 07 tháng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KHẢO SÁT · 1.1 – 1.5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thù ngành và đối tượng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6235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thù thời trang quần áo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71600"/>
            <a:ext cx="2459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màu + size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 → nhiều biến thể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371600"/>
            <a:ext cx="2459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mã thay đổi thường xuyên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từ nhiều NCC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063240"/>
            <a:ext cx="2459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cửa hàng + online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theo từng biến thể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30632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3063240"/>
            <a:ext cx="2459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trả / lỗi / thanh lý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truy vết tình trạng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565099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960120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tại: Excel + sổ sách rời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137160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không realtime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13716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9992" y="137160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sót nhập / xuất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5146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51460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truy vết lịch sử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25146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251460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quản lý biến thể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65760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không đồng nhất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36576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365760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thủ công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5166360"/>
            <a:ext cx="22677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523951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20624" y="5845302"/>
            <a:ext cx="215798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Hàng, kho, NV, báo cáo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24912" y="5166360"/>
            <a:ext cx="22677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523951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 kho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779776" y="5845302"/>
            <a:ext cx="215798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Nhập, xuất, kiểm kê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84064" y="5166360"/>
            <a:ext cx="22677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523951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 bán hàng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138928" y="5845302"/>
            <a:ext cx="215798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bán, yêu cầu xuất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43216" y="5166360"/>
            <a:ext cx="22677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43216" y="523951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cung cấp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498080" y="5845302"/>
            <a:ext cx="215798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hàng hóa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802368" y="5166360"/>
            <a:ext cx="22677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02368" y="5239512"/>
            <a:ext cx="226771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857232" y="5845302"/>
            <a:ext cx="2157984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/ đổi trả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KHẢO SÁT · 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quy trình vận hành kho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7782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hàng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133856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" y="1335024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hàng NCC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9132" y="1133856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00300" y="1133856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0300" y="1170432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36876" y="1335024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SL / màu / 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96512" y="1133856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1133856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170432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34256" y="1335024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đơn / HĐ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93892" y="1133856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95060" y="1133856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5060" y="1170432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31636" y="1335024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nhập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91272" y="1133856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2440" y="1133856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1170432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29016" y="1335024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vị trí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8652" y="1133856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989820" y="1133856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89820" y="1170432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26396" y="1335024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tồn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01168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048256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hàng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2304288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340864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" y="2505456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xuất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9132" y="230428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400300" y="2304288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00300" y="2340864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36876" y="2505456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tồn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96512" y="230428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297680" y="2304288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340864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34256" y="2505456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hàng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93892" y="230428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195060" y="2304288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5060" y="2340864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31636" y="2505456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sản phẩm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91272" y="230428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092440" y="2304288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92440" y="2340864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29016" y="2505456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xuất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788652" y="2304288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989820" y="2304288"/>
            <a:ext cx="169621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89820" y="2340864"/>
            <a:ext cx="1696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26396" y="2505456"/>
            <a:ext cx="16230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tồn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3182112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2186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kê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02920" y="3474720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35112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9496" y="3675888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thực tế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578608" y="3474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779776" y="3474720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79776" y="35112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816352" y="3675888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sổ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855464" y="3474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56632" y="3474720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56632" y="35112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093208" y="3675888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32320" y="3474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333488" y="3474720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33488" y="35112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370064" y="3675888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chỉnh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9409176" y="3474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9610344" y="3474720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610344" y="3511296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646920" y="3675888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65760" y="4352544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438912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trả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02920" y="4645152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2920" y="4681728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39496" y="4846320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2578608" y="4645152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2779776" y="4645152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79776" y="4681728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2816352" y="4846320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tình trạng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855464" y="4645152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056632" y="4645152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56632" y="4681728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093208" y="4846320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ĐK nhập?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132320" y="4645152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7333488" y="4645152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33488" y="4681728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7370064" y="4846320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tồn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9409176" y="4645152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9610344" y="4645152"/>
            <a:ext cx="207568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610344" y="4681728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9646920" y="4846320"/>
            <a:ext cx="2002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nguyên nhân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365760" y="5559552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" y="5559552"/>
            <a:ext cx="5477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kho (phụ) · UC-3.4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tổng ⇄ cửa hàng: xuất đi → xác nhận nhận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6199632" y="5559552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72784" y="5559552"/>
            <a:ext cx="5477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Hủy hàng (phụ) · UC-3.8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lỗi/hỏng — trừ tồn sau khi Quản lý duyệt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 · Khảo sát tại kho tổng và kho cửa hàng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KHẢO SÁT · 1.3 –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thể AT01 và mười vấn đề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5394960" cy="5559552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Áo thun AT01 · tồn theo màu × size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65960" y="137160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371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Áo thun AT01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1755648"/>
            <a:ext cx="3291840" cy="18288"/>
          </a:xfrm>
          <a:prstGeom prst="rect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755648"/>
            <a:ext cx="18288" cy="256032"/>
          </a:xfrm>
          <a:prstGeom prst="rect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1755648"/>
            <a:ext cx="18288" cy="256032"/>
          </a:xfrm>
          <a:prstGeom prst="rect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2996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202996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Trắng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29077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4884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29077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4612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29077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160520" y="26060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29077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</a:t>
            </a:r>
            <a:endParaRPr lang="en-US" sz="16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502920" y="356616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5943600" y="841248"/>
            <a:ext cx="5879592" cy="5559552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80760" y="93268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→ nhu cầu hệ thống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080760" y="128016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12801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phân tán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686800" y="128016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9034272" y="128016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98280" y="128016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một hệ thống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080760" y="1773936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44768" y="1773936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quản lý biến thể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686800" y="1773936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9034272" y="1773936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98280" y="1773936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theo màu và size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080760" y="2267712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44768" y="226771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lệch tồn kho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686800" y="226771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9034272" y="2267712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098280" y="226771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cập nhật khi nhập/xuất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080760" y="2761488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44768" y="2761488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truy vết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8686800" y="2761488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9034272" y="2761488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098280" y="2761488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nhập, xuất, điều chỉnh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080760" y="3255264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144768" y="3255264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chậm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686800" y="3255264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9034272" y="3255264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098280" y="3255264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và lọc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6080760" y="374904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144768" y="374904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kiểm kê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8686800" y="374904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9034272" y="374904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098280" y="374904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kê và điều chỉnh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6080760" y="4242816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144768" y="4242816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thủ công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8686800" y="4242816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034272" y="4242816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098280" y="4242816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tổng hợp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6080760" y="4736592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144768" y="473659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kiểm soát NV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8686800" y="473659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9034272" y="4736592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098280" y="4736592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người dùng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6080760" y="5230368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144768" y="5230368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sắp hết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8686800" y="5230368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9034272" y="5230368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098280" y="5230368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tồn thấp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6080760" y="5724144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6144768" y="5724144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tồn lâu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8686800" y="5724144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9034272" y="5724144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9098280" y="5724144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thời gian tồn</a:t>
            </a:r>
            <a:endParaRPr lang="en-US" sz="1100" dirty="0"/>
          </a:p>
        </p:txBody>
      </p:sp>
      <p:sp>
        <p:nvSpPr>
          <p:cNvPr id="83" name="Shape 80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KHẢO SÁT · 2.4 –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trung tâm · QT · 13 biểu mẫu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14574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chức năng cốt lõi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22186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1221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" y="1371600"/>
            <a:ext cx="11487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24787" y="1170432"/>
            <a:ext cx="201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5955" y="1170432"/>
            <a:ext cx="122186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5955" y="1207008"/>
            <a:ext cx="1221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62531" y="1371600"/>
            <a:ext cx="11487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thể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47822" y="1170432"/>
            <a:ext cx="201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48990" y="1170432"/>
            <a:ext cx="122186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8990" y="1207008"/>
            <a:ext cx="1221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5566" y="1371600"/>
            <a:ext cx="11487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kho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0857" y="1170432"/>
            <a:ext cx="201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2025" y="1170432"/>
            <a:ext cx="122186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2025" y="1207008"/>
            <a:ext cx="1221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8601" y="1371600"/>
            <a:ext cx="11487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kho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93892" y="1170432"/>
            <a:ext cx="201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95060" y="1170432"/>
            <a:ext cx="122186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5060" y="1207008"/>
            <a:ext cx="1221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1636" y="1371600"/>
            <a:ext cx="11487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16927" y="1170432"/>
            <a:ext cx="201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18095" y="1170432"/>
            <a:ext cx="122186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8095" y="1207008"/>
            <a:ext cx="1221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54671" y="1371600"/>
            <a:ext cx="11487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kê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39962" y="1170432"/>
            <a:ext cx="201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041130" y="1170432"/>
            <a:ext cx="122186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41130" y="1207008"/>
            <a:ext cx="1221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77706" y="1371600"/>
            <a:ext cx="11487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trả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62997" y="1170432"/>
            <a:ext cx="201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464165" y="1170432"/>
            <a:ext cx="122186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64165" y="1207008"/>
            <a:ext cx="12218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00741" y="1371600"/>
            <a:ext cx="11487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219456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2194560"/>
            <a:ext cx="3557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QT-01 · Tồn ≥ 0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(kho, biến thể) — không âm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87952" y="219456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61104" y="2194560"/>
            <a:ext cx="3557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QT-02 · Phiếu Hoàn thành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được đổi tồn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10144" y="2194560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83296" y="2194560"/>
            <a:ext cx="3557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QT-03 · Chênh lệch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 − hệ thống · QL duyệt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2907792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2907792"/>
            <a:ext cx="3557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QT-04 · Đổi trả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tốt → kho bán; lỗi ≠ tồn bán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87952" y="2907792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61104" y="2907792"/>
            <a:ext cx="3557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QT-05 · Phân loại tồn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≤ min / &gt; min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10144" y="2907792"/>
            <a:ext cx="3703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83296" y="2907792"/>
            <a:ext cx="3557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QT-06 · Công thức NXT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 = Đầu + Nhập − Xuất ± ĐC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03320"/>
          <a:ext cx="11457432" cy="269748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2194560"/>
                <a:gridCol w="640080"/>
                <a:gridCol w="3108960"/>
                <a:gridCol w="2039112"/>
              </a:tblGrid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Biểu mẫu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Nghiệp vụ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Biểu mẫu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Nghiệp vụ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Phiếu nhập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Nhập hàng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tồn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tồn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Phiếu xuất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Xuất hàng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nhập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Nhập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Phiếu kiểm kê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kê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xuất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Xuất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Phiếu điều chỉnh tồn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chỉnh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nhập – xuất – tồn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hợp biến động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Phiếu đổi/trả hàng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Đổi trả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kiểm kê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kê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Phiếu chuyển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Chuyển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biến động hàng hóa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xuất lịch sử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Phiếu hủy hàng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Hủy hàng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phiếu + 6 báo cáo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13 biểu mẫu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Shape 47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 CHỈ DỰ 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· CNTT20261_N01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862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86207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0624" y="1369314"/>
            <a:ext cx="2752344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bắt đầu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841248"/>
            <a:ext cx="2862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914400"/>
            <a:ext cx="286207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31/03/2027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74136" y="1369314"/>
            <a:ext cx="2752344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kết thúc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2784" y="841248"/>
            <a:ext cx="2862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914400"/>
            <a:ext cx="286207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Tuấn Anh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27648" y="1369314"/>
            <a:ext cx="2752344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dự án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26296" y="841248"/>
            <a:ext cx="2862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6296" y="914400"/>
            <a:ext cx="286207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01 · 31/07/2026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81160" y="1369314"/>
            <a:ext cx="2752344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khởi công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38528"/>
            <a:ext cx="5669280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29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dự án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 hàng hóa và kho bãi sản phẩm thời trang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7249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đầu tư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thời trang (đơn vị khảo sát)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0723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 phí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3072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408.196.650 VNĐ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198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34198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Tuấn Anh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767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03120" y="37673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 vừa · 5 thành viên · 07 tháng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206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206240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 31/03/2027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4206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4206240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ngân sách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" y="5166360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= giao dịch nguyên tử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5166360"/>
            <a:ext cx="2505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kho chỉ thêm · ≥ 5 năm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1938528"/>
            <a:ext cx="5605272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02996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3 tầng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55080" y="2377440"/>
            <a:ext cx="5330952" cy="438912"/>
          </a:xfrm>
          <a:prstGeom prst="roundRect">
            <a:avLst>
              <a:gd name="adj" fmla="val 12500"/>
            </a:avLst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37744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/ TypeScript   Chrome, Edge   Tablet 10"   Máy quét mã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55080" y="2880360"/>
            <a:ext cx="5330952" cy="438912"/>
          </a:xfrm>
          <a:prstGeom prst="roundRect">
            <a:avLst>
              <a:gd name="adj" fmla="val 12500"/>
            </a:avLst>
          </a:prstGeom>
          <a:solidFill>
            <a:srgbClr val="9D1D1F"/>
          </a:solidFill>
          <a:ln w="12700">
            <a:solidFill>
              <a:srgbClr val="9D1D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88036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 Java 21   Spring Boot 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55080" y="3383280"/>
            <a:ext cx="5330952" cy="438912"/>
          </a:xfrm>
          <a:prstGeom prst="roundRect">
            <a:avLst>
              <a:gd name="adj" fmla="val 12500"/>
            </a:avLst>
          </a:prstGeom>
          <a:solidFill>
            <a:srgbClr val="7A5C00"/>
          </a:solidFill>
          <a:ln w="12700">
            <a:solidFill>
              <a:srgbClr val="7A5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383280"/>
            <a:ext cx="5330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 Docker   Nginx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55080" y="40233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4023360"/>
            <a:ext cx="2459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tồn &lt; 2s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 biến thể · 100 user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52560" y="40233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25712" y="4023360"/>
            <a:ext cx="2459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 tháng &lt; 10s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55080" y="5074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5074920"/>
            <a:ext cx="2459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bcrypt · HTTPS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30 phút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052560" y="50749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25712" y="5074920"/>
            <a:ext cx="2459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99%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7h–22h · backup 4h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 CHỈ DỰ 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cụ thể và phạm vi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2677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26771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0624" y="1444752"/>
            <a:ext cx="215798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lệch tồn sau kiểm kê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24912" y="841248"/>
            <a:ext cx="22677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914400"/>
            <a:ext cx="226771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79776" y="1444752"/>
            <a:ext cx="215798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âm, kể cả xuất đồng thời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84064" y="841248"/>
            <a:ext cx="22677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914400"/>
            <a:ext cx="226771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Vài giây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38928" y="1444752"/>
            <a:ext cx="215798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thẻ kho 1 biến thể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43216" y="841248"/>
            <a:ext cx="22677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3216" y="914400"/>
            <a:ext cx="226771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phút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98080" y="1444752"/>
            <a:ext cx="215798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NXT tháng (trước: 1 ngày)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02368" y="841248"/>
            <a:ext cx="226771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914400"/>
            <a:ext cx="2267712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57232" y="1444752"/>
            <a:ext cx="2157984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hết / sắp hết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084832"/>
            <a:ext cx="566928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084832"/>
            <a:ext cx="5669280" cy="7315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578608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5786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· thiết kế · code · test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578608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25786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+ phân quyền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493008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4930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SP, biến thể, NCC, kho, vị trí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3493008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34930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· xuất · chuyển · hủy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07408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44074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kê + điều chỉnh (duyệt)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4407408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44074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trả tại kho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5321808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53218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· cảnh báo · thẻ kho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5321808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5321808"/>
            <a:ext cx="2459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đầu kỳ · đào tạo · bàn giao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2084832"/>
            <a:ext cx="5605272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2084832"/>
            <a:ext cx="5605272" cy="73152"/>
          </a:xfrm>
          <a:prstGeom prst="rect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240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25786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2578608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thanh toán · HĐĐT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06840" y="25786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79992" y="2578608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đặt NCC · công nợ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55080" y="34930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3493008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toán giá vốn · định khoản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006840" y="34930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79992" y="3493008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 TMĐT · vận chuyển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55080" y="44074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28232" y="4407408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CSKH · khuyến mãi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006840" y="44074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79992" y="4407408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 động riêng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355080" y="5321808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8E9E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28232" y="5321808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tablet / máy quét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TÔN CHỈ · WBS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dự án và phân công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5669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tổ chức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5960" y="1170432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Giám đốc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· DN thời trang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645920"/>
            <a:ext cx="27432" cy="164592"/>
          </a:xfrm>
          <a:prstGeom prst="rect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810512"/>
            <a:ext cx="2926080" cy="475488"/>
          </a:xfrm>
          <a:prstGeom prst="roundRect">
            <a:avLst>
              <a:gd name="adj" fmla="val 11538"/>
            </a:avLst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Tuấn Anh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0482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dự án · PT nghiệp vụ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140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Bùi Quốc Luýt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· BE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74520" y="2395728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24140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Vũ Quang Minh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27249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BE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2395728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4140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Bạch Minh Quang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7249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· FE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395728"/>
            <a:ext cx="129844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4140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Đoàn Bảo Thiên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27249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· Kiểm thử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841248"/>
            <a:ext cx="56052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896112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Ngày-người theo giai đoạn · EST chốt 221,83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309360" y="1115568"/>
          <a:ext cx="5394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11457432" cy="233172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307592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viên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Bùi Tuấn Anh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Bùi Quốc Luýt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Vũ Quang Minh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Bạch Minh Quang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Đoàn Bảo Thiên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221,83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365760" y="5742432"/>
            <a:ext cx="3703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8912" y="5742432"/>
            <a:ext cx="3557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chéo trong nhóm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tách bộ phận QA riêng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242816" y="5742432"/>
            <a:ext cx="3703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315968" y="5742432"/>
            <a:ext cx="3557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số nhân công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trì 0,75 · TV chính 0,45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8119872" y="5742432"/>
            <a:ext cx="3703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193024" y="5742432"/>
            <a:ext cx="3557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 201,67 + buffer 20,17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cơ sở 2.530.000 VNĐ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giai đoạn · Task 1–52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14574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914400"/>
          <a:ext cx="11274552" cy="1719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11457432" cy="260604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1005840"/>
                <a:gridCol w="4937760"/>
                <a:gridCol w="2587752"/>
              </a:tblGrid>
              <a:tr h="372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Sản phẩm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 thuộc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01/09 – 25/09/2026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khảo sát &amp; đặc tả yêu cầu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sau 1–4; 8 sau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26/09 – 20/11/2026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PTTK (UML)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Task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21/11 – 25/12/2026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Lược đồ CSDL; thiết kế UI/UX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Task 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26/12 – 15/02/2027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nguồn &amp; module chạy được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Task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16/02 – 15/03/2027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kiểm thử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39; UAT sau 41–45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16/03 – 31/03/2027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48–52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Cấu hình · nghiệm thu · hướng dẫn · bàn giao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Task 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5577840"/>
            <a:ext cx="3703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8912" y="5577840"/>
            <a:ext cx="3557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30 · Dịch vụ tồn kho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dòng · thẻ kho chỉ thêm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242816" y="5577840"/>
            <a:ext cx="3703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15968" y="5577840"/>
            <a:ext cx="3557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42 · Xuất đồng thời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tồn âm · NFR-04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19872" y="5577840"/>
            <a:ext cx="3703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193024" y="5577840"/>
            <a:ext cx="3557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49 · Convert Excel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+ tồn đầu kỳ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DỰ TOÁN KINH PHÍ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408.196.650 VNĐ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5669280" cy="5559552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02920" y="1097280"/>
          <a:ext cx="5394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841248"/>
            <a:ext cx="5605272" cy="5559552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93268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lao động · hệ số × EST chốt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280160"/>
          <a:ext cx="5330952" cy="246888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822960"/>
                <a:gridCol w="11247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 tên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Nhiệm vụ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 công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Bùi Tuấn Anh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Chủ trì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Bùi Quốc Luýt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chính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Vũ Quang Minh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chính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Bạch Minh Quang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chính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Đoàn Bảo Thiên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chính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355080" y="3840480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cơ sở 2.530.000 VNĐ · Người lập: Bùi Tuấn Anh · 25/07/2026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355080" y="420624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4279392"/>
            <a:ext cx="169164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285,4 tr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09944" y="5287518"/>
            <a:ext cx="1581912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lao động · 70%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56448" y="420624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56448" y="4279392"/>
            <a:ext cx="169164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221,83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211312" y="5287518"/>
            <a:ext cx="1581912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Ngày-người EST chốt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948672" y="420624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948672" y="4279392"/>
            <a:ext cx="169164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2,53 tr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0003536" y="5287518"/>
            <a:ext cx="1581912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cơ sở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DỰ TOÁN KINH PHÍ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và chi khác theo giai đoạn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14574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ngoài nhân công theo giai đoạn (triệu)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15568"/>
          <a:ext cx="11274552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944368"/>
            <a:ext cx="5669280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0358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· 73.800.000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64992"/>
          <a:ext cx="5394960" cy="288036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Hạng mục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tiền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Thuê laptop khảo sát ×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Thuê máy nhóm × 10 (2 tháng)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Thuê máy + Figma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Thuê máy + Cloud + máy quét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Thuê máy + Cloud test + tablet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Thuê máy + app/DB/storage/.vn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17920" y="2944368"/>
            <a:ext cx="56052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3035808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khác · 49.000.000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364992"/>
          <a:ext cx="5330952" cy="2880360"/>
        </p:xfrm>
        <a:graphic>
          <a:graphicData uri="http://schemas.openxmlformats.org/drawingml/2006/table">
            <a:tbl>
              <a:tblPr/>
              <a:tblGrid>
                <a:gridCol w="640080"/>
                <a:gridCol w="3108960"/>
                <a:gridCol w="15819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tiền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VPP + đi lại kho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đặc tả + workshop QT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prototype + OT CSDL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 SKU + OT dịch vụ tồn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kho + OT sửa lỗi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TL + đào tạo + OT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QUẢN LÝ CHẤT LƯỢNG · BẢNG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Tám mục tiêu chất lượng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8620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86207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20624" y="1319022"/>
            <a:ext cx="275234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lệch tồn UAT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841248"/>
            <a:ext cx="28620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914400"/>
            <a:ext cx="286207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74136" y="1319022"/>
            <a:ext cx="275234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âm (NFR-04)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2784" y="841248"/>
            <a:ext cx="28620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914400"/>
            <a:ext cx="286207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27648" y="1319022"/>
            <a:ext cx="275234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kho gắn phiếu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26296" y="841248"/>
            <a:ext cx="28620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6296" y="914400"/>
            <a:ext cx="2862072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81160" y="1319022"/>
            <a:ext cx="275234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NXT tháng (NFR-02)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47088"/>
          <a:ext cx="11457432" cy="352044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572000"/>
                <a:gridCol w="3867912"/>
              </a:tblGrid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kiểm 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Tồn kho chính xác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lệch &lt; 1% sau kiểm kê thử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kê thử 1 kho cửa hàng (UAT)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xuất vượt tồn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tồn âm, kể cả xuất đồng thời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NFR-04; CHECK so_luong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vết đầy đủ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đổi tồn có thẻ kho; không sửa/xóa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Đối chiếu thẻ kho ↔ tồn; thử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nhanh và đúng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NXT &lt; 10s; đúng QT-06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NFR-02; đối chiếu dữ liệu mẫu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Cảnh báo tồn thấp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đúng Hết / Sắp hết / Bình thường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Biên: 0, = min, = min + 1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biến thể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màu × size; không trùng SKU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Áo size chữ, quần size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Hàng tồn lâu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quá ngưỡng có trong báo cáo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ngày nhập khác nhau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toàn &amp; phân quyền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đúng ma trận; 0 lỗ hổng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Từng vai trò; NFR-06, NFR-07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5504688"/>
            <a:ext cx="28620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5577840"/>
            <a:ext cx="286207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20624" y="5997550"/>
            <a:ext cx="2752344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đúng QT-05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19272" y="5504688"/>
            <a:ext cx="28620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19272" y="5577840"/>
            <a:ext cx="286207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374136" y="5997550"/>
            <a:ext cx="2752344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trùng · tồn độc lập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72784" y="5504688"/>
            <a:ext cx="28620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72784" y="5577840"/>
            <a:ext cx="286207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327648" y="5997550"/>
            <a:ext cx="2752344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tồn lâu đúng ngày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226296" y="5504688"/>
            <a:ext cx="28620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26296" y="5577840"/>
            <a:ext cx="2862072" cy="465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281160" y="5997550"/>
            <a:ext cx="2752344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 hổng Critical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 · Chuyển từ mục 1.3.1 PTTK thành chỉ tiêu nghiệm thu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QUẢN LÝ CHẤT LƯỢNG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nội dung · sáu mốc · bảy chỉ số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1078992"/>
            <a:ext cx="9966960" cy="36576"/>
          </a:xfrm>
          <a:prstGeom prst="rect">
            <a:avLst/>
          </a:prstGeom>
          <a:solidFill>
            <a:srgbClr val="C81028"/>
          </a:solidFill>
          <a:ln w="12700">
            <a:solidFill>
              <a:srgbClr val="C810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960120"/>
            <a:ext cx="256032" cy="256032"/>
          </a:xfrm>
          <a:prstGeom prst="ellipse">
            <a:avLst/>
          </a:prstGeom>
          <a:solidFill>
            <a:srgbClr val="C810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25/09/2026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yêu cầu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841248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960120"/>
            <a:ext cx="256032" cy="256032"/>
          </a:xfrm>
          <a:prstGeom prst="ellipse">
            <a:avLst/>
          </a:prstGeom>
          <a:solidFill>
            <a:srgbClr val="C810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261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31720" y="14996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20/11/2026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17007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PTTK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841248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960120"/>
            <a:ext cx="256032" cy="256032"/>
          </a:xfrm>
          <a:prstGeom prst="ellipse">
            <a:avLst/>
          </a:prstGeom>
          <a:solidFill>
            <a:srgbClr val="C810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261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14996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25/12/2026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17007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CSDL + 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841248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960120"/>
            <a:ext cx="256032" cy="256032"/>
          </a:xfrm>
          <a:prstGeom prst="ellipse">
            <a:avLst/>
          </a:prstGeom>
          <a:solidFill>
            <a:srgbClr val="C810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261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14996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15/02/2027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7007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Xong lập trình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841248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960120"/>
            <a:ext cx="256032" cy="256032"/>
          </a:xfrm>
          <a:prstGeom prst="ellipse">
            <a:avLst/>
          </a:prstGeom>
          <a:solidFill>
            <a:srgbClr val="C810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1261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0" y="14996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15/03/2027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17007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Xong kiểm thử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195560" y="841248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0" y="960120"/>
            <a:ext cx="256032" cy="256032"/>
          </a:xfrm>
          <a:prstGeom prst="ellipse">
            <a:avLst/>
          </a:prstGeom>
          <a:solidFill>
            <a:srgbClr val="C810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95560" y="1261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95560" y="14996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31/03/2027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95560" y="17007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12848"/>
          <a:ext cx="11457432" cy="292608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5577840"/>
                <a:gridCol w="2587752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tiêu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 trách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yêu cầu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vấn đề có FR; 100% 19 FR → 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Bùi Tuấn Anh + DN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thiết kế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UC; CSDL chống tồn âm; 10 MH duyệt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Bùi Quốc Luýt + DN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soát lập trình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PR review; unit test tồn ≥ 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Bùi Quốc Luýt + nhóm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thử phần mềm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FR có TC; ≥ 95% đạt; 0 tồn âm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Đoàn Bảo Thiên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lỗi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Blocker/Critical trước NT (1/2/3 ngày)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Luýt + Thiên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Nghiệm thu &amp; bàn giao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Tồn đầu kỳ khớp 100%; TL đủ 3 vai trò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Bùi Tuấn Anh + DN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8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365760" y="5285232"/>
            <a:ext cx="286207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" y="5358384"/>
            <a:ext cx="2862072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420624" y="5898794"/>
            <a:ext cx="2752344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FR · mỗi mốc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319272" y="5285232"/>
            <a:ext cx="286207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19272" y="5358384"/>
            <a:ext cx="2862072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3374136" y="5898794"/>
            <a:ext cx="2752344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· tuần (D)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272784" y="5285232"/>
            <a:ext cx="286207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72784" y="5358384"/>
            <a:ext cx="2862072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6327648" y="5898794"/>
            <a:ext cx="2752344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tồn · mỗi build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226296" y="5285232"/>
            <a:ext cx="286207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226296" y="5358384"/>
            <a:ext cx="2862072" cy="58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9281160" y="5898794"/>
            <a:ext cx="2752344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đạt · tuần (E)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365760" y="6547104"/>
            <a:ext cx="11457432" cy="13716"/>
          </a:xfrm>
          <a:prstGeom prst="rect">
            <a:avLst/>
          </a:prstGeom>
          <a:solidFill>
            <a:srgbClr val="E8D9DC"/>
          </a:solidFill>
          <a:ln w="12700">
            <a:solidFill>
              <a:srgbClr val="E8D9D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65760" y="658368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· CNTT20261_N01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9418320" y="65836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81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Learning\VIII.HUST\Quản trị dự án\slide\hu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BÁCH KHOA HÀ NỘI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23444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CNTT&amp;TT · Nhóm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cảm ơn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17190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THẢO LUẬN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121408"/>
            <a:ext cx="3675888" cy="868680"/>
          </a:xfrm>
          <a:prstGeom prst="roundRect">
            <a:avLst>
              <a:gd name="adj" fmla="val 8421"/>
            </a:avLst>
          </a:prstGeom>
          <a:solidFill>
            <a:srgbClr val="9D1D1F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19456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TRUNG TÂM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theo biến thể màu × size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121408"/>
            <a:ext cx="3675888" cy="868680"/>
          </a:xfrm>
          <a:prstGeom prst="roundRect">
            <a:avLst>
              <a:gd name="adj" fmla="val 8421"/>
            </a:avLst>
          </a:prstGeom>
          <a:solidFill>
            <a:srgbClr val="9D1D1F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0" y="219456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0" y="246888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31/03/2027 · 408,2 triệu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2121408"/>
            <a:ext cx="3675888" cy="868680"/>
          </a:xfrm>
          <a:prstGeom prst="roundRect">
            <a:avLst>
              <a:gd name="adj" fmla="val 8421"/>
            </a:avLst>
          </a:prstGeom>
          <a:solidFill>
            <a:srgbClr val="9D1D1F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219456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PTTK 6.1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0" y="2468880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FR · 11 NFR · 19 UC · 15 bảng · 10 MH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154680"/>
            <a:ext cx="5532120" cy="3154680"/>
          </a:xfrm>
          <a:prstGeom prst="roundRect">
            <a:avLst>
              <a:gd name="adj" fmla="val 2319"/>
            </a:avLst>
          </a:prstGeom>
          <a:solidFill>
            <a:srgbClr val="9D1D1F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2461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(6.2)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94360" y="361188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nối POS / sàn TMĐT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361188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4612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đơn NCC / công nợ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" y="443484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tồn theo lô / vị trí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46120" y="443484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4612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nhập, chưa BQ / FIFO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4360" y="5257800"/>
            <a:ext cx="525780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52578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phác thảo, chưa test user thật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72200" y="3154680"/>
            <a:ext cx="5559552" cy="3154680"/>
          </a:xfrm>
          <a:prstGeom prst="roundRect">
            <a:avLst>
              <a:gd name="adj" fmla="val 2319"/>
            </a:avLst>
          </a:prstGeom>
          <a:solidFill>
            <a:srgbClr val="9D1D1F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3246120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(6.3)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309360" y="361188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xuất / đổi trả tự động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961120" y="361188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112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đặt hàng NCC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309360" y="443484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0936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vị trí + lô + giá vốn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961120" y="443484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6112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quét mã offline tạm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309360" y="5257800"/>
            <a:ext cx="5285232" cy="731520"/>
          </a:xfrm>
          <a:prstGeom prst="roundRect">
            <a:avLst>
              <a:gd name="adj" fmla="val 7500"/>
            </a:avLst>
          </a:prstGeom>
          <a:solidFill>
            <a:srgbClr val="8A1018"/>
          </a:solidFill>
          <a:ln w="12700">
            <a:solidFill>
              <a:srgbClr val="8A101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09360" y="5257800"/>
            <a:ext cx="5285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mùa + điều chuyển tồn lâu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CNTT20261_N01 · K6901 CNTT VB2CQ · GVHD ThS. Lê Thị Hoa · Hà Nội, tháng 9 năm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Nhóm 1 — QL hàng hóa và kho bãi sản phẩm thời trang</dc:title>
  <dc:subject>Bài tập lớn Quản trị dự án</dc:subject>
  <dc:creator>Nhóm 1 · CNTT20261_N01</dc:creator>
  <cp:lastModifiedBy>Nhóm 1 · CNTT20261_N01</cp:lastModifiedBy>
  <cp:revision>1</cp:revision>
  <dcterms:created xsi:type="dcterms:W3CDTF">2026-09-17T12:29:15Z</dcterms:created>
  <dcterms:modified xsi:type="dcterms:W3CDTF">2026-09-17T12:29:15Z</dcterms:modified>
</cp:coreProperties>
</file>